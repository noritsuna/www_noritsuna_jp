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3"/>
  </p:notesMasterIdLst>
  <p:sldIdLst>
    <p:sldId id="584" r:id="rId2"/>
    <p:sldId id="673" r:id="rId3"/>
    <p:sldId id="627" r:id="rId4"/>
    <p:sldId id="628" r:id="rId5"/>
    <p:sldId id="631" r:id="rId6"/>
    <p:sldId id="630" r:id="rId7"/>
    <p:sldId id="634" r:id="rId8"/>
    <p:sldId id="638" r:id="rId9"/>
    <p:sldId id="639" r:id="rId10"/>
    <p:sldId id="643" r:id="rId11"/>
    <p:sldId id="644" r:id="rId12"/>
    <p:sldId id="649" r:id="rId13"/>
    <p:sldId id="641" r:id="rId14"/>
    <p:sldId id="645" r:id="rId15"/>
    <p:sldId id="651" r:id="rId16"/>
    <p:sldId id="652" r:id="rId17"/>
    <p:sldId id="653" r:id="rId18"/>
    <p:sldId id="655" r:id="rId19"/>
    <p:sldId id="656" r:id="rId20"/>
    <p:sldId id="671" r:id="rId21"/>
    <p:sldId id="654" r:id="rId22"/>
    <p:sldId id="657" r:id="rId23"/>
    <p:sldId id="625" r:id="rId24"/>
    <p:sldId id="658" r:id="rId25"/>
    <p:sldId id="659" r:id="rId26"/>
    <p:sldId id="660" r:id="rId27"/>
    <p:sldId id="661" r:id="rId28"/>
    <p:sldId id="665" r:id="rId29"/>
    <p:sldId id="664" r:id="rId30"/>
    <p:sldId id="666" r:id="rId31"/>
    <p:sldId id="667" r:id="rId32"/>
    <p:sldId id="668" r:id="rId33"/>
    <p:sldId id="662" r:id="rId34"/>
    <p:sldId id="675" r:id="rId35"/>
    <p:sldId id="669" r:id="rId36"/>
    <p:sldId id="663" r:id="rId37"/>
    <p:sldId id="670" r:id="rId38"/>
    <p:sldId id="674" r:id="rId39"/>
    <p:sldId id="672" r:id="rId40"/>
    <p:sldId id="620" r:id="rId41"/>
    <p:sldId id="676" r:id="rId42"/>
    <p:sldId id="679" r:id="rId43"/>
    <p:sldId id="680" r:id="rId44"/>
    <p:sldId id="678" r:id="rId45"/>
    <p:sldId id="677" r:id="rId46"/>
    <p:sldId id="696" r:id="rId47"/>
    <p:sldId id="698" r:id="rId48"/>
    <p:sldId id="695" r:id="rId49"/>
    <p:sldId id="703" r:id="rId50"/>
    <p:sldId id="699" r:id="rId51"/>
    <p:sldId id="700" r:id="rId52"/>
    <p:sldId id="702" r:id="rId53"/>
    <p:sldId id="710" r:id="rId54"/>
    <p:sldId id="704" r:id="rId55"/>
    <p:sldId id="705" r:id="rId56"/>
    <p:sldId id="706" r:id="rId57"/>
    <p:sldId id="708" r:id="rId58"/>
    <p:sldId id="709" r:id="rId59"/>
    <p:sldId id="711" r:id="rId60"/>
    <p:sldId id="712" r:id="rId61"/>
    <p:sldId id="713" r:id="rId62"/>
    <p:sldId id="714" r:id="rId63"/>
    <p:sldId id="717" r:id="rId64"/>
    <p:sldId id="715" r:id="rId65"/>
    <p:sldId id="716" r:id="rId66"/>
    <p:sldId id="687" r:id="rId67"/>
    <p:sldId id="688" r:id="rId68"/>
    <p:sldId id="681" r:id="rId69"/>
    <p:sldId id="682" r:id="rId70"/>
    <p:sldId id="683" r:id="rId71"/>
    <p:sldId id="689" r:id="rId72"/>
  </p:sldIdLst>
  <p:sldSz cx="9144000" cy="6858000" type="screen4x3"/>
  <p:notesSz cx="6805613" cy="9939338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5BA125"/>
    <a:srgbClr val="66FF33"/>
    <a:srgbClr val="CCFFCC"/>
    <a:srgbClr val="E5DEDB"/>
    <a:srgbClr val="0080FF"/>
    <a:srgbClr val="FF0000"/>
    <a:srgbClr val="FF6FCF"/>
    <a:srgbClr val="E8E8E8"/>
    <a:srgbClr val="FFFF99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49" autoAdjust="0"/>
    <p:restoredTop sz="90278" autoAdjust="0"/>
  </p:normalViewPr>
  <p:slideViewPr>
    <p:cSldViewPr>
      <p:cViewPr varScale="1">
        <p:scale>
          <a:sx n="78" d="100"/>
          <a:sy n="78" d="100"/>
        </p:scale>
        <p:origin x="804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6A8240-87FA-427E-906A-458D9F8153CB}" type="doc">
      <dgm:prSet loTypeId="urn:microsoft.com/office/officeart/2005/8/layout/process2" loCatId="process" qsTypeId="urn:microsoft.com/office/officeart/2005/8/quickstyle/simple5" qsCatId="simple" csTypeId="urn:microsoft.com/office/officeart/2005/8/colors/colorful5" csCatId="colorful" phldr="1"/>
      <dgm:spPr/>
    </dgm:pt>
    <dgm:pt modelId="{E8499721-23D3-4BD8-A0E7-1BA5A5EADE6E}">
      <dgm:prSet phldrT="[Text]"/>
      <dgm:spPr/>
      <dgm:t>
        <a:bodyPr/>
        <a:lstStyle/>
        <a:p>
          <a:r>
            <a:rPr lang="en-US" dirty="0" err="1" smtClean="0"/>
            <a:t>Calc</a:t>
          </a:r>
          <a:r>
            <a:rPr lang="en-US" dirty="0" smtClean="0"/>
            <a:t> </a:t>
          </a:r>
          <a:r>
            <a:rPr lang="en-US" dirty="0" err="1" smtClean="0"/>
            <a:t>Histgram</a:t>
          </a:r>
          <a:r>
            <a:rPr lang="en-US" dirty="0" smtClean="0"/>
            <a:t> of Skin Color</a:t>
          </a:r>
          <a:endParaRPr lang="en-US" dirty="0"/>
        </a:p>
      </dgm:t>
    </dgm:pt>
    <dgm:pt modelId="{ACF69420-80D9-4567-8639-771EF2E1E26C}" type="parTrans" cxnId="{1CF4F018-70AF-450C-A687-DAE13673DE44}">
      <dgm:prSet/>
      <dgm:spPr/>
      <dgm:t>
        <a:bodyPr/>
        <a:lstStyle/>
        <a:p>
          <a:endParaRPr lang="en-US"/>
        </a:p>
      </dgm:t>
    </dgm:pt>
    <dgm:pt modelId="{5539D516-0FD8-4714-81D0-FFD1C02BB99B}" type="sibTrans" cxnId="{1CF4F018-70AF-450C-A687-DAE13673DE44}">
      <dgm:prSet/>
      <dgm:spPr/>
      <dgm:t>
        <a:bodyPr/>
        <a:lstStyle/>
        <a:p>
          <a:endParaRPr lang="en-US"/>
        </a:p>
      </dgm:t>
    </dgm:pt>
    <dgm:pt modelId="{B405FC25-911D-4DD8-9C09-6B5E24445D68}">
      <dgm:prSet phldrT="[Text]"/>
      <dgm:spPr/>
      <dgm:t>
        <a:bodyPr/>
        <a:lstStyle/>
        <a:p>
          <a:r>
            <a:rPr lang="en-US" dirty="0" smtClean="0"/>
            <a:t>Detect Skin Area from </a:t>
          </a:r>
          <a:r>
            <a:rPr lang="en-US" dirty="0" err="1" smtClean="0"/>
            <a:t>CapImage</a:t>
          </a:r>
          <a:endParaRPr lang="en-US" dirty="0"/>
        </a:p>
      </dgm:t>
    </dgm:pt>
    <dgm:pt modelId="{8D32CEC3-9FD3-41F9-ABBD-5EDCCBF924BE}" type="parTrans" cxnId="{C206180E-B8CB-4292-A93D-5FFA22C57758}">
      <dgm:prSet/>
      <dgm:spPr/>
      <dgm:t>
        <a:bodyPr/>
        <a:lstStyle/>
        <a:p>
          <a:endParaRPr lang="en-US"/>
        </a:p>
      </dgm:t>
    </dgm:pt>
    <dgm:pt modelId="{6FC3A678-9023-47E0-8908-0D251774E479}" type="sibTrans" cxnId="{C206180E-B8CB-4292-A93D-5FFA22C57758}">
      <dgm:prSet/>
      <dgm:spPr/>
      <dgm:t>
        <a:bodyPr/>
        <a:lstStyle/>
        <a:p>
          <a:endParaRPr lang="en-US"/>
        </a:p>
      </dgm:t>
    </dgm:pt>
    <dgm:pt modelId="{FA84200C-B236-490E-A1DB-3F7D77AE4709}">
      <dgm:prSet phldrT="[Text]"/>
      <dgm:spPr/>
      <dgm:t>
        <a:bodyPr/>
        <a:lstStyle/>
        <a:p>
          <a:r>
            <a:rPr lang="en-US" dirty="0" err="1" smtClean="0"/>
            <a:t>Calc</a:t>
          </a:r>
          <a:r>
            <a:rPr lang="en-US" dirty="0" smtClean="0"/>
            <a:t> the Largest Skin Area</a:t>
          </a:r>
          <a:endParaRPr lang="en-US" dirty="0"/>
        </a:p>
      </dgm:t>
    </dgm:pt>
    <dgm:pt modelId="{249494F0-8393-4370-B176-1183F4AD213A}" type="parTrans" cxnId="{250FD909-2F67-490F-9F8C-BB73BE9F820F}">
      <dgm:prSet/>
      <dgm:spPr/>
      <dgm:t>
        <a:bodyPr/>
        <a:lstStyle/>
        <a:p>
          <a:endParaRPr lang="en-US"/>
        </a:p>
      </dgm:t>
    </dgm:pt>
    <dgm:pt modelId="{B034FA9C-04EB-407A-BA60-E028D9DD1F6D}" type="sibTrans" cxnId="{250FD909-2F67-490F-9F8C-BB73BE9F820F}">
      <dgm:prSet/>
      <dgm:spPr/>
      <dgm:t>
        <a:bodyPr/>
        <a:lstStyle/>
        <a:p>
          <a:endParaRPr lang="en-US"/>
        </a:p>
      </dgm:t>
    </dgm:pt>
    <dgm:pt modelId="{89F0D722-DFD9-4F2E-A7F1-CE2975A88182}">
      <dgm:prSet phldrT="[Text]"/>
      <dgm:spPr/>
      <dgm:t>
        <a:bodyPr/>
        <a:lstStyle/>
        <a:p>
          <a:r>
            <a:rPr lang="en-US" dirty="0" smtClean="0"/>
            <a:t>Matching </a:t>
          </a:r>
          <a:r>
            <a:rPr lang="en-US" dirty="0" err="1" smtClean="0"/>
            <a:t>Histgrams</a:t>
          </a:r>
          <a:endParaRPr lang="en-US" dirty="0"/>
        </a:p>
      </dgm:t>
    </dgm:pt>
    <dgm:pt modelId="{85732247-3EB8-4483-B142-DB990026CB08}" type="parTrans" cxnId="{D629EC20-C197-49FF-929D-A7AB9E8C6D50}">
      <dgm:prSet/>
      <dgm:spPr/>
      <dgm:t>
        <a:bodyPr/>
        <a:lstStyle/>
        <a:p>
          <a:endParaRPr lang="en-US"/>
        </a:p>
      </dgm:t>
    </dgm:pt>
    <dgm:pt modelId="{91E233C7-B0CE-4D4D-9339-2C16DB360311}" type="sibTrans" cxnId="{D629EC20-C197-49FF-929D-A7AB9E8C6D50}">
      <dgm:prSet/>
      <dgm:spPr/>
      <dgm:t>
        <a:bodyPr/>
        <a:lstStyle/>
        <a:p>
          <a:endParaRPr lang="en-US"/>
        </a:p>
      </dgm:t>
    </dgm:pt>
    <dgm:pt modelId="{46CAC7EA-BE1A-4E2B-80B3-29891BCB9864}" type="pres">
      <dgm:prSet presAssocID="{A56A8240-87FA-427E-906A-458D9F8153CB}" presName="linearFlow" presStyleCnt="0">
        <dgm:presLayoutVars>
          <dgm:resizeHandles val="exact"/>
        </dgm:presLayoutVars>
      </dgm:prSet>
      <dgm:spPr/>
    </dgm:pt>
    <dgm:pt modelId="{24E63BF1-CAF5-4DC7-8DF5-B9E9D707A096}" type="pres">
      <dgm:prSet presAssocID="{E8499721-23D3-4BD8-A0E7-1BA5A5EADE6E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DC8256-2CD3-4AB4-B6DB-341E35525E56}" type="pres">
      <dgm:prSet presAssocID="{5539D516-0FD8-4714-81D0-FFD1C02BB99B}" presName="sibTrans" presStyleLbl="sibTrans2D1" presStyleIdx="0" presStyleCnt="3"/>
      <dgm:spPr/>
      <dgm:t>
        <a:bodyPr/>
        <a:lstStyle/>
        <a:p>
          <a:endParaRPr lang="en-US"/>
        </a:p>
      </dgm:t>
    </dgm:pt>
    <dgm:pt modelId="{908AB0E3-D27B-49CB-AD6B-2455B0B6368D}" type="pres">
      <dgm:prSet presAssocID="{5539D516-0FD8-4714-81D0-FFD1C02BB99B}" presName="connectorText" presStyleLbl="sibTrans2D1" presStyleIdx="0" presStyleCnt="3"/>
      <dgm:spPr/>
      <dgm:t>
        <a:bodyPr/>
        <a:lstStyle/>
        <a:p>
          <a:endParaRPr lang="en-US"/>
        </a:p>
      </dgm:t>
    </dgm:pt>
    <dgm:pt modelId="{32F29FEC-AE4A-4041-ABE0-29B8972BE49D}" type="pres">
      <dgm:prSet presAssocID="{B405FC25-911D-4DD8-9C09-6B5E24445D68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D99B7D1-5E32-4CCB-B493-5B8891546827}" type="pres">
      <dgm:prSet presAssocID="{6FC3A678-9023-47E0-8908-0D251774E479}" presName="sibTrans" presStyleLbl="sibTrans2D1" presStyleIdx="1" presStyleCnt="3" custLinFactX="17218" custLinFactNeighborX="100000" custLinFactNeighborY="-8014"/>
      <dgm:spPr/>
      <dgm:t>
        <a:bodyPr/>
        <a:lstStyle/>
        <a:p>
          <a:endParaRPr lang="en-US"/>
        </a:p>
      </dgm:t>
    </dgm:pt>
    <dgm:pt modelId="{FA107727-9121-470F-B561-EB08E1CFA3AA}" type="pres">
      <dgm:prSet presAssocID="{6FC3A678-9023-47E0-8908-0D251774E479}" presName="connectorText" presStyleLbl="sibTrans2D1" presStyleIdx="1" presStyleCnt="3"/>
      <dgm:spPr/>
      <dgm:t>
        <a:bodyPr/>
        <a:lstStyle/>
        <a:p>
          <a:endParaRPr lang="en-US"/>
        </a:p>
      </dgm:t>
    </dgm:pt>
    <dgm:pt modelId="{4CF08702-8238-4F88-A270-54EBE356F70F}" type="pres">
      <dgm:prSet presAssocID="{FA84200C-B236-490E-A1DB-3F7D77AE4709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BD1D62C-4449-443B-B0DA-4D2E44234D60}" type="pres">
      <dgm:prSet presAssocID="{B034FA9C-04EB-407A-BA60-E028D9DD1F6D}" presName="sibTrans" presStyleLbl="sibTrans2D1" presStyleIdx="2" presStyleCnt="3"/>
      <dgm:spPr/>
      <dgm:t>
        <a:bodyPr/>
        <a:lstStyle/>
        <a:p>
          <a:endParaRPr lang="en-US"/>
        </a:p>
      </dgm:t>
    </dgm:pt>
    <dgm:pt modelId="{D6A219EB-179C-469B-88D8-EB056C46451B}" type="pres">
      <dgm:prSet presAssocID="{B034FA9C-04EB-407A-BA60-E028D9DD1F6D}" presName="connectorText" presStyleLbl="sibTrans2D1" presStyleIdx="2" presStyleCnt="3"/>
      <dgm:spPr/>
      <dgm:t>
        <a:bodyPr/>
        <a:lstStyle/>
        <a:p>
          <a:endParaRPr lang="en-US"/>
        </a:p>
      </dgm:t>
    </dgm:pt>
    <dgm:pt modelId="{38BD61E9-00DE-451F-A68E-109F808EFE2E}" type="pres">
      <dgm:prSet presAssocID="{89F0D722-DFD9-4F2E-A7F1-CE2975A88182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4033F45-BB4D-4FEE-8554-62F5A4FA261E}" type="presOf" srcId="{5539D516-0FD8-4714-81D0-FFD1C02BB99B}" destId="{9FDC8256-2CD3-4AB4-B6DB-341E35525E56}" srcOrd="0" destOrd="0" presId="urn:microsoft.com/office/officeart/2005/8/layout/process2"/>
    <dgm:cxn modelId="{99E83BA7-43B8-4D79-A2ED-B57505C361E8}" type="presOf" srcId="{89F0D722-DFD9-4F2E-A7F1-CE2975A88182}" destId="{38BD61E9-00DE-451F-A68E-109F808EFE2E}" srcOrd="0" destOrd="0" presId="urn:microsoft.com/office/officeart/2005/8/layout/process2"/>
    <dgm:cxn modelId="{C4A2F228-0F97-4B44-AED8-D69664A215F7}" type="presOf" srcId="{B405FC25-911D-4DD8-9C09-6B5E24445D68}" destId="{32F29FEC-AE4A-4041-ABE0-29B8972BE49D}" srcOrd="0" destOrd="0" presId="urn:microsoft.com/office/officeart/2005/8/layout/process2"/>
    <dgm:cxn modelId="{F4F1CA9D-F916-4609-80F6-48EF96F44FE4}" type="presOf" srcId="{A56A8240-87FA-427E-906A-458D9F8153CB}" destId="{46CAC7EA-BE1A-4E2B-80B3-29891BCB9864}" srcOrd="0" destOrd="0" presId="urn:microsoft.com/office/officeart/2005/8/layout/process2"/>
    <dgm:cxn modelId="{11D8ECE6-1761-4CB9-BA77-FFBCBFD6653A}" type="presOf" srcId="{6FC3A678-9023-47E0-8908-0D251774E479}" destId="{0D99B7D1-5E32-4CCB-B493-5B8891546827}" srcOrd="0" destOrd="0" presId="urn:microsoft.com/office/officeart/2005/8/layout/process2"/>
    <dgm:cxn modelId="{1633380F-712E-4598-ABED-1530DBDFB2FE}" type="presOf" srcId="{FA84200C-B236-490E-A1DB-3F7D77AE4709}" destId="{4CF08702-8238-4F88-A270-54EBE356F70F}" srcOrd="0" destOrd="0" presId="urn:microsoft.com/office/officeart/2005/8/layout/process2"/>
    <dgm:cxn modelId="{EADC7837-6FB5-4081-831C-CC9814F14C37}" type="presOf" srcId="{E8499721-23D3-4BD8-A0E7-1BA5A5EADE6E}" destId="{24E63BF1-CAF5-4DC7-8DF5-B9E9D707A096}" srcOrd="0" destOrd="0" presId="urn:microsoft.com/office/officeart/2005/8/layout/process2"/>
    <dgm:cxn modelId="{250FD909-2F67-490F-9F8C-BB73BE9F820F}" srcId="{A56A8240-87FA-427E-906A-458D9F8153CB}" destId="{FA84200C-B236-490E-A1DB-3F7D77AE4709}" srcOrd="2" destOrd="0" parTransId="{249494F0-8393-4370-B176-1183F4AD213A}" sibTransId="{B034FA9C-04EB-407A-BA60-E028D9DD1F6D}"/>
    <dgm:cxn modelId="{769CCD71-B672-4544-9F14-3DBB25F507EF}" type="presOf" srcId="{6FC3A678-9023-47E0-8908-0D251774E479}" destId="{FA107727-9121-470F-B561-EB08E1CFA3AA}" srcOrd="1" destOrd="0" presId="urn:microsoft.com/office/officeart/2005/8/layout/process2"/>
    <dgm:cxn modelId="{C206180E-B8CB-4292-A93D-5FFA22C57758}" srcId="{A56A8240-87FA-427E-906A-458D9F8153CB}" destId="{B405FC25-911D-4DD8-9C09-6B5E24445D68}" srcOrd="1" destOrd="0" parTransId="{8D32CEC3-9FD3-41F9-ABBD-5EDCCBF924BE}" sibTransId="{6FC3A678-9023-47E0-8908-0D251774E479}"/>
    <dgm:cxn modelId="{D629EC20-C197-49FF-929D-A7AB9E8C6D50}" srcId="{A56A8240-87FA-427E-906A-458D9F8153CB}" destId="{89F0D722-DFD9-4F2E-A7F1-CE2975A88182}" srcOrd="3" destOrd="0" parTransId="{85732247-3EB8-4483-B142-DB990026CB08}" sibTransId="{91E233C7-B0CE-4D4D-9339-2C16DB360311}"/>
    <dgm:cxn modelId="{2A16933D-70F1-4641-A069-49D14A156A14}" type="presOf" srcId="{B034FA9C-04EB-407A-BA60-E028D9DD1F6D}" destId="{5BD1D62C-4449-443B-B0DA-4D2E44234D60}" srcOrd="0" destOrd="0" presId="urn:microsoft.com/office/officeart/2005/8/layout/process2"/>
    <dgm:cxn modelId="{D90B7547-4003-409F-B05C-3D9BEFFFDA4E}" type="presOf" srcId="{B034FA9C-04EB-407A-BA60-E028D9DD1F6D}" destId="{D6A219EB-179C-469B-88D8-EB056C46451B}" srcOrd="1" destOrd="0" presId="urn:microsoft.com/office/officeart/2005/8/layout/process2"/>
    <dgm:cxn modelId="{1CF4F018-70AF-450C-A687-DAE13673DE44}" srcId="{A56A8240-87FA-427E-906A-458D9F8153CB}" destId="{E8499721-23D3-4BD8-A0E7-1BA5A5EADE6E}" srcOrd="0" destOrd="0" parTransId="{ACF69420-80D9-4567-8639-771EF2E1E26C}" sibTransId="{5539D516-0FD8-4714-81D0-FFD1C02BB99B}"/>
    <dgm:cxn modelId="{45CF41C2-0808-4A53-81DC-8BA7FC29B8EE}" type="presOf" srcId="{5539D516-0FD8-4714-81D0-FFD1C02BB99B}" destId="{908AB0E3-D27B-49CB-AD6B-2455B0B6368D}" srcOrd="1" destOrd="0" presId="urn:microsoft.com/office/officeart/2005/8/layout/process2"/>
    <dgm:cxn modelId="{DEDAFD5A-E7E0-457A-A857-35CB5F52AC7C}" type="presParOf" srcId="{46CAC7EA-BE1A-4E2B-80B3-29891BCB9864}" destId="{24E63BF1-CAF5-4DC7-8DF5-B9E9D707A096}" srcOrd="0" destOrd="0" presId="urn:microsoft.com/office/officeart/2005/8/layout/process2"/>
    <dgm:cxn modelId="{E1EFA8D4-8F55-4BFD-855D-1242FD8FD7E6}" type="presParOf" srcId="{46CAC7EA-BE1A-4E2B-80B3-29891BCB9864}" destId="{9FDC8256-2CD3-4AB4-B6DB-341E35525E56}" srcOrd="1" destOrd="0" presId="urn:microsoft.com/office/officeart/2005/8/layout/process2"/>
    <dgm:cxn modelId="{3FFBCA71-804C-4EF9-9B63-164A42837A70}" type="presParOf" srcId="{9FDC8256-2CD3-4AB4-B6DB-341E35525E56}" destId="{908AB0E3-D27B-49CB-AD6B-2455B0B6368D}" srcOrd="0" destOrd="0" presId="urn:microsoft.com/office/officeart/2005/8/layout/process2"/>
    <dgm:cxn modelId="{8295A366-74A6-4D1C-88E0-838E39643A8C}" type="presParOf" srcId="{46CAC7EA-BE1A-4E2B-80B3-29891BCB9864}" destId="{32F29FEC-AE4A-4041-ABE0-29B8972BE49D}" srcOrd="2" destOrd="0" presId="urn:microsoft.com/office/officeart/2005/8/layout/process2"/>
    <dgm:cxn modelId="{EAFE4BF5-8B11-40E7-B6A1-F0B29E0C3627}" type="presParOf" srcId="{46CAC7EA-BE1A-4E2B-80B3-29891BCB9864}" destId="{0D99B7D1-5E32-4CCB-B493-5B8891546827}" srcOrd="3" destOrd="0" presId="urn:microsoft.com/office/officeart/2005/8/layout/process2"/>
    <dgm:cxn modelId="{4370773A-6B6E-4F74-8556-36D5B7E6D99F}" type="presParOf" srcId="{0D99B7D1-5E32-4CCB-B493-5B8891546827}" destId="{FA107727-9121-470F-B561-EB08E1CFA3AA}" srcOrd="0" destOrd="0" presId="urn:microsoft.com/office/officeart/2005/8/layout/process2"/>
    <dgm:cxn modelId="{FC39B190-C2E8-4FB6-B6DE-C00CA80307BC}" type="presParOf" srcId="{46CAC7EA-BE1A-4E2B-80B3-29891BCB9864}" destId="{4CF08702-8238-4F88-A270-54EBE356F70F}" srcOrd="4" destOrd="0" presId="urn:microsoft.com/office/officeart/2005/8/layout/process2"/>
    <dgm:cxn modelId="{BEAC6188-E27D-4A86-9206-92085863D873}" type="presParOf" srcId="{46CAC7EA-BE1A-4E2B-80B3-29891BCB9864}" destId="{5BD1D62C-4449-443B-B0DA-4D2E44234D60}" srcOrd="5" destOrd="0" presId="urn:microsoft.com/office/officeart/2005/8/layout/process2"/>
    <dgm:cxn modelId="{A3DE00C2-19F3-4244-8B39-964E4E188226}" type="presParOf" srcId="{5BD1D62C-4449-443B-B0DA-4D2E44234D60}" destId="{D6A219EB-179C-469B-88D8-EB056C46451B}" srcOrd="0" destOrd="0" presId="urn:microsoft.com/office/officeart/2005/8/layout/process2"/>
    <dgm:cxn modelId="{09718C92-5EE6-4A45-91EF-2D52379E09E7}" type="presParOf" srcId="{46CAC7EA-BE1A-4E2B-80B3-29891BCB9864}" destId="{38BD61E9-00DE-451F-A68E-109F808EFE2E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56A8240-87FA-427E-906A-458D9F8153CB}" type="doc">
      <dgm:prSet loTypeId="urn:microsoft.com/office/officeart/2005/8/layout/process2" loCatId="process" qsTypeId="urn:microsoft.com/office/officeart/2005/8/quickstyle/simple5" qsCatId="simple" csTypeId="urn:microsoft.com/office/officeart/2005/8/colors/colorful5" csCatId="colorful" phldr="1"/>
      <dgm:spPr/>
    </dgm:pt>
    <dgm:pt modelId="{E8499721-23D3-4BD8-A0E7-1BA5A5EADE6E}">
      <dgm:prSet phldrT="[Text]"/>
      <dgm:spPr/>
      <dgm:t>
        <a:bodyPr/>
        <a:lstStyle/>
        <a:p>
          <a:r>
            <a:rPr lang="en-US" dirty="0" err="1" smtClean="0"/>
            <a:t>Histgram</a:t>
          </a:r>
          <a:endParaRPr lang="en-US" dirty="0"/>
        </a:p>
      </dgm:t>
    </dgm:pt>
    <dgm:pt modelId="{ACF69420-80D9-4567-8639-771EF2E1E26C}" type="parTrans" cxnId="{1CF4F018-70AF-450C-A687-DAE13673DE44}">
      <dgm:prSet/>
      <dgm:spPr/>
      <dgm:t>
        <a:bodyPr/>
        <a:lstStyle/>
        <a:p>
          <a:endParaRPr lang="en-US"/>
        </a:p>
      </dgm:t>
    </dgm:pt>
    <dgm:pt modelId="{5539D516-0FD8-4714-81D0-FFD1C02BB99B}" type="sibTrans" cxnId="{1CF4F018-70AF-450C-A687-DAE13673DE44}">
      <dgm:prSet/>
      <dgm:spPr/>
      <dgm:t>
        <a:bodyPr/>
        <a:lstStyle/>
        <a:p>
          <a:endParaRPr lang="en-US"/>
        </a:p>
      </dgm:t>
    </dgm:pt>
    <dgm:pt modelId="{B405FC25-911D-4DD8-9C09-6B5E24445D68}">
      <dgm:prSet phldrT="[Text]"/>
      <dgm:spPr/>
      <dgm:t>
        <a:bodyPr/>
        <a:lstStyle/>
        <a:p>
          <a:r>
            <a:rPr lang="en-US" dirty="0" smtClean="0"/>
            <a:t>Convex Hull</a:t>
          </a:r>
          <a:endParaRPr lang="en-US" dirty="0"/>
        </a:p>
      </dgm:t>
    </dgm:pt>
    <dgm:pt modelId="{8D32CEC3-9FD3-41F9-ABBD-5EDCCBF924BE}" type="parTrans" cxnId="{C206180E-B8CB-4292-A93D-5FFA22C57758}">
      <dgm:prSet/>
      <dgm:spPr/>
      <dgm:t>
        <a:bodyPr/>
        <a:lstStyle/>
        <a:p>
          <a:endParaRPr lang="en-US"/>
        </a:p>
      </dgm:t>
    </dgm:pt>
    <dgm:pt modelId="{6FC3A678-9023-47E0-8908-0D251774E479}" type="sibTrans" cxnId="{C206180E-B8CB-4292-A93D-5FFA22C57758}">
      <dgm:prSet/>
      <dgm:spPr/>
      <dgm:t>
        <a:bodyPr/>
        <a:lstStyle/>
        <a:p>
          <a:endParaRPr lang="en-US"/>
        </a:p>
      </dgm:t>
    </dgm:pt>
    <dgm:pt modelId="{FA84200C-B236-490E-A1DB-3F7D77AE4709}">
      <dgm:prSet phldrT="[Text]"/>
      <dgm:spPr/>
      <dgm:t>
        <a:bodyPr/>
        <a:lstStyle/>
        <a:p>
          <a:r>
            <a:rPr lang="en-US" dirty="0" smtClean="0"/>
            <a:t>Labeling</a:t>
          </a:r>
          <a:endParaRPr lang="en-US" dirty="0"/>
        </a:p>
      </dgm:t>
    </dgm:pt>
    <dgm:pt modelId="{249494F0-8393-4370-B176-1183F4AD213A}" type="parTrans" cxnId="{250FD909-2F67-490F-9F8C-BB73BE9F820F}">
      <dgm:prSet/>
      <dgm:spPr/>
      <dgm:t>
        <a:bodyPr/>
        <a:lstStyle/>
        <a:p>
          <a:endParaRPr lang="en-US"/>
        </a:p>
      </dgm:t>
    </dgm:pt>
    <dgm:pt modelId="{B034FA9C-04EB-407A-BA60-E028D9DD1F6D}" type="sibTrans" cxnId="{250FD909-2F67-490F-9F8C-BB73BE9F820F}">
      <dgm:prSet/>
      <dgm:spPr/>
      <dgm:t>
        <a:bodyPr/>
        <a:lstStyle/>
        <a:p>
          <a:endParaRPr lang="en-US"/>
        </a:p>
      </dgm:t>
    </dgm:pt>
    <dgm:pt modelId="{89F0D722-DFD9-4F2E-A7F1-CE2975A88182}">
      <dgm:prSet phldrT="[Text]"/>
      <dgm:spPr/>
      <dgm:t>
        <a:bodyPr/>
        <a:lstStyle/>
        <a:p>
          <a:r>
            <a:rPr lang="en-US" dirty="0" smtClean="0"/>
            <a:t>Feature Point Distance</a:t>
          </a:r>
          <a:endParaRPr lang="en-US" dirty="0"/>
        </a:p>
      </dgm:t>
    </dgm:pt>
    <dgm:pt modelId="{85732247-3EB8-4483-B142-DB990026CB08}" type="parTrans" cxnId="{D629EC20-C197-49FF-929D-A7AB9E8C6D50}">
      <dgm:prSet/>
      <dgm:spPr/>
      <dgm:t>
        <a:bodyPr/>
        <a:lstStyle/>
        <a:p>
          <a:endParaRPr lang="en-US"/>
        </a:p>
      </dgm:t>
    </dgm:pt>
    <dgm:pt modelId="{91E233C7-B0CE-4D4D-9339-2C16DB360311}" type="sibTrans" cxnId="{D629EC20-C197-49FF-929D-A7AB9E8C6D50}">
      <dgm:prSet/>
      <dgm:spPr/>
      <dgm:t>
        <a:bodyPr/>
        <a:lstStyle/>
        <a:p>
          <a:endParaRPr lang="en-US"/>
        </a:p>
      </dgm:t>
    </dgm:pt>
    <dgm:pt modelId="{46CAC7EA-BE1A-4E2B-80B3-29891BCB9864}" type="pres">
      <dgm:prSet presAssocID="{A56A8240-87FA-427E-906A-458D9F8153CB}" presName="linearFlow" presStyleCnt="0">
        <dgm:presLayoutVars>
          <dgm:resizeHandles val="exact"/>
        </dgm:presLayoutVars>
      </dgm:prSet>
      <dgm:spPr/>
    </dgm:pt>
    <dgm:pt modelId="{24E63BF1-CAF5-4DC7-8DF5-B9E9D707A096}" type="pres">
      <dgm:prSet presAssocID="{E8499721-23D3-4BD8-A0E7-1BA5A5EADE6E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DC8256-2CD3-4AB4-B6DB-341E35525E56}" type="pres">
      <dgm:prSet presAssocID="{5539D516-0FD8-4714-81D0-FFD1C02BB99B}" presName="sibTrans" presStyleLbl="sibTrans2D1" presStyleIdx="0" presStyleCnt="3"/>
      <dgm:spPr/>
      <dgm:t>
        <a:bodyPr/>
        <a:lstStyle/>
        <a:p>
          <a:endParaRPr lang="en-US"/>
        </a:p>
      </dgm:t>
    </dgm:pt>
    <dgm:pt modelId="{908AB0E3-D27B-49CB-AD6B-2455B0B6368D}" type="pres">
      <dgm:prSet presAssocID="{5539D516-0FD8-4714-81D0-FFD1C02BB99B}" presName="connectorText" presStyleLbl="sibTrans2D1" presStyleIdx="0" presStyleCnt="3"/>
      <dgm:spPr/>
      <dgm:t>
        <a:bodyPr/>
        <a:lstStyle/>
        <a:p>
          <a:endParaRPr lang="en-US"/>
        </a:p>
      </dgm:t>
    </dgm:pt>
    <dgm:pt modelId="{32F29FEC-AE4A-4041-ABE0-29B8972BE49D}" type="pres">
      <dgm:prSet presAssocID="{B405FC25-911D-4DD8-9C09-6B5E24445D68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D99B7D1-5E32-4CCB-B493-5B8891546827}" type="pres">
      <dgm:prSet presAssocID="{6FC3A678-9023-47E0-8908-0D251774E479}" presName="sibTrans" presStyleLbl="sibTrans2D1" presStyleIdx="1" presStyleCnt="3"/>
      <dgm:spPr/>
      <dgm:t>
        <a:bodyPr/>
        <a:lstStyle/>
        <a:p>
          <a:endParaRPr lang="en-US"/>
        </a:p>
      </dgm:t>
    </dgm:pt>
    <dgm:pt modelId="{FA107727-9121-470F-B561-EB08E1CFA3AA}" type="pres">
      <dgm:prSet presAssocID="{6FC3A678-9023-47E0-8908-0D251774E479}" presName="connectorText" presStyleLbl="sibTrans2D1" presStyleIdx="1" presStyleCnt="3"/>
      <dgm:spPr/>
      <dgm:t>
        <a:bodyPr/>
        <a:lstStyle/>
        <a:p>
          <a:endParaRPr lang="en-US"/>
        </a:p>
      </dgm:t>
    </dgm:pt>
    <dgm:pt modelId="{4CF08702-8238-4F88-A270-54EBE356F70F}" type="pres">
      <dgm:prSet presAssocID="{FA84200C-B236-490E-A1DB-3F7D77AE4709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BD1D62C-4449-443B-B0DA-4D2E44234D60}" type="pres">
      <dgm:prSet presAssocID="{B034FA9C-04EB-407A-BA60-E028D9DD1F6D}" presName="sibTrans" presStyleLbl="sibTrans2D1" presStyleIdx="2" presStyleCnt="3"/>
      <dgm:spPr/>
      <dgm:t>
        <a:bodyPr/>
        <a:lstStyle/>
        <a:p>
          <a:endParaRPr lang="en-US"/>
        </a:p>
      </dgm:t>
    </dgm:pt>
    <dgm:pt modelId="{D6A219EB-179C-469B-88D8-EB056C46451B}" type="pres">
      <dgm:prSet presAssocID="{B034FA9C-04EB-407A-BA60-E028D9DD1F6D}" presName="connectorText" presStyleLbl="sibTrans2D1" presStyleIdx="2" presStyleCnt="3"/>
      <dgm:spPr/>
      <dgm:t>
        <a:bodyPr/>
        <a:lstStyle/>
        <a:p>
          <a:endParaRPr lang="en-US"/>
        </a:p>
      </dgm:t>
    </dgm:pt>
    <dgm:pt modelId="{38BD61E9-00DE-451F-A68E-109F808EFE2E}" type="pres">
      <dgm:prSet presAssocID="{89F0D722-DFD9-4F2E-A7F1-CE2975A88182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6C7E0F8-F69F-46FE-9689-1A860AD7B4C3}" type="presOf" srcId="{89F0D722-DFD9-4F2E-A7F1-CE2975A88182}" destId="{38BD61E9-00DE-451F-A68E-109F808EFE2E}" srcOrd="0" destOrd="0" presId="urn:microsoft.com/office/officeart/2005/8/layout/process2"/>
    <dgm:cxn modelId="{4A467F20-9AA1-4F69-A45E-A0931C03364D}" type="presOf" srcId="{FA84200C-B236-490E-A1DB-3F7D77AE4709}" destId="{4CF08702-8238-4F88-A270-54EBE356F70F}" srcOrd="0" destOrd="0" presId="urn:microsoft.com/office/officeart/2005/8/layout/process2"/>
    <dgm:cxn modelId="{448DA255-4A1D-431F-8A7D-77C9A08280B6}" type="presOf" srcId="{B405FC25-911D-4DD8-9C09-6B5E24445D68}" destId="{32F29FEC-AE4A-4041-ABE0-29B8972BE49D}" srcOrd="0" destOrd="0" presId="urn:microsoft.com/office/officeart/2005/8/layout/process2"/>
    <dgm:cxn modelId="{250FD909-2F67-490F-9F8C-BB73BE9F820F}" srcId="{A56A8240-87FA-427E-906A-458D9F8153CB}" destId="{FA84200C-B236-490E-A1DB-3F7D77AE4709}" srcOrd="2" destOrd="0" parTransId="{249494F0-8393-4370-B176-1183F4AD213A}" sibTransId="{B034FA9C-04EB-407A-BA60-E028D9DD1F6D}"/>
    <dgm:cxn modelId="{C78C6D3F-B3E1-4FE6-BC7C-1488E16899AE}" type="presOf" srcId="{A56A8240-87FA-427E-906A-458D9F8153CB}" destId="{46CAC7EA-BE1A-4E2B-80B3-29891BCB9864}" srcOrd="0" destOrd="0" presId="urn:microsoft.com/office/officeart/2005/8/layout/process2"/>
    <dgm:cxn modelId="{1CF4F018-70AF-450C-A687-DAE13673DE44}" srcId="{A56A8240-87FA-427E-906A-458D9F8153CB}" destId="{E8499721-23D3-4BD8-A0E7-1BA5A5EADE6E}" srcOrd="0" destOrd="0" parTransId="{ACF69420-80D9-4567-8639-771EF2E1E26C}" sibTransId="{5539D516-0FD8-4714-81D0-FFD1C02BB99B}"/>
    <dgm:cxn modelId="{2AAFD1B1-8319-4418-83D0-42A97DAD22D8}" type="presOf" srcId="{6FC3A678-9023-47E0-8908-0D251774E479}" destId="{0D99B7D1-5E32-4CCB-B493-5B8891546827}" srcOrd="0" destOrd="0" presId="urn:microsoft.com/office/officeart/2005/8/layout/process2"/>
    <dgm:cxn modelId="{952744A0-11E6-4979-A459-C4B665758ED9}" type="presOf" srcId="{6FC3A678-9023-47E0-8908-0D251774E479}" destId="{FA107727-9121-470F-B561-EB08E1CFA3AA}" srcOrd="1" destOrd="0" presId="urn:microsoft.com/office/officeart/2005/8/layout/process2"/>
    <dgm:cxn modelId="{1974BC3F-2153-43BD-86BE-B027B90F3161}" type="presOf" srcId="{B034FA9C-04EB-407A-BA60-E028D9DD1F6D}" destId="{D6A219EB-179C-469B-88D8-EB056C46451B}" srcOrd="1" destOrd="0" presId="urn:microsoft.com/office/officeart/2005/8/layout/process2"/>
    <dgm:cxn modelId="{D629EC20-C197-49FF-929D-A7AB9E8C6D50}" srcId="{A56A8240-87FA-427E-906A-458D9F8153CB}" destId="{89F0D722-DFD9-4F2E-A7F1-CE2975A88182}" srcOrd="3" destOrd="0" parTransId="{85732247-3EB8-4483-B142-DB990026CB08}" sibTransId="{91E233C7-B0CE-4D4D-9339-2C16DB360311}"/>
    <dgm:cxn modelId="{EF27679F-68CF-4EEB-9144-F149D75C7145}" type="presOf" srcId="{5539D516-0FD8-4714-81D0-FFD1C02BB99B}" destId="{9FDC8256-2CD3-4AB4-B6DB-341E35525E56}" srcOrd="0" destOrd="0" presId="urn:microsoft.com/office/officeart/2005/8/layout/process2"/>
    <dgm:cxn modelId="{0EA0921E-798A-4E18-8F05-712FEE76E249}" type="presOf" srcId="{B034FA9C-04EB-407A-BA60-E028D9DD1F6D}" destId="{5BD1D62C-4449-443B-B0DA-4D2E44234D60}" srcOrd="0" destOrd="0" presId="urn:microsoft.com/office/officeart/2005/8/layout/process2"/>
    <dgm:cxn modelId="{D310C0A9-EE16-41B3-ADED-F50623813695}" type="presOf" srcId="{E8499721-23D3-4BD8-A0E7-1BA5A5EADE6E}" destId="{24E63BF1-CAF5-4DC7-8DF5-B9E9D707A096}" srcOrd="0" destOrd="0" presId="urn:microsoft.com/office/officeart/2005/8/layout/process2"/>
    <dgm:cxn modelId="{9F69D236-D1CD-4582-B9E0-755FA52B6D90}" type="presOf" srcId="{5539D516-0FD8-4714-81D0-FFD1C02BB99B}" destId="{908AB0E3-D27B-49CB-AD6B-2455B0B6368D}" srcOrd="1" destOrd="0" presId="urn:microsoft.com/office/officeart/2005/8/layout/process2"/>
    <dgm:cxn modelId="{C206180E-B8CB-4292-A93D-5FFA22C57758}" srcId="{A56A8240-87FA-427E-906A-458D9F8153CB}" destId="{B405FC25-911D-4DD8-9C09-6B5E24445D68}" srcOrd="1" destOrd="0" parTransId="{8D32CEC3-9FD3-41F9-ABBD-5EDCCBF924BE}" sibTransId="{6FC3A678-9023-47E0-8908-0D251774E479}"/>
    <dgm:cxn modelId="{210225D8-23D1-41FE-8058-A08038033E24}" type="presParOf" srcId="{46CAC7EA-BE1A-4E2B-80B3-29891BCB9864}" destId="{24E63BF1-CAF5-4DC7-8DF5-B9E9D707A096}" srcOrd="0" destOrd="0" presId="urn:microsoft.com/office/officeart/2005/8/layout/process2"/>
    <dgm:cxn modelId="{F23FB9EB-9FCF-46F8-9FCE-CA12E31E4F16}" type="presParOf" srcId="{46CAC7EA-BE1A-4E2B-80B3-29891BCB9864}" destId="{9FDC8256-2CD3-4AB4-B6DB-341E35525E56}" srcOrd="1" destOrd="0" presId="urn:microsoft.com/office/officeart/2005/8/layout/process2"/>
    <dgm:cxn modelId="{B85B457E-6103-4998-93EE-6A18C78DC85A}" type="presParOf" srcId="{9FDC8256-2CD3-4AB4-B6DB-341E35525E56}" destId="{908AB0E3-D27B-49CB-AD6B-2455B0B6368D}" srcOrd="0" destOrd="0" presId="urn:microsoft.com/office/officeart/2005/8/layout/process2"/>
    <dgm:cxn modelId="{6A2E7383-EE56-4DCE-B30C-0AA29F9385BD}" type="presParOf" srcId="{46CAC7EA-BE1A-4E2B-80B3-29891BCB9864}" destId="{32F29FEC-AE4A-4041-ABE0-29B8972BE49D}" srcOrd="2" destOrd="0" presId="urn:microsoft.com/office/officeart/2005/8/layout/process2"/>
    <dgm:cxn modelId="{71E01466-4703-40B9-A440-AA249B97BAD3}" type="presParOf" srcId="{46CAC7EA-BE1A-4E2B-80B3-29891BCB9864}" destId="{0D99B7D1-5E32-4CCB-B493-5B8891546827}" srcOrd="3" destOrd="0" presId="urn:microsoft.com/office/officeart/2005/8/layout/process2"/>
    <dgm:cxn modelId="{75603614-ED82-4B0A-88F9-0E3D39D3D13E}" type="presParOf" srcId="{0D99B7D1-5E32-4CCB-B493-5B8891546827}" destId="{FA107727-9121-470F-B561-EB08E1CFA3AA}" srcOrd="0" destOrd="0" presId="urn:microsoft.com/office/officeart/2005/8/layout/process2"/>
    <dgm:cxn modelId="{138A33C3-F682-4AE3-B941-FFFB56977779}" type="presParOf" srcId="{46CAC7EA-BE1A-4E2B-80B3-29891BCB9864}" destId="{4CF08702-8238-4F88-A270-54EBE356F70F}" srcOrd="4" destOrd="0" presId="urn:microsoft.com/office/officeart/2005/8/layout/process2"/>
    <dgm:cxn modelId="{BAD764EA-5366-4C95-A365-698FC8ED62DB}" type="presParOf" srcId="{46CAC7EA-BE1A-4E2B-80B3-29891BCB9864}" destId="{5BD1D62C-4449-443B-B0DA-4D2E44234D60}" srcOrd="5" destOrd="0" presId="urn:microsoft.com/office/officeart/2005/8/layout/process2"/>
    <dgm:cxn modelId="{93C0BCF7-F875-4CF3-9899-183A333DD92E}" type="presParOf" srcId="{5BD1D62C-4449-443B-B0DA-4D2E44234D60}" destId="{D6A219EB-179C-469B-88D8-EB056C46451B}" srcOrd="0" destOrd="0" presId="urn:microsoft.com/office/officeart/2005/8/layout/process2"/>
    <dgm:cxn modelId="{1BEB8D33-1D72-4BFF-8A43-E89D41CA3478}" type="presParOf" srcId="{46CAC7EA-BE1A-4E2B-80B3-29891BCB9864}" destId="{38BD61E9-00DE-451F-A68E-109F808EFE2E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E63BF1-CAF5-4DC7-8DF5-B9E9D707A096}">
      <dsp:nvSpPr>
        <dsp:cNvPr id="0" name=""/>
        <dsp:cNvSpPr/>
      </dsp:nvSpPr>
      <dsp:spPr>
        <a:xfrm>
          <a:off x="2948723" y="2601"/>
          <a:ext cx="1874952" cy="9677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err="1" smtClean="0"/>
            <a:t>Calc</a:t>
          </a:r>
          <a:r>
            <a:rPr lang="en-US" sz="1800" kern="1200" dirty="0" smtClean="0"/>
            <a:t> </a:t>
          </a:r>
          <a:r>
            <a:rPr lang="en-US" sz="1800" kern="1200" dirty="0" err="1" smtClean="0"/>
            <a:t>Histgram</a:t>
          </a:r>
          <a:r>
            <a:rPr lang="en-US" sz="1800" kern="1200" dirty="0" smtClean="0"/>
            <a:t> of Skin Color</a:t>
          </a:r>
          <a:endParaRPr lang="en-US" sz="1800" kern="1200" dirty="0"/>
        </a:p>
      </dsp:txBody>
      <dsp:txXfrm>
        <a:off x="2977066" y="30944"/>
        <a:ext cx="1818266" cy="911031"/>
      </dsp:txXfrm>
    </dsp:sp>
    <dsp:sp modelId="{9FDC8256-2CD3-4AB4-B6DB-341E35525E56}">
      <dsp:nvSpPr>
        <dsp:cNvPr id="0" name=""/>
        <dsp:cNvSpPr/>
      </dsp:nvSpPr>
      <dsp:spPr>
        <a:xfrm rot="5400000">
          <a:off x="3704752" y="994512"/>
          <a:ext cx="362894" cy="4354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 rot="-5400000">
        <a:off x="3755557" y="1030801"/>
        <a:ext cx="261284" cy="254026"/>
      </dsp:txXfrm>
    </dsp:sp>
    <dsp:sp modelId="{32F29FEC-AE4A-4041-ABE0-29B8972BE49D}">
      <dsp:nvSpPr>
        <dsp:cNvPr id="0" name=""/>
        <dsp:cNvSpPr/>
      </dsp:nvSpPr>
      <dsp:spPr>
        <a:xfrm>
          <a:off x="2948723" y="1454177"/>
          <a:ext cx="1874952" cy="9677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227665"/>
                <a:satOff val="-19810"/>
                <a:lumOff val="-19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7665"/>
                <a:satOff val="-19810"/>
                <a:lumOff val="-19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7665"/>
                <a:satOff val="-19810"/>
                <a:lumOff val="-19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Detect Skin Area from </a:t>
          </a:r>
          <a:r>
            <a:rPr lang="en-US" sz="1800" kern="1200" dirty="0" err="1" smtClean="0"/>
            <a:t>CapImage</a:t>
          </a:r>
          <a:endParaRPr lang="en-US" sz="1800" kern="1200" dirty="0"/>
        </a:p>
      </dsp:txBody>
      <dsp:txXfrm>
        <a:off x="2977066" y="1482520"/>
        <a:ext cx="1818266" cy="911031"/>
      </dsp:txXfrm>
    </dsp:sp>
    <dsp:sp modelId="{0D99B7D1-5E32-4CCB-B493-5B8891546827}">
      <dsp:nvSpPr>
        <dsp:cNvPr id="0" name=""/>
        <dsp:cNvSpPr/>
      </dsp:nvSpPr>
      <dsp:spPr>
        <a:xfrm rot="5400000">
          <a:off x="4130130" y="2411189"/>
          <a:ext cx="362894" cy="4354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341498"/>
                <a:satOff val="-29716"/>
                <a:lumOff val="-29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41498"/>
                <a:satOff val="-29716"/>
                <a:lumOff val="-29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41498"/>
                <a:satOff val="-29716"/>
                <a:lumOff val="-29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 rot="-5400000">
        <a:off x="4180935" y="2447478"/>
        <a:ext cx="261284" cy="254026"/>
      </dsp:txXfrm>
    </dsp:sp>
    <dsp:sp modelId="{4CF08702-8238-4F88-A270-54EBE356F70F}">
      <dsp:nvSpPr>
        <dsp:cNvPr id="0" name=""/>
        <dsp:cNvSpPr/>
      </dsp:nvSpPr>
      <dsp:spPr>
        <a:xfrm>
          <a:off x="2948723" y="2905754"/>
          <a:ext cx="1874952" cy="9677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455330"/>
                <a:satOff val="-39621"/>
                <a:lumOff val="-39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5330"/>
                <a:satOff val="-39621"/>
                <a:lumOff val="-39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5330"/>
                <a:satOff val="-39621"/>
                <a:lumOff val="-39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err="1" smtClean="0"/>
            <a:t>Calc</a:t>
          </a:r>
          <a:r>
            <a:rPr lang="en-US" sz="1800" kern="1200" dirty="0" smtClean="0"/>
            <a:t> the Largest Skin Area</a:t>
          </a:r>
          <a:endParaRPr lang="en-US" sz="1800" kern="1200" dirty="0"/>
        </a:p>
      </dsp:txBody>
      <dsp:txXfrm>
        <a:off x="2977066" y="2934097"/>
        <a:ext cx="1818266" cy="911031"/>
      </dsp:txXfrm>
    </dsp:sp>
    <dsp:sp modelId="{5BD1D62C-4449-443B-B0DA-4D2E44234D60}">
      <dsp:nvSpPr>
        <dsp:cNvPr id="0" name=""/>
        <dsp:cNvSpPr/>
      </dsp:nvSpPr>
      <dsp:spPr>
        <a:xfrm rot="5400000">
          <a:off x="3704752" y="3897665"/>
          <a:ext cx="362894" cy="4354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682995"/>
                <a:satOff val="-59431"/>
                <a:lumOff val="-58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82995"/>
                <a:satOff val="-59431"/>
                <a:lumOff val="-58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82995"/>
                <a:satOff val="-59431"/>
                <a:lumOff val="-58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 rot="-5400000">
        <a:off x="3755557" y="3933954"/>
        <a:ext cx="261284" cy="254026"/>
      </dsp:txXfrm>
    </dsp:sp>
    <dsp:sp modelId="{38BD61E9-00DE-451F-A68E-109F808EFE2E}">
      <dsp:nvSpPr>
        <dsp:cNvPr id="0" name=""/>
        <dsp:cNvSpPr/>
      </dsp:nvSpPr>
      <dsp:spPr>
        <a:xfrm>
          <a:off x="2948723" y="4357330"/>
          <a:ext cx="1874952" cy="9677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682995"/>
                <a:satOff val="-59431"/>
                <a:lumOff val="-58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82995"/>
                <a:satOff val="-59431"/>
                <a:lumOff val="-58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82995"/>
                <a:satOff val="-59431"/>
                <a:lumOff val="-58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Matching </a:t>
          </a:r>
          <a:r>
            <a:rPr lang="en-US" sz="1800" kern="1200" dirty="0" err="1" smtClean="0"/>
            <a:t>Histgrams</a:t>
          </a:r>
          <a:endParaRPr lang="en-US" sz="1800" kern="1200" dirty="0"/>
        </a:p>
      </dsp:txBody>
      <dsp:txXfrm>
        <a:off x="2977066" y="4385673"/>
        <a:ext cx="1818266" cy="9110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E63BF1-CAF5-4DC7-8DF5-B9E9D707A096}">
      <dsp:nvSpPr>
        <dsp:cNvPr id="0" name=""/>
        <dsp:cNvSpPr/>
      </dsp:nvSpPr>
      <dsp:spPr>
        <a:xfrm>
          <a:off x="1649334" y="2601"/>
          <a:ext cx="1741891" cy="9677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err="1" smtClean="0"/>
            <a:t>Histgram</a:t>
          </a:r>
          <a:endParaRPr lang="en-US" sz="2000" kern="1200" dirty="0"/>
        </a:p>
      </dsp:txBody>
      <dsp:txXfrm>
        <a:off x="1677677" y="30944"/>
        <a:ext cx="1685205" cy="911031"/>
      </dsp:txXfrm>
    </dsp:sp>
    <dsp:sp modelId="{9FDC8256-2CD3-4AB4-B6DB-341E35525E56}">
      <dsp:nvSpPr>
        <dsp:cNvPr id="0" name=""/>
        <dsp:cNvSpPr/>
      </dsp:nvSpPr>
      <dsp:spPr>
        <a:xfrm rot="5400000">
          <a:off x="2338832" y="994512"/>
          <a:ext cx="362894" cy="4354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/>
        </a:p>
      </dsp:txBody>
      <dsp:txXfrm rot="-5400000">
        <a:off x="2389637" y="1030801"/>
        <a:ext cx="261284" cy="254026"/>
      </dsp:txXfrm>
    </dsp:sp>
    <dsp:sp modelId="{32F29FEC-AE4A-4041-ABE0-29B8972BE49D}">
      <dsp:nvSpPr>
        <dsp:cNvPr id="0" name=""/>
        <dsp:cNvSpPr/>
      </dsp:nvSpPr>
      <dsp:spPr>
        <a:xfrm>
          <a:off x="1649334" y="1454177"/>
          <a:ext cx="1741891" cy="9677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227665"/>
                <a:satOff val="-19810"/>
                <a:lumOff val="-19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7665"/>
                <a:satOff val="-19810"/>
                <a:lumOff val="-19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7665"/>
                <a:satOff val="-19810"/>
                <a:lumOff val="-19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Convex Hull</a:t>
          </a:r>
          <a:endParaRPr lang="en-US" sz="2000" kern="1200" dirty="0"/>
        </a:p>
      </dsp:txBody>
      <dsp:txXfrm>
        <a:off x="1677677" y="1482520"/>
        <a:ext cx="1685205" cy="911031"/>
      </dsp:txXfrm>
    </dsp:sp>
    <dsp:sp modelId="{0D99B7D1-5E32-4CCB-B493-5B8891546827}">
      <dsp:nvSpPr>
        <dsp:cNvPr id="0" name=""/>
        <dsp:cNvSpPr/>
      </dsp:nvSpPr>
      <dsp:spPr>
        <a:xfrm rot="5400000">
          <a:off x="2338832" y="2446088"/>
          <a:ext cx="362894" cy="4354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341498"/>
                <a:satOff val="-29716"/>
                <a:lumOff val="-29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41498"/>
                <a:satOff val="-29716"/>
                <a:lumOff val="-29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41498"/>
                <a:satOff val="-29716"/>
                <a:lumOff val="-29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/>
        </a:p>
      </dsp:txBody>
      <dsp:txXfrm rot="-5400000">
        <a:off x="2389637" y="2482377"/>
        <a:ext cx="261284" cy="254026"/>
      </dsp:txXfrm>
    </dsp:sp>
    <dsp:sp modelId="{4CF08702-8238-4F88-A270-54EBE356F70F}">
      <dsp:nvSpPr>
        <dsp:cNvPr id="0" name=""/>
        <dsp:cNvSpPr/>
      </dsp:nvSpPr>
      <dsp:spPr>
        <a:xfrm>
          <a:off x="1649334" y="2905754"/>
          <a:ext cx="1741891" cy="9677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455330"/>
                <a:satOff val="-39621"/>
                <a:lumOff val="-39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5330"/>
                <a:satOff val="-39621"/>
                <a:lumOff val="-39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5330"/>
                <a:satOff val="-39621"/>
                <a:lumOff val="-39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Labeling</a:t>
          </a:r>
          <a:endParaRPr lang="en-US" sz="2000" kern="1200" dirty="0"/>
        </a:p>
      </dsp:txBody>
      <dsp:txXfrm>
        <a:off x="1677677" y="2934097"/>
        <a:ext cx="1685205" cy="911031"/>
      </dsp:txXfrm>
    </dsp:sp>
    <dsp:sp modelId="{5BD1D62C-4449-443B-B0DA-4D2E44234D60}">
      <dsp:nvSpPr>
        <dsp:cNvPr id="0" name=""/>
        <dsp:cNvSpPr/>
      </dsp:nvSpPr>
      <dsp:spPr>
        <a:xfrm rot="5400000">
          <a:off x="2338832" y="3897665"/>
          <a:ext cx="362894" cy="4354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682995"/>
                <a:satOff val="-59431"/>
                <a:lumOff val="-58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82995"/>
                <a:satOff val="-59431"/>
                <a:lumOff val="-58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82995"/>
                <a:satOff val="-59431"/>
                <a:lumOff val="-58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/>
        </a:p>
      </dsp:txBody>
      <dsp:txXfrm rot="-5400000">
        <a:off x="2389637" y="3933954"/>
        <a:ext cx="261284" cy="254026"/>
      </dsp:txXfrm>
    </dsp:sp>
    <dsp:sp modelId="{38BD61E9-00DE-451F-A68E-109F808EFE2E}">
      <dsp:nvSpPr>
        <dsp:cNvPr id="0" name=""/>
        <dsp:cNvSpPr/>
      </dsp:nvSpPr>
      <dsp:spPr>
        <a:xfrm>
          <a:off x="1649334" y="4357330"/>
          <a:ext cx="1741891" cy="9677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682995"/>
                <a:satOff val="-59431"/>
                <a:lumOff val="-58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82995"/>
                <a:satOff val="-59431"/>
                <a:lumOff val="-58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82995"/>
                <a:satOff val="-59431"/>
                <a:lumOff val="-58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Feature Point Distance</a:t>
          </a:r>
          <a:endParaRPr lang="en-US" sz="2000" kern="1200" dirty="0"/>
        </a:p>
      </dsp:txBody>
      <dsp:txXfrm>
        <a:off x="1677677" y="4385673"/>
        <a:ext cx="1685205" cy="9110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ja-JP"/>
          </a:p>
        </p:txBody>
      </p:sp>
      <p:sp>
        <p:nvSpPr>
          <p:cNvPr id="11267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54450" y="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ja-JP"/>
          </a:p>
        </p:txBody>
      </p:sp>
      <p:sp>
        <p:nvSpPr>
          <p:cNvPr id="11268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0" y="746125"/>
            <a:ext cx="4967288" cy="3725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269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1225"/>
            <a:ext cx="5443537" cy="4471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11270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0863"/>
            <a:ext cx="2949575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ja-JP"/>
          </a:p>
        </p:txBody>
      </p:sp>
      <p:sp>
        <p:nvSpPr>
          <p:cNvPr id="11271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4450" y="9440863"/>
            <a:ext cx="2949575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A09F16D-A5D2-4AEA-B0EF-699BC8DB2050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494149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ED71AB-1AB1-49AC-B815-075566572DC1}" type="slidenum">
              <a:rPr lang="en-US" altLang="ja-JP"/>
              <a:pPr/>
              <a:t>1</a:t>
            </a:fld>
            <a:endParaRPr lang="en-US" altLang="ja-JP"/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800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ED71AB-1AB1-49AC-B815-075566572DC1}" type="slidenum">
              <a:rPr lang="en-US" altLang="ja-JP"/>
              <a:pPr/>
              <a:t>40</a:t>
            </a:fld>
            <a:endParaRPr lang="en-US" altLang="ja-JP"/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96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33400" y="119697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ja-JP" noProof="0" smtClean="0"/>
              <a:t>Click to edit Master title style</a:t>
            </a:r>
            <a:endParaRPr lang="ja-JP" altLang="en-US" noProof="0" smtClean="0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533400" y="2924175"/>
            <a:ext cx="4105275" cy="1752600"/>
          </a:xfrm>
        </p:spPr>
        <p:txBody>
          <a:bodyPr/>
          <a:lstStyle>
            <a:lvl1pPr marL="0" indent="0">
              <a:buFont typeface="Times" panose="02020603050405020304" pitchFamily="18" charset="0"/>
              <a:buNone/>
              <a:defRPr sz="2400"/>
            </a:lvl1pPr>
          </a:lstStyle>
          <a:p>
            <a:pPr lvl="0"/>
            <a:r>
              <a:rPr lang="en-US" altLang="ja-JP" noProof="0" smtClean="0"/>
              <a:t>Click to edit Master subtitle style</a:t>
            </a:r>
            <a:endParaRPr lang="ja-JP" altLang="en-US" noProof="0" smtClean="0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563938" y="6589713"/>
            <a:ext cx="1090612" cy="268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900">
                <a:latin typeface="+mn-lt"/>
              </a:defRPr>
            </a:lvl1pPr>
          </a:lstStyle>
          <a:p>
            <a:endParaRPr lang="en-US" altLang="ja-JP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643438" y="6596063"/>
            <a:ext cx="4033837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</a:defRPr>
            </a:lvl1pPr>
          </a:lstStyle>
          <a:p>
            <a:r>
              <a:rPr lang="en-US" altLang="ja-JP"/>
              <a:t>©SIProp Project, 2006-2008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01088" y="6578600"/>
            <a:ext cx="442912" cy="27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</a:defRPr>
            </a:lvl1pPr>
          </a:lstStyle>
          <a:p>
            <a:fld id="{E96569D1-15AB-4E5A-B692-F1A00763D9D9}" type="slidenum">
              <a:rPr lang="en-US" altLang="ja-JP"/>
              <a:pPr/>
              <a:t>‹#›</a:t>
            </a:fld>
            <a:endParaRPr lang="en-US" altLang="ja-JP"/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0" y="2743200"/>
            <a:ext cx="9144000" cy="714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0255" name="Picture 15" descr="siprop-b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6" name="Picture 16" descr="siprop-whit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" y="2844800"/>
            <a:ext cx="349250" cy="116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7" name="Picture 17" descr="siprop-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343400"/>
            <a:ext cx="3622675" cy="209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094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9762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25538"/>
            <a:ext cx="3810000" cy="53276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125538"/>
            <a:ext cx="3810000" cy="53276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6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74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258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4911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123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586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271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0"/>
            <a:ext cx="1943100" cy="64531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6613" y="0"/>
            <a:ext cx="5678487" cy="64531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729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Rectangle 18"/>
          <p:cNvSpPr>
            <a:spLocks noChangeArrowheads="1"/>
          </p:cNvSpPr>
          <p:nvPr/>
        </p:nvSpPr>
        <p:spPr bwMode="auto">
          <a:xfrm>
            <a:off x="0" y="838200"/>
            <a:ext cx="9144000" cy="714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36613" y="0"/>
            <a:ext cx="7772400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125538"/>
            <a:ext cx="7772400" cy="532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3563938" y="6589713"/>
            <a:ext cx="1090612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ja-JP" sz="900">
              <a:latin typeface="ＭＳ Ｐゴシック" panose="020B0600070205080204" pitchFamily="50" charset="-128"/>
            </a:endParaRPr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4643438" y="6596063"/>
            <a:ext cx="403383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r>
              <a:rPr lang="en-US" altLang="ja-JP" sz="1000">
                <a:latin typeface="ＭＳ Ｐゴシック" panose="020B0600070205080204" pitchFamily="50" charset="-128"/>
              </a:rPr>
              <a:t>©SIProp Project, 2006-2008</a:t>
            </a:r>
          </a:p>
        </p:txBody>
      </p:sp>
      <p:sp>
        <p:nvSpPr>
          <p:cNvPr id="1037" name="Rectangle 13"/>
          <p:cNvSpPr>
            <a:spLocks noChangeArrowheads="1"/>
          </p:cNvSpPr>
          <p:nvPr/>
        </p:nvSpPr>
        <p:spPr bwMode="auto">
          <a:xfrm>
            <a:off x="8701088" y="6578600"/>
            <a:ext cx="442912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fld id="{2A7930ED-31C0-4461-B235-95703576676C}" type="slidenum">
              <a:rPr lang="en-US" altLang="ja-JP" sz="1000">
                <a:latin typeface="ＭＳ Ｐゴシック" panose="020B0600070205080204" pitchFamily="50" charset="-128"/>
              </a:rPr>
              <a:pPr algn="r"/>
              <a:t>‹#›</a:t>
            </a:fld>
            <a:endParaRPr lang="en-US" altLang="ja-JP" sz="1000">
              <a:latin typeface="ＭＳ Ｐゴシック" panose="020B0600070205080204" pitchFamily="50" charset="-128"/>
            </a:endParaRPr>
          </a:p>
        </p:txBody>
      </p:sp>
      <p:pic>
        <p:nvPicPr>
          <p:cNvPr id="1044" name="Picture 20" descr="siprop-bar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21" descr="siprop-logo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9863" y="0"/>
            <a:ext cx="1354137" cy="784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siprop-white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" y="2844800"/>
            <a:ext cx="349250" cy="116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Times" panose="02020603050405020304" pitchFamily="18" charset="0"/>
        <a:buBlip>
          <a:blip r:embed="rId16"/>
        </a:buBlip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8"/>
        </a:buBlip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9"/>
        </a:buBlip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20"/>
        </a:buBlip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mazon.com/dp/0321933885/" TargetMode="External"/><Relationship Id="rId2" Type="http://schemas.openxmlformats.org/officeDocument/2006/relationships/hyperlink" Target="http://www.amazon.com/dp/0321502795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4.png"/><Relationship Id="rId7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hyperlink" Target="http://www.opengl.org/registry/doc/GLSLangSpec.4.20.8.clean.pdf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kasahara.elec.waseda.ac.jp/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://openmp.org/wp/openmp-specifications/" TargetMode="External"/><Relationship Id="rId2" Type="http://schemas.openxmlformats.org/officeDocument/2006/relationships/hyperlink" Target="http://openmp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gi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hyperlink" Target="http://recursify.com/blog/2013/08/09/openmp-on-android-tls-workaround" TargetMode="Externa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://www.arm.com/products/tools/software-tools/ds-5/index.php" TargetMode="Externa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©SIProp Project, 2006-2008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2F11F904-56FD-4A1A-A7FA-EEA3E1D1CC61}" type="slidenum">
              <a:rPr lang="en-US" altLang="ja-JP"/>
              <a:pPr/>
              <a:t>1</a:t>
            </a:fld>
            <a:endParaRPr lang="en-US" altLang="ja-JP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ctrTitle"/>
          </p:nvPr>
        </p:nvSpPr>
        <p:spPr>
          <a:xfrm>
            <a:off x="533400" y="1352550"/>
            <a:ext cx="8167688" cy="1143000"/>
          </a:xfrm>
        </p:spPr>
        <p:txBody>
          <a:bodyPr/>
          <a:lstStyle/>
          <a:p>
            <a:r>
              <a:rPr lang="en-US" altLang="ja-JP" dirty="0" smtClean="0"/>
              <a:t>About OpenGL/ES</a:t>
            </a:r>
            <a:endParaRPr lang="en-US" dirty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Noritsuna</a:t>
            </a:r>
            <a:r>
              <a:rPr lang="en-US" dirty="0" smtClean="0"/>
              <a:t> Imamura</a:t>
            </a:r>
          </a:p>
          <a:p>
            <a:r>
              <a:rPr lang="en-US" dirty="0" smtClean="0"/>
              <a:t>noritsuna@siprop.org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780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What’s OpenGL?</a:t>
            </a:r>
          </a:p>
          <a:p>
            <a:pPr lvl="1"/>
            <a:r>
              <a:rPr lang="en-US" dirty="0" smtClean="0"/>
              <a:t>Kind of OpenGL</a:t>
            </a:r>
          </a:p>
          <a:p>
            <a:pPr lvl="1"/>
            <a:r>
              <a:rPr lang="en-US" dirty="0" err="1" smtClean="0"/>
              <a:t>Vertions</a:t>
            </a:r>
            <a:endParaRPr lang="en-US" dirty="0" smtClean="0"/>
          </a:p>
          <a:p>
            <a:r>
              <a:rPr lang="en-US" dirty="0" smtClean="0"/>
              <a:t>Hello 3D World</a:t>
            </a:r>
          </a:p>
          <a:p>
            <a:pPr lvl="1"/>
            <a:r>
              <a:rPr lang="en-US" dirty="0" smtClean="0"/>
              <a:t>World</a:t>
            </a:r>
          </a:p>
          <a:p>
            <a:pPr lvl="1"/>
            <a:r>
              <a:rPr lang="en-US" dirty="0" smtClean="0"/>
              <a:t>Polygon</a:t>
            </a:r>
          </a:p>
          <a:p>
            <a:pPr lvl="1"/>
            <a:r>
              <a:rPr lang="en-US" dirty="0" smtClean="0"/>
              <a:t>Projection</a:t>
            </a:r>
          </a:p>
          <a:p>
            <a:pPr lvl="1"/>
            <a:r>
              <a:rPr lang="en-US" dirty="0" smtClean="0"/>
              <a:t>Lighting</a:t>
            </a:r>
          </a:p>
          <a:p>
            <a:pPr lvl="1"/>
            <a:r>
              <a:rPr lang="en-US" dirty="0" smtClean="0"/>
              <a:t>Texture</a:t>
            </a:r>
          </a:p>
          <a:p>
            <a:r>
              <a:rPr lang="en-US" dirty="0" smtClean="0"/>
              <a:t>Hands on</a:t>
            </a:r>
          </a:p>
          <a:p>
            <a:pPr lvl="1"/>
            <a:r>
              <a:rPr lang="en-US" dirty="0" smtClean="0"/>
              <a:t>Use OpenGL/ES 2.0</a:t>
            </a:r>
          </a:p>
          <a:p>
            <a:pPr lvl="2"/>
            <a:r>
              <a:rPr lang="en-US" dirty="0" err="1" smtClean="0"/>
              <a:t>Shader</a:t>
            </a:r>
            <a:r>
              <a:rPr lang="en-US" dirty="0" smtClean="0"/>
              <a:t> Programming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326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What’s OpenGL?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OpenGL is 3D Graphic API.</a:t>
            </a:r>
          </a:p>
          <a:p>
            <a:pPr lvl="1"/>
            <a:r>
              <a:rPr lang="en-US" dirty="0" smtClean="0"/>
              <a:t>Made by SGI</a:t>
            </a:r>
          </a:p>
          <a:p>
            <a:pPr lvl="1"/>
            <a:r>
              <a:rPr lang="en-US" dirty="0" smtClean="0"/>
              <a:t>Since: 1992</a:t>
            </a:r>
          </a:p>
          <a:p>
            <a:pPr lvl="1"/>
            <a:r>
              <a:rPr lang="en-US" dirty="0" smtClean="0"/>
              <a:t>Current Version: 4.4</a:t>
            </a:r>
          </a:p>
          <a:p>
            <a:pPr lvl="1"/>
            <a:r>
              <a:rPr lang="en-US" altLang="ja-JP" dirty="0" smtClean="0"/>
              <a:t>Architecture: PIPE Line Process</a:t>
            </a:r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243" y="908050"/>
            <a:ext cx="2303314" cy="186095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3395680"/>
            <a:ext cx="5476875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446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</a:t>
            </a:r>
            <a:r>
              <a:rPr lang="en-US" dirty="0" smtClean="0"/>
              <a:t>OpenGL/ES?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OpenGL is 3D Graphic </a:t>
            </a:r>
            <a:r>
              <a:rPr lang="en-US" dirty="0" smtClean="0"/>
              <a:t>API for Embedded.</a:t>
            </a:r>
          </a:p>
          <a:p>
            <a:pPr lvl="1"/>
            <a:r>
              <a:rPr lang="en-US" altLang="ja-JP" dirty="0" smtClean="0"/>
              <a:t>Subset from OpenGL</a:t>
            </a:r>
            <a:endParaRPr lang="en-US" dirty="0" smtClean="0"/>
          </a:p>
          <a:p>
            <a:pPr lvl="1"/>
            <a:r>
              <a:rPr lang="en-US" dirty="0" smtClean="0"/>
              <a:t>Since: 2003</a:t>
            </a:r>
          </a:p>
          <a:p>
            <a:pPr lvl="1"/>
            <a:r>
              <a:rPr lang="en-US" dirty="0" smtClean="0"/>
              <a:t>Current Version: 3.0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749459"/>
              </p:ext>
            </p:extLst>
          </p:nvPr>
        </p:nvGraphicFramePr>
        <p:xfrm>
          <a:off x="1259632" y="3898736"/>
          <a:ext cx="691276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6823"/>
                <a:gridCol w="2285652"/>
                <a:gridCol w="220029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Android Version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Android</a:t>
                      </a:r>
                      <a:r>
                        <a:rPr lang="en-US" sz="2400" baseline="0" dirty="0" smtClean="0"/>
                        <a:t> API Level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OpenGL/ES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1.0(Apple Pie)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1.0, 1.1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2.2(</a:t>
                      </a:r>
                      <a:r>
                        <a:rPr lang="en-US" sz="2400" dirty="0" err="1" smtClean="0"/>
                        <a:t>Froyo</a:t>
                      </a:r>
                      <a:r>
                        <a:rPr lang="en-US" sz="2400" dirty="0" smtClean="0"/>
                        <a:t>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8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2.0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4.3(</a:t>
                      </a:r>
                      <a:r>
                        <a:rPr lang="en-US" altLang="ja-JP" sz="2400" dirty="0" err="1" smtClean="0"/>
                        <a:t>JerryBeans</a:t>
                      </a:r>
                      <a:r>
                        <a:rPr lang="en-US" altLang="ja-JP" sz="2400" dirty="0" smtClean="0"/>
                        <a:t>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18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3.0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4332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Bible of OpenGL/ES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OpenGL/ES </a:t>
            </a:r>
            <a:r>
              <a:rPr lang="en-US" dirty="0" smtClean="0"/>
              <a:t>2.0 </a:t>
            </a:r>
            <a:r>
              <a:rPr lang="en-US" dirty="0"/>
              <a:t>Programming </a:t>
            </a:r>
            <a:r>
              <a:rPr lang="en-US" altLang="ja-JP" dirty="0"/>
              <a:t>G</a:t>
            </a:r>
            <a:r>
              <a:rPr lang="en-US" dirty="0"/>
              <a:t>uide</a:t>
            </a:r>
          </a:p>
          <a:p>
            <a:pPr lvl="1"/>
            <a:r>
              <a:rPr lang="en-US" dirty="0">
                <a:hlinkClick r:id="rId2"/>
              </a:rPr>
              <a:t>http://www.amazon.com/dp/0321502795/</a:t>
            </a:r>
            <a:endParaRPr lang="en-US" dirty="0" smtClean="0"/>
          </a:p>
          <a:p>
            <a:r>
              <a:rPr lang="en-US" dirty="0" smtClean="0"/>
              <a:t>OpenGL/ES </a:t>
            </a:r>
            <a:r>
              <a:rPr lang="en-US" dirty="0"/>
              <a:t>3.0 </a:t>
            </a:r>
            <a:r>
              <a:rPr lang="en-US" dirty="0" smtClean="0"/>
              <a:t>Programming </a:t>
            </a:r>
            <a:r>
              <a:rPr lang="en-US" altLang="ja-JP" dirty="0" smtClean="0"/>
              <a:t>G</a:t>
            </a:r>
            <a:r>
              <a:rPr lang="en-US" dirty="0" smtClean="0"/>
              <a:t>uide</a:t>
            </a:r>
          </a:p>
          <a:p>
            <a:pPr lvl="1"/>
            <a:r>
              <a:rPr lang="en-US" dirty="0">
                <a:hlinkClick r:id="rId3"/>
              </a:rPr>
              <a:t>http://www.amazon.com/dp/0321933885/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3249712"/>
            <a:ext cx="2620458" cy="34209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3249712"/>
            <a:ext cx="2654669" cy="342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546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5125479"/>
              </p:ext>
            </p:extLst>
          </p:nvPr>
        </p:nvGraphicFramePr>
        <p:xfrm>
          <a:off x="539552" y="217760"/>
          <a:ext cx="8352928" cy="645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56"/>
                <a:gridCol w="1872208"/>
                <a:gridCol w="2088232"/>
                <a:gridCol w="208823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Function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1.0/1.1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2.0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3.0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ja-JP" dirty="0" smtClean="0">
                          <a:solidFill>
                            <a:schemeClr val="tx1"/>
                          </a:solidFill>
                        </a:rPr>
                        <a:t>Compatibility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>
                          <a:solidFill>
                            <a:schemeClr val="tx1"/>
                          </a:solidFill>
                        </a:rPr>
                        <a:t>ー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>
                          <a:solidFill>
                            <a:schemeClr val="tx1"/>
                          </a:solidFill>
                        </a:rPr>
                        <a:t>ー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2.0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Programmable</a:t>
                      </a:r>
                      <a:r>
                        <a:rPr lang="en-US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ja-JP" baseline="0" dirty="0" err="1" smtClean="0">
                          <a:solidFill>
                            <a:srgbClr val="FF0000"/>
                          </a:solidFill>
                        </a:rPr>
                        <a:t>Shader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>
                          <a:solidFill>
                            <a:srgbClr val="FF0000"/>
                          </a:solidFill>
                        </a:rPr>
                        <a:t>ー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GLSL ES 1.0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GLSL ES 3.0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Transform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</a:rPr>
                        <a:t> Feedback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>
                          <a:solidFill>
                            <a:schemeClr val="tx1"/>
                          </a:solidFill>
                        </a:rPr>
                        <a:t>ー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>
                          <a:solidFill>
                            <a:schemeClr val="tx1"/>
                          </a:solidFill>
                        </a:rPr>
                        <a:t>ー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Supported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ja-JP" dirty="0" smtClean="0"/>
                        <a:t>Geometry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glNormal</a:t>
                      </a:r>
                      <a:endParaRPr lang="en-US" dirty="0" smtClean="0"/>
                    </a:p>
                    <a:p>
                      <a:pPr algn="ctr"/>
                      <a:r>
                        <a:rPr lang="en-US" dirty="0" err="1" smtClean="0"/>
                        <a:t>glVertexPointer</a:t>
                      </a:r>
                      <a:endParaRPr lang="en-US" dirty="0" smtClean="0"/>
                    </a:p>
                    <a:p>
                      <a:pPr algn="ctr"/>
                      <a:r>
                        <a:rPr lang="en-US" dirty="0" err="1" smtClean="0"/>
                        <a:t>glNormalPointer</a:t>
                      </a:r>
                      <a:endParaRPr lang="en-US" dirty="0" smtClean="0"/>
                    </a:p>
                    <a:p>
                      <a:pPr algn="ctr"/>
                      <a:r>
                        <a:rPr lang="en-US" dirty="0" err="1" smtClean="0"/>
                        <a:t>glTexCordPointe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glVertexAttribPointer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glVertexAttribPointer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Matrix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glMatrixMode</a:t>
                      </a:r>
                      <a:endParaRPr lang="en-US" dirty="0" smtClean="0"/>
                    </a:p>
                    <a:p>
                      <a:pPr algn="ctr"/>
                      <a:r>
                        <a:rPr lang="en-US" dirty="0" err="1" smtClean="0"/>
                        <a:t>glLoadIdentity</a:t>
                      </a:r>
                      <a:endParaRPr lang="en-US" dirty="0" smtClean="0"/>
                    </a:p>
                    <a:p>
                      <a:pPr algn="ctr"/>
                      <a:r>
                        <a:rPr lang="en-US" dirty="0" err="1" smtClean="0"/>
                        <a:t>glPushMatrix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/>
                        <a:t>ー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/>
                        <a:t>ー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Lighting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glLight</a:t>
                      </a:r>
                      <a:r>
                        <a:rPr lang="en-US" dirty="0" smtClean="0"/>
                        <a:t>/</a:t>
                      </a:r>
                      <a:r>
                        <a:rPr lang="en-US" dirty="0" err="1" smtClean="0"/>
                        <a:t>glMaterial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/>
                        <a:t>ー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/>
                        <a:t>ー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Fog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glFog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/>
                        <a:t>ー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/>
                        <a:t>ー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Alpha Test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glAlphaFunc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/>
                        <a:t>ー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/>
                        <a:t>ー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Point Stripe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glTexEnv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/>
                        <a:t>ー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/>
                        <a:t>ー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User Clip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glClipPlane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/>
                        <a:t>ー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/>
                        <a:t>ー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Logic Operation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glLogicOp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/>
                        <a:t>ー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/>
                        <a:t>ー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FrameBuffer</a:t>
                      </a:r>
                      <a:r>
                        <a:rPr lang="en-US" dirty="0" smtClean="0"/>
                        <a:t> Object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Supported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Supported</a:t>
                      </a:r>
                    </a:p>
                    <a:p>
                      <a:pPr algn="ctr"/>
                      <a:r>
                        <a:rPr lang="en-US" dirty="0" smtClean="0"/>
                        <a:t>Multi-Buffer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6868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dirty="0" smtClean="0"/>
          </a:p>
          <a:p>
            <a:pPr algn="ctr"/>
            <a:r>
              <a:rPr lang="en-US" altLang="ja-JP" sz="3600" dirty="0" smtClean="0"/>
              <a:t>Hello 3D World!!!</a:t>
            </a:r>
          </a:p>
        </p:txBody>
      </p:sp>
    </p:spTree>
    <p:extLst>
      <p:ext uri="{BB962C8B-B14F-4D97-AF65-F5344CB8AC3E}">
        <p14:creationId xmlns:p14="http://schemas.microsoft.com/office/powerpoint/2010/main" val="653019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What’s 3D World?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5538"/>
            <a:ext cx="7772400" cy="1925821"/>
          </a:xfrm>
        </p:spPr>
        <p:txBody>
          <a:bodyPr/>
          <a:lstStyle/>
          <a:p>
            <a:r>
              <a:rPr lang="en-US" dirty="0"/>
              <a:t>F</a:t>
            </a:r>
            <a:r>
              <a:rPr lang="en-US" dirty="0" smtClean="0"/>
              <a:t>rame </a:t>
            </a:r>
            <a:r>
              <a:rPr lang="en-US" dirty="0"/>
              <a:t>of </a:t>
            </a:r>
            <a:r>
              <a:rPr lang="en-US" dirty="0" smtClean="0"/>
              <a:t>Reference</a:t>
            </a:r>
          </a:p>
          <a:p>
            <a:pPr lvl="1"/>
            <a:r>
              <a:rPr lang="en-US" dirty="0" smtClean="0"/>
              <a:t>World</a:t>
            </a:r>
          </a:p>
          <a:p>
            <a:pPr lvl="1"/>
            <a:r>
              <a:rPr lang="en-US" dirty="0" smtClean="0"/>
              <a:t>Model(Object)</a:t>
            </a:r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729165" y="749998"/>
            <a:ext cx="8318540" cy="5644575"/>
            <a:chOff x="729165" y="749998"/>
            <a:chExt cx="8318540" cy="5644575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9165" y="2852936"/>
              <a:ext cx="3554803" cy="3541637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0893" y="749998"/>
              <a:ext cx="3206812" cy="3183058"/>
            </a:xfrm>
            <a:prstGeom prst="rect">
              <a:avLst/>
            </a:prstGeom>
          </p:spPr>
        </p:pic>
        <p:sp>
          <p:nvSpPr>
            <p:cNvPr id="7" name="Striped Right Arrow 6"/>
            <p:cNvSpPr/>
            <p:nvPr/>
          </p:nvSpPr>
          <p:spPr bwMode="auto">
            <a:xfrm rot="20434143">
              <a:off x="4400913" y="3260816"/>
              <a:ext cx="1374654" cy="674094"/>
            </a:xfrm>
            <a:prstGeom prst="striped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endParaRPr>
            </a:p>
          </p:txBody>
        </p:sp>
      </p:grp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5256445" y="4541231"/>
            <a:ext cx="3888432" cy="1696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Blip>
                <a:blip r:embed="rId4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Coordinates</a:t>
            </a:r>
          </a:p>
          <a:p>
            <a:pPr lvl="1"/>
            <a:r>
              <a:rPr lang="en-US" dirty="0" smtClean="0"/>
              <a:t>Vertex</a:t>
            </a:r>
          </a:p>
          <a:p>
            <a:pPr lvl="1"/>
            <a:r>
              <a:rPr lang="en-US" dirty="0" smtClean="0"/>
              <a:t>Index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496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How to Draw Polygon?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TRIANGLE_STRIP</a:t>
            </a:r>
          </a:p>
          <a:p>
            <a:pPr lvl="1"/>
            <a:r>
              <a:rPr lang="en-US" dirty="0"/>
              <a:t>Joint 2 Points</a:t>
            </a:r>
          </a:p>
          <a:p>
            <a:r>
              <a:rPr lang="en-US" dirty="0" smtClean="0"/>
              <a:t>TRIANGLES</a:t>
            </a:r>
          </a:p>
          <a:p>
            <a:pPr lvl="1"/>
            <a:r>
              <a:rPr lang="en-US" dirty="0" smtClean="0"/>
              <a:t>Draw each Triangle</a:t>
            </a:r>
          </a:p>
          <a:p>
            <a:r>
              <a:rPr lang="en-US" dirty="0" smtClean="0"/>
              <a:t>TRIANGLE_FAN</a:t>
            </a:r>
          </a:p>
          <a:p>
            <a:pPr lvl="1"/>
            <a:r>
              <a:rPr lang="en-US" dirty="0" smtClean="0"/>
              <a:t>Joint 2 Points, but MUST use 1</a:t>
            </a:r>
            <a:r>
              <a:rPr lang="en-US" baseline="30000" dirty="0" smtClean="0"/>
              <a:t>st</a:t>
            </a:r>
            <a:r>
              <a:rPr lang="en-US" dirty="0" smtClean="0"/>
              <a:t> Point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QUAD_STRIP</a:t>
            </a:r>
          </a:p>
          <a:p>
            <a:pPr lvl="1"/>
            <a:r>
              <a:rPr lang="en-US" dirty="0"/>
              <a:t>Joint 2 Points</a:t>
            </a:r>
          </a:p>
          <a:p>
            <a:r>
              <a:rPr lang="en-US" dirty="0" smtClean="0"/>
              <a:t>QUAD</a:t>
            </a:r>
          </a:p>
          <a:p>
            <a:pPr lvl="1"/>
            <a:r>
              <a:rPr lang="en-US" dirty="0"/>
              <a:t>Draw </a:t>
            </a:r>
            <a:r>
              <a:rPr lang="en-US" dirty="0" smtClean="0"/>
              <a:t>each </a:t>
            </a:r>
            <a:r>
              <a:rPr lang="en-US" altLang="ja-JP" dirty="0" smtClean="0"/>
              <a:t>Square</a:t>
            </a:r>
          </a:p>
          <a:p>
            <a:r>
              <a:rPr lang="en-US" dirty="0" smtClean="0"/>
              <a:t>POLYGON</a:t>
            </a:r>
          </a:p>
          <a:p>
            <a:pPr lvl="1"/>
            <a:r>
              <a:rPr lang="en-US" dirty="0" smtClean="0"/>
              <a:t>Draw as Polygon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86"/>
          <a:stretch/>
        </p:blipFill>
        <p:spPr>
          <a:xfrm>
            <a:off x="2289175" y="4309986"/>
            <a:ext cx="4867275" cy="254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581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Set in the World?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After Making Model, Set it to the World Frame.</a:t>
            </a:r>
          </a:p>
          <a:p>
            <a:pPr lvl="1"/>
            <a:r>
              <a:rPr lang="en-US" dirty="0" smtClean="0"/>
              <a:t>Affine</a:t>
            </a:r>
            <a:r>
              <a:rPr lang="en-US" dirty="0"/>
              <a:t> Transform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11560" y="2204864"/>
            <a:ext cx="4752528" cy="3528392"/>
            <a:chOff x="729165" y="749998"/>
            <a:chExt cx="8318540" cy="5644575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9165" y="2852936"/>
              <a:ext cx="3554803" cy="3541637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0893" y="749998"/>
              <a:ext cx="3206812" cy="3183058"/>
            </a:xfrm>
            <a:prstGeom prst="rect">
              <a:avLst/>
            </a:prstGeom>
          </p:spPr>
        </p:pic>
        <p:sp>
          <p:nvSpPr>
            <p:cNvPr id="7" name="Striped Right Arrow 6"/>
            <p:cNvSpPr/>
            <p:nvPr/>
          </p:nvSpPr>
          <p:spPr bwMode="auto">
            <a:xfrm rot="9042350">
              <a:off x="4400914" y="3260816"/>
              <a:ext cx="1374654" cy="674094"/>
            </a:xfrm>
            <a:prstGeom prst="striped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anose="020B0600070205080204" pitchFamily="50" charset="-128"/>
              </a:endParaRPr>
            </a:p>
          </p:txBody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9085" y="4194576"/>
            <a:ext cx="3836519" cy="240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563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is your V</a:t>
            </a:r>
            <a:r>
              <a:rPr lang="en-US" altLang="ja-JP" dirty="0" smtClean="0"/>
              <a:t>iewpoint(</a:t>
            </a:r>
            <a:r>
              <a:rPr lang="en-US" dirty="0" smtClean="0"/>
              <a:t>Viewport)?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25538"/>
            <a:ext cx="4525888" cy="5327650"/>
          </a:xfrm>
        </p:spPr>
        <p:txBody>
          <a:bodyPr/>
          <a:lstStyle/>
          <a:p>
            <a:r>
              <a:rPr lang="en-US" dirty="0" smtClean="0"/>
              <a:t>Perspective Projection</a:t>
            </a:r>
          </a:p>
          <a:p>
            <a:pPr lvl="1"/>
            <a:r>
              <a:rPr lang="en-US" dirty="0" err="1" smtClean="0"/>
              <a:t>zNear</a:t>
            </a:r>
            <a:endParaRPr lang="en-US" dirty="0" smtClean="0"/>
          </a:p>
          <a:p>
            <a:pPr lvl="2"/>
            <a:r>
              <a:rPr lang="en-US" dirty="0" smtClean="0"/>
              <a:t>Minimum Viewpoint of Z-Axis</a:t>
            </a:r>
          </a:p>
          <a:p>
            <a:pPr lvl="1"/>
            <a:r>
              <a:rPr lang="en-US" dirty="0" err="1" smtClean="0"/>
              <a:t>zFar</a:t>
            </a:r>
            <a:endParaRPr lang="en-US" dirty="0" smtClean="0"/>
          </a:p>
          <a:p>
            <a:pPr lvl="2"/>
            <a:r>
              <a:rPr lang="en-US" dirty="0" smtClean="0"/>
              <a:t>Maximum Viewpoint of Z-Axis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800600" y="1125538"/>
            <a:ext cx="4343400" cy="5327650"/>
          </a:xfrm>
        </p:spPr>
        <p:txBody>
          <a:bodyPr/>
          <a:lstStyle/>
          <a:p>
            <a:endParaRPr lang="en-US" dirty="0" smtClean="0"/>
          </a:p>
          <a:p>
            <a:pPr lvl="1"/>
            <a:r>
              <a:rPr lang="en-US" dirty="0" err="1"/>
              <a:t>fovy</a:t>
            </a:r>
            <a:endParaRPr lang="en-US" dirty="0"/>
          </a:p>
          <a:p>
            <a:pPr lvl="2"/>
            <a:r>
              <a:rPr lang="en-US" dirty="0"/>
              <a:t>Angle of view of Y-Axis</a:t>
            </a:r>
          </a:p>
          <a:p>
            <a:pPr lvl="1"/>
            <a:r>
              <a:rPr lang="en-US" dirty="0"/>
              <a:t>aspect</a:t>
            </a:r>
          </a:p>
          <a:p>
            <a:pPr lvl="2"/>
            <a:r>
              <a:rPr lang="en-US" dirty="0"/>
              <a:t>Width/height of </a:t>
            </a:r>
            <a:r>
              <a:rPr lang="en-US" dirty="0" err="1"/>
              <a:t>RealWindow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323"/>
          <a:stretch/>
        </p:blipFill>
        <p:spPr>
          <a:xfrm>
            <a:off x="1979712" y="3645024"/>
            <a:ext cx="5461818" cy="303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669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 you see them?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Z-Buffer</a:t>
            </a:r>
          </a:p>
          <a:p>
            <a:pPr lvl="1"/>
            <a:r>
              <a:rPr lang="en-US" dirty="0" smtClean="0"/>
              <a:t>ON</a:t>
            </a:r>
            <a:r>
              <a:rPr lang="en-US" dirty="0"/>
              <a:t> </a:t>
            </a:r>
            <a:r>
              <a:rPr lang="en-US" dirty="0" smtClean="0"/>
              <a:t>=&gt; Draw by Z-Axis</a:t>
            </a:r>
          </a:p>
          <a:p>
            <a:pPr lvl="1"/>
            <a:r>
              <a:rPr lang="en-US" dirty="0" smtClean="0"/>
              <a:t>OFF =&gt; Draw by Sort of Drawing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Alpha Blending</a:t>
            </a:r>
          </a:p>
          <a:p>
            <a:pPr lvl="1"/>
            <a:r>
              <a:rPr lang="en-US" dirty="0" smtClean="0"/>
              <a:t>ON =&gt; Color is Blended with Back Model</a:t>
            </a:r>
          </a:p>
          <a:p>
            <a:pPr lvl="1"/>
            <a:r>
              <a:rPr lang="en-US" dirty="0" smtClean="0"/>
              <a:t>OFF =&gt; No See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3787724"/>
            <a:ext cx="6349442" cy="2809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441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There is Dark…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Positional Light</a:t>
            </a:r>
          </a:p>
          <a:p>
            <a:pPr lvl="1"/>
            <a:r>
              <a:rPr lang="en-US" altLang="ja-JP" dirty="0"/>
              <a:t>R</a:t>
            </a:r>
            <a:r>
              <a:rPr lang="en-US" altLang="ja-JP" dirty="0" smtClean="0"/>
              <a:t>adiate </a:t>
            </a:r>
            <a:r>
              <a:rPr lang="en-US" altLang="ja-JP" dirty="0"/>
              <a:t>in all </a:t>
            </a:r>
            <a:r>
              <a:rPr lang="en-US" altLang="ja-JP" dirty="0" smtClean="0"/>
              <a:t>directions</a:t>
            </a:r>
            <a:endParaRPr lang="en-US" dirty="0" smtClean="0"/>
          </a:p>
          <a:p>
            <a:r>
              <a:rPr lang="en-US" dirty="0" smtClean="0"/>
              <a:t>Directional Light</a:t>
            </a:r>
          </a:p>
          <a:p>
            <a:pPr lvl="1"/>
            <a:r>
              <a:rPr lang="en-US" altLang="ja-JP" dirty="0"/>
              <a:t>P</a:t>
            </a:r>
            <a:r>
              <a:rPr lang="en-US" altLang="ja-JP" dirty="0" smtClean="0"/>
              <a:t>arallel in all directions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4509120"/>
            <a:ext cx="4461229" cy="208954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908050"/>
            <a:ext cx="4290616" cy="3241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262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Bad Surface…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Put Texture Image to Model.</a:t>
            </a:r>
          </a:p>
          <a:p>
            <a:pPr lvl="1"/>
            <a:r>
              <a:rPr lang="en-US" dirty="0" smtClean="0"/>
              <a:t>UV-Mapping (U-</a:t>
            </a:r>
            <a:r>
              <a:rPr lang="en-US" altLang="ja-JP" dirty="0" smtClean="0"/>
              <a:t>horizontal, V-vertical</a:t>
            </a:r>
            <a:r>
              <a:rPr lang="en-US" dirty="0" smtClean="0"/>
              <a:t>)</a:t>
            </a:r>
          </a:p>
          <a:p>
            <a:pPr lvl="2"/>
            <a:r>
              <a:rPr lang="en-US" dirty="0" smtClean="0"/>
              <a:t>Set Relation Between Texture Pixel and Model Vertex.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152" y="3497535"/>
            <a:ext cx="3048000" cy="31718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01" y="2780928"/>
            <a:ext cx="4020039" cy="4020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043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Programing?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 Fixed Function Pipeline in OpenGL/ES </a:t>
            </a:r>
            <a:r>
              <a:rPr lang="en-US" dirty="0" smtClean="0">
                <a:solidFill>
                  <a:srgbClr val="FF0000"/>
                </a:solidFill>
              </a:rPr>
              <a:t>1.1</a:t>
            </a:r>
          </a:p>
          <a:p>
            <a:pPr lvl="1"/>
            <a:r>
              <a:rPr lang="en-US" dirty="0" err="1" smtClean="0"/>
              <a:t>glScale</a:t>
            </a:r>
            <a:r>
              <a:rPr lang="en-US" dirty="0" smtClean="0"/>
              <a:t>(x</a:t>
            </a:r>
            <a:r>
              <a:rPr lang="en-US" dirty="0"/>
              <a:t>, y, </a:t>
            </a:r>
            <a:r>
              <a:rPr lang="en-US" dirty="0" smtClean="0"/>
              <a:t>z), </a:t>
            </a:r>
          </a:p>
          <a:p>
            <a:pPr lvl="1"/>
            <a:r>
              <a:rPr lang="en-US" dirty="0" err="1" smtClean="0"/>
              <a:t>glRotate</a:t>
            </a:r>
            <a:r>
              <a:rPr lang="en-US" dirty="0" smtClean="0"/>
              <a:t>(Angle</a:t>
            </a:r>
            <a:r>
              <a:rPr lang="en-US" dirty="0"/>
              <a:t>, </a:t>
            </a:r>
            <a:r>
              <a:rPr lang="en-US" dirty="0" err="1"/>
              <a:t>x_moment</a:t>
            </a:r>
            <a:r>
              <a:rPr lang="en-US" dirty="0"/>
              <a:t>, </a:t>
            </a:r>
            <a:r>
              <a:rPr lang="en-US" dirty="0" err="1"/>
              <a:t>y_moment</a:t>
            </a:r>
            <a:r>
              <a:rPr lang="en-US" dirty="0"/>
              <a:t>, </a:t>
            </a:r>
            <a:r>
              <a:rPr lang="en-US" dirty="0" err="1"/>
              <a:t>z_moment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glTranslate</a:t>
            </a:r>
            <a:r>
              <a:rPr lang="en-US" dirty="0"/>
              <a:t>(x, y, z)</a:t>
            </a:r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3069336"/>
            <a:ext cx="5832648" cy="367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1917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</a:t>
            </a:r>
            <a:r>
              <a:rPr lang="en-US" dirty="0" smtClean="0"/>
              <a:t>Programing in 2.0or3.0?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 Programmable Pipeline</a:t>
            </a:r>
          </a:p>
          <a:p>
            <a:pPr lvl="1"/>
            <a:r>
              <a:rPr lang="en-US" dirty="0" err="1" smtClean="0"/>
              <a:t>VertexShader</a:t>
            </a:r>
            <a:endParaRPr lang="en-US" dirty="0" smtClean="0"/>
          </a:p>
          <a:p>
            <a:pPr lvl="1"/>
            <a:r>
              <a:rPr lang="en-US" dirty="0" err="1" smtClean="0"/>
              <a:t>FragmentShader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2815464"/>
            <a:ext cx="6336704" cy="4055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866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1817333"/>
              </p:ext>
            </p:extLst>
          </p:nvPr>
        </p:nvGraphicFramePr>
        <p:xfrm>
          <a:off x="539552" y="217760"/>
          <a:ext cx="8352928" cy="645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56"/>
                <a:gridCol w="1872208"/>
                <a:gridCol w="2088232"/>
                <a:gridCol w="208823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Function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1.0/1.1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2.0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3.0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ja-JP" dirty="0" smtClean="0">
                          <a:solidFill>
                            <a:schemeClr val="tx1"/>
                          </a:solidFill>
                        </a:rPr>
                        <a:t>Compatibility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>
                          <a:solidFill>
                            <a:schemeClr val="tx1"/>
                          </a:solidFill>
                        </a:rPr>
                        <a:t>ー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>
                          <a:solidFill>
                            <a:schemeClr val="tx1"/>
                          </a:solidFill>
                        </a:rPr>
                        <a:t>ー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2.0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Programmable</a:t>
                      </a:r>
                      <a:r>
                        <a:rPr lang="en-US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ja-JP" baseline="0" dirty="0" err="1" smtClean="0">
                          <a:solidFill>
                            <a:srgbClr val="FF0000"/>
                          </a:solidFill>
                        </a:rPr>
                        <a:t>Shader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>
                          <a:solidFill>
                            <a:srgbClr val="FF0000"/>
                          </a:solidFill>
                        </a:rPr>
                        <a:t>ー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GLSL ES 1.0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GLSL ES 3.0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Transform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</a:rPr>
                        <a:t> Feedback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>
                          <a:solidFill>
                            <a:schemeClr val="tx1"/>
                          </a:solidFill>
                        </a:rPr>
                        <a:t>ー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>
                          <a:solidFill>
                            <a:schemeClr val="tx1"/>
                          </a:solidFill>
                        </a:rPr>
                        <a:t>ー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Supported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ja-JP" dirty="0" smtClean="0"/>
                        <a:t>Geometry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glNormal</a:t>
                      </a:r>
                      <a:endParaRPr lang="en-US" dirty="0" smtClean="0"/>
                    </a:p>
                    <a:p>
                      <a:pPr algn="ctr"/>
                      <a:r>
                        <a:rPr lang="en-US" dirty="0" err="1" smtClean="0"/>
                        <a:t>glVertexPointer</a:t>
                      </a:r>
                      <a:endParaRPr lang="en-US" dirty="0" smtClean="0"/>
                    </a:p>
                    <a:p>
                      <a:pPr algn="ctr"/>
                      <a:r>
                        <a:rPr lang="en-US" dirty="0" err="1" smtClean="0"/>
                        <a:t>glNormalPointer</a:t>
                      </a:r>
                      <a:endParaRPr lang="en-US" dirty="0" smtClean="0"/>
                    </a:p>
                    <a:p>
                      <a:pPr algn="ctr"/>
                      <a:r>
                        <a:rPr lang="en-US" dirty="0" err="1" smtClean="0"/>
                        <a:t>glTexCordPointe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glVertexAttribPointer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glVertexAttribPointer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Matrix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glMatrixMode</a:t>
                      </a:r>
                      <a:endParaRPr lang="en-US" dirty="0" smtClean="0"/>
                    </a:p>
                    <a:p>
                      <a:pPr algn="ctr"/>
                      <a:r>
                        <a:rPr lang="en-US" dirty="0" err="1" smtClean="0"/>
                        <a:t>glLoadIdentity</a:t>
                      </a:r>
                      <a:endParaRPr lang="en-US" dirty="0" smtClean="0"/>
                    </a:p>
                    <a:p>
                      <a:pPr algn="ctr"/>
                      <a:r>
                        <a:rPr lang="en-US" dirty="0" err="1" smtClean="0"/>
                        <a:t>glPushMatrix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/>
                        <a:t>ー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/>
                        <a:t>ー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Lighting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glLight</a:t>
                      </a:r>
                      <a:r>
                        <a:rPr lang="en-US" dirty="0" smtClean="0"/>
                        <a:t>/</a:t>
                      </a:r>
                      <a:r>
                        <a:rPr lang="en-US" dirty="0" err="1" smtClean="0"/>
                        <a:t>glMaterial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/>
                        <a:t>ー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/>
                        <a:t>ー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Fog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glFog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/>
                        <a:t>ー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/>
                        <a:t>ー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Alpha Test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glAlphaFunc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/>
                        <a:t>ー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/>
                        <a:t>ー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Point Stripe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glTexEnv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/>
                        <a:t>ー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/>
                        <a:t>ー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User Clip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glClipPlane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/>
                        <a:t>ー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/>
                        <a:t>ー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Logic Operation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glLogicOp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/>
                        <a:t>ー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/>
                        <a:t>ー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FrameBuffer</a:t>
                      </a:r>
                      <a:r>
                        <a:rPr lang="en-US" dirty="0" smtClean="0"/>
                        <a:t> Object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Supported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Supported</a:t>
                      </a:r>
                    </a:p>
                    <a:p>
                      <a:pPr algn="ctr"/>
                      <a:r>
                        <a:rPr lang="en-US" dirty="0" smtClean="0"/>
                        <a:t>Multi-Buffer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94469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What’s Programmable </a:t>
            </a:r>
            <a:r>
              <a:rPr lang="en-US" dirty="0" err="1" smtClean="0"/>
              <a:t>Shader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Blip>
                <a:blip r:embed="rId2"/>
              </a:buBlip>
            </a:pPr>
            <a:r>
              <a:rPr lang="en-US" sz="2800" dirty="0" err="1" smtClean="0"/>
              <a:t>Shader</a:t>
            </a:r>
            <a:r>
              <a:rPr lang="en-US" sz="2800" dirty="0" smtClean="0"/>
              <a:t>(Renderer) that use GLSL </a:t>
            </a:r>
            <a:r>
              <a:rPr lang="en-US" sz="2800" dirty="0"/>
              <a:t>(OpenGL Shading Language</a:t>
            </a:r>
            <a:r>
              <a:rPr lang="en-US" sz="2800" dirty="0" smtClean="0"/>
              <a:t>). </a:t>
            </a:r>
            <a:endParaRPr lang="en-US" dirty="0" smtClean="0"/>
          </a:p>
          <a:p>
            <a:pPr lvl="1"/>
            <a:r>
              <a:rPr lang="en-US" dirty="0" smtClean="0"/>
              <a:t>Vertex </a:t>
            </a:r>
            <a:r>
              <a:rPr lang="en-US" dirty="0" err="1" smtClean="0"/>
              <a:t>Shader</a:t>
            </a:r>
            <a:endParaRPr lang="en-US" dirty="0" smtClean="0"/>
          </a:p>
          <a:p>
            <a:pPr lvl="2"/>
            <a:r>
              <a:rPr lang="en-US" dirty="0" smtClean="0"/>
              <a:t>Convert Model Information to World Frame</a:t>
            </a:r>
            <a:endParaRPr lang="en-US" dirty="0"/>
          </a:p>
          <a:p>
            <a:pPr lvl="2"/>
            <a:endParaRPr lang="en-US" dirty="0" smtClean="0"/>
          </a:p>
          <a:p>
            <a:pPr lvl="1"/>
            <a:r>
              <a:rPr lang="en-US" dirty="0" smtClean="0"/>
              <a:t>Geometry </a:t>
            </a:r>
            <a:r>
              <a:rPr lang="en-US" dirty="0" err="1" smtClean="0"/>
              <a:t>Shader</a:t>
            </a:r>
            <a:r>
              <a:rPr lang="en-US" dirty="0" smtClean="0"/>
              <a:t> (Primitive </a:t>
            </a:r>
            <a:r>
              <a:rPr lang="en-US" dirty="0" err="1" smtClean="0"/>
              <a:t>Shader</a:t>
            </a:r>
            <a:r>
              <a:rPr lang="en-US" dirty="0" smtClean="0"/>
              <a:t>)</a:t>
            </a:r>
          </a:p>
          <a:p>
            <a:pPr lvl="2"/>
            <a:r>
              <a:rPr lang="en-US" dirty="0" smtClean="0"/>
              <a:t>Convert Primitive Data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Pixel </a:t>
            </a:r>
            <a:r>
              <a:rPr lang="en-US" dirty="0" err="1" smtClean="0"/>
              <a:t>Shader</a:t>
            </a:r>
            <a:r>
              <a:rPr lang="en-US" dirty="0" smtClean="0"/>
              <a:t> (Fragment </a:t>
            </a:r>
            <a:r>
              <a:rPr lang="en-US" dirty="0" err="1" smtClean="0"/>
              <a:t>Shader</a:t>
            </a:r>
            <a:r>
              <a:rPr lang="en-US" dirty="0" smtClean="0"/>
              <a:t>)</a:t>
            </a:r>
          </a:p>
          <a:p>
            <a:pPr lvl="2"/>
            <a:r>
              <a:rPr lang="en-US" dirty="0" smtClean="0"/>
              <a:t>Effect to Each Pixels</a:t>
            </a:r>
          </a:p>
          <a:p>
            <a:pPr lvl="3"/>
            <a:r>
              <a:rPr lang="en-US" dirty="0" smtClean="0"/>
              <a:t>Ex. Fogging, Shadowing, …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4"/>
          <a:stretch/>
        </p:blipFill>
        <p:spPr>
          <a:xfrm>
            <a:off x="5796137" y="3861048"/>
            <a:ext cx="3347864" cy="2903396"/>
          </a:xfrm>
          <a:prstGeom prst="rect">
            <a:avLst/>
          </a:prstGeom>
        </p:spPr>
      </p:pic>
      <p:sp>
        <p:nvSpPr>
          <p:cNvPr id="5" name="Striped Right Arrow 4"/>
          <p:cNvSpPr/>
          <p:nvPr/>
        </p:nvSpPr>
        <p:spPr bwMode="auto">
          <a:xfrm rot="5400000">
            <a:off x="2354270" y="2808272"/>
            <a:ext cx="360040" cy="576064"/>
          </a:xfrm>
          <a:prstGeom prst="striped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  <p:sp>
        <p:nvSpPr>
          <p:cNvPr id="6" name="Striped Right Arrow 5"/>
          <p:cNvSpPr/>
          <p:nvPr/>
        </p:nvSpPr>
        <p:spPr bwMode="auto">
          <a:xfrm rot="5400000">
            <a:off x="2364554" y="4113076"/>
            <a:ext cx="360040" cy="576064"/>
          </a:xfrm>
          <a:prstGeom prst="striped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420341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dirty="0" smtClean="0"/>
          </a:p>
          <a:p>
            <a:pPr algn="ctr"/>
            <a:r>
              <a:rPr lang="en-US" altLang="ja-JP" sz="3600" dirty="0" smtClean="0"/>
              <a:t>Hello 3D Programming World!!!</a:t>
            </a:r>
          </a:p>
        </p:txBody>
      </p:sp>
    </p:spTree>
    <p:extLst>
      <p:ext uri="{BB962C8B-B14F-4D97-AF65-F5344CB8AC3E}">
        <p14:creationId xmlns:p14="http://schemas.microsoft.com/office/powerpoint/2010/main" val="4262130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Target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5998" y="1125538"/>
            <a:ext cx="2996803" cy="5327650"/>
          </a:xfrm>
        </p:spPr>
      </p:pic>
    </p:spTree>
    <p:extLst>
      <p:ext uri="{BB962C8B-B14F-4D97-AF65-F5344CB8AC3E}">
        <p14:creationId xmlns:p14="http://schemas.microsoft.com/office/powerpoint/2010/main" val="28670785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Naming Rule of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 smtClean="0"/>
              <a:t>glXXX</a:t>
            </a:r>
            <a:endParaRPr lang="en-US" dirty="0" smtClean="0"/>
          </a:p>
          <a:p>
            <a:pPr lvl="1"/>
            <a:r>
              <a:rPr lang="en-US" dirty="0" smtClean="0"/>
              <a:t>OpenGL </a:t>
            </a:r>
            <a:r>
              <a:rPr lang="en-US" dirty="0" err="1" smtClean="0"/>
              <a:t>Func</a:t>
            </a:r>
            <a:endParaRPr lang="en-US" dirty="0" smtClean="0"/>
          </a:p>
          <a:p>
            <a:r>
              <a:rPr lang="en-US" dirty="0" err="1" smtClean="0"/>
              <a:t>eglXXX</a:t>
            </a:r>
            <a:endParaRPr lang="en-US" dirty="0" smtClean="0"/>
          </a:p>
          <a:p>
            <a:pPr lvl="1"/>
            <a:r>
              <a:rPr lang="en-US" dirty="0" smtClean="0"/>
              <a:t>OpenGL/ES </a:t>
            </a:r>
            <a:r>
              <a:rPr lang="en-US" dirty="0" err="1" smtClean="0"/>
              <a:t>Func</a:t>
            </a:r>
            <a:endParaRPr lang="en-US" dirty="0" smtClean="0"/>
          </a:p>
          <a:p>
            <a:r>
              <a:rPr lang="en-US" dirty="0" err="1" smtClean="0"/>
              <a:t>gluXXX</a:t>
            </a:r>
            <a:endParaRPr lang="en-US" dirty="0" smtClean="0"/>
          </a:p>
          <a:p>
            <a:pPr lvl="1"/>
            <a:r>
              <a:rPr lang="en-US" dirty="0" smtClean="0"/>
              <a:t>GUI Tools of </a:t>
            </a:r>
            <a:r>
              <a:rPr lang="en-US" dirty="0" err="1" smtClean="0"/>
              <a:t>Func</a:t>
            </a:r>
            <a:endParaRPr lang="en-US" dirty="0" smtClean="0"/>
          </a:p>
          <a:p>
            <a:r>
              <a:rPr lang="en-US" altLang="ja-JP" dirty="0" smtClean="0"/>
              <a:t>AGL, GLX, WGL</a:t>
            </a:r>
            <a:endParaRPr lang="en-US" dirty="0" smtClean="0"/>
          </a:p>
          <a:p>
            <a:pPr lvl="1"/>
            <a:r>
              <a:rPr lang="en-US" dirty="0" err="1" smtClean="0"/>
              <a:t>glutXXX</a:t>
            </a:r>
            <a:endParaRPr lang="en-US" dirty="0" smtClean="0"/>
          </a:p>
          <a:p>
            <a:pPr lvl="2"/>
            <a:r>
              <a:rPr lang="en-US" dirty="0" smtClean="0"/>
              <a:t>GLUT </a:t>
            </a:r>
            <a:r>
              <a:rPr lang="en-US" dirty="0" err="1" smtClean="0"/>
              <a:t>Func</a:t>
            </a:r>
            <a:endParaRPr lang="en-US" dirty="0" smtClean="0"/>
          </a:p>
          <a:p>
            <a:pPr lvl="3"/>
            <a:r>
              <a:rPr lang="en-US" dirty="0" smtClean="0"/>
              <a:t>GLUT is GUI Tools of 3</a:t>
            </a:r>
            <a:r>
              <a:rPr lang="en-US" baseline="30000" dirty="0" smtClean="0"/>
              <a:t>rd</a:t>
            </a:r>
            <a:r>
              <a:rPr lang="en-US" dirty="0" smtClean="0"/>
              <a:t> Party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 smtClean="0"/>
              <a:t>yyXXXf</a:t>
            </a:r>
            <a:endParaRPr lang="en-US" dirty="0" smtClean="0"/>
          </a:p>
          <a:p>
            <a:pPr lvl="1"/>
            <a:r>
              <a:rPr lang="en-US" dirty="0" smtClean="0"/>
              <a:t>float</a:t>
            </a:r>
          </a:p>
          <a:p>
            <a:r>
              <a:rPr lang="en-US" dirty="0" err="1" smtClean="0"/>
              <a:t>yyXXXd</a:t>
            </a:r>
            <a:endParaRPr lang="en-US" dirty="0" smtClean="0"/>
          </a:p>
          <a:p>
            <a:pPr lvl="1"/>
            <a:r>
              <a:rPr lang="en-US" dirty="0" smtClean="0"/>
              <a:t>double</a:t>
            </a:r>
          </a:p>
          <a:p>
            <a:r>
              <a:rPr lang="en-US" dirty="0" err="1" smtClean="0"/>
              <a:t>yyXXXi</a:t>
            </a:r>
            <a:endParaRPr lang="en-US" dirty="0" smtClean="0"/>
          </a:p>
          <a:p>
            <a:pPr lvl="1"/>
            <a:r>
              <a:rPr lang="en-US" dirty="0" err="1" smtClean="0"/>
              <a:t>int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yyXXX2d</a:t>
            </a:r>
          </a:p>
          <a:p>
            <a:pPr lvl="1"/>
            <a:r>
              <a:rPr lang="en-US" dirty="0" smtClean="0"/>
              <a:t>2D of Double</a:t>
            </a:r>
          </a:p>
          <a:p>
            <a:r>
              <a:rPr lang="en-US" dirty="0" smtClean="0"/>
              <a:t>yyXXX3d</a:t>
            </a:r>
          </a:p>
          <a:p>
            <a:pPr lvl="1"/>
            <a:r>
              <a:rPr lang="en-US" dirty="0" smtClean="0"/>
              <a:t>3D of Double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2819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Setting 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AndroidManifest.xml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/>
              <a:t>j</a:t>
            </a:r>
            <a:r>
              <a:rPr lang="en-US" dirty="0" smtClean="0"/>
              <a:t>ni/Android.mk</a:t>
            </a:r>
            <a:endParaRPr 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547663" y="1988840"/>
            <a:ext cx="6801633" cy="10801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 &lt;uses-feature </a:t>
            </a:r>
            <a:r>
              <a:rPr lang="en-US" sz="2000" dirty="0" err="1"/>
              <a:t>android:glEsVersion</a:t>
            </a:r>
            <a:r>
              <a:rPr lang="en-US" sz="2000" dirty="0"/>
              <a:t>=</a:t>
            </a:r>
            <a:r>
              <a:rPr lang="en-US" sz="2000" i="1" dirty="0"/>
              <a:t>"0x00020000"/&gt;</a:t>
            </a:r>
            <a:endParaRPr lang="en-US" sz="2000" dirty="0"/>
          </a:p>
        </p:txBody>
      </p:sp>
      <p:sp>
        <p:nvSpPr>
          <p:cNvPr id="5" name="正方形/長方形 3"/>
          <p:cNvSpPr/>
          <p:nvPr/>
        </p:nvSpPr>
        <p:spPr>
          <a:xfrm>
            <a:off x="1547664" y="5013176"/>
            <a:ext cx="6801633" cy="115923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LOCAL_LDLIBS    += -lm -</a:t>
            </a:r>
            <a:r>
              <a:rPr lang="en-US" sz="2000" dirty="0" err="1"/>
              <a:t>llog</a:t>
            </a:r>
            <a:r>
              <a:rPr lang="en-US" sz="2000" dirty="0"/>
              <a:t> -</a:t>
            </a:r>
            <a:r>
              <a:rPr lang="en-US" sz="2000" dirty="0" err="1"/>
              <a:t>lc</a:t>
            </a:r>
            <a:r>
              <a:rPr lang="en-US" sz="2000" dirty="0"/>
              <a:t> -</a:t>
            </a:r>
            <a:r>
              <a:rPr lang="en-US" sz="2000" dirty="0" err="1"/>
              <a:t>ldl</a:t>
            </a:r>
            <a:r>
              <a:rPr lang="en-US" sz="2000" dirty="0"/>
              <a:t> -</a:t>
            </a:r>
            <a:r>
              <a:rPr lang="en-US" sz="2000" dirty="0" err="1"/>
              <a:t>lz</a:t>
            </a:r>
            <a:r>
              <a:rPr lang="en-US" sz="2000" dirty="0"/>
              <a:t> -</a:t>
            </a:r>
            <a:r>
              <a:rPr lang="en-US" sz="2000" dirty="0" err="1"/>
              <a:t>landroid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0000"/>
                </a:solidFill>
              </a:rPr>
              <a:t>-</a:t>
            </a:r>
            <a:r>
              <a:rPr lang="en-US" sz="2000" dirty="0" err="1">
                <a:solidFill>
                  <a:srgbClr val="FF0000"/>
                </a:solidFill>
              </a:rPr>
              <a:t>lEGL</a:t>
            </a:r>
            <a:r>
              <a:rPr lang="en-US" sz="2000" dirty="0">
                <a:solidFill>
                  <a:srgbClr val="FF0000"/>
                </a:solidFill>
              </a:rPr>
              <a:t> -lGLESv2</a:t>
            </a:r>
          </a:p>
        </p:txBody>
      </p:sp>
    </p:spTree>
    <p:extLst>
      <p:ext uri="{BB962C8B-B14F-4D97-AF65-F5344CB8AC3E}">
        <p14:creationId xmlns:p14="http://schemas.microsoft.com/office/powerpoint/2010/main" val="10608849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Init</a:t>
            </a:r>
            <a:r>
              <a:rPr lang="en-US" dirty="0" smtClean="0"/>
              <a:t> EGL World(System) 1/2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Configuration</a:t>
            </a:r>
            <a:endParaRPr 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547664" y="1700808"/>
            <a:ext cx="7344816" cy="511388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	</a:t>
            </a:r>
            <a:r>
              <a:rPr lang="en-US" sz="2000" dirty="0" err="1"/>
              <a:t>const</a:t>
            </a:r>
            <a:r>
              <a:rPr lang="en-US" sz="2000" dirty="0"/>
              <a:t> </a:t>
            </a:r>
            <a:r>
              <a:rPr lang="en-US" sz="2000" dirty="0" err="1"/>
              <a:t>EGLint</a:t>
            </a:r>
            <a:r>
              <a:rPr lang="en-US" sz="2000" dirty="0"/>
              <a:t> </a:t>
            </a:r>
            <a:r>
              <a:rPr lang="en-US" sz="2000" dirty="0" err="1"/>
              <a:t>attribs</a:t>
            </a:r>
            <a:r>
              <a:rPr lang="en-US" sz="2000" dirty="0"/>
              <a:t>[] = {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			// </a:t>
            </a:r>
            <a:r>
              <a:rPr lang="en-US" sz="2000" dirty="0" err="1"/>
              <a:t>Uset</a:t>
            </a:r>
            <a:r>
              <a:rPr lang="en-US" sz="2000" dirty="0"/>
              <a:t> Open GL ES 2.0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			EGL_RENDERABLE_TYPE, EGL_OPENGL_ES2_BIT,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			// Set Surface Type as Double Buffer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			EGL_SURFACE_TYPE, EGL_WINDOW_BIT,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			// Minimum Frame Size of Blue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			EGL_BLUE_SIZE, 8,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			// Minimum Frame Size of Green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			EGL_GREEN_SIZE, 8,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			// Minimum Frame Size of Red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			EGL_RED_SIZE, 8,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			// Size of Depth Buffer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			EGL_DEPTH_SIZE, 16,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			// Terminator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			EGL_NONE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	};</a:t>
            </a:r>
          </a:p>
        </p:txBody>
      </p:sp>
    </p:spTree>
    <p:extLst>
      <p:ext uri="{BB962C8B-B14F-4D97-AF65-F5344CB8AC3E}">
        <p14:creationId xmlns:p14="http://schemas.microsoft.com/office/powerpoint/2010/main" val="1009485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Init</a:t>
            </a:r>
            <a:r>
              <a:rPr lang="en-US" dirty="0"/>
              <a:t> EGL World(System</a:t>
            </a:r>
            <a:r>
              <a:rPr lang="en-US" dirty="0" smtClean="0"/>
              <a:t>) 2/2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Init</a:t>
            </a:r>
            <a:r>
              <a:rPr lang="en-US" dirty="0" smtClean="0"/>
              <a:t> &amp; Create</a:t>
            </a:r>
            <a:endParaRPr 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547664" y="1844824"/>
            <a:ext cx="7488832" cy="496855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// Get EGL Display Connection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 err="1"/>
              <a:t>EGLDisplay</a:t>
            </a:r>
            <a:r>
              <a:rPr lang="en-US" sz="1600" dirty="0"/>
              <a:t> display = </a:t>
            </a:r>
            <a:r>
              <a:rPr lang="en-US" sz="1600" dirty="0" err="1"/>
              <a:t>eglGetDisplay</a:t>
            </a:r>
            <a:r>
              <a:rPr lang="en-US" sz="1600" dirty="0"/>
              <a:t>(EGL_DEFAULT_DISPLAY);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// </a:t>
            </a:r>
            <a:r>
              <a:rPr lang="en-US" sz="1600" dirty="0" err="1"/>
              <a:t>Init</a:t>
            </a:r>
            <a:r>
              <a:rPr lang="en-US" sz="1600" dirty="0"/>
              <a:t> Display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 err="1"/>
              <a:t>eglInitialize</a:t>
            </a:r>
            <a:r>
              <a:rPr lang="en-US" sz="1600" dirty="0"/>
              <a:t>(display, 0, 0);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// Choose Frame Buffer List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 err="1"/>
              <a:t>eglChooseConfig</a:t>
            </a:r>
            <a:r>
              <a:rPr lang="en-US" sz="1600" dirty="0"/>
              <a:t>(display, </a:t>
            </a:r>
            <a:r>
              <a:rPr lang="en-US" sz="1600" dirty="0" err="1"/>
              <a:t>attribs</a:t>
            </a:r>
            <a:r>
              <a:rPr lang="en-US" sz="1600" dirty="0"/>
              <a:t>, &amp;</a:t>
            </a:r>
            <a:r>
              <a:rPr lang="en-US" sz="1600" dirty="0" err="1"/>
              <a:t>config</a:t>
            </a:r>
            <a:r>
              <a:rPr lang="en-US" sz="1600" dirty="0"/>
              <a:t>, 1, &amp;</a:t>
            </a:r>
            <a:r>
              <a:rPr lang="en-US" sz="1600" dirty="0" err="1"/>
              <a:t>numConfigs</a:t>
            </a:r>
            <a:r>
              <a:rPr lang="en-US" sz="1600" dirty="0"/>
              <a:t>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// Get Frame Buffer Setting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 err="1"/>
              <a:t>eglGetConfigAttrib</a:t>
            </a:r>
            <a:r>
              <a:rPr lang="en-US" sz="1600" dirty="0"/>
              <a:t>(display, </a:t>
            </a:r>
            <a:r>
              <a:rPr lang="en-US" sz="1600" dirty="0" err="1"/>
              <a:t>config</a:t>
            </a:r>
            <a:r>
              <a:rPr lang="en-US" sz="1600" dirty="0"/>
              <a:t>, EGL_NATIVE_VISUAL_ID, &amp;format);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// Set Frame Buffer to </a:t>
            </a:r>
            <a:r>
              <a:rPr lang="en-US" sz="1600" dirty="0" err="1"/>
              <a:t>NativeActivity</a:t>
            </a:r>
            <a:endParaRPr lang="en-US" sz="1600" dirty="0"/>
          </a:p>
          <a:p>
            <a:pPr marL="914400" lvl="1" indent="-457200">
              <a:buFont typeface="+mj-lt"/>
              <a:buAutoNum type="arabicPeriod"/>
            </a:pPr>
            <a:r>
              <a:rPr lang="en-US" sz="1600" dirty="0" err="1"/>
              <a:t>ANativeWindow_setBuffersGeometry</a:t>
            </a:r>
            <a:r>
              <a:rPr lang="en-US" sz="1600" dirty="0"/>
              <a:t>(engine-&gt;app-&gt;window, 0, 0, format);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// Get Window Surface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surface = </a:t>
            </a:r>
            <a:r>
              <a:rPr lang="en-US" sz="1600" dirty="0" err="1"/>
              <a:t>eglCreateWindowSurface</a:t>
            </a:r>
            <a:r>
              <a:rPr lang="en-US" sz="1600" dirty="0"/>
              <a:t>(display, </a:t>
            </a:r>
            <a:r>
              <a:rPr lang="en-US" sz="1600" dirty="0" err="1"/>
              <a:t>config</a:t>
            </a:r>
            <a:r>
              <a:rPr lang="en-US" sz="1600" dirty="0"/>
              <a:t>, engine-&gt;app-&gt;window, NULL);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// Get Rendering Context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 err="1"/>
              <a:t>const</a:t>
            </a:r>
            <a:r>
              <a:rPr lang="en-US" sz="1600" dirty="0"/>
              <a:t> </a:t>
            </a:r>
            <a:r>
              <a:rPr lang="en-US" sz="1600" dirty="0" err="1"/>
              <a:t>EGLint</a:t>
            </a:r>
            <a:r>
              <a:rPr lang="en-US" sz="1600" dirty="0"/>
              <a:t> </a:t>
            </a:r>
            <a:r>
              <a:rPr lang="en-US" sz="1600" dirty="0" err="1"/>
              <a:t>attrib_list</a:t>
            </a:r>
            <a:r>
              <a:rPr lang="en-US" sz="1600" dirty="0"/>
              <a:t>[] = { EGL_CONTEXT_CLIENT_VERSION, 2, EGL_NONE };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context = </a:t>
            </a:r>
            <a:r>
              <a:rPr lang="en-US" sz="1600" dirty="0" err="1"/>
              <a:t>eglCreateContext</a:t>
            </a:r>
            <a:r>
              <a:rPr lang="en-US" sz="1600" dirty="0"/>
              <a:t>(display, </a:t>
            </a:r>
            <a:r>
              <a:rPr lang="en-US" sz="1600" dirty="0" err="1"/>
              <a:t>config</a:t>
            </a:r>
            <a:r>
              <a:rPr lang="en-US" sz="1600" dirty="0"/>
              <a:t>, NULL, </a:t>
            </a:r>
            <a:r>
              <a:rPr lang="en-US" sz="1600" dirty="0" err="1"/>
              <a:t>attrib_list</a:t>
            </a:r>
            <a:r>
              <a:rPr lang="en-US" sz="1600" dirty="0"/>
              <a:t>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// Attach Rendering Context to Window Surface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 err="1" smtClean="0"/>
              <a:t>eglMakeCurrent</a:t>
            </a:r>
            <a:r>
              <a:rPr lang="en-US" sz="1600" dirty="0" smtClean="0"/>
              <a:t>(display</a:t>
            </a:r>
            <a:r>
              <a:rPr lang="en-US" sz="1600" dirty="0"/>
              <a:t>, surface, surface, context</a:t>
            </a:r>
            <a:r>
              <a:rPr lang="en-US" sz="1600" dirty="0" smtClean="0"/>
              <a:t>);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35710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Init</a:t>
            </a:r>
            <a:r>
              <a:rPr lang="en-US" dirty="0" smtClean="0"/>
              <a:t> Cube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80728"/>
            <a:ext cx="7772400" cy="5327650"/>
          </a:xfrm>
        </p:spPr>
        <p:txBody>
          <a:bodyPr/>
          <a:lstStyle/>
          <a:p>
            <a:r>
              <a:rPr lang="en-US" dirty="0" smtClean="0"/>
              <a:t>Create Programmable </a:t>
            </a:r>
            <a:r>
              <a:rPr lang="en-US" dirty="0" err="1" smtClean="0"/>
              <a:t>Shader</a:t>
            </a:r>
            <a:r>
              <a:rPr lang="en-US" dirty="0" smtClean="0"/>
              <a:t>!</a:t>
            </a:r>
          </a:p>
          <a:p>
            <a:pPr lvl="1"/>
            <a:r>
              <a:rPr lang="en-US" dirty="0" smtClean="0"/>
              <a:t>glMyModel.cpp -&gt; </a:t>
            </a:r>
            <a:r>
              <a:rPr lang="en-US" dirty="0" err="1" smtClean="0"/>
              <a:t>initCube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619672" y="1916832"/>
            <a:ext cx="6801633" cy="48957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// Create </a:t>
            </a:r>
            <a:r>
              <a:rPr lang="en-US" sz="2000" dirty="0" err="1"/>
              <a:t>Shader</a:t>
            </a:r>
            <a:r>
              <a:rPr lang="en-US" sz="2000" dirty="0"/>
              <a:t> Program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err="1"/>
              <a:t>glProgram_Cube</a:t>
            </a:r>
            <a:r>
              <a:rPr lang="en-US" sz="2000" dirty="0"/>
              <a:t> = </a:t>
            </a:r>
            <a:r>
              <a:rPr lang="en-US" sz="2000" dirty="0" err="1"/>
              <a:t>createProgram</a:t>
            </a:r>
            <a:r>
              <a:rPr lang="en-US" sz="2000" dirty="0"/>
              <a:t>(</a:t>
            </a:r>
            <a:r>
              <a:rPr lang="en-US" sz="2000" dirty="0" err="1"/>
              <a:t>gVertexShader_cube</a:t>
            </a:r>
            <a:r>
              <a:rPr lang="en-US" sz="2000" dirty="0"/>
              <a:t>, </a:t>
            </a:r>
            <a:r>
              <a:rPr lang="en-US" sz="2000" dirty="0" err="1"/>
              <a:t>gFragmentShader_cube</a:t>
            </a:r>
            <a:r>
              <a:rPr lang="en-US" sz="2000" dirty="0"/>
              <a:t>);</a:t>
            </a:r>
          </a:p>
          <a:p>
            <a:pPr marL="914400" lvl="1" indent="-457200">
              <a:buFont typeface="+mj-lt"/>
              <a:buAutoNum type="arabicPeriod"/>
            </a:pPr>
            <a:endParaRPr lang="en-US" sz="2000" dirty="0"/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// Bind Vertex to "Position" in </a:t>
            </a:r>
            <a:r>
              <a:rPr lang="en-US" sz="2000" dirty="0" err="1"/>
              <a:t>VertexShader</a:t>
            </a:r>
            <a:r>
              <a:rPr lang="en-US" sz="2000" dirty="0"/>
              <a:t> Program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err="1"/>
              <a:t>glBindAttribLocation</a:t>
            </a:r>
            <a:r>
              <a:rPr lang="en-US" sz="2000" dirty="0"/>
              <a:t>(</a:t>
            </a:r>
            <a:r>
              <a:rPr lang="en-US" sz="2000" dirty="0" err="1"/>
              <a:t>glProgram_Cube</a:t>
            </a:r>
            <a:r>
              <a:rPr lang="en-US" sz="2000" dirty="0"/>
              <a:t>, ATTRIB_VERTEX, "Position</a:t>
            </a:r>
            <a:r>
              <a:rPr lang="en-US" sz="2000" dirty="0" smtClean="0"/>
              <a:t>");</a:t>
            </a:r>
            <a:endParaRPr lang="en-US" sz="2000" dirty="0"/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// Bind Color to "</a:t>
            </a:r>
            <a:r>
              <a:rPr lang="en-US" sz="2000" dirty="0" err="1"/>
              <a:t>SourceColor</a:t>
            </a:r>
            <a:r>
              <a:rPr lang="en-US" sz="2000" dirty="0"/>
              <a:t>" in </a:t>
            </a:r>
            <a:r>
              <a:rPr lang="en-US" sz="2000" dirty="0" err="1"/>
              <a:t>VertexShader</a:t>
            </a:r>
            <a:r>
              <a:rPr lang="en-US" sz="2000" dirty="0"/>
              <a:t> Program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err="1"/>
              <a:t>glBindAttribLocation</a:t>
            </a:r>
            <a:r>
              <a:rPr lang="en-US" sz="2000" dirty="0"/>
              <a:t>(</a:t>
            </a:r>
            <a:r>
              <a:rPr lang="en-US" sz="2000" dirty="0" err="1"/>
              <a:t>glProgram_Cube</a:t>
            </a:r>
            <a:r>
              <a:rPr lang="en-US" sz="2000" dirty="0"/>
              <a:t>, ATTRIB_COLOR, "</a:t>
            </a:r>
            <a:r>
              <a:rPr lang="en-US" sz="2000" dirty="0" err="1"/>
              <a:t>SourceColor</a:t>
            </a:r>
            <a:r>
              <a:rPr lang="en-US" sz="2000" dirty="0"/>
              <a:t>");</a:t>
            </a:r>
          </a:p>
          <a:p>
            <a:pPr marL="914400" lvl="1" indent="-457200">
              <a:buFont typeface="+mj-lt"/>
              <a:buAutoNum type="arabicPeriod"/>
            </a:pPr>
            <a:endParaRPr lang="en-US" sz="2000" dirty="0"/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// Set program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err="1"/>
              <a:t>glUseProgram</a:t>
            </a:r>
            <a:r>
              <a:rPr lang="en-US" sz="2000" dirty="0"/>
              <a:t>(</a:t>
            </a:r>
            <a:r>
              <a:rPr lang="en-US" sz="2000" dirty="0" err="1"/>
              <a:t>glProgram_Cube</a:t>
            </a:r>
            <a:r>
              <a:rPr lang="en-US" sz="20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7558136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Setting of Programmable </a:t>
            </a:r>
            <a:r>
              <a:rPr lang="en-US" dirty="0" err="1" smtClean="0"/>
              <a:t>Shader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Write </a:t>
            </a:r>
            <a:r>
              <a:rPr lang="en-US" dirty="0" err="1" smtClean="0"/>
              <a:t>Shader</a:t>
            </a:r>
            <a:r>
              <a:rPr lang="en-US" dirty="0" smtClean="0"/>
              <a:t> Program using GLSL ES</a:t>
            </a:r>
          </a:p>
          <a:p>
            <a:pPr lvl="1"/>
            <a:r>
              <a:rPr lang="en-US" dirty="0" smtClean="0"/>
              <a:t>Vertex </a:t>
            </a:r>
            <a:r>
              <a:rPr lang="en-US" dirty="0" err="1" smtClean="0"/>
              <a:t>Shader</a:t>
            </a:r>
            <a:r>
              <a:rPr lang="en-US" dirty="0" smtClean="0"/>
              <a:t> Source Code</a:t>
            </a:r>
            <a:endParaRPr 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547664" y="2348880"/>
            <a:ext cx="7344816" cy="417778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// Vertex </a:t>
            </a:r>
            <a:r>
              <a:rPr lang="en-US" sz="2000" dirty="0" err="1"/>
              <a:t>Shader</a:t>
            </a:r>
            <a:r>
              <a:rPr lang="en-US" sz="2000" dirty="0"/>
              <a:t> Program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static </a:t>
            </a:r>
            <a:r>
              <a:rPr lang="en-US" sz="2000" dirty="0" err="1"/>
              <a:t>const</a:t>
            </a:r>
            <a:r>
              <a:rPr lang="en-US" sz="2000" dirty="0"/>
              <a:t> char </a:t>
            </a:r>
            <a:r>
              <a:rPr lang="en-US" sz="2000" dirty="0" err="1"/>
              <a:t>gVertexShader_cube</a:t>
            </a:r>
            <a:r>
              <a:rPr lang="en-US" sz="2000" dirty="0"/>
              <a:t>[] =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	"attribute vec4 Position;			\n"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	"attribute vec4 </a:t>
            </a:r>
            <a:r>
              <a:rPr lang="en-US" sz="2000" dirty="0" err="1"/>
              <a:t>SourceColor</a:t>
            </a:r>
            <a:r>
              <a:rPr lang="en-US" sz="2000" dirty="0"/>
              <a:t>;	 \n"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	"varying vec4 </a:t>
            </a:r>
            <a:r>
              <a:rPr lang="en-US" sz="2000" dirty="0" err="1"/>
              <a:t>DestinationColor</a:t>
            </a:r>
            <a:r>
              <a:rPr lang="en-US" sz="2000" dirty="0"/>
              <a:t>;\n"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	"uniform mat4 Projection;			\n"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	"uniform mat4 </a:t>
            </a:r>
            <a:r>
              <a:rPr lang="en-US" sz="2000" dirty="0" err="1"/>
              <a:t>Modelview</a:t>
            </a:r>
            <a:r>
              <a:rPr lang="en-US" sz="2000" dirty="0"/>
              <a:t>;			 \n"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	"void main() {\n"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	"	 </a:t>
            </a:r>
            <a:r>
              <a:rPr lang="en-US" sz="2000" dirty="0" err="1"/>
              <a:t>gl_Position</a:t>
            </a:r>
            <a:r>
              <a:rPr lang="en-US" sz="2000" dirty="0"/>
              <a:t> = Projection * </a:t>
            </a:r>
            <a:r>
              <a:rPr lang="en-US" sz="2000" dirty="0" err="1"/>
              <a:t>Modelview</a:t>
            </a:r>
            <a:r>
              <a:rPr lang="en-US" sz="2000" dirty="0"/>
              <a:t> * Position; \n"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	"	 </a:t>
            </a:r>
            <a:r>
              <a:rPr lang="en-US" sz="2000" dirty="0" err="1"/>
              <a:t>DestinationColor</a:t>
            </a:r>
            <a:r>
              <a:rPr lang="en-US" sz="2000" dirty="0"/>
              <a:t> = </a:t>
            </a:r>
            <a:r>
              <a:rPr lang="en-US" sz="2000" dirty="0" err="1"/>
              <a:t>SourceColor</a:t>
            </a:r>
            <a:r>
              <a:rPr lang="en-US" sz="2000" dirty="0"/>
              <a:t>; \n"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	"}\n";</a:t>
            </a:r>
          </a:p>
        </p:txBody>
      </p:sp>
    </p:spTree>
    <p:extLst>
      <p:ext uri="{BB962C8B-B14F-4D97-AF65-F5344CB8AC3E}">
        <p14:creationId xmlns:p14="http://schemas.microsoft.com/office/powerpoint/2010/main" val="41350190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of Programmable </a:t>
            </a:r>
            <a:r>
              <a:rPr lang="en-US" dirty="0" err="1"/>
              <a:t>Shader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 lvl="1"/>
            <a:r>
              <a:rPr lang="en-US" dirty="0" smtClean="0"/>
              <a:t>Fragment </a:t>
            </a:r>
            <a:r>
              <a:rPr lang="en-US" dirty="0" err="1" smtClean="0"/>
              <a:t>Shader</a:t>
            </a:r>
            <a:r>
              <a:rPr lang="en-US" dirty="0" smtClean="0"/>
              <a:t> Source Code</a:t>
            </a:r>
            <a:endParaRPr 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547664" y="2781076"/>
            <a:ext cx="7200800" cy="26641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// </a:t>
            </a:r>
            <a:r>
              <a:rPr lang="en-US" sz="2000" dirty="0" err="1"/>
              <a:t>FragmentShader</a:t>
            </a:r>
            <a:r>
              <a:rPr lang="en-US" sz="2000" dirty="0"/>
              <a:t> of Color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static </a:t>
            </a:r>
            <a:r>
              <a:rPr lang="en-US" sz="2000" dirty="0" err="1"/>
              <a:t>const</a:t>
            </a:r>
            <a:r>
              <a:rPr lang="en-US" sz="2000" dirty="0"/>
              <a:t> char </a:t>
            </a:r>
            <a:r>
              <a:rPr lang="en-US" sz="2000" dirty="0" err="1"/>
              <a:t>gFragmentShader_cube</a:t>
            </a:r>
            <a:r>
              <a:rPr lang="en-US" sz="2000" dirty="0"/>
              <a:t>[] =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	"varying </a:t>
            </a:r>
            <a:r>
              <a:rPr lang="en-US" sz="2000" dirty="0" err="1"/>
              <a:t>lowp</a:t>
            </a:r>
            <a:r>
              <a:rPr lang="en-US" sz="2000" dirty="0"/>
              <a:t> vec4 </a:t>
            </a:r>
            <a:r>
              <a:rPr lang="en-US" sz="2000" dirty="0" err="1"/>
              <a:t>DestinationColor</a:t>
            </a:r>
            <a:r>
              <a:rPr lang="en-US" sz="2000" dirty="0"/>
              <a:t>; \n"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	"void main() {\n"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		"</a:t>
            </a:r>
            <a:r>
              <a:rPr lang="en-US" sz="2000" dirty="0" err="1"/>
              <a:t>gl_FragColor</a:t>
            </a:r>
            <a:r>
              <a:rPr lang="en-US" sz="2000" dirty="0"/>
              <a:t> = </a:t>
            </a:r>
            <a:r>
              <a:rPr lang="en-US" sz="2000" dirty="0" err="1"/>
              <a:t>DestinationColor</a:t>
            </a:r>
            <a:r>
              <a:rPr lang="en-US" sz="2000" dirty="0"/>
              <a:t>;\n"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	"}\n";</a:t>
            </a:r>
          </a:p>
        </p:txBody>
      </p:sp>
    </p:spTree>
    <p:extLst>
      <p:ext uri="{BB962C8B-B14F-4D97-AF65-F5344CB8AC3E}">
        <p14:creationId xmlns:p14="http://schemas.microsoft.com/office/powerpoint/2010/main" val="31925356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</a:t>
            </a:r>
            <a:r>
              <a:rPr lang="en-US" dirty="0" smtClean="0"/>
              <a:t>GLSL: Type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4376973"/>
              </p:ext>
            </p:extLst>
          </p:nvPr>
        </p:nvGraphicFramePr>
        <p:xfrm>
          <a:off x="838200" y="1125538"/>
          <a:ext cx="77724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/>
                <a:gridCol w="3886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Meaning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void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Same in C Lang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bool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Same in C++ Lang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int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Same in C Lang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float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Same in C Lang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vecX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Vector Type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bvecX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Logical</a:t>
                      </a:r>
                      <a:r>
                        <a:rPr lang="en-US" baseline="0" dirty="0" smtClean="0"/>
                        <a:t> Vector Type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ivecX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Int</a:t>
                      </a:r>
                      <a:r>
                        <a:rPr lang="en-US" dirty="0" smtClean="0"/>
                        <a:t> Vector Type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matX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Matrix Type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samplerXD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Handler of Texture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sampleCube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Handler of Cubic</a:t>
                      </a:r>
                      <a:r>
                        <a:rPr lang="en-US" baseline="0" dirty="0" smtClean="0"/>
                        <a:t> Texture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samplerXDShadow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Handler of Depth Texture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899592" y="6093444"/>
            <a:ext cx="7772400" cy="575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Blip>
                <a:blip r:embed="rId2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>
                <a:hlinkClick r:id="rId7"/>
              </a:rPr>
              <a:t>http://www.opengl.org/registry/doc/GLSLangSpec.4.20.8.clean.pdf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484965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About GLSL: Value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0113062"/>
              </p:ext>
            </p:extLst>
          </p:nvPr>
        </p:nvGraphicFramePr>
        <p:xfrm>
          <a:off x="838200" y="1125538"/>
          <a:ext cx="77724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/>
                <a:gridCol w="3886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Value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Meaning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const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Same</a:t>
                      </a:r>
                      <a:r>
                        <a:rPr lang="en-US" baseline="0" dirty="0" smtClean="0"/>
                        <a:t> in C Lang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uniform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Global Value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in(Varying)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Input Value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out(Varying)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Output</a:t>
                      </a:r>
                      <a:r>
                        <a:rPr lang="en-US" baseline="0" dirty="0" smtClean="0"/>
                        <a:t> Value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inout</a:t>
                      </a:r>
                      <a:r>
                        <a:rPr lang="en-US" dirty="0" smtClean="0"/>
                        <a:t>(Varying)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Input/Output</a:t>
                      </a:r>
                      <a:r>
                        <a:rPr lang="en-US" dirty="0" smtClean="0"/>
                        <a:t> Value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90567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</a:t>
            </a:r>
            <a:r>
              <a:rPr lang="en-US" dirty="0" smtClean="0"/>
              <a:t>GLSL: Built-in Function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121442"/>
              </p:ext>
            </p:extLst>
          </p:nvPr>
        </p:nvGraphicFramePr>
        <p:xfrm>
          <a:off x="838200" y="1125538"/>
          <a:ext cx="77724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/>
                <a:gridCol w="3886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Function 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Meaning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radians()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degrees to radians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degrees()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radians to degrees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sin()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Sine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cos()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Cosine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tan()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Tangent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texture()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Set Texture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texture3D()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Set 3D Texture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imageLoad</a:t>
                      </a:r>
                      <a:r>
                        <a:rPr lang="en-US" dirty="0" smtClean="0"/>
                        <a:t>()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Load Image File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imageStore</a:t>
                      </a:r>
                      <a:r>
                        <a:rPr lang="en-US" dirty="0" smtClean="0"/>
                        <a:t>()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Store Image File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73881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</a:t>
            </a:r>
            <a:r>
              <a:rPr lang="en-US" dirty="0" smtClean="0"/>
              <a:t>GLSL: Built-in Value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5338291"/>
              </p:ext>
            </p:extLst>
          </p:nvPr>
        </p:nvGraphicFramePr>
        <p:xfrm>
          <a:off x="838200" y="1125538"/>
          <a:ext cx="77724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Value Name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Meaning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gl_Vertex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vec4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Vertex 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lang="en-US" altLang="ja-JP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oordinates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gl_Normal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vec3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Vertex Normal</a:t>
                      </a:r>
                      <a:r>
                        <a:rPr lang="en-US" baseline="0" dirty="0" smtClean="0"/>
                        <a:t> vector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gl_Color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Vec4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Vertex Color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gl_ModelViewMatrix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mat4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ModelView</a:t>
                      </a:r>
                      <a:r>
                        <a:rPr lang="en-US" dirty="0" smtClean="0"/>
                        <a:t> Matrix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gl_ProjectionMatrix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mat4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Projection Matrix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gl_FrontColor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Vec4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Front</a:t>
                      </a:r>
                      <a:r>
                        <a:rPr lang="en-US" baseline="0" dirty="0" smtClean="0"/>
                        <a:t> Color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gl_BackColor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Vec4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Back Color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gl_TextCoord</a:t>
                      </a:r>
                      <a:r>
                        <a:rPr lang="en-US" dirty="0" smtClean="0"/>
                        <a:t>[]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Vec4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Texture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lang="en-US" altLang="ja-JP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oordinates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gl_Position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Vec4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Vertex Position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gl_FragColor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Vec4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Color Frag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gl_FlagDepth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float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Depth Frag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46399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Check </a:t>
            </a:r>
            <a:r>
              <a:rPr lang="en-US" dirty="0" err="1" smtClean="0"/>
              <a:t>createProgram</a:t>
            </a:r>
            <a:r>
              <a:rPr lang="en-US" dirty="0" smtClean="0"/>
              <a:t>() </a:t>
            </a:r>
            <a:r>
              <a:rPr lang="en-US" dirty="0" err="1" smtClean="0"/>
              <a:t>Func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glPGShaderTools.cpp</a:t>
            </a:r>
          </a:p>
          <a:p>
            <a:pPr lvl="1"/>
            <a:r>
              <a:rPr lang="en-US" dirty="0" smtClean="0"/>
              <a:t>NOT built-in Function. Everyone write same way.</a:t>
            </a:r>
          </a:p>
          <a:p>
            <a:pPr lvl="1"/>
            <a:endParaRPr 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547664" y="2851620"/>
            <a:ext cx="6801633" cy="381774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sz="2000" dirty="0" err="1"/>
              <a:t>GLuint</a:t>
            </a:r>
            <a:r>
              <a:rPr lang="en-US" sz="2000" dirty="0"/>
              <a:t> </a:t>
            </a:r>
            <a:r>
              <a:rPr lang="en-US" sz="2000" dirty="0" err="1"/>
              <a:t>createProgram</a:t>
            </a:r>
            <a:r>
              <a:rPr lang="en-US" sz="2000" dirty="0"/>
              <a:t>(</a:t>
            </a:r>
            <a:r>
              <a:rPr lang="en-US" sz="2000" dirty="0" err="1"/>
              <a:t>const</a:t>
            </a:r>
            <a:r>
              <a:rPr lang="en-US" sz="2000" dirty="0"/>
              <a:t> char* </a:t>
            </a:r>
            <a:r>
              <a:rPr lang="en-US" sz="2000" dirty="0" err="1"/>
              <a:t>pVertexSource</a:t>
            </a:r>
            <a:r>
              <a:rPr lang="en-US" sz="2000" dirty="0"/>
              <a:t>, </a:t>
            </a:r>
            <a:r>
              <a:rPr lang="en-US" sz="2000" dirty="0" err="1"/>
              <a:t>const</a:t>
            </a:r>
            <a:r>
              <a:rPr lang="en-US" sz="2000" dirty="0"/>
              <a:t> char* </a:t>
            </a:r>
            <a:r>
              <a:rPr lang="en-US" sz="2000" dirty="0" err="1"/>
              <a:t>pFragmentSource</a:t>
            </a:r>
            <a:r>
              <a:rPr lang="en-US" sz="2000" dirty="0"/>
              <a:t>) {</a:t>
            </a:r>
          </a:p>
          <a:p>
            <a:pPr marL="914400" lvl="1" indent="-457200">
              <a:buFont typeface="+mj-lt"/>
              <a:buAutoNum type="arabicPeriod"/>
            </a:pPr>
            <a:endParaRPr lang="en-US" sz="2000" dirty="0"/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	</a:t>
            </a:r>
            <a:r>
              <a:rPr lang="en-US" sz="2000" dirty="0" err="1"/>
              <a:t>GLuint</a:t>
            </a:r>
            <a:r>
              <a:rPr lang="en-US" sz="2000" dirty="0"/>
              <a:t> </a:t>
            </a:r>
            <a:r>
              <a:rPr lang="en-US" sz="2000" dirty="0" err="1"/>
              <a:t>vertexShader</a:t>
            </a:r>
            <a:r>
              <a:rPr lang="en-US" sz="2000" dirty="0"/>
              <a:t> = </a:t>
            </a:r>
            <a:r>
              <a:rPr lang="en-US" sz="2000" dirty="0" err="1"/>
              <a:t>loadShader</a:t>
            </a:r>
            <a:r>
              <a:rPr lang="en-US" sz="2000" dirty="0"/>
              <a:t>(GL_VERTEX_SHADER, </a:t>
            </a:r>
            <a:r>
              <a:rPr lang="en-US" sz="2000" dirty="0" err="1"/>
              <a:t>pVertexSource</a:t>
            </a:r>
            <a:r>
              <a:rPr lang="en-US" sz="2000" dirty="0"/>
              <a:t>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	if (!</a:t>
            </a:r>
            <a:r>
              <a:rPr lang="en-US" sz="2000" dirty="0" err="1"/>
              <a:t>vertexShader</a:t>
            </a:r>
            <a:r>
              <a:rPr lang="en-US" sz="2000" dirty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		return 0;</a:t>
            </a:r>
          </a:p>
          <a:p>
            <a:pPr marL="914400" lvl="1" indent="-457200">
              <a:buFont typeface="+mj-lt"/>
              <a:buAutoNum type="arabicPeriod"/>
            </a:pPr>
            <a:endParaRPr lang="en-US" sz="2000" dirty="0"/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	</a:t>
            </a:r>
            <a:r>
              <a:rPr lang="en-US" sz="2000" dirty="0" err="1"/>
              <a:t>GLuint</a:t>
            </a:r>
            <a:r>
              <a:rPr lang="en-US" sz="2000" dirty="0"/>
              <a:t> </a:t>
            </a:r>
            <a:r>
              <a:rPr lang="en-US" sz="2000" dirty="0" err="1"/>
              <a:t>pixelShader</a:t>
            </a:r>
            <a:r>
              <a:rPr lang="en-US" sz="2000" dirty="0"/>
              <a:t> = </a:t>
            </a:r>
            <a:r>
              <a:rPr lang="en-US" sz="2000" dirty="0" err="1"/>
              <a:t>loadShader</a:t>
            </a:r>
            <a:r>
              <a:rPr lang="en-US" sz="2000" dirty="0"/>
              <a:t>(GL_FRAGMENT_SHADER, </a:t>
            </a:r>
            <a:r>
              <a:rPr lang="en-US" sz="2000" dirty="0" err="1"/>
              <a:t>pFragmentSource</a:t>
            </a:r>
            <a:r>
              <a:rPr lang="en-US" sz="2000" dirty="0"/>
              <a:t>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1985261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 Projection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glPGShaderTools.cpp</a:t>
            </a:r>
            <a:r>
              <a:rPr lang="en-US" dirty="0"/>
              <a:t> </a:t>
            </a:r>
            <a:r>
              <a:rPr lang="en-US" dirty="0" smtClean="0"/>
              <a:t>-&gt; </a:t>
            </a:r>
            <a:r>
              <a:rPr lang="en-US" dirty="0" err="1" smtClean="0"/>
              <a:t>prepareFrame</a:t>
            </a:r>
            <a:r>
              <a:rPr lang="en-US" dirty="0" smtClean="0"/>
              <a:t>()</a:t>
            </a:r>
          </a:p>
          <a:p>
            <a:pPr lvl="1"/>
            <a:r>
              <a:rPr lang="en-US" dirty="0" err="1" smtClean="0"/>
              <a:t>getPerspective</a:t>
            </a:r>
            <a:r>
              <a:rPr lang="en-US" dirty="0" smtClean="0"/>
              <a:t>() is NOT built-in…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OpenGL/ES Version… All Built-in…</a:t>
            </a:r>
            <a:endParaRPr 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547664" y="2133004"/>
            <a:ext cx="6801633" cy="22321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sz="2000" dirty="0" err="1"/>
              <a:t>GLint</a:t>
            </a:r>
            <a:r>
              <a:rPr lang="en-US" sz="2000" dirty="0"/>
              <a:t> </a:t>
            </a:r>
            <a:r>
              <a:rPr lang="en-US" sz="2000" dirty="0" err="1"/>
              <a:t>projectionUniform</a:t>
            </a:r>
            <a:r>
              <a:rPr lang="en-US" sz="2000" dirty="0"/>
              <a:t> = </a:t>
            </a:r>
            <a:r>
              <a:rPr lang="en-US" sz="2000" dirty="0" err="1"/>
              <a:t>glGetUniformLocation</a:t>
            </a:r>
            <a:r>
              <a:rPr lang="en-US" sz="2000" dirty="0"/>
              <a:t>(</a:t>
            </a:r>
            <a:r>
              <a:rPr lang="en-US" sz="2000" dirty="0" err="1"/>
              <a:t>glProgram</a:t>
            </a:r>
            <a:r>
              <a:rPr lang="en-US" sz="2000" dirty="0"/>
              <a:t>, "Projection");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mat4 </a:t>
            </a:r>
            <a:r>
              <a:rPr lang="en-US" sz="2000" dirty="0" err="1"/>
              <a:t>projectionMatrix</a:t>
            </a:r>
            <a:r>
              <a:rPr lang="en-US" sz="2000" dirty="0"/>
              <a:t> = </a:t>
            </a:r>
            <a:r>
              <a:rPr lang="en-US" sz="2000" dirty="0" err="1">
                <a:solidFill>
                  <a:srgbClr val="FF0000"/>
                </a:solidFill>
              </a:rPr>
              <a:t>getPerspective</a:t>
            </a:r>
            <a:r>
              <a:rPr lang="en-US" sz="2000" dirty="0">
                <a:solidFill>
                  <a:schemeClr val="bg1"/>
                </a:solidFill>
              </a:rPr>
              <a:t>(45</a:t>
            </a:r>
            <a:r>
              <a:rPr lang="en-US" sz="2000" dirty="0"/>
              <a:t>, (float) width / height, 0.5f, 500);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glUniformMatrix4fv(</a:t>
            </a:r>
            <a:r>
              <a:rPr lang="en-US" sz="2000" dirty="0" err="1"/>
              <a:t>projectionUniform</a:t>
            </a:r>
            <a:r>
              <a:rPr lang="en-US" sz="2000" dirty="0"/>
              <a:t>, 1, 0, </a:t>
            </a:r>
            <a:r>
              <a:rPr lang="en-US" sz="2000" dirty="0" err="1"/>
              <a:t>projectionMatrix.Pointer</a:t>
            </a:r>
            <a:r>
              <a:rPr lang="en-US" sz="2000" dirty="0"/>
              <a:t>());</a:t>
            </a:r>
          </a:p>
        </p:txBody>
      </p:sp>
      <p:sp>
        <p:nvSpPr>
          <p:cNvPr id="6" name="正方形/長方形 3"/>
          <p:cNvSpPr/>
          <p:nvPr/>
        </p:nvSpPr>
        <p:spPr>
          <a:xfrm>
            <a:off x="1547664" y="5229200"/>
            <a:ext cx="6801633" cy="158417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sz="2000" dirty="0" err="1" smtClean="0"/>
              <a:t>glMatrixMode</a:t>
            </a:r>
            <a:r>
              <a:rPr lang="en-US" sz="2000" dirty="0" smtClean="0"/>
              <a:t>(GL_PROJECTON);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err="1" smtClean="0"/>
              <a:t>glLoadIdentity</a:t>
            </a:r>
            <a:r>
              <a:rPr lang="en-US" sz="2000" dirty="0" smtClean="0"/>
              <a:t>();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err="1" smtClean="0"/>
              <a:t>gluPerspective</a:t>
            </a:r>
            <a:r>
              <a:rPr lang="en-US" sz="2000" dirty="0" smtClean="0"/>
              <a:t>(45, (float)width / height, 0.5f, 500);</a:t>
            </a:r>
          </a:p>
        </p:txBody>
      </p:sp>
    </p:spTree>
    <p:extLst>
      <p:ext uri="{BB962C8B-B14F-4D97-AF65-F5344CB8AC3E}">
        <p14:creationId xmlns:p14="http://schemas.microsoft.com/office/powerpoint/2010/main" val="30013058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is your V</a:t>
            </a:r>
            <a:r>
              <a:rPr lang="en-US" altLang="ja-JP" dirty="0" smtClean="0"/>
              <a:t>iewpoint(</a:t>
            </a:r>
            <a:r>
              <a:rPr lang="en-US" dirty="0" smtClean="0"/>
              <a:t>Viewport)?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25538"/>
            <a:ext cx="4525888" cy="5327650"/>
          </a:xfrm>
        </p:spPr>
        <p:txBody>
          <a:bodyPr/>
          <a:lstStyle/>
          <a:p>
            <a:r>
              <a:rPr lang="en-US" dirty="0" smtClean="0"/>
              <a:t>Perspective Projection</a:t>
            </a:r>
          </a:p>
          <a:p>
            <a:pPr lvl="1"/>
            <a:r>
              <a:rPr lang="en-US" dirty="0" err="1" smtClean="0"/>
              <a:t>zNear</a:t>
            </a:r>
            <a:endParaRPr lang="en-US" dirty="0" smtClean="0"/>
          </a:p>
          <a:p>
            <a:pPr lvl="2"/>
            <a:r>
              <a:rPr lang="en-US" dirty="0" smtClean="0"/>
              <a:t>Minimum Viewpoint of Z-Axis</a:t>
            </a:r>
          </a:p>
          <a:p>
            <a:pPr lvl="1"/>
            <a:r>
              <a:rPr lang="en-US" dirty="0" err="1" smtClean="0"/>
              <a:t>zFar</a:t>
            </a:r>
            <a:endParaRPr lang="en-US" dirty="0" smtClean="0"/>
          </a:p>
          <a:p>
            <a:pPr lvl="2"/>
            <a:r>
              <a:rPr lang="en-US" dirty="0" smtClean="0"/>
              <a:t>Maximum Viewpoint of Z-Axis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800600" y="1125538"/>
            <a:ext cx="4343400" cy="5327650"/>
          </a:xfrm>
        </p:spPr>
        <p:txBody>
          <a:bodyPr/>
          <a:lstStyle/>
          <a:p>
            <a:endParaRPr lang="en-US" dirty="0" smtClean="0"/>
          </a:p>
          <a:p>
            <a:pPr lvl="1"/>
            <a:r>
              <a:rPr lang="en-US" dirty="0" err="1"/>
              <a:t>fovy</a:t>
            </a:r>
            <a:endParaRPr lang="en-US" dirty="0"/>
          </a:p>
          <a:p>
            <a:pPr lvl="2"/>
            <a:r>
              <a:rPr lang="en-US" dirty="0"/>
              <a:t>Angle of view of Y-Axis</a:t>
            </a:r>
          </a:p>
          <a:p>
            <a:pPr lvl="1"/>
            <a:r>
              <a:rPr lang="en-US" dirty="0"/>
              <a:t>aspect</a:t>
            </a:r>
          </a:p>
          <a:p>
            <a:pPr lvl="2"/>
            <a:r>
              <a:rPr lang="en-US" dirty="0"/>
              <a:t>Width/height of </a:t>
            </a:r>
            <a:r>
              <a:rPr lang="en-US" dirty="0" err="1"/>
              <a:t>RealWindow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323"/>
          <a:stretch/>
        </p:blipFill>
        <p:spPr>
          <a:xfrm>
            <a:off x="1979712" y="3645024"/>
            <a:ext cx="5461818" cy="303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4549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Draw Cube! 1/2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glMyModels.cpp -&gt; </a:t>
            </a:r>
            <a:r>
              <a:rPr lang="en-US" dirty="0" err="1" smtClean="0"/>
              <a:t>drawCube</a:t>
            </a:r>
            <a:r>
              <a:rPr lang="en-US" dirty="0" smtClean="0"/>
              <a:t>()</a:t>
            </a:r>
          </a:p>
          <a:p>
            <a:pPr lvl="1"/>
            <a:r>
              <a:rPr lang="en-US" dirty="0" smtClean="0"/>
              <a:t>Check Matrix.hpp &amp; Vertex.hpp</a:t>
            </a:r>
          </a:p>
          <a:p>
            <a:pPr lvl="2"/>
            <a:r>
              <a:rPr lang="en-US" dirty="0" smtClean="0"/>
              <a:t>They have “Affine Transform” Code…</a:t>
            </a:r>
          </a:p>
          <a:p>
            <a:pPr lvl="3"/>
            <a:r>
              <a:rPr lang="en-US" dirty="0" smtClean="0"/>
              <a:t>Affine Transform Built-in </a:t>
            </a:r>
            <a:r>
              <a:rPr lang="en-US" dirty="0" err="1" smtClean="0"/>
              <a:t>Func</a:t>
            </a:r>
            <a:r>
              <a:rPr lang="en-US" dirty="0" smtClean="0"/>
              <a:t> is in OpenGL/ES 1.1…</a:t>
            </a:r>
          </a:p>
          <a:p>
            <a:endParaRPr 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547664" y="2996952"/>
            <a:ext cx="6801633" cy="367240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// Pose for Cube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mat4 </a:t>
            </a:r>
            <a:r>
              <a:rPr lang="en-US" sz="1600" dirty="0" err="1"/>
              <a:t>rotationX</a:t>
            </a:r>
            <a:r>
              <a:rPr lang="en-US" sz="1600" dirty="0"/>
              <a:t> = mat4::</a:t>
            </a:r>
            <a:r>
              <a:rPr lang="en-US" sz="1600" dirty="0" err="1"/>
              <a:t>RotateX</a:t>
            </a:r>
            <a:r>
              <a:rPr lang="en-US" sz="1600" dirty="0"/>
              <a:t>(engine-&gt;</a:t>
            </a:r>
            <a:r>
              <a:rPr lang="en-US" sz="1600" dirty="0" err="1"/>
              <a:t>angleX</a:t>
            </a:r>
            <a:r>
              <a:rPr lang="en-US" sz="1600" dirty="0"/>
              <a:t>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mat4 </a:t>
            </a:r>
            <a:r>
              <a:rPr lang="en-US" sz="1600" dirty="0" err="1"/>
              <a:t>rotationY</a:t>
            </a:r>
            <a:r>
              <a:rPr lang="en-US" sz="1600" dirty="0"/>
              <a:t> = mat4::</a:t>
            </a:r>
            <a:r>
              <a:rPr lang="en-US" sz="1600" dirty="0" err="1"/>
              <a:t>RotateY</a:t>
            </a:r>
            <a:r>
              <a:rPr lang="en-US" sz="1600" dirty="0"/>
              <a:t>(engine-&gt;</a:t>
            </a:r>
            <a:r>
              <a:rPr lang="en-US" sz="1600" dirty="0" err="1"/>
              <a:t>angleY</a:t>
            </a:r>
            <a:r>
              <a:rPr lang="en-US" sz="1600" dirty="0"/>
              <a:t>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mat4 </a:t>
            </a:r>
            <a:r>
              <a:rPr lang="en-US" sz="1600" dirty="0" err="1"/>
              <a:t>rotationZ</a:t>
            </a:r>
            <a:r>
              <a:rPr lang="en-US" sz="1600" dirty="0"/>
              <a:t> = mat4::</a:t>
            </a:r>
            <a:r>
              <a:rPr lang="en-US" sz="1600" dirty="0" err="1"/>
              <a:t>RotateZ</a:t>
            </a:r>
            <a:r>
              <a:rPr lang="en-US" sz="1600" dirty="0"/>
              <a:t>(engine-&gt;</a:t>
            </a:r>
            <a:r>
              <a:rPr lang="en-US" sz="1600" dirty="0" err="1"/>
              <a:t>angleZ</a:t>
            </a:r>
            <a:r>
              <a:rPr lang="en-US" sz="1600" dirty="0"/>
              <a:t>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mat4 scale = mat4::Scale(1.0);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mat4 translation = mat4::Translate(0, 0, -10);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mat4 </a:t>
            </a:r>
            <a:r>
              <a:rPr lang="en-US" sz="1600" dirty="0" err="1"/>
              <a:t>modelviewMatrix</a:t>
            </a:r>
            <a:r>
              <a:rPr lang="en-US" sz="1600" dirty="0"/>
              <a:t> =	scale * </a:t>
            </a:r>
            <a:r>
              <a:rPr lang="en-US" sz="1600" dirty="0" err="1"/>
              <a:t>rotationX</a:t>
            </a:r>
            <a:r>
              <a:rPr lang="en-US" sz="1600" dirty="0"/>
              <a:t> * </a:t>
            </a:r>
            <a:r>
              <a:rPr lang="en-US" sz="1600" dirty="0" err="1"/>
              <a:t>rotationY</a:t>
            </a:r>
            <a:r>
              <a:rPr lang="en-US" sz="1600" dirty="0"/>
              <a:t> * </a:t>
            </a:r>
            <a:r>
              <a:rPr lang="en-US" sz="1600" dirty="0" err="1"/>
              <a:t>rotationZ</a:t>
            </a:r>
            <a:r>
              <a:rPr lang="en-US" sz="1600" dirty="0"/>
              <a:t> *translation;</a:t>
            </a:r>
          </a:p>
          <a:p>
            <a:pPr marL="914400" lvl="1" indent="-457200">
              <a:buFont typeface="+mj-lt"/>
              <a:buAutoNum type="arabicPeriod"/>
            </a:pPr>
            <a:endParaRPr lang="en-US" sz="1600" dirty="0"/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// Set pose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 err="1"/>
              <a:t>int</a:t>
            </a:r>
            <a:r>
              <a:rPr lang="en-US" sz="1600" dirty="0"/>
              <a:t> </a:t>
            </a:r>
            <a:r>
              <a:rPr lang="en-US" sz="1600" dirty="0" err="1"/>
              <a:t>modelviewUniform</a:t>
            </a:r>
            <a:r>
              <a:rPr lang="en-US" sz="1600" dirty="0"/>
              <a:t> = </a:t>
            </a:r>
            <a:r>
              <a:rPr lang="en-US" sz="1600" dirty="0" err="1"/>
              <a:t>glGetUniformLocation</a:t>
            </a:r>
            <a:r>
              <a:rPr lang="en-US" sz="1600" dirty="0"/>
              <a:t>(</a:t>
            </a:r>
            <a:r>
              <a:rPr lang="en-US" sz="1600" dirty="0" err="1"/>
              <a:t>glProgram_Cube</a:t>
            </a:r>
            <a:r>
              <a:rPr lang="en-US" sz="1600" dirty="0"/>
              <a:t>, "</a:t>
            </a:r>
            <a:r>
              <a:rPr lang="en-US" sz="1600" dirty="0" err="1"/>
              <a:t>Modelview</a:t>
            </a:r>
            <a:r>
              <a:rPr lang="en-US" sz="1600" dirty="0"/>
              <a:t>");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glUniformMatrix4fv(</a:t>
            </a:r>
            <a:r>
              <a:rPr lang="en-US" sz="1600" dirty="0" err="1"/>
              <a:t>modelviewUniform</a:t>
            </a:r>
            <a:r>
              <a:rPr lang="en-US" sz="1600" dirty="0"/>
              <a:t>, 1, 0, </a:t>
            </a:r>
            <a:r>
              <a:rPr lang="en-US" sz="1600" dirty="0" err="1"/>
              <a:t>modelviewMatrix.Pointer</a:t>
            </a:r>
            <a:r>
              <a:rPr lang="en-US" sz="1600" dirty="0"/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21404916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 Cube! </a:t>
            </a:r>
            <a:r>
              <a:rPr lang="en-US" dirty="0" smtClean="0"/>
              <a:t>2/2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Draw Cube Polygon</a:t>
            </a:r>
            <a:endParaRPr 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547664" y="1916980"/>
            <a:ext cx="6801633" cy="32402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// Set Vertex Array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 err="1"/>
              <a:t>glVertexAttribPointer</a:t>
            </a:r>
            <a:r>
              <a:rPr lang="en-US" sz="1600" dirty="0"/>
              <a:t>(ATTRIB_VERTEX, </a:t>
            </a:r>
            <a:r>
              <a:rPr lang="en-US" sz="1600" dirty="0">
                <a:solidFill>
                  <a:srgbClr val="FF0000"/>
                </a:solidFill>
              </a:rPr>
              <a:t>3</a:t>
            </a:r>
            <a:r>
              <a:rPr lang="en-US" sz="1600" dirty="0"/>
              <a:t>, GL_FLOAT, GL_FALSE, 0, </a:t>
            </a:r>
            <a:r>
              <a:rPr lang="en-US" sz="1600" dirty="0" err="1"/>
              <a:t>cubeVertices</a:t>
            </a:r>
            <a:r>
              <a:rPr lang="en-US" sz="1600" dirty="0"/>
              <a:t>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// Set Color Array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 err="1"/>
              <a:t>glVertexAttribPointer</a:t>
            </a:r>
            <a:r>
              <a:rPr lang="en-US" sz="1600" dirty="0"/>
              <a:t>(ATTRIB_COLOR, </a:t>
            </a:r>
            <a:r>
              <a:rPr lang="en-US" sz="1600" dirty="0">
                <a:solidFill>
                  <a:srgbClr val="FF0000"/>
                </a:solidFill>
              </a:rPr>
              <a:t>4</a:t>
            </a:r>
            <a:r>
              <a:rPr lang="en-US" sz="1600" dirty="0"/>
              <a:t>, GL_FLOAT, GL_FALSE, 0, </a:t>
            </a:r>
            <a:r>
              <a:rPr lang="en-US" sz="1600" dirty="0" err="1"/>
              <a:t>cubeColors</a:t>
            </a:r>
            <a:r>
              <a:rPr lang="en-US" sz="1600" dirty="0"/>
              <a:t>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//Enabled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 err="1"/>
              <a:t>glEnableVertexAttribArray</a:t>
            </a:r>
            <a:r>
              <a:rPr lang="en-US" sz="1600" dirty="0"/>
              <a:t>(ATTRIB_VERTEX);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 err="1"/>
              <a:t>glEnableVertexAttribArray</a:t>
            </a:r>
            <a:r>
              <a:rPr lang="en-US" sz="1600" dirty="0"/>
              <a:t>(ATTRIB_COLOR);</a:t>
            </a:r>
          </a:p>
          <a:p>
            <a:pPr marL="914400" lvl="1" indent="-457200">
              <a:buFont typeface="+mj-lt"/>
              <a:buAutoNum type="arabicPeriod"/>
            </a:pPr>
            <a:endParaRPr lang="en-US" sz="1600" dirty="0"/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// Draw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 err="1"/>
              <a:t>glDrawElements</a:t>
            </a:r>
            <a:r>
              <a:rPr lang="en-US" sz="1600" dirty="0"/>
              <a:t>(</a:t>
            </a:r>
            <a:r>
              <a:rPr lang="en-US" sz="1600" dirty="0">
                <a:solidFill>
                  <a:srgbClr val="FF0000"/>
                </a:solidFill>
              </a:rPr>
              <a:t>GL_TRIANGLE_STRIP</a:t>
            </a:r>
            <a:r>
              <a:rPr lang="en-US" sz="1600" dirty="0"/>
              <a:t>, </a:t>
            </a:r>
            <a:r>
              <a:rPr lang="en-US" sz="1600" dirty="0">
                <a:solidFill>
                  <a:srgbClr val="FF0000"/>
                </a:solidFill>
              </a:rPr>
              <a:t>14</a:t>
            </a:r>
            <a:r>
              <a:rPr lang="en-US" sz="1600" dirty="0"/>
              <a:t>, GL_UNSIGNED_SHORT, </a:t>
            </a:r>
            <a:r>
              <a:rPr lang="en-US" sz="1600" dirty="0" err="1"/>
              <a:t>cubeIndices</a:t>
            </a:r>
            <a:r>
              <a:rPr lang="en-US" sz="16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4686181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Vertex of Cube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Draw Cube Polygon</a:t>
            </a:r>
            <a:endParaRPr 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547664" y="1916980"/>
            <a:ext cx="6801633" cy="32402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// Vertex List of Cube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 err="1"/>
              <a:t>const</a:t>
            </a:r>
            <a:r>
              <a:rPr lang="en-US" sz="1600" dirty="0"/>
              <a:t> </a:t>
            </a:r>
            <a:r>
              <a:rPr lang="en-US" sz="1600" dirty="0" err="1"/>
              <a:t>GLfloat</a:t>
            </a:r>
            <a:r>
              <a:rPr lang="en-US" sz="1600" dirty="0"/>
              <a:t> </a:t>
            </a:r>
            <a:r>
              <a:rPr lang="en-US" sz="1600" dirty="0" err="1"/>
              <a:t>cubeVertices</a:t>
            </a:r>
            <a:r>
              <a:rPr lang="en-US" sz="1600" dirty="0"/>
              <a:t>[] = {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/*	 x		 y		 z	*/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-1.0,	-1.0,	 1.0,	//0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 1.0,	-1.0,	 1.0,	//1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-1.0,	 1.0,	 1.0,	//2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 1.0,	 1.0,	 1.0,	//3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-1.0,	-1.0,	-1.0,	//4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 1.0,	-1.0,	-1.0,	//5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-1.0,	 1.0,	-1.0,	//6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 1.0,	 1.0,	-1.0,	//7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5906739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How to Draw Polygon?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TRIANGLE_STRIP</a:t>
            </a:r>
          </a:p>
          <a:p>
            <a:pPr lvl="1"/>
            <a:r>
              <a:rPr lang="en-US" dirty="0"/>
              <a:t>Joint 2 Points</a:t>
            </a:r>
          </a:p>
          <a:p>
            <a:r>
              <a:rPr lang="en-US" dirty="0" smtClean="0"/>
              <a:t>TRIANGLES</a:t>
            </a:r>
          </a:p>
          <a:p>
            <a:pPr lvl="1"/>
            <a:r>
              <a:rPr lang="en-US" dirty="0" smtClean="0"/>
              <a:t>Draw each Triangle</a:t>
            </a:r>
          </a:p>
          <a:p>
            <a:r>
              <a:rPr lang="en-US" dirty="0" smtClean="0"/>
              <a:t>TRIANGLE_FAN</a:t>
            </a:r>
          </a:p>
          <a:p>
            <a:pPr lvl="1"/>
            <a:r>
              <a:rPr lang="en-US" dirty="0" smtClean="0"/>
              <a:t>Joint 2 Points, but MUST use 1</a:t>
            </a:r>
            <a:r>
              <a:rPr lang="en-US" baseline="30000" dirty="0" smtClean="0"/>
              <a:t>st</a:t>
            </a:r>
            <a:r>
              <a:rPr lang="en-US" dirty="0" smtClean="0"/>
              <a:t> Point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QUAD_STRIP</a:t>
            </a:r>
          </a:p>
          <a:p>
            <a:pPr lvl="1"/>
            <a:r>
              <a:rPr lang="en-US" dirty="0"/>
              <a:t>Joint 2 Points</a:t>
            </a:r>
          </a:p>
          <a:p>
            <a:r>
              <a:rPr lang="en-US" dirty="0" smtClean="0"/>
              <a:t>QUAD</a:t>
            </a:r>
          </a:p>
          <a:p>
            <a:pPr lvl="1"/>
            <a:r>
              <a:rPr lang="en-US" dirty="0"/>
              <a:t>Draw </a:t>
            </a:r>
            <a:r>
              <a:rPr lang="en-US" dirty="0" smtClean="0"/>
              <a:t>each </a:t>
            </a:r>
            <a:r>
              <a:rPr lang="en-US" altLang="ja-JP" dirty="0" smtClean="0"/>
              <a:t>Square</a:t>
            </a:r>
          </a:p>
          <a:p>
            <a:r>
              <a:rPr lang="en-US" dirty="0" smtClean="0"/>
              <a:t>POLYGON</a:t>
            </a:r>
          </a:p>
          <a:p>
            <a:pPr lvl="1"/>
            <a:r>
              <a:rPr lang="en-US" dirty="0" smtClean="0"/>
              <a:t>Draw as Polygon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86"/>
          <a:stretch/>
        </p:blipFill>
        <p:spPr>
          <a:xfrm>
            <a:off x="2289175" y="4309986"/>
            <a:ext cx="4867275" cy="254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3892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Target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5998" y="1125538"/>
            <a:ext cx="2996803" cy="5327650"/>
          </a:xfrm>
        </p:spPr>
      </p:pic>
    </p:spTree>
    <p:extLst>
      <p:ext uri="{BB962C8B-B14F-4D97-AF65-F5344CB8AC3E}">
        <p14:creationId xmlns:p14="http://schemas.microsoft.com/office/powerpoint/2010/main" val="24701991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©SIProp Project, 2006-2008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2F11F904-56FD-4A1A-A7FA-EEA3E1D1CC61}" type="slidenum">
              <a:rPr lang="en-US" altLang="ja-JP"/>
              <a:pPr/>
              <a:t>40</a:t>
            </a:fld>
            <a:endParaRPr lang="en-US" altLang="ja-JP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ctrTitle"/>
          </p:nvPr>
        </p:nvSpPr>
        <p:spPr>
          <a:xfrm>
            <a:off x="533400" y="1352550"/>
            <a:ext cx="8167688" cy="1143000"/>
          </a:xfrm>
        </p:spPr>
        <p:txBody>
          <a:bodyPr/>
          <a:lstStyle/>
          <a:p>
            <a:r>
              <a:rPr lang="en-US" altLang="ja-JP" dirty="0" smtClean="0"/>
              <a:t>What’s Multi Core Compiler?</a:t>
            </a:r>
            <a:endParaRPr lang="en-US" dirty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Noritsuna</a:t>
            </a:r>
            <a:r>
              <a:rPr lang="en-US" dirty="0" smtClean="0"/>
              <a:t> Imamura</a:t>
            </a:r>
          </a:p>
          <a:p>
            <a:r>
              <a:rPr lang="en-US" dirty="0" smtClean="0"/>
              <a:t>noritsuna@siprop.org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224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Topic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algn="ctr"/>
            <a:r>
              <a:rPr lang="en-US" sz="3600" dirty="0" smtClean="0"/>
              <a:t>Compiler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dirty="0" smtClean="0"/>
              <a:t>   </a:t>
            </a:r>
            <a:r>
              <a:rPr lang="ja-JP" altLang="en-US" sz="3600" dirty="0" smtClean="0"/>
              <a:t>≠ </a:t>
            </a:r>
            <a:r>
              <a:rPr lang="en-US" altLang="ja-JP" sz="3600" dirty="0" smtClean="0"/>
              <a:t>Not Thread Programming</a:t>
            </a:r>
            <a:endParaRPr lang="en-US" sz="3600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3404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Parallel Compiler</a:t>
            </a:r>
          </a:p>
          <a:p>
            <a:r>
              <a:rPr lang="en-US" dirty="0" err="1" smtClean="0"/>
              <a:t>OpenMP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NEON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4430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What’s Parallelizing </a:t>
            </a:r>
            <a:r>
              <a:rPr lang="en-US" altLang="ja-JP" dirty="0" smtClean="0"/>
              <a:t>Compiler?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Automatically Parallelizing Compiler</a:t>
            </a:r>
          </a:p>
          <a:p>
            <a:pPr lvl="1"/>
            <a:r>
              <a:rPr lang="en-US" dirty="0" smtClean="0"/>
              <a:t>Don’t Need “Multi-Core” programming,</a:t>
            </a:r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Compiler automatically modify “Multi-Core” Code.</a:t>
            </a:r>
            <a:endParaRPr lang="en-US" dirty="0"/>
          </a:p>
          <a:p>
            <a:pPr lvl="2"/>
            <a:r>
              <a:rPr lang="en-US" dirty="0" smtClean="0"/>
              <a:t>Intel Compiler</a:t>
            </a:r>
          </a:p>
          <a:p>
            <a:pPr lvl="3"/>
            <a:r>
              <a:rPr lang="en-US" dirty="0" smtClean="0"/>
              <a:t>Only IA-Arch</a:t>
            </a:r>
          </a:p>
          <a:p>
            <a:pPr lvl="2"/>
            <a:r>
              <a:rPr lang="en-US" dirty="0" smtClean="0"/>
              <a:t>OSCAR(</a:t>
            </a:r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www.kasahara.elec.waseda.ac.jp</a:t>
            </a:r>
            <a:r>
              <a:rPr lang="en-US" dirty="0" smtClean="0"/>
              <a:t>)</a:t>
            </a:r>
          </a:p>
          <a:p>
            <a:pPr lvl="3"/>
            <a:r>
              <a:rPr lang="en-US" dirty="0" smtClean="0"/>
              <a:t>Not Open</a:t>
            </a:r>
          </a:p>
          <a:p>
            <a:r>
              <a:rPr lang="en-US" dirty="0" smtClean="0"/>
              <a:t>Hand Parallelizing Compiler</a:t>
            </a:r>
          </a:p>
          <a:p>
            <a:pPr lvl="1"/>
            <a:r>
              <a:rPr lang="en-US" dirty="0" smtClean="0"/>
              <a:t>Need to Make “Multi-Core” programming,</a:t>
            </a:r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But it’s easy to Make “Multi-Core” Code.</a:t>
            </a:r>
          </a:p>
          <a:p>
            <a:pPr marL="914400" lvl="2" indent="0">
              <a:buNone/>
            </a:pPr>
            <a:r>
              <a:rPr lang="en-US" dirty="0" smtClean="0"/>
              <a:t>    “Multi-Thread” Programming is so Hard.</a:t>
            </a:r>
          </a:p>
          <a:p>
            <a:pPr lvl="2"/>
            <a:r>
              <a:rPr lang="en-US" dirty="0" smtClean="0"/>
              <a:t>Linda</a:t>
            </a:r>
          </a:p>
          <a:p>
            <a:pPr lvl="3"/>
            <a:r>
              <a:rPr lang="en-US" dirty="0" smtClean="0"/>
              <a:t>Original Programming Language</a:t>
            </a:r>
            <a:endParaRPr lang="en-US" dirty="0"/>
          </a:p>
          <a:p>
            <a:pPr lvl="2"/>
            <a:r>
              <a:rPr lang="en-US" dirty="0" err="1" smtClean="0"/>
              <a:t>OpenMP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9745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dirty="0" smtClean="0"/>
          </a:p>
          <a:p>
            <a:pPr algn="ctr"/>
            <a:r>
              <a:rPr lang="en-US" altLang="ja-JP" sz="3600" dirty="0" err="1" smtClean="0"/>
              <a:t>OpenMP</a:t>
            </a:r>
            <a:endParaRPr lang="en-US" altLang="ja-JP" sz="3600" dirty="0" smtClean="0"/>
          </a:p>
        </p:txBody>
      </p:sp>
    </p:spTree>
    <p:extLst>
      <p:ext uri="{BB962C8B-B14F-4D97-AF65-F5344CB8AC3E}">
        <p14:creationId xmlns:p14="http://schemas.microsoft.com/office/powerpoint/2010/main" val="3653765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What’s </a:t>
            </a:r>
            <a:r>
              <a:rPr lang="en-US" dirty="0" err="1" smtClean="0"/>
              <a:t>OpenMP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Most Implemented Hand Parallelizing Compiler.</a:t>
            </a:r>
          </a:p>
          <a:p>
            <a:pPr lvl="1"/>
            <a:r>
              <a:rPr lang="en-US" dirty="0" smtClean="0"/>
              <a:t>Intel Compiler, </a:t>
            </a:r>
            <a:r>
              <a:rPr lang="en-US" dirty="0" err="1" smtClean="0"/>
              <a:t>gcc</a:t>
            </a:r>
            <a:r>
              <a:rPr lang="en-US" dirty="0" smtClean="0"/>
              <a:t>, …</a:t>
            </a:r>
          </a:p>
          <a:p>
            <a:pPr lvl="2"/>
            <a:r>
              <a:rPr lang="en-US" altLang="ja-JP" dirty="0" smtClean="0"/>
              <a:t>※If you use “parallel” option to compiler, </a:t>
            </a:r>
            <a:r>
              <a:rPr lang="en-US" altLang="ja-JP" dirty="0" err="1" smtClean="0"/>
              <a:t>OpenMP</a:t>
            </a:r>
            <a:r>
              <a:rPr lang="en-US" altLang="ja-JP" dirty="0" smtClean="0"/>
              <a:t> compile Automatically Parallelizing.</a:t>
            </a:r>
          </a:p>
          <a:p>
            <a:pPr lvl="1"/>
            <a:r>
              <a:rPr lang="en-US" altLang="ja-JP" dirty="0" smtClean="0"/>
              <a:t>Model: Join-Fork</a:t>
            </a:r>
          </a:p>
          <a:p>
            <a:pPr lvl="1"/>
            <a:r>
              <a:rPr lang="en-US" altLang="ja-JP" dirty="0" smtClean="0"/>
              <a:t>Memory: Relaxed-Consistency</a:t>
            </a:r>
          </a:p>
          <a:p>
            <a:pPr lvl="2"/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pPr lvl="2"/>
            <a:endParaRPr lang="en-US" dirty="0"/>
          </a:p>
          <a:p>
            <a:r>
              <a:rPr lang="en-US" sz="1800" dirty="0" smtClean="0"/>
              <a:t>Documents</a:t>
            </a:r>
          </a:p>
          <a:p>
            <a:pPr lvl="1"/>
            <a:r>
              <a:rPr lang="en-US" sz="1600" dirty="0">
                <a:hlinkClick r:id="rId2"/>
              </a:rPr>
              <a:t>http://</a:t>
            </a:r>
            <a:r>
              <a:rPr lang="en-US" sz="1600" dirty="0" smtClean="0">
                <a:hlinkClick r:id="rId2"/>
              </a:rPr>
              <a:t>openmp.org/</a:t>
            </a:r>
            <a:endParaRPr lang="en-US" sz="1600" dirty="0" smtClean="0"/>
          </a:p>
          <a:p>
            <a:pPr lvl="1"/>
            <a:r>
              <a:rPr lang="en-US" sz="1600" dirty="0">
                <a:hlinkClick r:id="rId3"/>
              </a:rPr>
              <a:t>http://openmp.org/wp/openmp-specifications</a:t>
            </a:r>
            <a:r>
              <a:rPr lang="en-US" sz="1600" dirty="0" smtClean="0">
                <a:hlinkClick r:id="rId3"/>
              </a:rPr>
              <a:t>/</a:t>
            </a:r>
            <a:endParaRPr lang="en-US" sz="1600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2710976"/>
            <a:ext cx="2408312" cy="8601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2743" y="3679832"/>
            <a:ext cx="5879617" cy="2447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9245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OpenMP</a:t>
            </a:r>
            <a:r>
              <a:rPr lang="en-US" dirty="0" smtClean="0"/>
              <a:t> Extensions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160" y="4797152"/>
            <a:ext cx="5173960" cy="1656036"/>
          </a:xfrm>
        </p:spPr>
        <p:txBody>
          <a:bodyPr/>
          <a:lstStyle/>
          <a:p>
            <a:r>
              <a:rPr lang="en-US" dirty="0" smtClean="0"/>
              <a:t>Parallel Control Structures</a:t>
            </a:r>
          </a:p>
          <a:p>
            <a:pPr lvl="1"/>
            <a:r>
              <a:rPr lang="en-US" dirty="0" err="1" smtClean="0"/>
              <a:t>OpenMP</a:t>
            </a:r>
            <a:r>
              <a:rPr lang="en-US" dirty="0" smtClean="0"/>
              <a:t> Statement</a:t>
            </a:r>
          </a:p>
          <a:p>
            <a:r>
              <a:rPr lang="en-US" dirty="0" smtClean="0"/>
              <a:t>Work Sharing, Synchronization</a:t>
            </a:r>
          </a:p>
          <a:p>
            <a:pPr lvl="1"/>
            <a:r>
              <a:rPr lang="en-US" dirty="0" smtClean="0"/>
              <a:t>Thread Controlling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538" y="994395"/>
            <a:ext cx="7610475" cy="3514725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5662736" y="4797152"/>
            <a:ext cx="3589784" cy="1656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Blip>
                <a:blip r:embed="rId3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Data Environment</a:t>
            </a:r>
          </a:p>
          <a:p>
            <a:pPr lvl="1"/>
            <a:r>
              <a:rPr lang="en-US" dirty="0" smtClean="0"/>
              <a:t>Value Controlling</a:t>
            </a:r>
          </a:p>
          <a:p>
            <a:r>
              <a:rPr lang="en-US" dirty="0" smtClean="0"/>
              <a:t>Runtime</a:t>
            </a:r>
          </a:p>
          <a:p>
            <a:pPr lvl="1"/>
            <a:r>
              <a:rPr lang="en-US" dirty="0" smtClean="0"/>
              <a:t>Tools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2773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OpenMP</a:t>
            </a:r>
            <a:r>
              <a:rPr lang="en-US" dirty="0" smtClean="0"/>
              <a:t> Syntax &amp; </a:t>
            </a:r>
            <a:r>
              <a:rPr lang="en-US" dirty="0" err="1" smtClean="0"/>
              <a:t>Behavor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25538"/>
            <a:ext cx="4093840" cy="5327650"/>
          </a:xfrm>
        </p:spPr>
        <p:txBody>
          <a:bodyPr/>
          <a:lstStyle/>
          <a:p>
            <a:r>
              <a:rPr lang="en-US" dirty="0" err="1" smtClean="0"/>
              <a:t>OpenMP</a:t>
            </a:r>
            <a:r>
              <a:rPr lang="en-US" dirty="0" smtClean="0"/>
              <a:t> Statements</a:t>
            </a:r>
          </a:p>
          <a:p>
            <a:pPr lvl="1"/>
            <a:r>
              <a:rPr lang="en-US" dirty="0" smtClean="0"/>
              <a:t>parallel</a:t>
            </a:r>
          </a:p>
          <a:p>
            <a:pPr lvl="1"/>
            <a:r>
              <a:rPr lang="en-US" dirty="0" smtClean="0"/>
              <a:t>single</a:t>
            </a:r>
          </a:p>
          <a:p>
            <a:pPr lvl="2"/>
            <a:r>
              <a:rPr lang="en-US" dirty="0" smtClean="0"/>
              <a:t>Do Only 1 Thread</a:t>
            </a:r>
          </a:p>
          <a:p>
            <a:pPr lvl="1"/>
            <a:endParaRPr lang="en-US" dirty="0" smtClean="0"/>
          </a:p>
          <a:p>
            <a:pPr lvl="1"/>
            <a:r>
              <a:rPr lang="en-US" dirty="0" err="1" smtClean="0"/>
              <a:t>Worksharing</a:t>
            </a:r>
            <a:r>
              <a:rPr lang="en-US" dirty="0" smtClean="0"/>
              <a:t> Statements</a:t>
            </a:r>
          </a:p>
          <a:p>
            <a:pPr lvl="2"/>
            <a:r>
              <a:rPr lang="en-US" dirty="0"/>
              <a:t>f</a:t>
            </a:r>
            <a:r>
              <a:rPr lang="en-US" dirty="0" smtClean="0"/>
              <a:t>or</a:t>
            </a:r>
          </a:p>
          <a:p>
            <a:pPr lvl="3"/>
            <a:r>
              <a:rPr lang="en-US" dirty="0" smtClean="0"/>
              <a:t>Do for by Thread</a:t>
            </a:r>
            <a:endParaRPr lang="en-US" dirty="0"/>
          </a:p>
          <a:p>
            <a:pPr lvl="2"/>
            <a:r>
              <a:rPr lang="en-US" dirty="0"/>
              <a:t>sections</a:t>
            </a:r>
          </a:p>
          <a:p>
            <a:pPr lvl="3"/>
            <a:r>
              <a:rPr lang="en-US" altLang="ja-JP" dirty="0" smtClean="0"/>
              <a:t>Separate Statements &amp; Do </a:t>
            </a:r>
            <a:r>
              <a:rPr lang="en-US" dirty="0" smtClean="0"/>
              <a:t>Once</a:t>
            </a:r>
          </a:p>
          <a:p>
            <a:pPr lvl="2"/>
            <a:r>
              <a:rPr lang="en-US" dirty="0" smtClean="0"/>
              <a:t>single</a:t>
            </a:r>
            <a:endParaRPr lang="en-US" dirty="0"/>
          </a:p>
          <a:p>
            <a:pPr lvl="3"/>
            <a:r>
              <a:rPr lang="en-US" dirty="0" smtClean="0"/>
              <a:t>Do Only 1 Thread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125538"/>
            <a:ext cx="4451920" cy="5327650"/>
          </a:xfrm>
        </p:spPr>
        <p:txBody>
          <a:bodyPr/>
          <a:lstStyle/>
          <a:p>
            <a:pPr lvl="1"/>
            <a:r>
              <a:rPr lang="en-US" dirty="0" smtClean="0"/>
              <a:t>Clause</a:t>
            </a:r>
          </a:p>
          <a:p>
            <a:pPr lvl="2"/>
            <a:r>
              <a:rPr lang="en-US" dirty="0"/>
              <a:t>if （scalar-expression</a:t>
            </a:r>
            <a:r>
              <a:rPr lang="en-US" dirty="0" smtClean="0"/>
              <a:t>）</a:t>
            </a:r>
          </a:p>
          <a:p>
            <a:pPr lvl="3"/>
            <a:r>
              <a:rPr lang="en-US" dirty="0" smtClean="0"/>
              <a:t>if statement</a:t>
            </a:r>
            <a:endParaRPr lang="en-US" dirty="0"/>
          </a:p>
          <a:p>
            <a:pPr lvl="2"/>
            <a:r>
              <a:rPr lang="en-US" dirty="0" err="1" smtClean="0"/>
              <a:t>private（list</a:t>
            </a:r>
            <a:r>
              <a:rPr lang="en-US" dirty="0"/>
              <a:t>） </a:t>
            </a:r>
          </a:p>
          <a:p>
            <a:pPr lvl="2"/>
            <a:r>
              <a:rPr lang="en-US" dirty="0" smtClean="0"/>
              <a:t>{</a:t>
            </a:r>
            <a:r>
              <a:rPr lang="en-US" dirty="0" err="1" smtClean="0"/>
              <a:t>first|last</a:t>
            </a:r>
            <a:r>
              <a:rPr lang="en-US" dirty="0" smtClean="0"/>
              <a:t>}</a:t>
            </a:r>
            <a:r>
              <a:rPr lang="en-US" dirty="0" err="1" smtClean="0"/>
              <a:t>private（list</a:t>
            </a:r>
            <a:r>
              <a:rPr lang="en-US" dirty="0"/>
              <a:t>） </a:t>
            </a:r>
            <a:endParaRPr lang="en-US" dirty="0" smtClean="0"/>
          </a:p>
          <a:p>
            <a:pPr lvl="3"/>
            <a:r>
              <a:rPr lang="en-US" dirty="0" smtClean="0"/>
              <a:t>Value is used in sections only</a:t>
            </a:r>
            <a:endParaRPr lang="en-US" dirty="0"/>
          </a:p>
          <a:p>
            <a:pPr lvl="2"/>
            <a:r>
              <a:rPr lang="en-US" dirty="0" err="1"/>
              <a:t>shared（list</a:t>
            </a:r>
            <a:r>
              <a:rPr lang="en-US" dirty="0" smtClean="0"/>
              <a:t>）</a:t>
            </a:r>
          </a:p>
          <a:p>
            <a:pPr lvl="3"/>
            <a:r>
              <a:rPr lang="en-US" dirty="0" smtClean="0"/>
              <a:t>Value is used Global</a:t>
            </a:r>
            <a:endParaRPr lang="en-US" dirty="0"/>
          </a:p>
          <a:p>
            <a:pPr lvl="2"/>
            <a:r>
              <a:rPr lang="en-US" dirty="0" smtClean="0"/>
              <a:t>reduction</a:t>
            </a:r>
            <a:r>
              <a:rPr lang="en-US" dirty="0"/>
              <a:t>（{operator | </a:t>
            </a:r>
            <a:r>
              <a:rPr lang="en-US" dirty="0" err="1" smtClean="0"/>
              <a:t>intrinsic_procedure_name</a:t>
            </a:r>
            <a:r>
              <a:rPr lang="en-US" dirty="0"/>
              <a:t>}： list） </a:t>
            </a:r>
            <a:endParaRPr lang="en-US" dirty="0" smtClean="0"/>
          </a:p>
          <a:p>
            <a:pPr lvl="3"/>
            <a:r>
              <a:rPr lang="en-US" dirty="0" smtClean="0"/>
              <a:t>Combine Values after All Thread </a:t>
            </a:r>
          </a:p>
          <a:p>
            <a:pPr lvl="2"/>
            <a:r>
              <a:rPr lang="en-US" dirty="0" err="1"/>
              <a:t>schedule（kind</a:t>
            </a:r>
            <a:r>
              <a:rPr lang="en-US" dirty="0"/>
              <a:t>[, </a:t>
            </a:r>
            <a:r>
              <a:rPr lang="en-US" dirty="0" err="1"/>
              <a:t>chunk_size</a:t>
            </a:r>
            <a:r>
              <a:rPr lang="en-US" dirty="0" smtClean="0"/>
              <a:t>]）</a:t>
            </a:r>
          </a:p>
          <a:p>
            <a:pPr lvl="3"/>
            <a:r>
              <a:rPr lang="en-US" dirty="0" smtClean="0"/>
              <a:t>How about use Thread</a:t>
            </a:r>
            <a:endParaRPr lang="en-US" dirty="0"/>
          </a:p>
          <a:p>
            <a:pPr marL="91440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7312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Use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“#pragma </a:t>
            </a:r>
            <a:r>
              <a:rPr lang="en-US" dirty="0" err="1" smtClean="0"/>
              <a:t>omp</a:t>
            </a:r>
            <a:r>
              <a:rPr lang="en-US" dirty="0" smtClean="0"/>
              <a:t>” + </a:t>
            </a:r>
            <a:r>
              <a:rPr lang="en-US" dirty="0" err="1" smtClean="0"/>
              <a:t>OpenMP</a:t>
            </a:r>
            <a:r>
              <a:rPr lang="en-US" dirty="0" smtClean="0"/>
              <a:t> statement</a:t>
            </a:r>
          </a:p>
          <a:p>
            <a:pPr lvl="1"/>
            <a:r>
              <a:rPr lang="en-US" dirty="0" smtClean="0"/>
              <a:t>Ex. “for</a:t>
            </a:r>
            <a:r>
              <a:rPr lang="en-US" dirty="0"/>
              <a:t>” statement parallelizing.</a:t>
            </a:r>
          </a:p>
          <a:p>
            <a:pPr lvl="1"/>
            <a:endParaRPr 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227144" y="2204864"/>
            <a:ext cx="4713008" cy="165618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solidFill>
                  <a:srgbClr val="FF0000"/>
                </a:solidFill>
              </a:rPr>
              <a:t>#pragma </a:t>
            </a:r>
            <a:r>
              <a:rPr lang="en-US" sz="2000" dirty="0" err="1">
                <a:solidFill>
                  <a:srgbClr val="FF0000"/>
                </a:solidFill>
              </a:rPr>
              <a:t>omp</a:t>
            </a:r>
            <a:r>
              <a:rPr lang="en-US" sz="2000" dirty="0">
                <a:solidFill>
                  <a:srgbClr val="FF0000"/>
                </a:solidFill>
              </a:rPr>
              <a:t> parallel for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for(</a:t>
            </a:r>
            <a:r>
              <a:rPr lang="en-US" sz="2000" dirty="0" err="1"/>
              <a:t>int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= 0; </a:t>
            </a:r>
            <a:r>
              <a:rPr lang="en-US" sz="2000" dirty="0" err="1"/>
              <a:t>i</a:t>
            </a:r>
            <a:r>
              <a:rPr lang="en-US" sz="2000" dirty="0"/>
              <a:t> &lt; </a:t>
            </a:r>
            <a:r>
              <a:rPr lang="en-US" sz="2000" dirty="0" smtClean="0"/>
              <a:t>1000; </a:t>
            </a:r>
            <a:r>
              <a:rPr lang="en-US" sz="2000" dirty="0" err="1"/>
              <a:t>i</a:t>
            </a:r>
            <a:r>
              <a:rPr lang="en-US" sz="2000" dirty="0"/>
              <a:t>++) </a:t>
            </a:r>
            <a:r>
              <a:rPr lang="en-US" sz="2000" dirty="0" smtClean="0"/>
              <a:t>{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 </a:t>
            </a:r>
            <a:r>
              <a:rPr lang="en-US" sz="2000" dirty="0" smtClean="0"/>
              <a:t>   // your code</a:t>
            </a:r>
            <a:endParaRPr lang="en-US" sz="2000" dirty="0"/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}</a:t>
            </a:r>
            <a:endParaRPr lang="en-US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061"/>
          <a:stretch/>
        </p:blipFill>
        <p:spPr>
          <a:xfrm>
            <a:off x="6934500" y="2060848"/>
            <a:ext cx="2066906" cy="4176316"/>
          </a:xfrm>
          <a:prstGeom prst="rect">
            <a:avLst/>
          </a:prstGeom>
        </p:spPr>
      </p:pic>
      <p:sp>
        <p:nvSpPr>
          <p:cNvPr id="7" name="正方形/長方形 3"/>
          <p:cNvSpPr/>
          <p:nvPr/>
        </p:nvSpPr>
        <p:spPr>
          <a:xfrm>
            <a:off x="447395" y="4509120"/>
            <a:ext cx="6284845" cy="230425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sz="2000" dirty="0" err="1"/>
              <a:t>int</a:t>
            </a:r>
            <a:r>
              <a:rPr lang="en-US" sz="2000" dirty="0"/>
              <a:t> </a:t>
            </a:r>
            <a:r>
              <a:rPr lang="en-US" sz="2000" dirty="0" err="1"/>
              <a:t>cpu_num</a:t>
            </a:r>
            <a:r>
              <a:rPr lang="en-US" sz="2000" dirty="0"/>
              <a:t> = step = </a:t>
            </a:r>
            <a:r>
              <a:rPr lang="en-US" sz="2000" dirty="0" err="1"/>
              <a:t>omp_get_num_procs</a:t>
            </a:r>
            <a:r>
              <a:rPr lang="en-US" sz="2000" dirty="0"/>
              <a:t>();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for(</a:t>
            </a:r>
            <a:r>
              <a:rPr lang="en-US" sz="2000" dirty="0" err="1"/>
              <a:t>int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= 0; </a:t>
            </a:r>
            <a:r>
              <a:rPr lang="en-US" sz="2000" dirty="0" err="1"/>
              <a:t>i</a:t>
            </a:r>
            <a:r>
              <a:rPr lang="en-US" sz="2000" dirty="0"/>
              <a:t> &lt; </a:t>
            </a:r>
            <a:r>
              <a:rPr lang="en-US" sz="2000" dirty="0" err="1"/>
              <a:t>cpu_num</a:t>
            </a:r>
            <a:r>
              <a:rPr lang="en-US" sz="2000" dirty="0"/>
              <a:t>; </a:t>
            </a:r>
            <a:r>
              <a:rPr lang="en-US" sz="2000" dirty="0" err="1"/>
              <a:t>i</a:t>
            </a:r>
            <a:r>
              <a:rPr lang="en-US" sz="2000" dirty="0"/>
              <a:t>++) {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    START_THREAD </a:t>
            </a:r>
            <a:r>
              <a:rPr lang="en-US" sz="2000" dirty="0"/>
              <a:t>{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        FOR_STATEMENT(</a:t>
            </a:r>
            <a:r>
              <a:rPr lang="en-US" sz="2000" dirty="0" err="1" smtClean="0"/>
              <a:t>int</a:t>
            </a:r>
            <a:r>
              <a:rPr lang="en-US" sz="2000" dirty="0" smtClean="0"/>
              <a:t> </a:t>
            </a:r>
            <a:r>
              <a:rPr lang="en-US" sz="2000" dirty="0"/>
              <a:t>j = </a:t>
            </a:r>
            <a:r>
              <a:rPr lang="en-US" sz="2000" dirty="0" err="1"/>
              <a:t>i</a:t>
            </a:r>
            <a:r>
              <a:rPr lang="en-US" sz="2000" dirty="0"/>
              <a:t>; j &lt; xxx; </a:t>
            </a:r>
            <a:r>
              <a:rPr lang="en-US" sz="2000" dirty="0" err="1"/>
              <a:t>j+step</a:t>
            </a:r>
            <a:r>
              <a:rPr lang="en-US" sz="2000" dirty="0"/>
              <a:t>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    }</a:t>
            </a:r>
            <a:endParaRPr lang="en-US" sz="2000" dirty="0"/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}</a:t>
            </a:r>
          </a:p>
        </p:txBody>
      </p:sp>
      <p:sp>
        <p:nvSpPr>
          <p:cNvPr id="8" name="Striped Right Arrow 7"/>
          <p:cNvSpPr/>
          <p:nvPr/>
        </p:nvSpPr>
        <p:spPr bwMode="auto">
          <a:xfrm rot="5400000">
            <a:off x="3220092" y="3969060"/>
            <a:ext cx="360040" cy="432048"/>
          </a:xfrm>
          <a:prstGeom prst="striped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018120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IplImage</a:t>
            </a:r>
            <a:r>
              <a:rPr lang="en-US" dirty="0" smtClean="0"/>
              <a:t> Benchmark by </a:t>
            </a:r>
            <a:r>
              <a:rPr lang="en-US" dirty="0" err="1" smtClean="0"/>
              <a:t>OpenMP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818675" y="1125538"/>
            <a:ext cx="7791925" cy="5327650"/>
          </a:xfrm>
        </p:spPr>
        <p:txBody>
          <a:bodyPr/>
          <a:lstStyle/>
          <a:p>
            <a:r>
              <a:rPr lang="en-US" dirty="0" err="1"/>
              <a:t>IplImage</a:t>
            </a:r>
            <a:endParaRPr lang="en-US" dirty="0"/>
          </a:p>
          <a:p>
            <a:pPr lvl="1"/>
            <a:r>
              <a:rPr lang="en-US" dirty="0" smtClean="0"/>
              <a:t>Write </a:t>
            </a:r>
            <a:r>
              <a:rPr lang="en-US" dirty="0" smtClean="0">
                <a:solidFill>
                  <a:srgbClr val="FF0000"/>
                </a:solidFill>
              </a:rPr>
              <a:t>1 line </a:t>
            </a:r>
            <a:r>
              <a:rPr lang="en-US" dirty="0" smtClean="0"/>
              <a:t>only</a:t>
            </a:r>
          </a:p>
          <a:p>
            <a:r>
              <a:rPr lang="en-US" dirty="0" smtClean="0"/>
              <a:t>Device</a:t>
            </a:r>
          </a:p>
          <a:p>
            <a:pPr lvl="1"/>
            <a:r>
              <a:rPr lang="en-US" dirty="0" smtClean="0"/>
              <a:t>Nexus7(2013)</a:t>
            </a:r>
          </a:p>
          <a:p>
            <a:pPr lvl="2"/>
            <a:r>
              <a:rPr lang="en-US" dirty="0" smtClean="0">
                <a:solidFill>
                  <a:srgbClr val="FF0000"/>
                </a:solidFill>
              </a:rPr>
              <a:t>4 Core</a:t>
            </a:r>
            <a:endParaRPr lang="en-US" dirty="0" smtClean="0">
              <a:solidFill>
                <a:schemeClr val="bg1"/>
              </a:solidFill>
            </a:endParaRPr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7" name="正方形/長方形 3"/>
          <p:cNvSpPr/>
          <p:nvPr/>
        </p:nvSpPr>
        <p:spPr>
          <a:xfrm>
            <a:off x="683568" y="3672408"/>
            <a:ext cx="8325325" cy="28529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sz="1600" dirty="0" err="1">
                <a:solidFill>
                  <a:schemeClr val="bg1"/>
                </a:solidFill>
              </a:rPr>
              <a:t>IplImage</a:t>
            </a:r>
            <a:r>
              <a:rPr lang="en-US" altLang="ja-JP" sz="1600" dirty="0">
                <a:solidFill>
                  <a:schemeClr val="bg1"/>
                </a:solidFill>
              </a:rPr>
              <a:t>* </a:t>
            </a:r>
            <a:r>
              <a:rPr lang="en-US" altLang="ja-JP" sz="1600" dirty="0" err="1">
                <a:solidFill>
                  <a:schemeClr val="bg1"/>
                </a:solidFill>
              </a:rPr>
              <a:t>img</a:t>
            </a:r>
            <a:r>
              <a:rPr lang="en-US" altLang="ja-JP" sz="1600" dirty="0" smtClean="0">
                <a:solidFill>
                  <a:schemeClr val="bg1"/>
                </a:solidFill>
              </a:rPr>
              <a:t>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>
                <a:solidFill>
                  <a:srgbClr val="FF0000"/>
                </a:solidFill>
              </a:rPr>
              <a:t>#pragma </a:t>
            </a:r>
            <a:r>
              <a:rPr lang="en-US" sz="1600" dirty="0" err="1">
                <a:solidFill>
                  <a:srgbClr val="FF0000"/>
                </a:solidFill>
              </a:rPr>
              <a:t>omp</a:t>
            </a:r>
            <a:r>
              <a:rPr lang="en-US" sz="1600" dirty="0">
                <a:solidFill>
                  <a:srgbClr val="FF0000"/>
                </a:solidFill>
              </a:rPr>
              <a:t> parallel </a:t>
            </a:r>
            <a:r>
              <a:rPr lang="en-US" sz="1600" dirty="0" smtClean="0">
                <a:solidFill>
                  <a:srgbClr val="FF0000"/>
                </a:solidFill>
              </a:rPr>
              <a:t>for</a:t>
            </a:r>
            <a:endParaRPr lang="en-US" altLang="ja-JP" sz="1600" dirty="0">
              <a:solidFill>
                <a:schemeClr val="bg1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for(</a:t>
            </a:r>
            <a:r>
              <a:rPr lang="en-US" altLang="ja-JP" sz="1600" dirty="0" err="1">
                <a:solidFill>
                  <a:schemeClr val="bg1"/>
                </a:solidFill>
              </a:rPr>
              <a:t>int</a:t>
            </a:r>
            <a:r>
              <a:rPr lang="en-US" altLang="ja-JP" sz="1600" dirty="0">
                <a:solidFill>
                  <a:schemeClr val="bg1"/>
                </a:solidFill>
              </a:rPr>
              <a:t> h = 0; h &lt; </a:t>
            </a:r>
            <a:r>
              <a:rPr lang="en-US" altLang="ja-JP" sz="1600" dirty="0" err="1">
                <a:solidFill>
                  <a:schemeClr val="bg1"/>
                </a:solidFill>
              </a:rPr>
              <a:t>img</a:t>
            </a:r>
            <a:r>
              <a:rPr lang="en-US" altLang="ja-JP" sz="1600" dirty="0">
                <a:solidFill>
                  <a:schemeClr val="bg1"/>
                </a:solidFill>
              </a:rPr>
              <a:t>-&gt;height; h++) {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	for(</a:t>
            </a:r>
            <a:r>
              <a:rPr lang="en-US" altLang="ja-JP" sz="1600" dirty="0" err="1">
                <a:solidFill>
                  <a:schemeClr val="bg1"/>
                </a:solidFill>
              </a:rPr>
              <a:t>int</a:t>
            </a:r>
            <a:r>
              <a:rPr lang="en-US" altLang="ja-JP" sz="1600" dirty="0">
                <a:solidFill>
                  <a:schemeClr val="bg1"/>
                </a:solidFill>
              </a:rPr>
              <a:t> w = 0; w &lt; </a:t>
            </a:r>
            <a:r>
              <a:rPr lang="en-US" altLang="ja-JP" sz="1600" dirty="0" err="1">
                <a:solidFill>
                  <a:schemeClr val="bg1"/>
                </a:solidFill>
              </a:rPr>
              <a:t>img</a:t>
            </a:r>
            <a:r>
              <a:rPr lang="en-US" altLang="ja-JP" sz="1600" dirty="0">
                <a:solidFill>
                  <a:schemeClr val="bg1"/>
                </a:solidFill>
              </a:rPr>
              <a:t>-&gt;width; w++){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		</a:t>
            </a:r>
            <a:r>
              <a:rPr lang="en-US" altLang="ja-JP" sz="1600" dirty="0" err="1">
                <a:solidFill>
                  <a:schemeClr val="bg1"/>
                </a:solidFill>
              </a:rPr>
              <a:t>img</a:t>
            </a:r>
            <a:r>
              <a:rPr lang="en-US" altLang="ja-JP" sz="1600" dirty="0">
                <a:solidFill>
                  <a:schemeClr val="bg1"/>
                </a:solidFill>
              </a:rPr>
              <a:t>-&gt;</a:t>
            </a:r>
            <a:r>
              <a:rPr lang="en-US" altLang="ja-JP" sz="1600" dirty="0" err="1">
                <a:solidFill>
                  <a:schemeClr val="bg1"/>
                </a:solidFill>
              </a:rPr>
              <a:t>imageData</a:t>
            </a:r>
            <a:r>
              <a:rPr lang="en-US" altLang="ja-JP" sz="1600" dirty="0">
                <a:solidFill>
                  <a:schemeClr val="bg1"/>
                </a:solidFill>
              </a:rPr>
              <a:t>[</a:t>
            </a:r>
            <a:r>
              <a:rPr lang="en-US" altLang="ja-JP" sz="1600" dirty="0" err="1">
                <a:solidFill>
                  <a:schemeClr val="bg1"/>
                </a:solidFill>
              </a:rPr>
              <a:t>img</a:t>
            </a:r>
            <a:r>
              <a:rPr lang="en-US" altLang="ja-JP" sz="1600" dirty="0">
                <a:solidFill>
                  <a:schemeClr val="bg1"/>
                </a:solidFill>
              </a:rPr>
              <a:t>-&gt;</a:t>
            </a:r>
            <a:r>
              <a:rPr lang="en-US" altLang="ja-JP" sz="1600" dirty="0" err="1">
                <a:solidFill>
                  <a:schemeClr val="bg1"/>
                </a:solidFill>
              </a:rPr>
              <a:t>widthStep</a:t>
            </a:r>
            <a:r>
              <a:rPr lang="en-US" altLang="ja-JP" sz="1600" dirty="0">
                <a:solidFill>
                  <a:schemeClr val="bg1"/>
                </a:solidFill>
              </a:rPr>
              <a:t> * h + w * 3 + 0]=0;//B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		</a:t>
            </a:r>
            <a:r>
              <a:rPr lang="en-US" altLang="ja-JP" sz="1600" dirty="0" err="1">
                <a:solidFill>
                  <a:schemeClr val="bg1"/>
                </a:solidFill>
              </a:rPr>
              <a:t>img</a:t>
            </a:r>
            <a:r>
              <a:rPr lang="en-US" altLang="ja-JP" sz="1600" dirty="0">
                <a:solidFill>
                  <a:schemeClr val="bg1"/>
                </a:solidFill>
              </a:rPr>
              <a:t>-&gt;</a:t>
            </a:r>
            <a:r>
              <a:rPr lang="en-US" altLang="ja-JP" sz="1600" dirty="0" err="1">
                <a:solidFill>
                  <a:schemeClr val="bg1"/>
                </a:solidFill>
              </a:rPr>
              <a:t>imageData</a:t>
            </a:r>
            <a:r>
              <a:rPr lang="en-US" altLang="ja-JP" sz="1600" dirty="0">
                <a:solidFill>
                  <a:schemeClr val="bg1"/>
                </a:solidFill>
              </a:rPr>
              <a:t>[</a:t>
            </a:r>
            <a:r>
              <a:rPr lang="en-US" altLang="ja-JP" sz="1600" dirty="0" err="1">
                <a:solidFill>
                  <a:schemeClr val="bg1"/>
                </a:solidFill>
              </a:rPr>
              <a:t>img</a:t>
            </a:r>
            <a:r>
              <a:rPr lang="en-US" altLang="ja-JP" sz="1600" dirty="0">
                <a:solidFill>
                  <a:schemeClr val="bg1"/>
                </a:solidFill>
              </a:rPr>
              <a:t>-&gt;</a:t>
            </a:r>
            <a:r>
              <a:rPr lang="en-US" altLang="ja-JP" sz="1600" dirty="0" err="1">
                <a:solidFill>
                  <a:schemeClr val="bg1"/>
                </a:solidFill>
              </a:rPr>
              <a:t>widthStep</a:t>
            </a:r>
            <a:r>
              <a:rPr lang="en-US" altLang="ja-JP" sz="1600" dirty="0">
                <a:solidFill>
                  <a:schemeClr val="bg1"/>
                </a:solidFill>
              </a:rPr>
              <a:t> * h + w * 3 + 1]=0;//G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		</a:t>
            </a:r>
            <a:r>
              <a:rPr lang="en-US" altLang="ja-JP" sz="1600" dirty="0" err="1">
                <a:solidFill>
                  <a:schemeClr val="bg1"/>
                </a:solidFill>
              </a:rPr>
              <a:t>img</a:t>
            </a:r>
            <a:r>
              <a:rPr lang="en-US" altLang="ja-JP" sz="1600" dirty="0">
                <a:solidFill>
                  <a:schemeClr val="bg1"/>
                </a:solidFill>
              </a:rPr>
              <a:t>-&gt;</a:t>
            </a:r>
            <a:r>
              <a:rPr lang="en-US" altLang="ja-JP" sz="1600" dirty="0" err="1">
                <a:solidFill>
                  <a:schemeClr val="bg1"/>
                </a:solidFill>
              </a:rPr>
              <a:t>imageData</a:t>
            </a:r>
            <a:r>
              <a:rPr lang="en-US" altLang="ja-JP" sz="1600" dirty="0">
                <a:solidFill>
                  <a:schemeClr val="bg1"/>
                </a:solidFill>
              </a:rPr>
              <a:t>[</a:t>
            </a:r>
            <a:r>
              <a:rPr lang="en-US" altLang="ja-JP" sz="1600" dirty="0" err="1">
                <a:solidFill>
                  <a:schemeClr val="bg1"/>
                </a:solidFill>
              </a:rPr>
              <a:t>img</a:t>
            </a:r>
            <a:r>
              <a:rPr lang="en-US" altLang="ja-JP" sz="1600" dirty="0">
                <a:solidFill>
                  <a:schemeClr val="bg1"/>
                </a:solidFill>
              </a:rPr>
              <a:t>-&gt;</a:t>
            </a:r>
            <a:r>
              <a:rPr lang="en-US" altLang="ja-JP" sz="1600" dirty="0" err="1">
                <a:solidFill>
                  <a:schemeClr val="bg1"/>
                </a:solidFill>
              </a:rPr>
              <a:t>widthStep</a:t>
            </a:r>
            <a:r>
              <a:rPr lang="en-US" altLang="ja-JP" sz="1600" dirty="0">
                <a:solidFill>
                  <a:schemeClr val="bg1"/>
                </a:solidFill>
              </a:rPr>
              <a:t> * h + w * 3 + 2]=0;//R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	}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600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07888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dirty="0" smtClean="0"/>
          </a:p>
          <a:p>
            <a:pPr algn="ctr"/>
            <a:r>
              <a:rPr lang="en-US" altLang="ja-JP" sz="3600" dirty="0" smtClean="0"/>
              <a:t>Hands On</a:t>
            </a:r>
          </a:p>
        </p:txBody>
      </p:sp>
    </p:spTree>
    <p:extLst>
      <p:ext uri="{BB962C8B-B14F-4D97-AF65-F5344CB8AC3E}">
        <p14:creationId xmlns:p14="http://schemas.microsoft.com/office/powerpoint/2010/main" val="2998179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Hand Detector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832" y="1268760"/>
            <a:ext cx="2996803" cy="5327650"/>
          </a:xfrm>
        </p:spPr>
      </p:pic>
    </p:spTree>
    <p:extLst>
      <p:ext uri="{BB962C8B-B14F-4D97-AF65-F5344CB8AC3E}">
        <p14:creationId xmlns:p14="http://schemas.microsoft.com/office/powerpoint/2010/main" val="970179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Chart of Hand Detector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-1044624" y="1124744"/>
          <a:ext cx="7772400" cy="5327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/>
          </p:nvPr>
        </p:nvGraphicFramePr>
        <p:xfrm>
          <a:off x="4572000" y="1124744"/>
          <a:ext cx="5040560" cy="5327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670253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Android.mk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 C &amp; LD flags</a:t>
            </a:r>
            <a:endParaRPr 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547664" y="2492896"/>
            <a:ext cx="6801633" cy="115198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LOCAL_CFLAGS += -O3 -</a:t>
            </a:r>
            <a:r>
              <a:rPr lang="en-US" sz="2000" dirty="0" err="1"/>
              <a:t>fopenmp</a:t>
            </a:r>
            <a:endParaRPr lang="en-US" sz="2000" dirty="0"/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LOCAL_LDFLAGS +=-O3 -</a:t>
            </a:r>
            <a:r>
              <a:rPr lang="en-US" sz="2000" dirty="0" err="1"/>
              <a:t>fopenmp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38489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smtClean="0"/>
              <a:t>Why Use </a:t>
            </a:r>
            <a:r>
              <a:rPr lang="en-US" dirty="0" err="1" smtClean="0"/>
              <a:t>HoG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Matching Hand Shape.</a:t>
            </a:r>
          </a:p>
          <a:p>
            <a:pPr lvl="1"/>
            <a:r>
              <a:rPr lang="en-US" dirty="0" smtClean="0"/>
              <a:t>Use Feature Point Distance with Each </a:t>
            </a:r>
            <a:r>
              <a:rPr lang="en-US" dirty="0" err="1" smtClean="0"/>
              <a:t>HoG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2574057"/>
            <a:ext cx="2232248" cy="422446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491" y="2558725"/>
            <a:ext cx="2381259" cy="4233349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94490" y="2574056"/>
          <a:ext cx="2381260" cy="4224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126"/>
                <a:gridCol w="238126"/>
                <a:gridCol w="238126"/>
                <a:gridCol w="238126"/>
                <a:gridCol w="238126"/>
                <a:gridCol w="238126"/>
                <a:gridCol w="238126"/>
                <a:gridCol w="238126"/>
                <a:gridCol w="238126"/>
                <a:gridCol w="238126"/>
              </a:tblGrid>
              <a:tr h="52805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4932040" y="2579701"/>
          <a:ext cx="2381260" cy="4224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126"/>
                <a:gridCol w="238126"/>
                <a:gridCol w="238126"/>
                <a:gridCol w="238126"/>
                <a:gridCol w="238126"/>
                <a:gridCol w="238126"/>
                <a:gridCol w="238126"/>
                <a:gridCol w="238126"/>
                <a:gridCol w="238126"/>
                <a:gridCol w="238126"/>
              </a:tblGrid>
              <a:tr h="52805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7535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1/3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Blip>
                <a:blip r:embed="rId2"/>
              </a:buBlip>
            </a:pPr>
            <a:r>
              <a:rPr lang="en-US" dirty="0" smtClean="0"/>
              <a:t>Calculate each Cell</a:t>
            </a:r>
            <a:r>
              <a:rPr lang="en-US" dirty="0"/>
              <a:t> (Block(3x3) with Edge Pixel(5x5</a:t>
            </a:r>
            <a:r>
              <a:rPr lang="en-US" dirty="0" smtClean="0"/>
              <a:t>)) </a:t>
            </a:r>
          </a:p>
          <a:p>
            <a:pPr lvl="1"/>
            <a:r>
              <a:rPr lang="en-US" dirty="0" smtClean="0"/>
              <a:t>luminance </a:t>
            </a:r>
            <a:r>
              <a:rPr lang="en-US" dirty="0"/>
              <a:t>gradient </a:t>
            </a:r>
            <a:r>
              <a:rPr lang="en-US" dirty="0" smtClean="0"/>
              <a:t>moment</a:t>
            </a:r>
          </a:p>
          <a:p>
            <a:pPr lvl="1"/>
            <a:r>
              <a:rPr lang="en-US" dirty="0" smtClean="0"/>
              <a:t>luminance </a:t>
            </a:r>
            <a:r>
              <a:rPr lang="en-US" dirty="0"/>
              <a:t>gradient </a:t>
            </a:r>
            <a:r>
              <a:rPr lang="en-US" dirty="0" smtClean="0"/>
              <a:t>degree=</a:t>
            </a:r>
            <a:r>
              <a:rPr lang="en-US" dirty="0" err="1" smtClean="0"/>
              <a:t>deg</a:t>
            </a:r>
            <a:endParaRPr 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259632" y="2420888"/>
            <a:ext cx="7488832" cy="43924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sz="1600" dirty="0">
                <a:solidFill>
                  <a:srgbClr val="FF0000"/>
                </a:solidFill>
              </a:rPr>
              <a:t>#pragma </a:t>
            </a:r>
            <a:r>
              <a:rPr lang="en-US" sz="1600" dirty="0" err="1">
                <a:solidFill>
                  <a:srgbClr val="FF0000"/>
                </a:solidFill>
              </a:rPr>
              <a:t>omp</a:t>
            </a:r>
            <a:r>
              <a:rPr lang="en-US" sz="1600" dirty="0">
                <a:solidFill>
                  <a:srgbClr val="FF0000"/>
                </a:solidFill>
              </a:rPr>
              <a:t> parallel for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 smtClean="0"/>
              <a:t>for(</a:t>
            </a:r>
            <a:r>
              <a:rPr lang="en-US" sz="1600" dirty="0" err="1" smtClean="0"/>
              <a:t>int</a:t>
            </a:r>
            <a:r>
              <a:rPr lang="en-US" sz="1600" dirty="0" smtClean="0"/>
              <a:t> </a:t>
            </a:r>
            <a:r>
              <a:rPr lang="en-US" sz="1600" dirty="0"/>
              <a:t>y=0; y&lt;height; y++){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for(</a:t>
            </a:r>
            <a:r>
              <a:rPr lang="en-US" sz="1600" dirty="0" err="1"/>
              <a:t>int</a:t>
            </a:r>
            <a:r>
              <a:rPr lang="en-US" sz="1600" dirty="0"/>
              <a:t> x=0; x&lt;width; x++){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if(x==0 || y==0 || x==width-1 || y==height-1){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	continue;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}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double dx = </a:t>
            </a:r>
            <a:r>
              <a:rPr lang="en-US" sz="1600" dirty="0" err="1"/>
              <a:t>img</a:t>
            </a:r>
            <a:r>
              <a:rPr lang="en-US" sz="1600" dirty="0"/>
              <a:t>-&gt;</a:t>
            </a:r>
            <a:r>
              <a:rPr lang="en-US" sz="1600" dirty="0" err="1"/>
              <a:t>imageData</a:t>
            </a:r>
            <a:r>
              <a:rPr lang="en-US" sz="1600" dirty="0"/>
              <a:t>[y*</a:t>
            </a:r>
            <a:r>
              <a:rPr lang="en-US" sz="1600" dirty="0" err="1"/>
              <a:t>img</a:t>
            </a:r>
            <a:r>
              <a:rPr lang="en-US" sz="1600" dirty="0"/>
              <a:t>-&gt;</a:t>
            </a:r>
            <a:r>
              <a:rPr lang="en-US" sz="1600" dirty="0" err="1"/>
              <a:t>widthStep</a:t>
            </a:r>
            <a:r>
              <a:rPr lang="en-US" sz="1600" dirty="0"/>
              <a:t>+(x+1)] - </a:t>
            </a:r>
            <a:r>
              <a:rPr lang="en-US" sz="1600" dirty="0" err="1"/>
              <a:t>img</a:t>
            </a:r>
            <a:r>
              <a:rPr lang="en-US" sz="1600" dirty="0"/>
              <a:t>-&gt;</a:t>
            </a:r>
            <a:r>
              <a:rPr lang="en-US" sz="1600" dirty="0" err="1"/>
              <a:t>imageData</a:t>
            </a:r>
            <a:r>
              <a:rPr lang="en-US" sz="1600" dirty="0"/>
              <a:t>[y*</a:t>
            </a:r>
            <a:r>
              <a:rPr lang="en-US" sz="1600" dirty="0" err="1"/>
              <a:t>img</a:t>
            </a:r>
            <a:r>
              <a:rPr lang="en-US" sz="1600" dirty="0"/>
              <a:t>-&gt;</a:t>
            </a:r>
            <a:r>
              <a:rPr lang="en-US" sz="1600" dirty="0" err="1"/>
              <a:t>widthStep</a:t>
            </a:r>
            <a:r>
              <a:rPr lang="en-US" sz="1600" dirty="0"/>
              <a:t>+(x-1)];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double </a:t>
            </a:r>
            <a:r>
              <a:rPr lang="en-US" sz="1600" dirty="0" err="1"/>
              <a:t>dy</a:t>
            </a:r>
            <a:r>
              <a:rPr lang="en-US" sz="1600" dirty="0"/>
              <a:t> = </a:t>
            </a:r>
            <a:r>
              <a:rPr lang="en-US" sz="1600" dirty="0" err="1"/>
              <a:t>img</a:t>
            </a:r>
            <a:r>
              <a:rPr lang="en-US" sz="1600" dirty="0"/>
              <a:t>-&gt;</a:t>
            </a:r>
            <a:r>
              <a:rPr lang="en-US" sz="1600" dirty="0" err="1"/>
              <a:t>imageData</a:t>
            </a:r>
            <a:r>
              <a:rPr lang="en-US" sz="1600" dirty="0"/>
              <a:t>[(y+1)*</a:t>
            </a:r>
            <a:r>
              <a:rPr lang="en-US" sz="1600" dirty="0" err="1"/>
              <a:t>img</a:t>
            </a:r>
            <a:r>
              <a:rPr lang="en-US" sz="1600" dirty="0"/>
              <a:t>-&gt;</a:t>
            </a:r>
            <a:r>
              <a:rPr lang="en-US" sz="1600" dirty="0" err="1"/>
              <a:t>widthStep+x</a:t>
            </a:r>
            <a:r>
              <a:rPr lang="en-US" sz="1600" dirty="0"/>
              <a:t>] - </a:t>
            </a:r>
            <a:r>
              <a:rPr lang="en-US" sz="1600" dirty="0" err="1"/>
              <a:t>img</a:t>
            </a:r>
            <a:r>
              <a:rPr lang="en-US" sz="1600" dirty="0"/>
              <a:t>-&gt;</a:t>
            </a:r>
            <a:r>
              <a:rPr lang="en-US" sz="1600" dirty="0" err="1"/>
              <a:t>imageData</a:t>
            </a:r>
            <a:r>
              <a:rPr lang="en-US" sz="1600" dirty="0"/>
              <a:t>[(y-1)*</a:t>
            </a:r>
            <a:r>
              <a:rPr lang="en-US" sz="1600" dirty="0" err="1"/>
              <a:t>img</a:t>
            </a:r>
            <a:r>
              <a:rPr lang="en-US" sz="1600" dirty="0"/>
              <a:t>-&gt;</a:t>
            </a:r>
            <a:r>
              <a:rPr lang="en-US" sz="1600" dirty="0" err="1"/>
              <a:t>widthStep+x</a:t>
            </a:r>
            <a:r>
              <a:rPr lang="en-US" sz="1600" dirty="0"/>
              <a:t>];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double m = </a:t>
            </a:r>
            <a:r>
              <a:rPr lang="en-US" sz="1600" dirty="0" err="1"/>
              <a:t>sqrt</a:t>
            </a:r>
            <a:r>
              <a:rPr lang="en-US" sz="1600" dirty="0"/>
              <a:t>(dx*</a:t>
            </a:r>
            <a:r>
              <a:rPr lang="en-US" sz="1600" dirty="0" err="1"/>
              <a:t>dx+dy</a:t>
            </a:r>
            <a:r>
              <a:rPr lang="en-US" sz="1600" dirty="0"/>
              <a:t>*</a:t>
            </a:r>
            <a:r>
              <a:rPr lang="en-US" sz="1600" dirty="0" err="1"/>
              <a:t>dy</a:t>
            </a:r>
            <a:r>
              <a:rPr lang="en-US" sz="1600" dirty="0"/>
              <a:t>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double </a:t>
            </a:r>
            <a:r>
              <a:rPr lang="en-US" sz="1600" dirty="0" err="1"/>
              <a:t>deg</a:t>
            </a:r>
            <a:r>
              <a:rPr lang="en-US" sz="1600" dirty="0"/>
              <a:t> = (atan2(</a:t>
            </a:r>
            <a:r>
              <a:rPr lang="en-US" sz="1600" dirty="0" err="1"/>
              <a:t>dy</a:t>
            </a:r>
            <a:r>
              <a:rPr lang="en-US" sz="1600" dirty="0"/>
              <a:t>, dx)+CV_PI) * 180.0 / CV_PI;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</a:t>
            </a:r>
            <a:r>
              <a:rPr lang="en-US" sz="1600" dirty="0" err="1"/>
              <a:t>int</a:t>
            </a:r>
            <a:r>
              <a:rPr lang="en-US" sz="1600" dirty="0"/>
              <a:t> bin = CELL_BIN * </a:t>
            </a:r>
            <a:r>
              <a:rPr lang="en-US" sz="1600" dirty="0" err="1"/>
              <a:t>deg</a:t>
            </a:r>
            <a:r>
              <a:rPr lang="en-US" sz="1600" dirty="0"/>
              <a:t>/360.0;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if(bin &lt; 0) bin=0;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if(bin &gt;= CELL_BIN) bin = CELL_BIN-1;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</a:t>
            </a:r>
            <a:r>
              <a:rPr lang="en-US" sz="1600" dirty="0" err="1"/>
              <a:t>hist</a:t>
            </a:r>
            <a:r>
              <a:rPr lang="en-US" sz="1600" dirty="0"/>
              <a:t>[(</a:t>
            </a:r>
            <a:r>
              <a:rPr lang="en-US" sz="1600" dirty="0" err="1"/>
              <a:t>int</a:t>
            </a:r>
            <a:r>
              <a:rPr lang="en-US" sz="1600" dirty="0"/>
              <a:t>)(x/CELL_X)][(</a:t>
            </a:r>
            <a:r>
              <a:rPr lang="en-US" sz="1600" dirty="0" err="1"/>
              <a:t>int</a:t>
            </a:r>
            <a:r>
              <a:rPr lang="en-US" sz="1600" dirty="0"/>
              <a:t>)(y/CELL_Y)][bin] += m;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}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3180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2/3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Blip>
                <a:blip r:embed="rId2"/>
              </a:buBlip>
            </a:pPr>
            <a:r>
              <a:rPr lang="en-US" dirty="0"/>
              <a:t>Calculate Feature </a:t>
            </a:r>
            <a:r>
              <a:rPr lang="en-US" dirty="0" smtClean="0"/>
              <a:t>Vector of Each Block</a:t>
            </a:r>
          </a:p>
          <a:p>
            <a:pPr marL="742950" lvl="2" indent="-342900">
              <a:buBlip>
                <a:blip r:embed="rId2"/>
              </a:buBlip>
            </a:pPr>
            <a:r>
              <a:rPr lang="en-US" dirty="0" smtClean="0"/>
              <a:t>(Go to Next Page)</a:t>
            </a:r>
          </a:p>
        </p:txBody>
      </p:sp>
      <p:sp>
        <p:nvSpPr>
          <p:cNvPr id="4" name="正方形/長方形 3"/>
          <p:cNvSpPr/>
          <p:nvPr/>
        </p:nvSpPr>
        <p:spPr>
          <a:xfrm>
            <a:off x="1259632" y="2420888"/>
            <a:ext cx="7488832" cy="43924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sz="1600" dirty="0">
                <a:solidFill>
                  <a:srgbClr val="FF0000"/>
                </a:solidFill>
              </a:rPr>
              <a:t>#pragma </a:t>
            </a:r>
            <a:r>
              <a:rPr lang="en-US" sz="1600" dirty="0" err="1">
                <a:solidFill>
                  <a:srgbClr val="FF0000"/>
                </a:solidFill>
              </a:rPr>
              <a:t>omp</a:t>
            </a:r>
            <a:r>
              <a:rPr lang="en-US" sz="1600" dirty="0">
                <a:solidFill>
                  <a:srgbClr val="FF0000"/>
                </a:solidFill>
              </a:rPr>
              <a:t> parallel for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 smtClean="0"/>
              <a:t>for(</a:t>
            </a:r>
            <a:r>
              <a:rPr lang="en-US" sz="1600" dirty="0" err="1" smtClean="0"/>
              <a:t>int</a:t>
            </a:r>
            <a:r>
              <a:rPr lang="en-US" sz="1600" dirty="0" smtClean="0"/>
              <a:t> </a:t>
            </a:r>
            <a:r>
              <a:rPr lang="en-US" sz="1600" dirty="0"/>
              <a:t>y=0; y&lt;BLOCK_HEIGHT; y++){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for(</a:t>
            </a:r>
            <a:r>
              <a:rPr lang="en-US" sz="1600" dirty="0" err="1"/>
              <a:t>int</a:t>
            </a:r>
            <a:r>
              <a:rPr lang="en-US" sz="1600" dirty="0"/>
              <a:t> x=0; x&lt;BLOCK_WIDTH; x++){</a:t>
            </a:r>
          </a:p>
          <a:p>
            <a:pPr marL="914400" lvl="1" indent="-457200">
              <a:buFont typeface="+mj-lt"/>
              <a:buAutoNum type="arabicPeriod"/>
            </a:pPr>
            <a:endParaRPr lang="en-US" sz="1600" dirty="0"/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//Calculate Feature Vector in Block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double </a:t>
            </a:r>
            <a:r>
              <a:rPr lang="en-US" sz="1600" dirty="0" err="1"/>
              <a:t>vec</a:t>
            </a:r>
            <a:r>
              <a:rPr lang="en-US" sz="1600" dirty="0"/>
              <a:t>[BLOCK_DIM];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</a:t>
            </a:r>
            <a:r>
              <a:rPr lang="en-US" sz="1600" dirty="0" err="1"/>
              <a:t>memset</a:t>
            </a:r>
            <a:r>
              <a:rPr lang="en-US" sz="1600" dirty="0"/>
              <a:t>(</a:t>
            </a:r>
            <a:r>
              <a:rPr lang="en-US" sz="1600" dirty="0" err="1"/>
              <a:t>vec</a:t>
            </a:r>
            <a:r>
              <a:rPr lang="en-US" sz="1600" dirty="0"/>
              <a:t>, 0, BLOCK_DIM*</a:t>
            </a:r>
            <a:r>
              <a:rPr lang="en-US" sz="1600" dirty="0" err="1"/>
              <a:t>sizeof</a:t>
            </a:r>
            <a:r>
              <a:rPr lang="en-US" sz="1600" dirty="0"/>
              <a:t>(double));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for(</a:t>
            </a:r>
            <a:r>
              <a:rPr lang="en-US" sz="1600" dirty="0" err="1"/>
              <a:t>int</a:t>
            </a:r>
            <a:r>
              <a:rPr lang="en-US" sz="1600" dirty="0"/>
              <a:t> j=0; j&lt;BLOCK_Y; j++){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	for(</a:t>
            </a:r>
            <a:r>
              <a:rPr lang="en-US" sz="1600" dirty="0" err="1"/>
              <a:t>int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=0; </a:t>
            </a:r>
            <a:r>
              <a:rPr lang="en-US" sz="1600" dirty="0" err="1"/>
              <a:t>i</a:t>
            </a:r>
            <a:r>
              <a:rPr lang="en-US" sz="1600" dirty="0"/>
              <a:t>&lt;BLOCK_X; </a:t>
            </a:r>
            <a:r>
              <a:rPr lang="en-US" sz="1600" dirty="0" err="1"/>
              <a:t>i</a:t>
            </a:r>
            <a:r>
              <a:rPr lang="en-US" sz="1600" dirty="0"/>
              <a:t>++){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		for(</a:t>
            </a:r>
            <a:r>
              <a:rPr lang="en-US" sz="1600" dirty="0" err="1"/>
              <a:t>int</a:t>
            </a:r>
            <a:r>
              <a:rPr lang="en-US" sz="1600" dirty="0"/>
              <a:t> d=0; d&lt;CELL_BIN; d++){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			</a:t>
            </a:r>
            <a:r>
              <a:rPr lang="en-US" sz="1600" dirty="0" err="1"/>
              <a:t>int</a:t>
            </a:r>
            <a:r>
              <a:rPr lang="en-US" sz="1600" dirty="0"/>
              <a:t> index = j*(BLOCK_X*CELL_BIN) + </a:t>
            </a:r>
            <a:r>
              <a:rPr lang="en-US" sz="1600" dirty="0" err="1"/>
              <a:t>i</a:t>
            </a:r>
            <a:r>
              <a:rPr lang="en-US" sz="1600" dirty="0"/>
              <a:t>*CELL_BIN + d;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			</a:t>
            </a:r>
            <a:r>
              <a:rPr lang="en-US" sz="1600" dirty="0" err="1"/>
              <a:t>vec</a:t>
            </a:r>
            <a:r>
              <a:rPr lang="en-US" sz="1600" dirty="0"/>
              <a:t>[index] = </a:t>
            </a:r>
            <a:r>
              <a:rPr lang="en-US" sz="1600" dirty="0" err="1"/>
              <a:t>hist</a:t>
            </a:r>
            <a:r>
              <a:rPr lang="en-US" sz="1600" dirty="0"/>
              <a:t>[</a:t>
            </a:r>
            <a:r>
              <a:rPr lang="en-US" sz="1600" dirty="0" err="1"/>
              <a:t>x+i</a:t>
            </a:r>
            <a:r>
              <a:rPr lang="en-US" sz="1600" dirty="0"/>
              <a:t>][</a:t>
            </a:r>
            <a:r>
              <a:rPr lang="en-US" sz="1600" dirty="0" err="1"/>
              <a:t>y+j</a:t>
            </a:r>
            <a:r>
              <a:rPr lang="en-US" sz="1600" dirty="0"/>
              <a:t>][d];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		}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	}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		}</a:t>
            </a:r>
          </a:p>
        </p:txBody>
      </p:sp>
    </p:spTree>
    <p:extLst>
      <p:ext uri="{BB962C8B-B14F-4D97-AF65-F5344CB8AC3E}">
        <p14:creationId xmlns:p14="http://schemas.microsoft.com/office/powerpoint/2010/main" val="3903733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smtClean="0"/>
              <a:t>How to </a:t>
            </a:r>
            <a:r>
              <a:rPr lang="en-US" dirty="0" err="1" smtClean="0"/>
              <a:t>Calc</a:t>
            </a:r>
            <a:r>
              <a:rPr lang="en-US" dirty="0" smtClean="0"/>
              <a:t> </a:t>
            </a:r>
            <a:r>
              <a:rPr lang="en-US" dirty="0"/>
              <a:t>A</a:t>
            </a:r>
            <a:r>
              <a:rPr lang="en-US" altLang="ja-JP" dirty="0" smtClean="0"/>
              <a:t>pproximation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Calc</a:t>
            </a:r>
            <a:r>
              <a:rPr lang="en-US" dirty="0" smtClean="0"/>
              <a:t> </a:t>
            </a:r>
            <a:r>
              <a:rPr lang="en-US" dirty="0" err="1" smtClean="0"/>
              <a:t>HoG</a:t>
            </a:r>
            <a:r>
              <a:rPr lang="en-US" dirty="0" smtClean="0"/>
              <a:t> Distance of each block</a:t>
            </a:r>
          </a:p>
          <a:p>
            <a:pPr lvl="1"/>
            <a:r>
              <a:rPr lang="en-US" dirty="0" smtClean="0"/>
              <a:t>Get A</a:t>
            </a:r>
            <a:r>
              <a:rPr lang="en-US" altLang="ja-JP" dirty="0" smtClean="0"/>
              <a:t>verage.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2574057"/>
            <a:ext cx="2232248" cy="422446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491" y="2558725"/>
            <a:ext cx="2381259" cy="4233349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694490" y="2574056"/>
          <a:ext cx="2381260" cy="4224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126"/>
                <a:gridCol w="238126"/>
                <a:gridCol w="238126"/>
                <a:gridCol w="238126"/>
                <a:gridCol w="238126"/>
                <a:gridCol w="238126"/>
                <a:gridCol w="238126"/>
                <a:gridCol w="238126"/>
                <a:gridCol w="238126"/>
                <a:gridCol w="238126"/>
              </a:tblGrid>
              <a:tr h="52805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932040" y="2579701"/>
          <a:ext cx="2381260" cy="4224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126"/>
                <a:gridCol w="238126"/>
                <a:gridCol w="238126"/>
                <a:gridCol w="238126"/>
                <a:gridCol w="238126"/>
                <a:gridCol w="238126"/>
                <a:gridCol w="238126"/>
                <a:gridCol w="238126"/>
                <a:gridCol w="238126"/>
                <a:gridCol w="238126"/>
              </a:tblGrid>
              <a:tr h="52805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5280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1960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1/1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𝑇𝑂𝑇𝐴𝐿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𝐷𝐼𝑀</m:t>
                        </m:r>
                      </m:sup>
                      <m:e>
                        <m:sSup>
                          <m:sSup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𝑓𝑒𝑎𝑡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𝑓𝑒𝑎𝑡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正方形/長方形 3"/>
          <p:cNvSpPr/>
          <p:nvPr/>
        </p:nvSpPr>
        <p:spPr>
          <a:xfrm>
            <a:off x="1442775" y="4365104"/>
            <a:ext cx="6801633" cy="237626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double </a:t>
            </a:r>
            <a:r>
              <a:rPr lang="en-US" sz="2000" dirty="0" err="1"/>
              <a:t>dist</a:t>
            </a:r>
            <a:r>
              <a:rPr lang="en-US" sz="2000" dirty="0"/>
              <a:t> = 0.0</a:t>
            </a:r>
            <a:r>
              <a:rPr lang="en-US" sz="2000" dirty="0" smtClean="0"/>
              <a:t>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solidFill>
                  <a:srgbClr val="FF0000"/>
                </a:solidFill>
              </a:rPr>
              <a:t>#pragma </a:t>
            </a:r>
            <a:r>
              <a:rPr lang="en-US" sz="2000" dirty="0" err="1">
                <a:solidFill>
                  <a:srgbClr val="FF0000"/>
                </a:solidFill>
              </a:rPr>
              <a:t>omp</a:t>
            </a:r>
            <a:r>
              <a:rPr lang="en-US" sz="2000" dirty="0">
                <a:solidFill>
                  <a:srgbClr val="FF0000"/>
                </a:solidFill>
              </a:rPr>
              <a:t> parallel for reduction(+:</a:t>
            </a:r>
            <a:r>
              <a:rPr lang="en-US" sz="2000" dirty="0" err="1">
                <a:solidFill>
                  <a:srgbClr val="FF0000"/>
                </a:solidFill>
              </a:rPr>
              <a:t>dist</a:t>
            </a:r>
            <a:r>
              <a:rPr lang="en-US" sz="2000" dirty="0">
                <a:solidFill>
                  <a:srgbClr val="FF0000"/>
                </a:solidFill>
              </a:rPr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for(</a:t>
            </a:r>
            <a:r>
              <a:rPr lang="en-US" sz="2000" dirty="0" err="1"/>
              <a:t>int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= 0; </a:t>
            </a:r>
            <a:r>
              <a:rPr lang="en-US" sz="2000" dirty="0" err="1"/>
              <a:t>i</a:t>
            </a:r>
            <a:r>
              <a:rPr lang="en-US" sz="2000" dirty="0"/>
              <a:t> &lt; TOTAL_DIM; </a:t>
            </a:r>
            <a:r>
              <a:rPr lang="en-US" sz="2000" dirty="0" err="1"/>
              <a:t>i</a:t>
            </a:r>
            <a:r>
              <a:rPr lang="en-US" sz="2000" dirty="0"/>
              <a:t>++){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	</a:t>
            </a:r>
            <a:r>
              <a:rPr lang="en-US" sz="2000" dirty="0" err="1"/>
              <a:t>dist</a:t>
            </a:r>
            <a:r>
              <a:rPr lang="en-US" sz="2000" dirty="0"/>
              <a:t> += </a:t>
            </a:r>
            <a:r>
              <a:rPr lang="en-US" sz="2000" dirty="0" err="1"/>
              <a:t>fabs</a:t>
            </a:r>
            <a:r>
              <a:rPr lang="en-US" sz="2000" dirty="0"/>
              <a:t>(feat1[</a:t>
            </a:r>
            <a:r>
              <a:rPr lang="en-US" sz="2000" dirty="0" err="1"/>
              <a:t>i</a:t>
            </a:r>
            <a:r>
              <a:rPr lang="en-US" sz="2000" dirty="0"/>
              <a:t>] - feat2[</a:t>
            </a:r>
            <a:r>
              <a:rPr lang="en-US" sz="2000" dirty="0" err="1"/>
              <a:t>i</a:t>
            </a:r>
            <a:r>
              <a:rPr lang="en-US" sz="2000" dirty="0"/>
              <a:t>])*</a:t>
            </a:r>
            <a:r>
              <a:rPr lang="en-US" sz="2000" dirty="0" err="1"/>
              <a:t>fabs</a:t>
            </a:r>
            <a:r>
              <a:rPr lang="en-US" sz="2000" dirty="0"/>
              <a:t>(feat1[</a:t>
            </a:r>
            <a:r>
              <a:rPr lang="en-US" sz="2000" dirty="0" err="1"/>
              <a:t>i</a:t>
            </a:r>
            <a:r>
              <a:rPr lang="en-US" sz="2000" dirty="0"/>
              <a:t>] - feat2[</a:t>
            </a:r>
            <a:r>
              <a:rPr lang="en-US" sz="2000" dirty="0" err="1"/>
              <a:t>i</a:t>
            </a:r>
            <a:r>
              <a:rPr lang="en-US" sz="2000" dirty="0"/>
              <a:t>]);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}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return </a:t>
            </a:r>
            <a:r>
              <a:rPr lang="en-US" sz="2000" dirty="0" err="1"/>
              <a:t>sqrt</a:t>
            </a:r>
            <a:r>
              <a:rPr lang="en-US" sz="2000" dirty="0"/>
              <a:t>(</a:t>
            </a:r>
            <a:r>
              <a:rPr lang="en-US" sz="2000" dirty="0" err="1"/>
              <a:t>dist</a:t>
            </a:r>
            <a:r>
              <a:rPr lang="en-US" sz="2000" dirty="0"/>
              <a:t>);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901" y="1628800"/>
            <a:ext cx="3724275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642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However…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Currently NDK(r9c) has Bug…</a:t>
            </a:r>
          </a:p>
          <a:p>
            <a:pPr lvl="1"/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recursify.com/blog/2013/08/09/openmp-on-android-tls-workaround</a:t>
            </a:r>
            <a:endParaRPr lang="en-US" dirty="0" smtClean="0"/>
          </a:p>
          <a:p>
            <a:pPr lvl="2"/>
            <a:r>
              <a:rPr lang="en-US" dirty="0" smtClean="0"/>
              <a:t>libgomp.so has bug…</a:t>
            </a:r>
          </a:p>
          <a:p>
            <a:pPr marL="457200" lvl="1" indent="0">
              <a:buNone/>
            </a:pPr>
            <a:endParaRPr lang="en-US" dirty="0" smtClean="0"/>
          </a:p>
          <a:p>
            <a:pPr lvl="1"/>
            <a:r>
              <a:rPr lang="en-US" dirty="0" smtClean="0"/>
              <a:t>Need to Re-Build NDK…</a:t>
            </a:r>
          </a:p>
          <a:p>
            <a:pPr lvl="2"/>
            <a:r>
              <a:rPr lang="en-US" dirty="0"/>
              <a:t>o</a:t>
            </a:r>
            <a:r>
              <a:rPr lang="en-US" dirty="0" smtClean="0"/>
              <a:t>r Waiting for Next Version NDK</a:t>
            </a:r>
            <a:r>
              <a:rPr lang="en-US" dirty="0" smtClean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5" name="正方形/長方形 3"/>
          <p:cNvSpPr/>
          <p:nvPr/>
        </p:nvSpPr>
        <p:spPr>
          <a:xfrm>
            <a:off x="1442775" y="4365104"/>
            <a:ext cx="6801633" cy="237626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double </a:t>
            </a:r>
            <a:r>
              <a:rPr lang="en-US" sz="2000" dirty="0" err="1"/>
              <a:t>dist</a:t>
            </a:r>
            <a:r>
              <a:rPr lang="en-US" sz="2000" dirty="0"/>
              <a:t> = 0.0</a:t>
            </a:r>
            <a:r>
              <a:rPr lang="en-US" sz="2000" dirty="0" smtClean="0"/>
              <a:t>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solidFill>
                  <a:srgbClr val="FF0000"/>
                </a:solidFill>
              </a:rPr>
              <a:t>#pragma </a:t>
            </a:r>
            <a:r>
              <a:rPr lang="en-US" sz="2000" dirty="0" err="1">
                <a:solidFill>
                  <a:srgbClr val="FF0000"/>
                </a:solidFill>
              </a:rPr>
              <a:t>omp</a:t>
            </a:r>
            <a:r>
              <a:rPr lang="en-US" sz="2000" dirty="0">
                <a:solidFill>
                  <a:srgbClr val="FF0000"/>
                </a:solidFill>
              </a:rPr>
              <a:t> parallel for reduction(+:</a:t>
            </a:r>
            <a:r>
              <a:rPr lang="en-US" sz="2000" dirty="0" err="1">
                <a:solidFill>
                  <a:srgbClr val="FF0000"/>
                </a:solidFill>
              </a:rPr>
              <a:t>dist</a:t>
            </a:r>
            <a:r>
              <a:rPr lang="en-US" sz="2000" dirty="0">
                <a:solidFill>
                  <a:srgbClr val="FF0000"/>
                </a:solidFill>
              </a:rPr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for(</a:t>
            </a:r>
            <a:r>
              <a:rPr lang="en-US" sz="2000" dirty="0" err="1"/>
              <a:t>int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= 0; </a:t>
            </a:r>
            <a:r>
              <a:rPr lang="en-US" sz="2000" dirty="0" err="1"/>
              <a:t>i</a:t>
            </a:r>
            <a:r>
              <a:rPr lang="en-US" sz="2000" dirty="0"/>
              <a:t> &lt; TOTAL_DIM; </a:t>
            </a:r>
            <a:r>
              <a:rPr lang="en-US" sz="2000" dirty="0" err="1"/>
              <a:t>i</a:t>
            </a:r>
            <a:r>
              <a:rPr lang="en-US" sz="2000" dirty="0"/>
              <a:t>++){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	</a:t>
            </a:r>
            <a:r>
              <a:rPr lang="en-US" sz="2000" dirty="0" err="1"/>
              <a:t>dist</a:t>
            </a:r>
            <a:r>
              <a:rPr lang="en-US" sz="2000" dirty="0"/>
              <a:t> += </a:t>
            </a:r>
            <a:r>
              <a:rPr lang="en-US" sz="2000" dirty="0" err="1"/>
              <a:t>fabs</a:t>
            </a:r>
            <a:r>
              <a:rPr lang="en-US" sz="2000" dirty="0"/>
              <a:t>(feat1[</a:t>
            </a:r>
            <a:r>
              <a:rPr lang="en-US" sz="2000" dirty="0" err="1"/>
              <a:t>i</a:t>
            </a:r>
            <a:r>
              <a:rPr lang="en-US" sz="2000" dirty="0"/>
              <a:t>] - feat2[</a:t>
            </a:r>
            <a:r>
              <a:rPr lang="en-US" sz="2000" dirty="0" err="1"/>
              <a:t>i</a:t>
            </a:r>
            <a:r>
              <a:rPr lang="en-US" sz="2000" dirty="0"/>
              <a:t>])*</a:t>
            </a:r>
            <a:r>
              <a:rPr lang="en-US" sz="2000" dirty="0" err="1"/>
              <a:t>fabs</a:t>
            </a:r>
            <a:r>
              <a:rPr lang="en-US" sz="2000" dirty="0"/>
              <a:t>(feat1[</a:t>
            </a:r>
            <a:r>
              <a:rPr lang="en-US" sz="2000" dirty="0" err="1"/>
              <a:t>i</a:t>
            </a:r>
            <a:r>
              <a:rPr lang="en-US" sz="2000" dirty="0"/>
              <a:t>] - feat2[</a:t>
            </a:r>
            <a:r>
              <a:rPr lang="en-US" sz="2000" dirty="0" err="1"/>
              <a:t>i</a:t>
            </a:r>
            <a:r>
              <a:rPr lang="en-US" sz="2000" dirty="0"/>
              <a:t>]);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}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return </a:t>
            </a:r>
            <a:r>
              <a:rPr lang="en-US" sz="2000" dirty="0" err="1"/>
              <a:t>sqrt</a:t>
            </a:r>
            <a:r>
              <a:rPr lang="en-US" sz="2000" dirty="0"/>
              <a:t>(</a:t>
            </a:r>
            <a:r>
              <a:rPr lang="en-US" sz="2000" dirty="0" err="1"/>
              <a:t>dist</a:t>
            </a:r>
            <a:r>
              <a:rPr lang="en-US" sz="20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19810725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Build NDK 1/2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Download Linux Version NDK on Linux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cd [NDK </a:t>
            </a:r>
            <a:r>
              <a:rPr lang="en-US" dirty="0" err="1" smtClean="0"/>
              <a:t>dir</a:t>
            </a:r>
            <a:r>
              <a:rPr lang="en-US" dirty="0" smtClean="0"/>
              <a:t>]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Download Source Code &amp; Patches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./build/tools/download-toolchain-sources.sh </a:t>
            </a:r>
            <a:r>
              <a:rPr lang="en-US" dirty="0" err="1" smtClean="0"/>
              <a:t>src</a:t>
            </a:r>
            <a:endParaRPr lang="en-US" dirty="0" smtClean="0"/>
          </a:p>
          <a:p>
            <a:pPr marL="914400" lvl="1" indent="-457200">
              <a:buFont typeface="+mj-lt"/>
              <a:buAutoNum type="arabicPeriod"/>
            </a:pPr>
            <a:r>
              <a:rPr lang="da-DK" dirty="0"/>
              <a:t>wget http://recursify.com/attachments/posts/2013-08-09-openmp-on-android-tls-workaround/libgomp.h.patch</a:t>
            </a:r>
          </a:p>
          <a:p>
            <a:pPr marL="914400" lvl="1" indent="-457200">
              <a:buFont typeface="+mj-lt"/>
              <a:buAutoNum type="arabicPeriod"/>
            </a:pPr>
            <a:r>
              <a:rPr lang="da-DK" dirty="0"/>
              <a:t>wget http://</a:t>
            </a:r>
            <a:r>
              <a:rPr lang="da-DK" dirty="0" smtClean="0"/>
              <a:t>recursify.com/attachments/posts/2013-08-09-openmp-on-android-tls-workaround/team.c.patch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6711687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Build NDK </a:t>
            </a:r>
            <a:r>
              <a:rPr lang="en-US" dirty="0" smtClean="0"/>
              <a:t>2/2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Patch to Source </a:t>
            </a:r>
            <a:r>
              <a:rPr lang="en-US" dirty="0" smtClean="0"/>
              <a:t>Code</a:t>
            </a:r>
          </a:p>
          <a:p>
            <a:pPr lvl="1"/>
            <a:r>
              <a:rPr lang="en-US" dirty="0"/>
              <a:t>c</a:t>
            </a:r>
            <a:r>
              <a:rPr lang="en-US" dirty="0" smtClean="0"/>
              <a:t>d  &amp; copy patches to ./</a:t>
            </a:r>
            <a:r>
              <a:rPr lang="en-US" dirty="0" err="1"/>
              <a:t>src</a:t>
            </a:r>
            <a:r>
              <a:rPr lang="en-US" dirty="0"/>
              <a:t>/</a:t>
            </a:r>
            <a:r>
              <a:rPr lang="en-US" dirty="0" err="1"/>
              <a:t>gcc</a:t>
            </a:r>
            <a:r>
              <a:rPr lang="en-US" dirty="0"/>
              <a:t>/gcc-4.6/</a:t>
            </a:r>
            <a:r>
              <a:rPr lang="en-US" dirty="0" err="1"/>
              <a:t>libgomp</a:t>
            </a:r>
            <a:r>
              <a:rPr lang="en-US" dirty="0"/>
              <a:t>/</a:t>
            </a:r>
          </a:p>
          <a:p>
            <a:pPr lvl="1"/>
            <a:r>
              <a:rPr lang="en-US" dirty="0"/>
              <a:t>patch -p0  &lt;</a:t>
            </a:r>
            <a:r>
              <a:rPr lang="en-US" dirty="0" smtClean="0"/>
              <a:t> </a:t>
            </a:r>
            <a:r>
              <a:rPr lang="en-US" dirty="0" err="1"/>
              <a:t>team.c.patch</a:t>
            </a:r>
            <a:endParaRPr lang="en-US" dirty="0"/>
          </a:p>
          <a:p>
            <a:pPr lvl="1"/>
            <a:r>
              <a:rPr lang="en-US" dirty="0"/>
              <a:t>patch -p0  </a:t>
            </a:r>
            <a:r>
              <a:rPr lang="en-US" dirty="0" smtClean="0"/>
              <a:t>&lt; </a:t>
            </a:r>
            <a:r>
              <a:rPr lang="en-US" dirty="0" err="1" smtClean="0"/>
              <a:t>libgomp.h.patch</a:t>
            </a:r>
            <a:endParaRPr lang="en-US" dirty="0" smtClean="0"/>
          </a:p>
          <a:p>
            <a:pPr lvl="1"/>
            <a:r>
              <a:rPr lang="en-US" dirty="0" smtClean="0"/>
              <a:t>cd [NDK </a:t>
            </a:r>
            <a:r>
              <a:rPr lang="en-US" dirty="0" err="1" smtClean="0"/>
              <a:t>dir</a:t>
            </a:r>
            <a:r>
              <a:rPr lang="en-US" dirty="0" smtClean="0"/>
              <a:t>]</a:t>
            </a:r>
            <a:endParaRPr lang="en-US" dirty="0"/>
          </a:p>
          <a:p>
            <a:r>
              <a:rPr lang="en-US" dirty="0"/>
              <a:t>Setup Build-Tools</a:t>
            </a:r>
          </a:p>
          <a:p>
            <a:pPr lvl="1"/>
            <a:r>
              <a:rPr lang="en-US" dirty="0" err="1"/>
              <a:t>sudo</a:t>
            </a:r>
            <a:r>
              <a:rPr lang="en-US" dirty="0"/>
              <a:t> apt-get install </a:t>
            </a:r>
            <a:r>
              <a:rPr lang="en-US" dirty="0" err="1" smtClean="0"/>
              <a:t>texinfo</a:t>
            </a:r>
            <a:endParaRPr lang="en-US" dirty="0" smtClean="0"/>
          </a:p>
          <a:p>
            <a:r>
              <a:rPr lang="en-US" dirty="0" smtClean="0"/>
              <a:t>Build Linux Version NDK</a:t>
            </a:r>
            <a:endParaRPr lang="en-US" dirty="0"/>
          </a:p>
          <a:p>
            <a:pPr lvl="1"/>
            <a:r>
              <a:rPr lang="en-US" dirty="0"/>
              <a:t>./build/tools/build-gcc.sh --verbose $(</a:t>
            </a:r>
            <a:r>
              <a:rPr lang="en-US" dirty="0" err="1"/>
              <a:t>pwd</a:t>
            </a:r>
            <a:r>
              <a:rPr lang="en-US" dirty="0"/>
              <a:t>)/</a:t>
            </a:r>
            <a:r>
              <a:rPr lang="en-US" dirty="0" err="1"/>
              <a:t>src</a:t>
            </a:r>
            <a:r>
              <a:rPr lang="en-US" dirty="0"/>
              <a:t> $(</a:t>
            </a:r>
            <a:r>
              <a:rPr lang="en-US" dirty="0" err="1"/>
              <a:t>pwd</a:t>
            </a:r>
            <a:r>
              <a:rPr lang="en-US" dirty="0"/>
              <a:t>) arm-linux-androideabi-4.6</a:t>
            </a:r>
          </a:p>
          <a:p>
            <a:pPr lvl="1"/>
            <a:r>
              <a:rPr lang="en-US" dirty="0" smtClean="0"/>
              <a:t> 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27884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Build NDK </a:t>
            </a:r>
            <a:r>
              <a:rPr lang="en-US" dirty="0" smtClean="0"/>
              <a:t>for Windows 1/4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Fix Download Script “</a:t>
            </a:r>
            <a:r>
              <a:rPr lang="en-US" dirty="0"/>
              <a:t>./</a:t>
            </a:r>
            <a:r>
              <a:rPr lang="en-US" dirty="0" smtClean="0"/>
              <a:t>build/tools/build-mingw64-toolchain.sh”</a:t>
            </a:r>
          </a:p>
          <a:p>
            <a:pPr marL="914400" lvl="1" indent="-514350">
              <a:buFont typeface="+mj-lt"/>
              <a:buAutoNum type="arabicPeriod"/>
            </a:pPr>
            <a:r>
              <a:rPr lang="pl-PL" sz="2000" dirty="0"/>
              <a:t> run svn co https://mingw-w64.svn.sourceforge.net/svnroot/mingw-w64/trunk$MINGW_W64_REVISION $</a:t>
            </a:r>
            <a:r>
              <a:rPr lang="pl-PL" sz="2000" dirty="0" smtClean="0"/>
              <a:t>MINGW_W64_SRC</a:t>
            </a:r>
            <a:endParaRPr lang="en-US" sz="2000" dirty="0" smtClean="0"/>
          </a:p>
          <a:p>
            <a:pPr marL="400050" lvl="1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               	</a:t>
            </a:r>
            <a:r>
              <a:rPr lang="ja-JP" altLang="en-US" sz="2000" dirty="0" smtClean="0"/>
              <a:t>↓</a:t>
            </a:r>
            <a:endParaRPr lang="pl-PL" sz="2000" dirty="0"/>
          </a:p>
          <a:p>
            <a:pPr marL="914400" lvl="1" indent="-514350">
              <a:buFont typeface="+mj-lt"/>
              <a:buAutoNum type="arabicPeriod"/>
            </a:pPr>
            <a:r>
              <a:rPr lang="pl-PL" sz="2000" dirty="0"/>
              <a:t> </a:t>
            </a:r>
            <a:r>
              <a:rPr lang="pl-PL" sz="2000" dirty="0" smtClean="0"/>
              <a:t>run </a:t>
            </a:r>
            <a:r>
              <a:rPr lang="pl-PL" sz="2000" dirty="0"/>
              <a:t>svn co svn://svn.code.sf.net/p/mingw-w64/code/trunk/@5861 </a:t>
            </a:r>
            <a:r>
              <a:rPr lang="pl-PL" sz="2000" dirty="0" smtClean="0"/>
              <a:t>mingw-w64-svn</a:t>
            </a:r>
            <a:r>
              <a:rPr lang="ja-JP" altLang="en-US" sz="2000" dirty="0" smtClean="0"/>
              <a:t> </a:t>
            </a:r>
            <a:r>
              <a:rPr lang="en-US" altLang="ja-JP" sz="2000" dirty="0"/>
              <a:t> $</a:t>
            </a:r>
            <a:r>
              <a:rPr lang="en-US" altLang="ja-JP" sz="2000" dirty="0" smtClean="0"/>
              <a:t>MINGW_W64_SRC</a:t>
            </a:r>
          </a:p>
          <a:p>
            <a:pPr marL="400050" lvl="1" indent="0">
              <a:buNone/>
            </a:pPr>
            <a:endParaRPr lang="en-US" altLang="ja-JP" sz="2000" dirty="0" smtClean="0"/>
          </a:p>
          <a:p>
            <a:pPr marL="914400" lvl="1" indent="-514350">
              <a:buFont typeface="+mj-lt"/>
              <a:buAutoNum type="arabicPeriod"/>
            </a:pPr>
            <a:r>
              <a:rPr lang="en-US" altLang="ja-JP" sz="2000" dirty="0" smtClean="0"/>
              <a:t>MINGW_W64_SRC</a:t>
            </a:r>
            <a:r>
              <a:rPr lang="en-US" altLang="ja-JP" sz="2000" dirty="0"/>
              <a:t>=$</a:t>
            </a:r>
            <a:r>
              <a:rPr lang="en-US" altLang="ja-JP" sz="2000" dirty="0" smtClean="0"/>
              <a:t>SRC_DIR/mingw-w64-svn$MINGW_W64_REVISION2</a:t>
            </a:r>
          </a:p>
          <a:p>
            <a:pPr marL="400050" lvl="1" indent="0">
              <a:buNone/>
            </a:pPr>
            <a:r>
              <a:rPr lang="en-US" sz="2000" dirty="0" smtClean="0"/>
              <a:t>                              </a:t>
            </a:r>
            <a:r>
              <a:rPr lang="ja-JP" altLang="en-US" sz="2000" dirty="0" smtClean="0"/>
              <a:t>↓</a:t>
            </a:r>
            <a:endParaRPr lang="en-US" altLang="ja-JP" sz="2000" dirty="0"/>
          </a:p>
          <a:p>
            <a:pPr marL="914400" lvl="1" indent="-514350">
              <a:buFont typeface="+mj-lt"/>
              <a:buAutoNum type="arabicPeriod"/>
            </a:pPr>
            <a:r>
              <a:rPr lang="en-US" altLang="ja-JP" sz="2000" dirty="0" smtClean="0"/>
              <a:t>MINGW_W64_SRC</a:t>
            </a:r>
            <a:r>
              <a:rPr lang="en-US" altLang="ja-JP" sz="2000" dirty="0"/>
              <a:t>=$</a:t>
            </a:r>
            <a:r>
              <a:rPr lang="en-US" altLang="ja-JP" sz="2000" dirty="0" smtClean="0"/>
              <a:t>SRC_DIR/mingw-w64-svn$MINGW_W64_REVISION2/trunk</a:t>
            </a:r>
          </a:p>
          <a:p>
            <a:pPr marL="1771650" lvl="3" indent="-514350">
              <a:buFont typeface="+mj-lt"/>
              <a:buAutoNum type="arabicPeriod"/>
            </a:pPr>
            <a:endParaRPr lang="en-US" sz="1400" dirty="0"/>
          </a:p>
          <a:p>
            <a:pPr marL="400050" lvl="1" indent="0" algn="r">
              <a:buNone/>
            </a:pPr>
            <a:r>
              <a:rPr lang="en-US" altLang="ja-JP" sz="2000" dirty="0" smtClean="0">
                <a:solidFill>
                  <a:srgbClr val="FF0000"/>
                </a:solidFill>
              </a:rPr>
              <a:t>※My Version is Android-NDK-r9c</a:t>
            </a:r>
            <a:endParaRPr lang="en-US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281341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Build NDK </a:t>
            </a:r>
            <a:r>
              <a:rPr lang="en-US" dirty="0" smtClean="0"/>
              <a:t>for Windows 2/4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Download </a:t>
            </a:r>
            <a:r>
              <a:rPr lang="en-US" dirty="0" err="1" smtClean="0"/>
              <a:t>MinGW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32-bit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 smtClean="0"/>
              <a:t>./</a:t>
            </a:r>
            <a:r>
              <a:rPr lang="en-US" dirty="0"/>
              <a:t>build/tools/build-mingw64-toolchain.sh --</a:t>
            </a:r>
            <a:r>
              <a:rPr lang="en-US" dirty="0" smtClean="0"/>
              <a:t>target-arch=i686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 err="1"/>
              <a:t>cp</a:t>
            </a:r>
            <a:r>
              <a:rPr lang="en-US" dirty="0"/>
              <a:t> -a /</a:t>
            </a:r>
            <a:r>
              <a:rPr lang="en-US" dirty="0" err="1"/>
              <a:t>tmp</a:t>
            </a:r>
            <a:r>
              <a:rPr lang="en-US" dirty="0"/>
              <a:t>/build-mingw64-toolchain-$USER/install-x86_64-linux-gnu/i686-w64-mingw32 </a:t>
            </a:r>
            <a:r>
              <a:rPr lang="en-US" dirty="0" smtClean="0"/>
              <a:t>~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export PATH=$PATH:~/</a:t>
            </a:r>
            <a:r>
              <a:rPr lang="en-US" dirty="0" smtClean="0"/>
              <a:t>i686-w64-mingw32/bin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64-bit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 smtClean="0"/>
              <a:t>./</a:t>
            </a:r>
            <a:r>
              <a:rPr lang="en-US" dirty="0"/>
              <a:t>build/tools/build-mingw64-toolchain.sh --</a:t>
            </a:r>
            <a:r>
              <a:rPr lang="en-US" dirty="0" smtClean="0"/>
              <a:t>force-build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 err="1"/>
              <a:t>cp</a:t>
            </a:r>
            <a:r>
              <a:rPr lang="en-US" dirty="0"/>
              <a:t> -a /</a:t>
            </a:r>
            <a:r>
              <a:rPr lang="en-US" dirty="0" err="1"/>
              <a:t>tmp</a:t>
            </a:r>
            <a:r>
              <a:rPr lang="en-US" dirty="0"/>
              <a:t>/build-mingw64-toolchain-$USER/install-x86_64-linux-gnu/x86_64-w64-mingw32 ~/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export PATH=$PATH:~/x86_64-w64-mingw32/bin</a:t>
            </a:r>
          </a:p>
          <a:p>
            <a:pPr marL="1371600" lvl="2" indent="-45720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5461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Build NDK for Windows 3</a:t>
            </a:r>
            <a:r>
              <a:rPr lang="en-US" dirty="0" smtClean="0"/>
              <a:t>/4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Download Pre-Build Tools</a:t>
            </a:r>
          </a:p>
          <a:p>
            <a:pPr lvl="1"/>
            <a:r>
              <a:rPr lang="en-US" dirty="0" smtClean="0"/>
              <a:t>32-bit</a:t>
            </a:r>
          </a:p>
          <a:p>
            <a:pPr lvl="2"/>
            <a:r>
              <a:rPr lang="en-US" dirty="0" err="1"/>
              <a:t>git</a:t>
            </a:r>
            <a:r>
              <a:rPr lang="en-US" dirty="0"/>
              <a:t> clone https://android.googlesource.com/platform/prebuilts/gcc/linux-x86/host/i686-linux-glibc2.7-4.6 $(</a:t>
            </a:r>
            <a:r>
              <a:rPr lang="en-US" dirty="0" err="1"/>
              <a:t>pwd</a:t>
            </a:r>
            <a:r>
              <a:rPr lang="en-US" dirty="0"/>
              <a:t>)/../</a:t>
            </a:r>
            <a:r>
              <a:rPr lang="en-US" dirty="0" err="1"/>
              <a:t>prebuilts</a:t>
            </a:r>
            <a:r>
              <a:rPr lang="en-US" dirty="0"/>
              <a:t>/</a:t>
            </a:r>
            <a:r>
              <a:rPr lang="en-US" dirty="0" err="1"/>
              <a:t>gcc</a:t>
            </a:r>
            <a:r>
              <a:rPr lang="en-US" dirty="0"/>
              <a:t>/linux-x86/host/i686-linux-glibc2.7-4.6</a:t>
            </a:r>
          </a:p>
          <a:p>
            <a:pPr lvl="1"/>
            <a:r>
              <a:rPr lang="en-US" dirty="0" smtClean="0"/>
              <a:t>64-bit</a:t>
            </a:r>
          </a:p>
          <a:p>
            <a:pPr lvl="2"/>
            <a:r>
              <a:rPr lang="en-US" dirty="0" err="1"/>
              <a:t>git</a:t>
            </a:r>
            <a:r>
              <a:rPr lang="en-US" dirty="0"/>
              <a:t> clone https://android.googlesource.com/platform/prebuilts/tools $(</a:t>
            </a:r>
            <a:r>
              <a:rPr lang="en-US" dirty="0" err="1"/>
              <a:t>pwd</a:t>
            </a:r>
            <a:r>
              <a:rPr lang="en-US" dirty="0"/>
              <a:t>)/../</a:t>
            </a:r>
            <a:r>
              <a:rPr lang="en-US" dirty="0" err="1"/>
              <a:t>prebuilts</a:t>
            </a:r>
            <a:r>
              <a:rPr lang="en-US" dirty="0"/>
              <a:t>/tools</a:t>
            </a:r>
          </a:p>
          <a:p>
            <a:pPr lvl="2"/>
            <a:r>
              <a:rPr lang="en-US" dirty="0" err="1"/>
              <a:t>git</a:t>
            </a:r>
            <a:r>
              <a:rPr lang="en-US" dirty="0"/>
              <a:t> clone https://android.googlesource.com/platform/prebuilts/gcc/linux-x86/host/x86_64-linux-glibc2.7-4.6 $(</a:t>
            </a:r>
            <a:r>
              <a:rPr lang="en-US" dirty="0" err="1"/>
              <a:t>pwd</a:t>
            </a:r>
            <a:r>
              <a:rPr lang="en-US" dirty="0"/>
              <a:t>)/../</a:t>
            </a:r>
            <a:r>
              <a:rPr lang="en-US" dirty="0" err="1"/>
              <a:t>prebuilts</a:t>
            </a:r>
            <a:r>
              <a:rPr lang="en-US" dirty="0"/>
              <a:t>/</a:t>
            </a:r>
            <a:r>
              <a:rPr lang="en-US" dirty="0" err="1"/>
              <a:t>gcc</a:t>
            </a:r>
            <a:r>
              <a:rPr lang="en-US" dirty="0"/>
              <a:t>/linux-x86/host/x86_64-linux-glibc2.7-4.6</a:t>
            </a:r>
          </a:p>
          <a:p>
            <a:pPr marL="91440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35958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Build NDK for Windows 4</a:t>
            </a:r>
            <a:r>
              <a:rPr lang="en-US" dirty="0" smtClean="0"/>
              <a:t>/4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Build Windows Version NDK</a:t>
            </a:r>
          </a:p>
          <a:p>
            <a:pPr lvl="1"/>
            <a:r>
              <a:rPr lang="en-US" dirty="0" smtClean="0"/>
              <a:t>Set </a:t>
            </a:r>
            <a:r>
              <a:rPr lang="en-US" dirty="0" err="1" smtClean="0"/>
              <a:t>Vars</a:t>
            </a:r>
            <a:endParaRPr lang="en-US" dirty="0" smtClean="0"/>
          </a:p>
          <a:p>
            <a:pPr lvl="2"/>
            <a:r>
              <a:rPr lang="en-US" dirty="0"/>
              <a:t>export ANDROID_NDK_ROOT=[</a:t>
            </a:r>
            <a:r>
              <a:rPr lang="en-US" dirty="0" smtClean="0"/>
              <a:t>AOSP's </a:t>
            </a:r>
            <a:r>
              <a:rPr lang="en-US" dirty="0"/>
              <a:t>NDK </a:t>
            </a:r>
            <a:r>
              <a:rPr lang="en-US" dirty="0" err="1"/>
              <a:t>dir</a:t>
            </a:r>
            <a:r>
              <a:rPr lang="en-US" dirty="0" smtClean="0"/>
              <a:t>]</a:t>
            </a:r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32-bit</a:t>
            </a:r>
          </a:p>
          <a:p>
            <a:pPr lvl="2"/>
            <a:r>
              <a:rPr lang="en-US" dirty="0" smtClean="0"/>
              <a:t>./</a:t>
            </a:r>
            <a:r>
              <a:rPr lang="en-US" dirty="0"/>
              <a:t>build/tools/build-gcc.sh --verbose --</a:t>
            </a:r>
            <a:r>
              <a:rPr lang="en-US" dirty="0" err="1"/>
              <a:t>mingw</a:t>
            </a:r>
            <a:r>
              <a:rPr lang="en-US" dirty="0"/>
              <a:t> $(</a:t>
            </a:r>
            <a:r>
              <a:rPr lang="en-US" dirty="0" err="1"/>
              <a:t>pwd</a:t>
            </a:r>
            <a:r>
              <a:rPr lang="en-US" dirty="0"/>
              <a:t>)/</a:t>
            </a:r>
            <a:r>
              <a:rPr lang="en-US" dirty="0" err="1"/>
              <a:t>src</a:t>
            </a:r>
            <a:r>
              <a:rPr lang="en-US" dirty="0"/>
              <a:t> $(</a:t>
            </a:r>
            <a:r>
              <a:rPr lang="en-US" dirty="0" err="1"/>
              <a:t>pwd</a:t>
            </a:r>
            <a:r>
              <a:rPr lang="en-US" dirty="0"/>
              <a:t>) arm-linux-androideabi-4.6</a:t>
            </a:r>
          </a:p>
          <a:p>
            <a:pPr lvl="1"/>
            <a:r>
              <a:rPr lang="en-US" dirty="0"/>
              <a:t>64-bit</a:t>
            </a:r>
          </a:p>
          <a:p>
            <a:pPr lvl="2"/>
            <a:r>
              <a:rPr lang="en-US" dirty="0"/>
              <a:t>./build/tools/build-gcc.sh --verbose --</a:t>
            </a:r>
            <a:r>
              <a:rPr lang="en-US" dirty="0" err="1"/>
              <a:t>mingw</a:t>
            </a:r>
            <a:r>
              <a:rPr lang="en-US" dirty="0"/>
              <a:t> --try-64 $(</a:t>
            </a:r>
            <a:r>
              <a:rPr lang="en-US" dirty="0" err="1"/>
              <a:t>pwd</a:t>
            </a:r>
            <a:r>
              <a:rPr lang="en-US" dirty="0"/>
              <a:t>)/</a:t>
            </a:r>
            <a:r>
              <a:rPr lang="en-US" dirty="0" err="1"/>
              <a:t>src</a:t>
            </a:r>
            <a:r>
              <a:rPr lang="en-US" dirty="0"/>
              <a:t> $(</a:t>
            </a:r>
            <a:r>
              <a:rPr lang="en-US" dirty="0" err="1"/>
              <a:t>pwd</a:t>
            </a:r>
            <a:r>
              <a:rPr lang="en-US" dirty="0"/>
              <a:t>) arm-linux-androideabi-4.6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96276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dirty="0" smtClean="0"/>
          </a:p>
          <a:p>
            <a:pPr algn="ctr"/>
            <a:r>
              <a:rPr lang="en-US" altLang="ja-JP" sz="3600" dirty="0" smtClean="0"/>
              <a:t>NEON</a:t>
            </a:r>
          </a:p>
        </p:txBody>
      </p:sp>
    </p:spTree>
    <p:extLst>
      <p:ext uri="{BB962C8B-B14F-4D97-AF65-F5344CB8AC3E}">
        <p14:creationId xmlns:p14="http://schemas.microsoft.com/office/powerpoint/2010/main" val="1345143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Topic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algn="ctr"/>
            <a:r>
              <a:rPr lang="en-US" sz="3600" dirty="0" smtClean="0"/>
              <a:t>Compiler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dirty="0" smtClean="0"/>
              <a:t>   </a:t>
            </a:r>
            <a:r>
              <a:rPr lang="ja-JP" altLang="en-US" sz="3600" dirty="0" smtClean="0"/>
              <a:t>≠ </a:t>
            </a:r>
            <a:r>
              <a:rPr lang="en-US" altLang="ja-JP" sz="3600" dirty="0" smtClean="0"/>
              <a:t>Not Thread Programming</a:t>
            </a:r>
            <a:endParaRPr lang="en-US" sz="3600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14770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Parallelizing Compiler for NEON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5538"/>
            <a:ext cx="8305800" cy="5327650"/>
          </a:xfrm>
        </p:spPr>
        <p:txBody>
          <a:bodyPr/>
          <a:lstStyle/>
          <a:p>
            <a:r>
              <a:rPr lang="en-US" altLang="ja-JP" dirty="0"/>
              <a:t>ARM DS-5 Development Studio</a:t>
            </a:r>
            <a:endParaRPr lang="en-US" altLang="ja-JP" dirty="0" smtClean="0"/>
          </a:p>
          <a:p>
            <a:pPr lvl="1"/>
            <a:r>
              <a:rPr lang="en-US" dirty="0"/>
              <a:t>Debugger for Linux/Android™/RTOS-aware</a:t>
            </a:r>
          </a:p>
          <a:p>
            <a:pPr lvl="1"/>
            <a:r>
              <a:rPr lang="en-US" dirty="0"/>
              <a:t>The ARM Streamline system-wide performance analyzer</a:t>
            </a:r>
          </a:p>
          <a:p>
            <a:pPr lvl="1"/>
            <a:r>
              <a:rPr lang="en-US" dirty="0"/>
              <a:t>Real-Time system model Simulators</a:t>
            </a:r>
          </a:p>
          <a:p>
            <a:pPr lvl="1"/>
            <a:r>
              <a:rPr lang="en-US" dirty="0"/>
              <a:t>All conveniently </a:t>
            </a:r>
            <a:r>
              <a:rPr lang="en-US" altLang="ja-JP" dirty="0" smtClean="0"/>
              <a:t>P</a:t>
            </a:r>
            <a:r>
              <a:rPr lang="en-US" dirty="0" smtClean="0"/>
              <a:t>ackaged </a:t>
            </a:r>
            <a:r>
              <a:rPr lang="en-US" dirty="0"/>
              <a:t>in </a:t>
            </a:r>
            <a:r>
              <a:rPr lang="en-US" dirty="0" smtClean="0"/>
              <a:t>Eclipse</a:t>
            </a:r>
            <a:r>
              <a:rPr lang="en-US" dirty="0"/>
              <a:t>.</a:t>
            </a:r>
          </a:p>
          <a:p>
            <a:pPr lvl="2"/>
            <a:r>
              <a:rPr lang="en-US" dirty="0" smtClean="0">
                <a:hlinkClick r:id="rId2"/>
              </a:rPr>
              <a:t>http</a:t>
            </a:r>
            <a:r>
              <a:rPr lang="en-US" dirty="0">
                <a:hlinkClick r:id="rId2"/>
              </a:rPr>
              <a:t>://www.arm.com/products/tools/software-tools/ds-5/index.php</a:t>
            </a:r>
            <a:endParaRPr lang="en-US" dirty="0"/>
          </a:p>
          <a:p>
            <a:pPr lvl="1"/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344" y="4160650"/>
            <a:ext cx="5298976" cy="2681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81676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ID</a:t>
            </a:r>
            <a:r>
              <a:rPr lang="en-US" altLang="ja-JP" dirty="0"/>
              <a:t>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20" y="1125538"/>
            <a:ext cx="7730760" cy="5327650"/>
          </a:xfrm>
        </p:spPr>
      </p:pic>
    </p:spTree>
    <p:extLst>
      <p:ext uri="{BB962C8B-B14F-4D97-AF65-F5344CB8AC3E}">
        <p14:creationId xmlns:p14="http://schemas.microsoft.com/office/powerpoint/2010/main" val="263010519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Analyzer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12599"/>
            <a:ext cx="7772400" cy="4553527"/>
          </a:xfrm>
        </p:spPr>
      </p:pic>
    </p:spTree>
    <p:extLst>
      <p:ext uri="{BB962C8B-B14F-4D97-AF65-F5344CB8AC3E}">
        <p14:creationId xmlns:p14="http://schemas.microsoft.com/office/powerpoint/2010/main" val="163873665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Parallelizing Compiler for </a:t>
            </a:r>
            <a:r>
              <a:rPr lang="en-US" dirty="0" smtClean="0"/>
              <a:t>NEON No.2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</a:t>
            </a:r>
            <a:r>
              <a:rPr lang="en-US" dirty="0" err="1" smtClean="0"/>
              <a:t>cc</a:t>
            </a:r>
            <a:endParaRPr lang="en-US" dirty="0" smtClean="0"/>
          </a:p>
          <a:p>
            <a:pPr lvl="1"/>
            <a:r>
              <a:rPr lang="en-US" dirty="0" smtClean="0"/>
              <a:t>Android uses it.</a:t>
            </a:r>
          </a:p>
          <a:p>
            <a:pPr lvl="1"/>
            <a:endParaRPr lang="en-US" dirty="0"/>
          </a:p>
          <a:p>
            <a:r>
              <a:rPr lang="en-US" dirty="0" smtClean="0"/>
              <a:t>How to Use</a:t>
            </a:r>
          </a:p>
          <a:p>
            <a:pPr lvl="1"/>
            <a:r>
              <a:rPr lang="en-US" dirty="0" smtClean="0"/>
              <a:t>Android.mk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Supported Arch</a:t>
            </a:r>
            <a:endParaRPr 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547664" y="3717180"/>
            <a:ext cx="6801633" cy="12959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LOCAL_CFLAGS += -O3 </a:t>
            </a:r>
            <a:r>
              <a:rPr lang="en-US" sz="2000" dirty="0" smtClean="0"/>
              <a:t>-</a:t>
            </a:r>
            <a:r>
              <a:rPr lang="en-US" sz="2000" dirty="0" err="1" smtClean="0"/>
              <a:t>ftree-vectorize</a:t>
            </a:r>
            <a:r>
              <a:rPr lang="en-US" sz="2000" dirty="0" smtClean="0"/>
              <a:t> </a:t>
            </a:r>
            <a:r>
              <a:rPr lang="en-US" sz="2000" dirty="0"/>
              <a:t>-</a:t>
            </a:r>
            <a:r>
              <a:rPr lang="en-US" sz="2000" dirty="0" err="1"/>
              <a:t>mvectorize</a:t>
            </a:r>
            <a:r>
              <a:rPr lang="en-US" sz="2000" dirty="0"/>
              <a:t>-with-neon-quad</a:t>
            </a:r>
          </a:p>
        </p:txBody>
      </p:sp>
      <p:sp>
        <p:nvSpPr>
          <p:cNvPr id="5" name="正方形/長方形 3"/>
          <p:cNvSpPr/>
          <p:nvPr/>
        </p:nvSpPr>
        <p:spPr>
          <a:xfrm>
            <a:off x="1547664" y="5805264"/>
            <a:ext cx="6801633" cy="93610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APP_ABI := </a:t>
            </a:r>
            <a:r>
              <a:rPr lang="en-US" sz="2000" dirty="0" smtClean="0"/>
              <a:t>armeabi-v7a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38183377"/>
      </p:ext>
    </p:extLst>
  </p:cSld>
  <p:clrMapOvr>
    <a:masterClrMapping/>
  </p:clrMapOvr>
</p:sld>
</file>

<file path=ppt/theme/theme1.xml><?xml version="1.0" encoding="utf-8"?>
<a:theme xmlns:a="http://schemas.openxmlformats.org/drawingml/2006/main" name="siprop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siprop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defRPr>
        </a:defPPr>
      </a:lstStyle>
    </a:lnDef>
  </a:objectDefaults>
  <a:extraClrSchemeLst>
    <a:extraClrScheme>
      <a:clrScheme name="sipro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4222</TotalTime>
  <Words>2220</Words>
  <Application>Microsoft Office PowerPoint</Application>
  <PresentationFormat>On-screen Show (4:3)</PresentationFormat>
  <Paragraphs>827</Paragraphs>
  <Slides>71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7" baseType="lpstr">
      <vt:lpstr>ＭＳ Ｐゴシック</vt:lpstr>
      <vt:lpstr>Arial</vt:lpstr>
      <vt:lpstr>Cambria Math</vt:lpstr>
      <vt:lpstr>Times</vt:lpstr>
      <vt:lpstr>Wingdings</vt:lpstr>
      <vt:lpstr>siprop</vt:lpstr>
      <vt:lpstr>About OpenGL/ES</vt:lpstr>
      <vt:lpstr>Agenda</vt:lpstr>
      <vt:lpstr>What’s OpenGL?</vt:lpstr>
      <vt:lpstr>What’s OpenGL/ES?</vt:lpstr>
      <vt:lpstr>Bible of OpenGL/ES</vt:lpstr>
      <vt:lpstr>PowerPoint Presentation</vt:lpstr>
      <vt:lpstr>PowerPoint Presentation</vt:lpstr>
      <vt:lpstr>What’s 3D World?</vt:lpstr>
      <vt:lpstr>How to Draw Polygon?</vt:lpstr>
      <vt:lpstr>How to Set in the World?</vt:lpstr>
      <vt:lpstr>Where is your Viewpoint(Viewport)?</vt:lpstr>
      <vt:lpstr>Can you see them?</vt:lpstr>
      <vt:lpstr>There is Dark…</vt:lpstr>
      <vt:lpstr>Bad Surface…</vt:lpstr>
      <vt:lpstr>How to Programing?</vt:lpstr>
      <vt:lpstr>How to Programing in 2.0or3.0?</vt:lpstr>
      <vt:lpstr>PowerPoint Presentation</vt:lpstr>
      <vt:lpstr>What’s Programmable Shader?</vt:lpstr>
      <vt:lpstr>PowerPoint Presentation</vt:lpstr>
      <vt:lpstr>Today’s Target</vt:lpstr>
      <vt:lpstr>Naming Rule of Functions</vt:lpstr>
      <vt:lpstr>Setting Files</vt:lpstr>
      <vt:lpstr>Init EGL World(System) 1/2</vt:lpstr>
      <vt:lpstr>Init EGL World(System) 2/2</vt:lpstr>
      <vt:lpstr>Init Cube Data</vt:lpstr>
      <vt:lpstr>Setting of Programmable Shader</vt:lpstr>
      <vt:lpstr>Setting of Programmable Shader</vt:lpstr>
      <vt:lpstr>About GLSL: Type</vt:lpstr>
      <vt:lpstr>About GLSL: Value</vt:lpstr>
      <vt:lpstr>About GLSL: Built-in Function</vt:lpstr>
      <vt:lpstr>About GLSL: Built-in Value</vt:lpstr>
      <vt:lpstr>Check createProgram() Func</vt:lpstr>
      <vt:lpstr>Set Projection</vt:lpstr>
      <vt:lpstr>Where is your Viewpoint(Viewport)?</vt:lpstr>
      <vt:lpstr>Draw Cube! 1/2</vt:lpstr>
      <vt:lpstr>Draw Cube! 2/2</vt:lpstr>
      <vt:lpstr>Vertex of Cube</vt:lpstr>
      <vt:lpstr>How to Draw Polygon?</vt:lpstr>
      <vt:lpstr>Today’s Target</vt:lpstr>
      <vt:lpstr>What’s Multi Core Compiler?</vt:lpstr>
      <vt:lpstr>Today’s Topic</vt:lpstr>
      <vt:lpstr>Agenda</vt:lpstr>
      <vt:lpstr>What’s Parallelizing Compiler?</vt:lpstr>
      <vt:lpstr>PowerPoint Presentation</vt:lpstr>
      <vt:lpstr>What’s OpenMP?</vt:lpstr>
      <vt:lpstr>OpenMP Extensions</vt:lpstr>
      <vt:lpstr>OpenMP Syntax &amp; Behavor</vt:lpstr>
      <vt:lpstr>How to Use</vt:lpstr>
      <vt:lpstr>IplImage Benchmark by OpenMP</vt:lpstr>
      <vt:lpstr>PowerPoint Presentation</vt:lpstr>
      <vt:lpstr>Hand Detector</vt:lpstr>
      <vt:lpstr>Chart of Hand Detector</vt:lpstr>
      <vt:lpstr>Android.mk</vt:lpstr>
      <vt:lpstr>Why Use HoG?</vt:lpstr>
      <vt:lpstr>Step 1/3</vt:lpstr>
      <vt:lpstr>Step 2/3</vt:lpstr>
      <vt:lpstr>How to Calc Approximation </vt:lpstr>
      <vt:lpstr>Step 1/1</vt:lpstr>
      <vt:lpstr>However…</vt:lpstr>
      <vt:lpstr>How to Build NDK 1/2</vt:lpstr>
      <vt:lpstr>How to Build NDK 2/2</vt:lpstr>
      <vt:lpstr>How to Build NDK for Windows 1/4</vt:lpstr>
      <vt:lpstr>How to Build NDK for Windows 2/4</vt:lpstr>
      <vt:lpstr>How to Build NDK for Windows 3/4</vt:lpstr>
      <vt:lpstr>How to Build NDK for Windows 4/4</vt:lpstr>
      <vt:lpstr>PowerPoint Presentation</vt:lpstr>
      <vt:lpstr>Today’s Topic</vt:lpstr>
      <vt:lpstr>Parallelizing Compiler for NEON</vt:lpstr>
      <vt:lpstr>IDE</vt:lpstr>
      <vt:lpstr>Analyzer</vt:lpstr>
      <vt:lpstr>Parallelizing Compiler for NEON No.2</vt:lpstr>
    </vt:vector>
  </TitlesOfParts>
  <Company>self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Noritsuna Imamura</dc:creator>
  <cp:lastModifiedBy>Noritsuna Imamura</cp:lastModifiedBy>
  <cp:revision>1009</cp:revision>
  <dcterms:created xsi:type="dcterms:W3CDTF">2013-12-05T12:17:56Z</dcterms:created>
  <dcterms:modified xsi:type="dcterms:W3CDTF">2013-12-31T02:42:04Z</dcterms:modified>
</cp:coreProperties>
</file>