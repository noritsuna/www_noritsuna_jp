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Default Extension="vml" ContentType="application/vnd.openxmlformats-officedocument.vmlDrawing"/>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77" r:id="rId3"/>
    <p:sldId id="278" r:id="rId4"/>
    <p:sldId id="291" r:id="rId5"/>
    <p:sldId id="292" r:id="rId6"/>
    <p:sldId id="286" r:id="rId7"/>
    <p:sldId id="279" r:id="rId8"/>
    <p:sldId id="295" r:id="rId9"/>
    <p:sldId id="290" r:id="rId10"/>
    <p:sldId id="293" r:id="rId11"/>
    <p:sldId id="300" r:id="rId12"/>
    <p:sldId id="298" r:id="rId13"/>
    <p:sldId id="280" r:id="rId14"/>
    <p:sldId id="288" r:id="rId15"/>
    <p:sldId id="296" r:id="rId16"/>
    <p:sldId id="294" r:id="rId17"/>
    <p:sldId id="284" r:id="rId18"/>
    <p:sldId id="299" r:id="rId19"/>
    <p:sldId id="263" r:id="rId20"/>
  </p:sldIdLst>
  <p:sldSz cx="9144000" cy="6858000" type="screen4x3"/>
  <p:notesSz cx="6858000" cy="9144000"/>
  <p:defaultTextStyle>
    <a:defPPr>
      <a:defRPr lang="ja-JP"/>
    </a:defPPr>
    <a:lvl1pPr algn="ctr" rtl="0" fontAlgn="base">
      <a:spcBef>
        <a:spcPct val="0"/>
      </a:spcBef>
      <a:spcAft>
        <a:spcPct val="0"/>
      </a:spcAft>
      <a:defRPr kumimoji="1" kern="1200">
        <a:solidFill>
          <a:schemeClr val="tx1"/>
        </a:solidFill>
        <a:latin typeface="Calibri" pitchFamily="34" charset="0"/>
        <a:ea typeface="ＭＳ Ｐゴシック" charset="-128"/>
        <a:cs typeface="+mn-cs"/>
      </a:defRPr>
    </a:lvl1pPr>
    <a:lvl2pPr marL="457200" algn="ctr" rtl="0" fontAlgn="base">
      <a:spcBef>
        <a:spcPct val="0"/>
      </a:spcBef>
      <a:spcAft>
        <a:spcPct val="0"/>
      </a:spcAft>
      <a:defRPr kumimoji="1" kern="1200">
        <a:solidFill>
          <a:schemeClr val="tx1"/>
        </a:solidFill>
        <a:latin typeface="Calibri" pitchFamily="34" charset="0"/>
        <a:ea typeface="ＭＳ Ｐゴシック" charset="-128"/>
        <a:cs typeface="+mn-cs"/>
      </a:defRPr>
    </a:lvl2pPr>
    <a:lvl3pPr marL="914400" algn="ctr" rtl="0" fontAlgn="base">
      <a:spcBef>
        <a:spcPct val="0"/>
      </a:spcBef>
      <a:spcAft>
        <a:spcPct val="0"/>
      </a:spcAft>
      <a:defRPr kumimoji="1" kern="1200">
        <a:solidFill>
          <a:schemeClr val="tx1"/>
        </a:solidFill>
        <a:latin typeface="Calibri" pitchFamily="34" charset="0"/>
        <a:ea typeface="ＭＳ Ｐゴシック" charset="-128"/>
        <a:cs typeface="+mn-cs"/>
      </a:defRPr>
    </a:lvl3pPr>
    <a:lvl4pPr marL="1371600" algn="ctr" rtl="0" fontAlgn="base">
      <a:spcBef>
        <a:spcPct val="0"/>
      </a:spcBef>
      <a:spcAft>
        <a:spcPct val="0"/>
      </a:spcAft>
      <a:defRPr kumimoji="1" kern="1200">
        <a:solidFill>
          <a:schemeClr val="tx1"/>
        </a:solidFill>
        <a:latin typeface="Calibri" pitchFamily="34" charset="0"/>
        <a:ea typeface="ＭＳ Ｐゴシック" charset="-128"/>
        <a:cs typeface="+mn-cs"/>
      </a:defRPr>
    </a:lvl4pPr>
    <a:lvl5pPr marL="1828800" algn="ctr" rtl="0" fontAlgn="base">
      <a:spcBef>
        <a:spcPct val="0"/>
      </a:spcBef>
      <a:spcAft>
        <a:spcPct val="0"/>
      </a:spcAft>
      <a:defRPr kumimoji="1" kern="1200">
        <a:solidFill>
          <a:schemeClr val="tx1"/>
        </a:solidFill>
        <a:latin typeface="Calibri" pitchFamily="34" charset="0"/>
        <a:ea typeface="ＭＳ Ｐゴシック" charset="-128"/>
        <a:cs typeface="+mn-cs"/>
      </a:defRPr>
    </a:lvl5pPr>
    <a:lvl6pPr marL="2286000" algn="l" defTabSz="914400" rtl="0" eaLnBrk="1" latinLnBrk="0" hangingPunct="1">
      <a:defRPr kumimoji="1" kern="1200">
        <a:solidFill>
          <a:schemeClr val="tx1"/>
        </a:solidFill>
        <a:latin typeface="Calibri" pitchFamily="34" charset="0"/>
        <a:ea typeface="ＭＳ Ｐゴシック" charset="-128"/>
        <a:cs typeface="+mn-cs"/>
      </a:defRPr>
    </a:lvl6pPr>
    <a:lvl7pPr marL="2743200" algn="l" defTabSz="914400" rtl="0" eaLnBrk="1" latinLnBrk="0" hangingPunct="1">
      <a:defRPr kumimoji="1" kern="1200">
        <a:solidFill>
          <a:schemeClr val="tx1"/>
        </a:solidFill>
        <a:latin typeface="Calibri" pitchFamily="34" charset="0"/>
        <a:ea typeface="ＭＳ Ｐゴシック" charset="-128"/>
        <a:cs typeface="+mn-cs"/>
      </a:defRPr>
    </a:lvl7pPr>
    <a:lvl8pPr marL="3200400" algn="l" defTabSz="914400" rtl="0" eaLnBrk="1" latinLnBrk="0" hangingPunct="1">
      <a:defRPr kumimoji="1" kern="1200">
        <a:solidFill>
          <a:schemeClr val="tx1"/>
        </a:solidFill>
        <a:latin typeface="Calibri" pitchFamily="34" charset="0"/>
        <a:ea typeface="ＭＳ Ｐゴシック" charset="-128"/>
        <a:cs typeface="+mn-cs"/>
      </a:defRPr>
    </a:lvl8pPr>
    <a:lvl9pPr marL="3657600" algn="l" defTabSz="914400" rtl="0" eaLnBrk="1" latinLnBrk="0" hangingPunct="1">
      <a:defRPr kumimoji="1" kern="1200">
        <a:solidFill>
          <a:schemeClr val="tx1"/>
        </a:solidFill>
        <a:latin typeface="Calibri" pitchFamily="34" charset="0"/>
        <a:ea typeface="ＭＳ Ｐゴシック"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FF00"/>
    <a:srgbClr val="66FF33"/>
    <a:srgbClr val="FF0066"/>
    <a:srgbClr val="C0C0C0"/>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558" autoAdjust="0"/>
  </p:normalViewPr>
  <p:slideViewPr>
    <p:cSldViewPr>
      <p:cViewPr varScale="1">
        <p:scale>
          <a:sx n="79" d="100"/>
          <a:sy n="79" d="100"/>
        </p:scale>
        <p:origin x="-9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a:latin typeface="+mn-lt"/>
                <a:ea typeface="+mn-ea"/>
              </a:defRPr>
            </a:lvl1pPr>
          </a:lstStyle>
          <a:p>
            <a:pPr>
              <a:defRPr/>
            </a:pPr>
            <a:endParaRPr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a:latin typeface="+mn-lt"/>
                <a:ea typeface="+mn-ea"/>
              </a:defRPr>
            </a:lvl1pPr>
          </a:lstStyle>
          <a:p>
            <a:pPr>
              <a:defRPr/>
            </a:pPr>
            <a:fld id="{AF6A053C-51E6-438C-824B-B1ADE59C8C0C}" type="datetimeFigureOut">
              <a:rPr lang="ja-JP" altLang="en-US"/>
              <a:pPr>
                <a:defRPr/>
              </a:pPr>
              <a:t>2009/11/20</a:t>
            </a:fld>
            <a:endParaRPr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ja-JP" altLang="en-US" noProof="0"/>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ja-JP" altLang="en-US" noProof="0" smtClean="0"/>
              <a:t>マスタ テキストの書式設定</a:t>
            </a:r>
          </a:p>
          <a:p>
            <a:pPr lvl="1"/>
            <a:r>
              <a:rPr lang="ja-JP" altLang="en-US" noProof="0" smtClean="0"/>
              <a:t>第 </a:t>
            </a:r>
            <a:r>
              <a:rPr lang="en-US" altLang="ja-JP" noProof="0" smtClean="0"/>
              <a:t>2 </a:t>
            </a:r>
            <a:r>
              <a:rPr lang="ja-JP" altLang="en-US" noProof="0" smtClean="0"/>
              <a:t>レベル</a:t>
            </a:r>
          </a:p>
          <a:p>
            <a:pPr lvl="2"/>
            <a:r>
              <a:rPr lang="ja-JP" altLang="en-US" noProof="0" smtClean="0"/>
              <a:t>第 </a:t>
            </a:r>
            <a:r>
              <a:rPr lang="en-US" altLang="ja-JP" noProof="0" smtClean="0"/>
              <a:t>3 </a:t>
            </a:r>
            <a:r>
              <a:rPr lang="ja-JP" altLang="en-US" noProof="0" smtClean="0"/>
              <a:t>レベル</a:t>
            </a:r>
          </a:p>
          <a:p>
            <a:pPr lvl="3"/>
            <a:r>
              <a:rPr lang="ja-JP" altLang="en-US" noProof="0" smtClean="0"/>
              <a:t>第 </a:t>
            </a:r>
            <a:r>
              <a:rPr lang="en-US" altLang="ja-JP" noProof="0" smtClean="0"/>
              <a:t>4 </a:t>
            </a:r>
            <a:r>
              <a:rPr lang="ja-JP" altLang="en-US" noProof="0" smtClean="0"/>
              <a:t>レベル</a:t>
            </a:r>
          </a:p>
          <a:p>
            <a:pPr lvl="4"/>
            <a:r>
              <a:rPr lang="ja-JP" altLang="en-US" noProof="0" smtClean="0"/>
              <a:t>第 </a:t>
            </a:r>
            <a:r>
              <a:rPr lang="en-US" altLang="ja-JP" noProof="0" smtClean="0"/>
              <a:t>5 </a:t>
            </a:r>
            <a:r>
              <a:rPr lang="ja-JP" altLang="en-US" noProof="0" smtClean="0"/>
              <a:t>レベル</a:t>
            </a:r>
            <a:endParaRPr lang="ja-JP" altLang="en-US" noProof="0"/>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a:latin typeface="+mn-lt"/>
                <a:ea typeface="+mn-ea"/>
              </a:defRPr>
            </a:lvl1pPr>
          </a:lstStyle>
          <a:p>
            <a:pPr>
              <a:defRPr/>
            </a:pPr>
            <a:endParaRPr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buFontTx/>
              <a:buNone/>
              <a:defRPr sz="1200">
                <a:latin typeface="+mn-lt"/>
                <a:ea typeface="+mn-ea"/>
              </a:defRPr>
            </a:lvl1pPr>
          </a:lstStyle>
          <a:p>
            <a:pPr>
              <a:defRPr/>
            </a:pPr>
            <a:fld id="{1723E7E6-3575-4A3B-982C-769637BD9E22}" type="slidenum">
              <a:rPr lang="ja-JP" altLang="en-US"/>
              <a:pPr>
                <a:defRPr/>
              </a:pPr>
              <a:t>&lt;#&gt;</a:t>
            </a:fld>
            <a:endParaRPr lang="ja-JP"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スライド イメージ プレースホルダ 1"/>
          <p:cNvSpPr>
            <a:spLocks noGrp="1" noRot="1" noChangeAspect="1"/>
          </p:cNvSpPr>
          <p:nvPr>
            <p:ph type="sldImg"/>
          </p:nvPr>
        </p:nvSpPr>
        <p:spPr bwMode="auto">
          <a:noFill/>
          <a:ln>
            <a:solidFill>
              <a:srgbClr val="000000"/>
            </a:solidFill>
            <a:miter lim="800000"/>
            <a:headEnd/>
            <a:tailEnd/>
          </a:ln>
        </p:spPr>
      </p:sp>
      <p:sp>
        <p:nvSpPr>
          <p:cNvPr id="16386"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ja-JP" altLang="en-US" smtClean="0"/>
              <a:t>最後。みなさま、お疲れ様です。</a:t>
            </a:r>
          </a:p>
          <a:p>
            <a:pPr eaLnBrk="1" hangingPunct="1">
              <a:spcBef>
                <a:spcPct val="0"/>
              </a:spcBef>
            </a:pPr>
            <a:endParaRPr lang="ja-JP" altLang="en-US" smtClean="0"/>
          </a:p>
          <a:p>
            <a:pPr eaLnBrk="1" hangingPunct="1">
              <a:spcBef>
                <a:spcPct val="0"/>
              </a:spcBef>
            </a:pPr>
            <a:r>
              <a:rPr lang="ja-JP" altLang="en-US" smtClean="0"/>
              <a:t>三浦代表理事の話の具体的なプランとなります。</a:t>
            </a:r>
          </a:p>
          <a:p>
            <a:pPr eaLnBrk="1" hangingPunct="1">
              <a:spcBef>
                <a:spcPct val="0"/>
              </a:spcBef>
            </a:pPr>
            <a:endParaRPr lang="ja-JP" altLang="en-US" smtClean="0"/>
          </a:p>
          <a:p>
            <a:pPr eaLnBrk="1" hangingPunct="1">
              <a:spcBef>
                <a:spcPct val="0"/>
              </a:spcBef>
            </a:pPr>
            <a:endParaRPr lang="ja-JP" altLang="en-US" smtClean="0"/>
          </a:p>
          <a:p>
            <a:pPr eaLnBrk="1" hangingPunct="1">
              <a:spcBef>
                <a:spcPct val="0"/>
              </a:spcBef>
            </a:pPr>
            <a:endParaRPr lang="ja-JP" altLang="en-US" smtClean="0"/>
          </a:p>
        </p:txBody>
      </p:sp>
      <p:sp>
        <p:nvSpPr>
          <p:cNvPr id="15363" name="スライド番号プレースホルダ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3C2A787-47CD-424A-9EE3-3C9CB76ECAF7}" type="slidenum">
              <a:rPr lang="ja-JP" altLang="en-US"/>
              <a:pPr fontAlgn="base">
                <a:spcBef>
                  <a:spcPct val="0"/>
                </a:spcBef>
                <a:spcAft>
                  <a:spcPct val="0"/>
                </a:spcAft>
                <a:defRPr/>
              </a:pPr>
              <a:t>1</a:t>
            </a:fld>
            <a:endParaRPr lang="en-US"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TextEdit="1"/>
          </p:cNvSpPr>
          <p:nvPr>
            <p:ph type="sldImg"/>
          </p:nvPr>
        </p:nvSpPr>
        <p:spPr bwMode="auto">
          <a:noFill/>
          <a:ln>
            <a:solidFill>
              <a:srgbClr val="000000"/>
            </a:solidFill>
            <a:miter lim="800000"/>
            <a:headEnd/>
            <a:tailEnd/>
          </a:ln>
        </p:spPr>
      </p:sp>
      <p:sp>
        <p:nvSpPr>
          <p:cNvPr id="1843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1</a:t>
            </a:r>
            <a:r>
              <a:rPr lang="ja-JP" altLang="en-US" smtClean="0"/>
              <a:t>分</a:t>
            </a:r>
            <a:r>
              <a:rPr lang="en-US" altLang="ja-JP" smtClean="0"/>
              <a:t>(1</a:t>
            </a:r>
            <a:r>
              <a:rPr lang="ja-JP" altLang="en-US" smtClean="0"/>
              <a:t>分まで</a:t>
            </a:r>
            <a:r>
              <a:rPr lang="en-US" altLang="ja-JP" smtClean="0"/>
              <a:t>)</a:t>
            </a:r>
          </a:p>
          <a:p>
            <a:pPr eaLnBrk="1" hangingPunct="1"/>
            <a:endParaRPr lang="ja-JP" altLang="en-US" smtClean="0"/>
          </a:p>
          <a:p>
            <a:pPr eaLnBrk="1" hangingPunct="1"/>
            <a:r>
              <a:rPr lang="ja-JP" altLang="en-US" smtClean="0"/>
              <a:t>・理念</a:t>
            </a:r>
          </a:p>
          <a:p>
            <a:pPr eaLnBrk="1" hangingPunct="1"/>
            <a:r>
              <a:rPr lang="ja-JP" altLang="en-US" smtClean="0"/>
              <a:t>先ほどの三浦からの話があったように、</a:t>
            </a:r>
            <a:r>
              <a:rPr lang="en-US" altLang="ja-JP" smtClean="0"/>
              <a:t>OESF</a:t>
            </a:r>
            <a:r>
              <a:rPr lang="ja-JP" altLang="en-US" smtClean="0"/>
              <a:t>の理念そのものである。</a:t>
            </a:r>
          </a:p>
          <a:p>
            <a:pPr eaLnBrk="1" hangingPunct="1"/>
            <a:r>
              <a:rPr lang="ja-JP" altLang="en-US" smtClean="0"/>
              <a:t>被る点も多いが、</a:t>
            </a:r>
            <a:r>
              <a:rPr lang="en-US" altLang="ja-JP" smtClean="0"/>
              <a:t>EM</a:t>
            </a:r>
            <a:r>
              <a:rPr lang="ja-JP" altLang="en-US" smtClean="0"/>
              <a:t>的な視点もあるため、そちらについてお話ししたい。</a:t>
            </a:r>
          </a:p>
          <a:p>
            <a:pPr eaLnBrk="1" hangingPunct="1"/>
            <a:r>
              <a:rPr lang="ja-JP" altLang="en-US" smtClean="0"/>
              <a:t>これから、どのような世界が来るのか？考察する。</a:t>
            </a:r>
          </a:p>
          <a:p>
            <a:pPr eaLnBrk="1" hangingPunct="1"/>
            <a:endParaRPr lang="ja-JP" altLang="en-US" smtClean="0"/>
          </a:p>
          <a:p>
            <a:pPr eaLnBrk="1" hangingPunct="1"/>
            <a:r>
              <a:rPr lang="ja-JP" altLang="en-US" smtClean="0"/>
              <a:t>・概念</a:t>
            </a:r>
          </a:p>
          <a:p>
            <a:pPr eaLnBrk="1" hangingPunct="1"/>
            <a:r>
              <a:rPr lang="ja-JP" altLang="en-US" smtClean="0"/>
              <a:t>理念を達成するには、何が必要か？</a:t>
            </a:r>
          </a:p>
          <a:p>
            <a:pPr eaLnBrk="1" hangingPunct="1"/>
            <a:r>
              <a:rPr lang="ja-JP" altLang="en-US" smtClean="0"/>
              <a:t>こちらも</a:t>
            </a:r>
            <a:r>
              <a:rPr lang="en-US" altLang="ja-JP" smtClean="0"/>
              <a:t>EM</a:t>
            </a:r>
            <a:r>
              <a:rPr lang="ja-JP" altLang="en-US" smtClean="0"/>
              <a:t>の視点から、考察してみたい。</a:t>
            </a:r>
          </a:p>
          <a:p>
            <a:pPr eaLnBrk="1" hangingPunct="1"/>
            <a:r>
              <a:rPr lang="ja-JP" altLang="en-US" smtClean="0"/>
              <a:t>ぜひ、これを元にして、何がコントリビュート出来るか考えてみてほしい。</a:t>
            </a:r>
          </a:p>
          <a:p>
            <a:pPr eaLnBrk="1" hangingPunct="1"/>
            <a:endParaRPr lang="ja-JP" altLang="en-US" smtClean="0"/>
          </a:p>
          <a:p>
            <a:pPr eaLnBrk="1" hangingPunct="1"/>
            <a:r>
              <a:rPr lang="ja-JP" altLang="en-US" smtClean="0"/>
              <a:t>・歩み</a:t>
            </a:r>
          </a:p>
          <a:p>
            <a:pPr eaLnBrk="1" hangingPunct="1"/>
            <a:r>
              <a:rPr lang="ja-JP" altLang="en-US" smtClean="0"/>
              <a:t>いわゆるロードマップである。</a:t>
            </a:r>
          </a:p>
          <a:p>
            <a:pPr eaLnBrk="1" hangingPunct="1"/>
            <a:r>
              <a:rPr lang="ja-JP" altLang="en-US" smtClean="0"/>
              <a:t>現状と未来についてお話ししたい。</a:t>
            </a:r>
          </a:p>
          <a:p>
            <a:pPr eaLnBrk="1" hangingPunct="1"/>
            <a:endParaRPr lang="ja-JP"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TextEdit="1"/>
          </p:cNvSpPr>
          <p:nvPr>
            <p:ph type="sldImg"/>
          </p:nvPr>
        </p:nvSpPr>
        <p:spPr bwMode="auto">
          <a:noFill/>
          <a:ln>
            <a:solidFill>
              <a:srgbClr val="000000"/>
            </a:solidFill>
            <a:miter lim="800000"/>
            <a:headEnd/>
            <a:tailEnd/>
          </a:ln>
        </p:spPr>
      </p:sp>
      <p:sp>
        <p:nvSpPr>
          <p:cNvPr id="20482"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ja-JP"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TextEdit="1"/>
          </p:cNvSpPr>
          <p:nvPr>
            <p:ph type="sldImg"/>
          </p:nvPr>
        </p:nvSpPr>
        <p:spPr bwMode="auto">
          <a:noFill/>
          <a:ln>
            <a:solidFill>
              <a:srgbClr val="000000"/>
            </a:solidFill>
            <a:miter lim="800000"/>
            <a:headEnd/>
            <a:tailEnd/>
          </a:ln>
        </p:spPr>
      </p:sp>
      <p:sp>
        <p:nvSpPr>
          <p:cNvPr id="22530"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1</a:t>
            </a:r>
            <a:r>
              <a:rPr lang="ja-JP" altLang="en-US" smtClean="0"/>
              <a:t>分</a:t>
            </a:r>
            <a:r>
              <a:rPr lang="en-US" altLang="ja-JP" smtClean="0"/>
              <a:t>(2</a:t>
            </a:r>
            <a:r>
              <a:rPr lang="ja-JP" altLang="en-US" smtClean="0"/>
              <a:t>分まで</a:t>
            </a:r>
            <a:r>
              <a:rPr lang="en-US" altLang="ja-JP" smtClean="0"/>
              <a:t>)</a:t>
            </a:r>
          </a:p>
          <a:p>
            <a:pPr eaLnBrk="1" hangingPunct="1"/>
            <a:endParaRPr lang="en-US" altLang="ja-JP" smtClean="0"/>
          </a:p>
          <a:p>
            <a:pPr eaLnBrk="1" hangingPunct="1"/>
            <a:r>
              <a:rPr lang="en-US" altLang="ja-JP" smtClean="0"/>
              <a:t>OESF</a:t>
            </a:r>
            <a:r>
              <a:rPr lang="ja-JP" altLang="en-US" smtClean="0"/>
              <a:t>の設立前に、各企業さんを回っていたときに使用していたモノ。</a:t>
            </a:r>
          </a:p>
          <a:p>
            <a:pPr eaLnBrk="1" hangingPunct="1"/>
            <a:r>
              <a:rPr lang="ja-JP" altLang="en-US" smtClean="0"/>
              <a:t>そして、これがほぼそのまま設立趣意となっている。</a:t>
            </a:r>
          </a:p>
          <a:p>
            <a:pPr eaLnBrk="1" hangingPunct="1"/>
            <a:endParaRPr lang="ja-JP"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TextEdit="1"/>
          </p:cNvSpPr>
          <p:nvPr>
            <p:ph type="sldImg"/>
          </p:nvPr>
        </p:nvSpPr>
        <p:spPr bwMode="auto">
          <a:noFill/>
          <a:ln>
            <a:solidFill>
              <a:srgbClr val="000000"/>
            </a:solidFill>
            <a:miter lim="800000"/>
            <a:headEnd/>
            <a:tailEnd/>
          </a:ln>
        </p:spPr>
      </p:sp>
      <p:sp>
        <p:nvSpPr>
          <p:cNvPr id="24578"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1</a:t>
            </a:r>
            <a:r>
              <a:rPr lang="ja-JP" altLang="en-US" smtClean="0"/>
              <a:t>分</a:t>
            </a:r>
            <a:r>
              <a:rPr lang="en-US" altLang="ja-JP" smtClean="0"/>
              <a:t>(3</a:t>
            </a:r>
            <a:r>
              <a:rPr lang="ja-JP" altLang="en-US" smtClean="0"/>
              <a:t>分まで</a:t>
            </a:r>
            <a:r>
              <a:rPr lang="en-US" altLang="ja-JP" smtClean="0"/>
              <a:t>)</a:t>
            </a:r>
          </a:p>
          <a:p>
            <a:pPr eaLnBrk="1" hangingPunct="1"/>
            <a:endParaRPr lang="en-US" altLang="ja-JP" smtClean="0"/>
          </a:p>
          <a:p>
            <a:pPr eaLnBrk="1" hangingPunct="1"/>
            <a:r>
              <a:rPr lang="ja-JP" altLang="en-US" smtClean="0"/>
              <a:t>三浦のプレゼンにもあった資料です。</a:t>
            </a:r>
          </a:p>
          <a:p>
            <a:pPr eaLnBrk="1" hangingPunct="1"/>
            <a:r>
              <a:rPr lang="ja-JP" altLang="en-US" smtClean="0"/>
              <a:t>三浦とは、違う視点で</a:t>
            </a:r>
            <a:r>
              <a:rPr lang="en-US" altLang="ja-JP" smtClean="0"/>
              <a:t>『Java』</a:t>
            </a:r>
            <a:r>
              <a:rPr lang="ja-JP" altLang="en-US" smtClean="0"/>
              <a:t>という点を</a:t>
            </a:r>
            <a:r>
              <a:rPr lang="en-US" altLang="ja-JP" smtClean="0"/>
              <a:t>close up</a:t>
            </a:r>
            <a:r>
              <a:rPr lang="ja-JP" altLang="en-US" smtClean="0"/>
              <a:t>するのではなく、</a:t>
            </a:r>
            <a:endParaRPr lang="en-US" altLang="ja-JP" smtClean="0"/>
          </a:p>
          <a:p>
            <a:pPr eaLnBrk="1" hangingPunct="1"/>
            <a:r>
              <a:rPr lang="en-US" altLang="ja-JP" smtClean="0"/>
              <a:t>『</a:t>
            </a:r>
            <a:r>
              <a:rPr lang="ja-JP" altLang="en-US" smtClean="0"/>
              <a:t>いやいや、それは</a:t>
            </a:r>
            <a:r>
              <a:rPr lang="en-US" altLang="ja-JP" smtClean="0"/>
              <a:t>Linux</a:t>
            </a:r>
            <a:r>
              <a:rPr lang="ja-JP" altLang="en-US" smtClean="0"/>
              <a:t>が登場したときにも言われた話だよ。</a:t>
            </a:r>
            <a:r>
              <a:rPr lang="en-US" altLang="ja-JP" smtClean="0"/>
              <a:t>』</a:t>
            </a:r>
            <a:r>
              <a:rPr lang="ja-JP" altLang="en-US" smtClean="0"/>
              <a:t>という視点</a:t>
            </a:r>
          </a:p>
          <a:p>
            <a:pPr eaLnBrk="1" hangingPunct="1"/>
            <a:r>
              <a:rPr lang="ja-JP" altLang="en-US" smtClean="0"/>
              <a:t>から、攻めてみたいと思います。</a:t>
            </a:r>
          </a:p>
          <a:p>
            <a:pPr eaLnBrk="1" hangingPunct="1"/>
            <a:endParaRPr lang="ja-JP"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Rot="1" noChangeAspect="1" noTextEdit="1"/>
          </p:cNvSpPr>
          <p:nvPr>
            <p:ph type="sldImg"/>
          </p:nvPr>
        </p:nvSpPr>
        <p:spPr bwMode="auto">
          <a:noFill/>
          <a:ln>
            <a:solidFill>
              <a:srgbClr val="000000"/>
            </a:solidFill>
            <a:miter lim="800000"/>
            <a:headEnd/>
            <a:tailEnd/>
          </a:ln>
        </p:spPr>
      </p:sp>
      <p:sp>
        <p:nvSpPr>
          <p:cNvPr id="2662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90000"/>
              </a:lnSpc>
            </a:pPr>
            <a:r>
              <a:rPr lang="en-US" altLang="ja-JP" sz="1000" smtClean="0"/>
              <a:t>4</a:t>
            </a:r>
            <a:r>
              <a:rPr lang="ja-JP" altLang="en-US" sz="1000" smtClean="0"/>
              <a:t>分</a:t>
            </a:r>
            <a:r>
              <a:rPr lang="en-US" altLang="ja-JP" sz="1000" smtClean="0"/>
              <a:t>(7</a:t>
            </a:r>
            <a:r>
              <a:rPr lang="ja-JP" altLang="en-US" sz="1000" smtClean="0"/>
              <a:t>分まで</a:t>
            </a:r>
            <a:r>
              <a:rPr lang="en-US" altLang="ja-JP" sz="1000" smtClean="0"/>
              <a:t>)</a:t>
            </a:r>
          </a:p>
          <a:p>
            <a:pPr eaLnBrk="1" hangingPunct="1">
              <a:lnSpc>
                <a:spcPct val="90000"/>
              </a:lnSpc>
            </a:pPr>
            <a:endParaRPr lang="en-US" altLang="ja-JP" sz="1000" smtClean="0"/>
          </a:p>
          <a:p>
            <a:pPr eaLnBrk="1" hangingPunct="1">
              <a:lnSpc>
                <a:spcPct val="90000"/>
              </a:lnSpc>
            </a:pPr>
            <a:r>
              <a:rPr lang="en-US" altLang="ja-JP" sz="1000" smtClean="0"/>
              <a:t>• 1960</a:t>
            </a:r>
            <a:r>
              <a:rPr lang="ja-JP" altLang="en-US" sz="1000" smtClean="0"/>
              <a:t>年代</a:t>
            </a:r>
          </a:p>
          <a:p>
            <a:pPr eaLnBrk="1" hangingPunct="1">
              <a:lnSpc>
                <a:spcPct val="90000"/>
              </a:lnSpc>
            </a:pPr>
            <a:r>
              <a:rPr lang="ja-JP" altLang="en-US" sz="1000" smtClean="0"/>
              <a:t>メインフレームのビジネスモデル</a:t>
            </a:r>
          </a:p>
          <a:p>
            <a:pPr eaLnBrk="1" hangingPunct="1">
              <a:lnSpc>
                <a:spcPct val="90000"/>
              </a:lnSpc>
            </a:pPr>
            <a:r>
              <a:rPr lang="ja-JP" altLang="en-US" sz="1000" smtClean="0"/>
              <a:t>超高額商品＝限定的顧客（政府・大企業）</a:t>
            </a:r>
            <a:r>
              <a:rPr lang="en-US" altLang="ja-JP" sz="1000" smtClean="0"/>
              <a:t>, </a:t>
            </a:r>
            <a:r>
              <a:rPr lang="ja-JP" altLang="en-US" sz="1000" smtClean="0"/>
              <a:t>小数顧客・高額商品＝直接販売</a:t>
            </a:r>
          </a:p>
          <a:p>
            <a:pPr eaLnBrk="1" hangingPunct="1">
              <a:lnSpc>
                <a:spcPct val="90000"/>
              </a:lnSpc>
            </a:pPr>
            <a:r>
              <a:rPr lang="en-US" altLang="ja-JP" sz="1000" smtClean="0"/>
              <a:t>• 1970</a:t>
            </a:r>
            <a:r>
              <a:rPr lang="ja-JP" altLang="en-US" sz="1000" smtClean="0"/>
              <a:t>年代</a:t>
            </a:r>
          </a:p>
          <a:p>
            <a:pPr eaLnBrk="1" hangingPunct="1">
              <a:lnSpc>
                <a:spcPct val="90000"/>
              </a:lnSpc>
            </a:pPr>
            <a:r>
              <a:rPr lang="ja-JP" altLang="en-US" sz="1000" smtClean="0"/>
              <a:t>ソフトウェアの時代へ</a:t>
            </a:r>
          </a:p>
          <a:p>
            <a:pPr eaLnBrk="1" hangingPunct="1">
              <a:lnSpc>
                <a:spcPct val="90000"/>
              </a:lnSpc>
            </a:pPr>
            <a:r>
              <a:rPr lang="en-US" altLang="ja-JP" sz="1000" smtClean="0"/>
              <a:t>• 1980</a:t>
            </a:r>
            <a:r>
              <a:rPr lang="ja-JP" altLang="en-US" sz="1000" smtClean="0"/>
              <a:t>年代</a:t>
            </a:r>
          </a:p>
          <a:p>
            <a:pPr eaLnBrk="1" hangingPunct="1">
              <a:lnSpc>
                <a:spcPct val="90000"/>
              </a:lnSpc>
            </a:pPr>
            <a:r>
              <a:rPr lang="en-US" altLang="ja-JP" sz="1000" smtClean="0"/>
              <a:t>PC</a:t>
            </a:r>
            <a:r>
              <a:rPr lang="ja-JP" altLang="en-US" sz="1000" smtClean="0"/>
              <a:t>ビジネス台頭</a:t>
            </a:r>
          </a:p>
          <a:p>
            <a:pPr eaLnBrk="1" hangingPunct="1">
              <a:lnSpc>
                <a:spcPct val="90000"/>
              </a:lnSpc>
            </a:pPr>
            <a:r>
              <a:rPr lang="en-US" altLang="ja-JP" sz="1000" smtClean="0"/>
              <a:t>• 1990 </a:t>
            </a:r>
            <a:r>
              <a:rPr lang="ja-JP" altLang="en-US" sz="1000" smtClean="0"/>
              <a:t>年代</a:t>
            </a:r>
          </a:p>
          <a:p>
            <a:pPr eaLnBrk="1" hangingPunct="1">
              <a:lnSpc>
                <a:spcPct val="90000"/>
              </a:lnSpc>
            </a:pPr>
            <a:r>
              <a:rPr lang="ja-JP" altLang="en-US" sz="1000" smtClean="0"/>
              <a:t>ダウンサイジング</a:t>
            </a:r>
          </a:p>
          <a:p>
            <a:pPr eaLnBrk="1" hangingPunct="1">
              <a:lnSpc>
                <a:spcPct val="90000"/>
              </a:lnSpc>
            </a:pPr>
            <a:r>
              <a:rPr lang="ja-JP" altLang="en-US" sz="1000" smtClean="0"/>
              <a:t>開放路線＝互換機ベンダーとの競争</a:t>
            </a:r>
          </a:p>
          <a:p>
            <a:pPr eaLnBrk="1" hangingPunct="1">
              <a:lnSpc>
                <a:spcPct val="90000"/>
              </a:lnSpc>
            </a:pPr>
            <a:r>
              <a:rPr lang="ja-JP" altLang="en-US" sz="1000" smtClean="0"/>
              <a:t>価格競争優位：技術＋マーケティングの意義薄く⇒ソリューション提案型へ</a:t>
            </a:r>
          </a:p>
          <a:p>
            <a:pPr eaLnBrk="1" hangingPunct="1">
              <a:lnSpc>
                <a:spcPct val="90000"/>
              </a:lnSpc>
            </a:pPr>
            <a:endParaRPr lang="ja-JP" altLang="en-US" sz="1000" smtClean="0"/>
          </a:p>
          <a:p>
            <a:pPr eaLnBrk="1" hangingPunct="1">
              <a:lnSpc>
                <a:spcPct val="90000"/>
              </a:lnSpc>
            </a:pPr>
            <a:r>
              <a:rPr lang="en-US" altLang="ja-JP" sz="1000" smtClean="0"/>
              <a:t>※</a:t>
            </a:r>
            <a:r>
              <a:rPr lang="ja-JP" altLang="en-US" sz="1000" smtClean="0"/>
              <a:t>ここで、結果を。</a:t>
            </a:r>
          </a:p>
          <a:p>
            <a:pPr eaLnBrk="1" hangingPunct="1">
              <a:lnSpc>
                <a:spcPct val="90000"/>
              </a:lnSpc>
            </a:pPr>
            <a:r>
              <a:rPr lang="ja-JP" altLang="en-US" sz="1000" smtClean="0"/>
              <a:t>収益の源泉が変化したこと</a:t>
            </a:r>
          </a:p>
          <a:p>
            <a:pPr eaLnBrk="1" hangingPunct="1">
              <a:lnSpc>
                <a:spcPct val="90000"/>
              </a:lnSpc>
            </a:pPr>
            <a:r>
              <a:rPr lang="ja-JP" altLang="en-US" sz="1000" smtClean="0"/>
              <a:t>今までは、資金力がある大手メーカーが仕切っていた。</a:t>
            </a:r>
          </a:p>
          <a:p>
            <a:pPr eaLnBrk="1" hangingPunct="1">
              <a:lnSpc>
                <a:spcPct val="90000"/>
              </a:lnSpc>
            </a:pPr>
            <a:r>
              <a:rPr lang="ja-JP" altLang="en-US" sz="1000" smtClean="0"/>
              <a:t>それは、なぜか？</a:t>
            </a:r>
          </a:p>
          <a:p>
            <a:pPr eaLnBrk="1" hangingPunct="1">
              <a:lnSpc>
                <a:spcPct val="90000"/>
              </a:lnSpc>
            </a:pPr>
            <a:endParaRPr lang="ja-JP" altLang="en-US" sz="1000" smtClean="0"/>
          </a:p>
          <a:p>
            <a:pPr eaLnBrk="1" hangingPunct="1">
              <a:lnSpc>
                <a:spcPct val="90000"/>
              </a:lnSpc>
            </a:pPr>
            <a:r>
              <a:rPr lang="ja-JP" altLang="en-US" sz="1000" smtClean="0"/>
              <a:t>私は、日本</a:t>
            </a:r>
            <a:r>
              <a:rPr lang="en-US" altLang="ja-JP" sz="1000" smtClean="0"/>
              <a:t>Java</a:t>
            </a:r>
            <a:r>
              <a:rPr lang="ja-JP" altLang="en-US" sz="1000" smtClean="0"/>
              <a:t>ユーザグループというところの幹事も兼任している。</a:t>
            </a:r>
          </a:p>
          <a:p>
            <a:pPr eaLnBrk="1" hangingPunct="1">
              <a:lnSpc>
                <a:spcPct val="90000"/>
              </a:lnSpc>
            </a:pPr>
            <a:r>
              <a:rPr lang="ja-JP" altLang="en-US" sz="1000" smtClean="0"/>
              <a:t>こちらは、まさにエンタープライズ系</a:t>
            </a:r>
            <a:r>
              <a:rPr lang="en-US" altLang="ja-JP" sz="1000" smtClean="0"/>
              <a:t>Java</a:t>
            </a:r>
            <a:r>
              <a:rPr lang="ja-JP" altLang="en-US" sz="1000" smtClean="0"/>
              <a:t>の総本山。これを体験し、勝ち抜いて</a:t>
            </a:r>
          </a:p>
          <a:p>
            <a:pPr eaLnBrk="1" hangingPunct="1">
              <a:lnSpc>
                <a:spcPct val="90000"/>
              </a:lnSpc>
            </a:pPr>
            <a:r>
              <a:rPr lang="ja-JP" altLang="en-US" sz="1000" smtClean="0"/>
              <a:t>きた人たちの集まりである。</a:t>
            </a:r>
          </a:p>
          <a:p>
            <a:pPr eaLnBrk="1" hangingPunct="1">
              <a:lnSpc>
                <a:spcPct val="90000"/>
              </a:lnSpc>
            </a:pPr>
            <a:endParaRPr lang="ja-JP" altLang="en-US" sz="10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TextEdit="1"/>
          </p:cNvSpPr>
          <p:nvPr>
            <p:ph type="sldImg"/>
          </p:nvPr>
        </p:nvSpPr>
        <p:spPr bwMode="auto">
          <a:noFill/>
          <a:ln>
            <a:solidFill>
              <a:srgbClr val="000000"/>
            </a:solidFill>
            <a:miter lim="800000"/>
            <a:headEnd/>
            <a:tailEnd/>
          </a:ln>
        </p:spPr>
      </p:sp>
      <p:sp>
        <p:nvSpPr>
          <p:cNvPr id="2867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ja-JP" altLang="en-US" smtClean="0"/>
              <a:t>・概念</a:t>
            </a:r>
          </a:p>
          <a:p>
            <a:pPr eaLnBrk="1" hangingPunct="1"/>
            <a:r>
              <a:rPr lang="ja-JP" altLang="en-US" smtClean="0"/>
              <a:t>理念を達成するには、何が必要か？</a:t>
            </a:r>
          </a:p>
          <a:p>
            <a:pPr eaLnBrk="1" hangingPunct="1"/>
            <a:r>
              <a:rPr lang="ja-JP" altLang="en-US" smtClean="0"/>
              <a:t>こちらも</a:t>
            </a:r>
            <a:r>
              <a:rPr lang="en-US" altLang="ja-JP" smtClean="0"/>
              <a:t>EM</a:t>
            </a:r>
            <a:r>
              <a:rPr lang="ja-JP" altLang="en-US" smtClean="0"/>
              <a:t>の視点から、考察してみたい。</a:t>
            </a:r>
          </a:p>
          <a:p>
            <a:pPr eaLnBrk="1" hangingPunct="1"/>
            <a:r>
              <a:rPr lang="ja-JP" altLang="en-US" smtClean="0"/>
              <a:t>ぜひ、これを元にして、何がコントリビュート出来るか考えてみてほしい。</a:t>
            </a:r>
          </a:p>
          <a:p>
            <a:pPr eaLnBrk="1" hangingPunct="1"/>
            <a:endParaRPr lang="ja-JP"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スライド イメージ プレースホルダ 1"/>
          <p:cNvSpPr>
            <a:spLocks noGrp="1" noRot="1" noChangeAspect="1" noTextEdit="1"/>
          </p:cNvSpPr>
          <p:nvPr>
            <p:ph type="sldImg"/>
          </p:nvPr>
        </p:nvSpPr>
        <p:spPr bwMode="auto">
          <a:noFill/>
          <a:ln>
            <a:solidFill>
              <a:srgbClr val="000000"/>
            </a:solidFill>
            <a:miter lim="800000"/>
            <a:headEnd/>
            <a:tailEnd/>
          </a:ln>
        </p:spPr>
      </p:sp>
      <p:sp>
        <p:nvSpPr>
          <p:cNvPr id="30722"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4</a:t>
            </a:r>
            <a:r>
              <a:rPr lang="ja-JP" altLang="en-US" smtClean="0"/>
              <a:t>分</a:t>
            </a:r>
            <a:r>
              <a:rPr lang="en-US" altLang="ja-JP" smtClean="0"/>
              <a:t>(11</a:t>
            </a:r>
            <a:r>
              <a:rPr lang="ja-JP" altLang="en-US" smtClean="0"/>
              <a:t>分まで</a:t>
            </a:r>
            <a:r>
              <a:rPr lang="en-US" altLang="ja-JP" smtClean="0"/>
              <a:t>)</a:t>
            </a:r>
          </a:p>
          <a:p>
            <a:pPr eaLnBrk="1" hangingPunct="1">
              <a:spcBef>
                <a:spcPct val="0"/>
              </a:spcBef>
            </a:pPr>
            <a:endParaRPr lang="en-US" altLang="ja-JP" smtClean="0"/>
          </a:p>
          <a:p>
            <a:pPr eaLnBrk="1" hangingPunct="1">
              <a:spcBef>
                <a:spcPct val="0"/>
              </a:spcBef>
            </a:pPr>
            <a:r>
              <a:rPr lang="en-US" altLang="ja-JP" smtClean="0"/>
              <a:t>EM</a:t>
            </a:r>
            <a:r>
              <a:rPr lang="ja-JP" altLang="en-US" smtClean="0"/>
              <a:t>は、各</a:t>
            </a:r>
            <a:r>
              <a:rPr lang="en-US" altLang="ja-JP" smtClean="0"/>
              <a:t>WG</a:t>
            </a:r>
            <a:r>
              <a:rPr lang="ja-JP" altLang="en-US" smtClean="0"/>
              <a:t>からのコントリビューションで成り立っている。</a:t>
            </a:r>
          </a:p>
          <a:p>
            <a:pPr eaLnBrk="1" hangingPunct="1">
              <a:spcBef>
                <a:spcPct val="0"/>
              </a:spcBef>
            </a:pPr>
            <a:r>
              <a:rPr lang="ja-JP" altLang="en-US" smtClean="0"/>
              <a:t>各</a:t>
            </a:r>
            <a:r>
              <a:rPr lang="en-US" altLang="ja-JP" smtClean="0"/>
              <a:t>WG</a:t>
            </a:r>
            <a:r>
              <a:rPr lang="ja-JP" altLang="en-US" smtClean="0"/>
              <a:t>の簡単な説明。</a:t>
            </a:r>
          </a:p>
          <a:p>
            <a:pPr eaLnBrk="1" hangingPunct="1">
              <a:spcBef>
                <a:spcPct val="0"/>
              </a:spcBef>
            </a:pPr>
            <a:endParaRPr lang="ja-JP" altLang="en-US" smtClean="0"/>
          </a:p>
        </p:txBody>
      </p:sp>
      <p:sp>
        <p:nvSpPr>
          <p:cNvPr id="30723" name="スライド番号プレースホルダ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C7592D83-0D8C-492F-8F77-985957F8419A}" type="slidenum">
              <a:rPr lang="ja-JP" altLang="en-US" sz="1200"/>
              <a:pPr algn="r"/>
              <a:t>8</a:t>
            </a:fld>
            <a:endParaRPr lang="en-US" altLang="ja-JP"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スライド イメージ プレースホルダ 1"/>
          <p:cNvSpPr>
            <a:spLocks noGrp="1" noRot="1" noChangeAspect="1" noTextEdit="1"/>
          </p:cNvSpPr>
          <p:nvPr>
            <p:ph type="sldImg"/>
          </p:nvPr>
        </p:nvSpPr>
        <p:spPr bwMode="auto">
          <a:noFill/>
          <a:ln>
            <a:solidFill>
              <a:srgbClr val="000000"/>
            </a:solidFill>
            <a:miter lim="800000"/>
            <a:headEnd/>
            <a:tailEnd/>
          </a:ln>
        </p:spPr>
      </p:sp>
      <p:sp>
        <p:nvSpPr>
          <p:cNvPr id="32770"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1</a:t>
            </a:r>
            <a:r>
              <a:rPr lang="ja-JP" altLang="en-US" smtClean="0"/>
              <a:t>分</a:t>
            </a:r>
            <a:r>
              <a:rPr lang="en-US" altLang="ja-JP" smtClean="0"/>
              <a:t>(12</a:t>
            </a:r>
            <a:r>
              <a:rPr lang="ja-JP" altLang="en-US" smtClean="0"/>
              <a:t>分まで</a:t>
            </a:r>
            <a:r>
              <a:rPr lang="en-US" altLang="ja-JP" smtClean="0"/>
              <a:t>)</a:t>
            </a:r>
          </a:p>
          <a:p>
            <a:pPr eaLnBrk="1" hangingPunct="1">
              <a:spcBef>
                <a:spcPct val="0"/>
              </a:spcBef>
            </a:pPr>
            <a:endParaRPr lang="ja-JP" altLang="en-US" smtClean="0"/>
          </a:p>
        </p:txBody>
      </p:sp>
      <p:sp>
        <p:nvSpPr>
          <p:cNvPr id="32771" name="スライド番号プレースホルダ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E2AD5CB-CFBB-4B59-8B58-FC2DECCAE409}" type="slidenum">
              <a:rPr lang="ja-JP" altLang="en-US" sz="1200"/>
              <a:pPr algn="r"/>
              <a:t>9</a:t>
            </a:fld>
            <a:endParaRPr lang="en-US" altLang="ja-JP"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TextEdit="1"/>
          </p:cNvSpPr>
          <p:nvPr>
            <p:ph type="sldImg"/>
          </p:nvPr>
        </p:nvSpPr>
        <p:spPr bwMode="auto">
          <a:noFill/>
          <a:ln>
            <a:solidFill>
              <a:srgbClr val="000000"/>
            </a:solidFill>
            <a:miter lim="800000"/>
            <a:headEnd/>
            <a:tailEnd/>
          </a:ln>
        </p:spPr>
      </p:sp>
      <p:sp>
        <p:nvSpPr>
          <p:cNvPr id="34818"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3</a:t>
            </a:r>
            <a:r>
              <a:rPr lang="ja-JP" altLang="en-US" smtClean="0"/>
              <a:t>分</a:t>
            </a:r>
            <a:r>
              <a:rPr lang="en-US" altLang="ja-JP" smtClean="0"/>
              <a:t>(15</a:t>
            </a:r>
            <a:r>
              <a:rPr lang="ja-JP" altLang="en-US" smtClean="0"/>
              <a:t>分まで</a:t>
            </a:r>
            <a:r>
              <a:rPr lang="en-US" altLang="ja-JP" smtClean="0"/>
              <a:t>)</a:t>
            </a:r>
          </a:p>
          <a:p>
            <a:endParaRPr lang="ja-JP" altLang="en-US" smtClean="0"/>
          </a:p>
          <a:p>
            <a:r>
              <a:rPr lang="ja-JP" altLang="en-US" smtClean="0"/>
              <a:t>キモは、アプリケーションフレームワークの部分。</a:t>
            </a:r>
          </a:p>
          <a:p>
            <a:r>
              <a:rPr lang="ja-JP" altLang="en-US" smtClean="0"/>
              <a:t>赤や緑のところまでは、今までの</a:t>
            </a:r>
            <a:r>
              <a:rPr lang="en-US" altLang="ja-JP" smtClean="0"/>
              <a:t>Linux</a:t>
            </a:r>
            <a:r>
              <a:rPr lang="ja-JP" altLang="en-US" smtClean="0"/>
              <a:t>と変わらない。</a:t>
            </a:r>
          </a:p>
          <a:p>
            <a:endParaRPr lang="ja-JP"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TextEdit="1"/>
          </p:cNvSpPr>
          <p:nvPr>
            <p:ph type="sldImg"/>
          </p:nvPr>
        </p:nvSpPr>
        <p:spPr bwMode="auto">
          <a:noFill/>
          <a:ln>
            <a:solidFill>
              <a:srgbClr val="000000"/>
            </a:solidFill>
            <a:miter lim="800000"/>
            <a:headEnd/>
            <a:tailEnd/>
          </a:ln>
        </p:spPr>
      </p:sp>
      <p:sp>
        <p:nvSpPr>
          <p:cNvPr id="3686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80000"/>
              </a:lnSpc>
            </a:pPr>
            <a:r>
              <a:rPr lang="en-US" altLang="ja-JP" sz="1000" smtClean="0"/>
              <a:t>6</a:t>
            </a:r>
            <a:r>
              <a:rPr lang="ja-JP" altLang="en-US" sz="1000" smtClean="0"/>
              <a:t>分</a:t>
            </a:r>
            <a:r>
              <a:rPr lang="en-US" altLang="ja-JP" sz="1000" smtClean="0"/>
              <a:t>(21</a:t>
            </a:r>
            <a:r>
              <a:rPr lang="ja-JP" altLang="en-US" sz="1000" smtClean="0"/>
              <a:t>分まで</a:t>
            </a:r>
            <a:r>
              <a:rPr lang="en-US" altLang="ja-JP" sz="1000" smtClean="0"/>
              <a:t>)</a:t>
            </a:r>
          </a:p>
          <a:p>
            <a:pPr eaLnBrk="1" hangingPunct="1">
              <a:lnSpc>
                <a:spcPct val="80000"/>
              </a:lnSpc>
            </a:pPr>
            <a:endParaRPr lang="en-US" altLang="ja-JP" sz="1000" smtClean="0"/>
          </a:p>
          <a:p>
            <a:pPr eaLnBrk="1" hangingPunct="1">
              <a:lnSpc>
                <a:spcPct val="80000"/>
              </a:lnSpc>
            </a:pPr>
            <a:r>
              <a:rPr lang="en-US" altLang="ja-JP" sz="1000" smtClean="0"/>
              <a:t>Spec</a:t>
            </a:r>
            <a:r>
              <a:rPr lang="ja-JP" altLang="en-US" sz="1000" smtClean="0"/>
              <a:t>・・・機器や「アプリケーションフレームワーク」の仕様を策定する。</a:t>
            </a:r>
          </a:p>
          <a:p>
            <a:pPr eaLnBrk="1" hangingPunct="1">
              <a:lnSpc>
                <a:spcPct val="80000"/>
              </a:lnSpc>
            </a:pPr>
            <a:r>
              <a:rPr lang="ja-JP" altLang="en-US" sz="1000" smtClean="0"/>
              <a:t>これは、今日も</a:t>
            </a:r>
            <a:r>
              <a:rPr lang="en-US" altLang="ja-JP" sz="1000" smtClean="0"/>
              <a:t>OESF</a:t>
            </a:r>
            <a:r>
              <a:rPr lang="ja-JP" altLang="en-US" sz="1000" smtClean="0"/>
              <a:t>のブースででている各</a:t>
            </a:r>
            <a:r>
              <a:rPr lang="en-US" altLang="ja-JP" sz="1000" smtClean="0"/>
              <a:t>WG</a:t>
            </a:r>
            <a:r>
              <a:rPr lang="ja-JP" altLang="en-US" sz="1000" smtClean="0"/>
              <a:t>の成果そのもの。</a:t>
            </a:r>
          </a:p>
          <a:p>
            <a:pPr eaLnBrk="1" hangingPunct="1">
              <a:lnSpc>
                <a:spcPct val="80000"/>
              </a:lnSpc>
            </a:pPr>
            <a:r>
              <a:rPr lang="ja-JP" altLang="en-US" sz="1000" smtClean="0"/>
              <a:t>決定的に違うのは、青いアプリフレームワークまで通して策定していること。</a:t>
            </a:r>
          </a:p>
          <a:p>
            <a:pPr eaLnBrk="1" hangingPunct="1">
              <a:lnSpc>
                <a:spcPct val="80000"/>
              </a:lnSpc>
            </a:pPr>
            <a:r>
              <a:rPr lang="ja-JP" altLang="en-US" sz="1000" smtClean="0"/>
              <a:t>これこそが、新しい</a:t>
            </a:r>
            <a:r>
              <a:rPr lang="en-US" altLang="ja-JP" sz="1000" smtClean="0"/>
              <a:t>Distribution</a:t>
            </a:r>
            <a:r>
              <a:rPr lang="ja-JP" altLang="en-US" sz="1000" smtClean="0"/>
              <a:t>の形である。</a:t>
            </a:r>
          </a:p>
          <a:p>
            <a:pPr eaLnBrk="1" hangingPunct="1">
              <a:lnSpc>
                <a:spcPct val="80000"/>
              </a:lnSpc>
            </a:pPr>
            <a:r>
              <a:rPr lang="ja-JP" altLang="en-US" sz="1000" smtClean="0"/>
              <a:t>（アプリフレームワークは、</a:t>
            </a:r>
            <a:r>
              <a:rPr lang="en-US" altLang="ja-JP" sz="1000" smtClean="0"/>
              <a:t>Prof</a:t>
            </a:r>
            <a:r>
              <a:rPr lang="ja-JP" altLang="en-US" sz="1000" smtClean="0"/>
              <a:t>まで言って話す。）</a:t>
            </a:r>
          </a:p>
          <a:p>
            <a:pPr eaLnBrk="1" hangingPunct="1">
              <a:lnSpc>
                <a:spcPct val="80000"/>
              </a:lnSpc>
            </a:pPr>
            <a:endParaRPr lang="en-US" altLang="ja-JP" sz="1000" smtClean="0"/>
          </a:p>
          <a:p>
            <a:pPr eaLnBrk="1" hangingPunct="1">
              <a:lnSpc>
                <a:spcPct val="80000"/>
              </a:lnSpc>
            </a:pPr>
            <a:r>
              <a:rPr lang="en-US" altLang="ja-JP" sz="1000" smtClean="0"/>
              <a:t>Cert</a:t>
            </a:r>
            <a:r>
              <a:rPr lang="ja-JP" altLang="en-US" sz="1000" smtClean="0"/>
              <a:t>・・・</a:t>
            </a:r>
            <a:r>
              <a:rPr lang="en-US" altLang="ja-JP" sz="1000" smtClean="0"/>
              <a:t>Spec</a:t>
            </a:r>
            <a:r>
              <a:rPr lang="ja-JP" altLang="en-US" sz="1000" smtClean="0"/>
              <a:t>通りに、実装された機器に対して、認証を発行する。</a:t>
            </a:r>
          </a:p>
          <a:p>
            <a:pPr eaLnBrk="1" hangingPunct="1">
              <a:lnSpc>
                <a:spcPct val="80000"/>
              </a:lnSpc>
            </a:pPr>
            <a:r>
              <a:rPr lang="ja-JP" altLang="en-US" sz="1000" smtClean="0"/>
              <a:t>アプリフレームワークレベルまでの互換性を保証する</a:t>
            </a:r>
            <a:r>
              <a:rPr lang="en-US" altLang="ja-JP" sz="1000" smtClean="0"/>
              <a:t>Cert</a:t>
            </a:r>
            <a:r>
              <a:rPr lang="ja-JP" altLang="en-US" sz="1000" smtClean="0"/>
              <a:t>。これが違う。</a:t>
            </a:r>
          </a:p>
          <a:p>
            <a:pPr eaLnBrk="1" hangingPunct="1">
              <a:lnSpc>
                <a:spcPct val="80000"/>
              </a:lnSpc>
            </a:pPr>
            <a:r>
              <a:rPr lang="ja-JP" altLang="en-US" sz="1000" smtClean="0"/>
              <a:t>これにより、次の</a:t>
            </a:r>
            <a:r>
              <a:rPr lang="en-US" altLang="ja-JP" sz="1000" smtClean="0"/>
              <a:t>Prof</a:t>
            </a:r>
            <a:r>
              <a:rPr lang="ja-JP" altLang="en-US" sz="1000" smtClean="0"/>
              <a:t>へ繋がる。</a:t>
            </a:r>
          </a:p>
          <a:p>
            <a:pPr eaLnBrk="1" hangingPunct="1">
              <a:lnSpc>
                <a:spcPct val="80000"/>
              </a:lnSpc>
            </a:pPr>
            <a:r>
              <a:rPr lang="ja-JP" altLang="en-US" sz="1000" smtClean="0"/>
              <a:t>さらに、</a:t>
            </a:r>
            <a:r>
              <a:rPr lang="en-US" altLang="ja-JP" sz="1000" smtClean="0"/>
              <a:t>Prof</a:t>
            </a:r>
            <a:r>
              <a:rPr lang="ja-JP" altLang="en-US" sz="1000" smtClean="0"/>
              <a:t>の要求に応えるために、多品種少量生産が求められることだろう。</a:t>
            </a:r>
          </a:p>
          <a:p>
            <a:pPr eaLnBrk="1" hangingPunct="1">
              <a:lnSpc>
                <a:spcPct val="80000"/>
              </a:lnSpc>
            </a:pPr>
            <a:r>
              <a:rPr lang="ja-JP" altLang="en-US" sz="1000" smtClean="0"/>
              <a:t>次へ。</a:t>
            </a:r>
          </a:p>
          <a:p>
            <a:pPr eaLnBrk="1" hangingPunct="1">
              <a:lnSpc>
                <a:spcPct val="80000"/>
              </a:lnSpc>
            </a:pPr>
            <a:r>
              <a:rPr lang="ja-JP" altLang="en-US" sz="1000" smtClean="0"/>
              <a:t>（アプリフレームワークは、</a:t>
            </a:r>
            <a:r>
              <a:rPr lang="en-US" altLang="ja-JP" sz="1000" smtClean="0"/>
              <a:t>Prof</a:t>
            </a:r>
            <a:r>
              <a:rPr lang="ja-JP" altLang="en-US" sz="1000" smtClean="0"/>
              <a:t>まで言って話す。）</a:t>
            </a:r>
          </a:p>
          <a:p>
            <a:pPr eaLnBrk="1" hangingPunct="1">
              <a:lnSpc>
                <a:spcPct val="80000"/>
              </a:lnSpc>
            </a:pPr>
            <a:endParaRPr lang="en-US" altLang="ja-JP" sz="1000" smtClean="0"/>
          </a:p>
          <a:p>
            <a:pPr eaLnBrk="1" hangingPunct="1">
              <a:lnSpc>
                <a:spcPct val="80000"/>
              </a:lnSpc>
            </a:pPr>
            <a:r>
              <a:rPr lang="en-US" altLang="ja-JP" sz="1000" smtClean="0"/>
              <a:t>Prof</a:t>
            </a:r>
            <a:r>
              <a:rPr lang="ja-JP" altLang="en-US" sz="1000" smtClean="0"/>
              <a:t>・・</a:t>
            </a:r>
            <a:r>
              <a:rPr lang="en-US" altLang="ja-JP" sz="1000" smtClean="0"/>
              <a:t>Spec</a:t>
            </a:r>
            <a:r>
              <a:rPr lang="ja-JP" altLang="en-US" sz="1000" smtClean="0"/>
              <a:t>を元にし、その通りに実装されたアプリを、</a:t>
            </a:r>
            <a:r>
              <a:rPr lang="en-US" altLang="ja-JP" sz="1000" smtClean="0"/>
              <a:t>Cert</a:t>
            </a:r>
            <a:r>
              <a:rPr lang="ja-JP" altLang="en-US" sz="1000" smtClean="0"/>
              <a:t>された機器で動くことを</a:t>
            </a:r>
          </a:p>
          <a:p>
            <a:pPr eaLnBrk="1" hangingPunct="1">
              <a:lnSpc>
                <a:spcPct val="80000"/>
              </a:lnSpc>
            </a:pPr>
            <a:r>
              <a:rPr lang="ja-JP" altLang="en-US" sz="1000" smtClean="0"/>
              <a:t>保証出来る</a:t>
            </a:r>
            <a:r>
              <a:rPr lang="en-US" altLang="ja-JP" sz="1000" smtClean="0"/>
              <a:t>Market</a:t>
            </a:r>
            <a:r>
              <a:rPr lang="ja-JP" altLang="en-US" sz="1000" smtClean="0"/>
              <a:t>を作り、新たなる市場を作り出す。</a:t>
            </a:r>
          </a:p>
          <a:p>
            <a:pPr eaLnBrk="1" hangingPunct="1">
              <a:lnSpc>
                <a:spcPct val="80000"/>
              </a:lnSpc>
            </a:pPr>
            <a:endParaRPr lang="ja-JP" altLang="en-US" sz="1000" smtClean="0"/>
          </a:p>
          <a:p>
            <a:pPr eaLnBrk="1" hangingPunct="1">
              <a:lnSpc>
                <a:spcPct val="80000"/>
              </a:lnSpc>
            </a:pPr>
            <a:r>
              <a:rPr lang="ja-JP" altLang="en-US" sz="1000" smtClean="0"/>
              <a:t>「新たなる商流」。これが、キモであり、今までになかったピース。</a:t>
            </a:r>
          </a:p>
          <a:p>
            <a:pPr eaLnBrk="1" hangingPunct="1">
              <a:lnSpc>
                <a:spcPct val="80000"/>
              </a:lnSpc>
            </a:pPr>
            <a:r>
              <a:rPr lang="ja-JP" altLang="en-US" sz="1000" smtClean="0"/>
              <a:t>これにより、新しい市場やビジネスが産まれる。</a:t>
            </a:r>
          </a:p>
          <a:p>
            <a:pPr eaLnBrk="1" hangingPunct="1">
              <a:lnSpc>
                <a:spcPct val="80000"/>
              </a:lnSpc>
            </a:pPr>
            <a:r>
              <a:rPr lang="ja-JP" altLang="en-US" sz="1000" smtClean="0"/>
              <a:t>それにより、</a:t>
            </a:r>
            <a:r>
              <a:rPr lang="en-US" altLang="ja-JP" sz="1000" smtClean="0"/>
              <a:t>Linux</a:t>
            </a:r>
            <a:r>
              <a:rPr lang="ja-JP" altLang="en-US" sz="1000" smtClean="0"/>
              <a:t>が果たせなかった新時代を切り開くことが出来る！</a:t>
            </a:r>
          </a:p>
          <a:p>
            <a:pPr eaLnBrk="1" hangingPunct="1">
              <a:lnSpc>
                <a:spcPct val="80000"/>
              </a:lnSpc>
            </a:pPr>
            <a:endParaRPr lang="ja-JP" altLang="en-US" sz="1000" smtClean="0"/>
          </a:p>
          <a:p>
            <a:pPr eaLnBrk="1" hangingPunct="1">
              <a:lnSpc>
                <a:spcPct val="80000"/>
              </a:lnSpc>
            </a:pPr>
            <a:r>
              <a:rPr lang="en-US" altLang="ja-JP" sz="1000" smtClean="0"/>
              <a:t>General</a:t>
            </a:r>
            <a:r>
              <a:rPr lang="ja-JP" altLang="en-US" sz="1000" smtClean="0"/>
              <a:t>・・・すべてに関わり、加速させていく潤滑油的な存在。</a:t>
            </a:r>
          </a:p>
          <a:p>
            <a:pPr eaLnBrk="1" hangingPunct="1">
              <a:lnSpc>
                <a:spcPct val="80000"/>
              </a:lnSpc>
            </a:pPr>
            <a:endParaRPr lang="ja-JP" altLang="en-US" sz="1000" smtClean="0"/>
          </a:p>
          <a:p>
            <a:pPr eaLnBrk="1" hangingPunct="1">
              <a:lnSpc>
                <a:spcPct val="80000"/>
              </a:lnSpc>
            </a:pPr>
            <a:endParaRPr lang="ja-JP" altLang="en-US" sz="100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スライド イメージ プレースホルダ 1"/>
          <p:cNvSpPr>
            <a:spLocks noGrp="1" noRot="1" noChangeAspect="1" noTextEdit="1"/>
          </p:cNvSpPr>
          <p:nvPr>
            <p:ph type="sldImg"/>
          </p:nvPr>
        </p:nvSpPr>
        <p:spPr bwMode="auto">
          <a:noFill/>
          <a:ln>
            <a:solidFill>
              <a:srgbClr val="000000"/>
            </a:solidFill>
            <a:miter lim="800000"/>
            <a:headEnd/>
            <a:tailEnd/>
          </a:ln>
        </p:spPr>
      </p:sp>
      <p:sp>
        <p:nvSpPr>
          <p:cNvPr id="38914"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1</a:t>
            </a:r>
            <a:r>
              <a:rPr lang="ja-JP" altLang="en-US" smtClean="0"/>
              <a:t>分</a:t>
            </a:r>
            <a:r>
              <a:rPr lang="en-US" altLang="ja-JP" smtClean="0"/>
              <a:t>(22</a:t>
            </a:r>
            <a:r>
              <a:rPr lang="ja-JP" altLang="en-US" smtClean="0"/>
              <a:t>分まで</a:t>
            </a:r>
            <a:r>
              <a:rPr lang="en-US" altLang="ja-JP" smtClean="0"/>
              <a:t>)</a:t>
            </a:r>
          </a:p>
          <a:p>
            <a:pPr eaLnBrk="1" hangingPunct="1">
              <a:spcBef>
                <a:spcPct val="0"/>
              </a:spcBef>
            </a:pPr>
            <a:endParaRPr lang="ja-JP" altLang="en-US" smtClean="0"/>
          </a:p>
          <a:p>
            <a:pPr eaLnBrk="1" hangingPunct="1">
              <a:spcBef>
                <a:spcPct val="0"/>
              </a:spcBef>
            </a:pPr>
            <a:r>
              <a:rPr lang="ja-JP" altLang="en-US" smtClean="0"/>
              <a:t>この考え方がないかぎり、新しい世界は切り開けない。</a:t>
            </a:r>
          </a:p>
          <a:p>
            <a:pPr eaLnBrk="1" hangingPunct="1">
              <a:spcBef>
                <a:spcPct val="0"/>
              </a:spcBef>
            </a:pPr>
            <a:r>
              <a:rPr lang="ja-JP" altLang="en-US" smtClean="0"/>
              <a:t>誰かが、切り開いた世界に乗るしかない。でも、それだとルールは切り開いた人に</a:t>
            </a:r>
          </a:p>
          <a:p>
            <a:pPr eaLnBrk="1" hangingPunct="1">
              <a:spcBef>
                <a:spcPct val="0"/>
              </a:spcBef>
            </a:pPr>
            <a:r>
              <a:rPr lang="ja-JP" altLang="en-US" smtClean="0"/>
              <a:t>決められてしまう。</a:t>
            </a:r>
          </a:p>
          <a:p>
            <a:pPr eaLnBrk="1" hangingPunct="1">
              <a:spcBef>
                <a:spcPct val="0"/>
              </a:spcBef>
            </a:pPr>
            <a:r>
              <a:rPr lang="ja-JP" altLang="en-US" smtClean="0"/>
              <a:t>それでよいのか？</a:t>
            </a:r>
          </a:p>
          <a:p>
            <a:pPr eaLnBrk="1" hangingPunct="1">
              <a:spcBef>
                <a:spcPct val="0"/>
              </a:spcBef>
            </a:pPr>
            <a:endParaRPr lang="ja-JP" altLang="en-US" smtClean="0"/>
          </a:p>
          <a:p>
            <a:pPr eaLnBrk="1" hangingPunct="1">
              <a:spcBef>
                <a:spcPct val="0"/>
              </a:spcBef>
            </a:pPr>
            <a:r>
              <a:rPr lang="ja-JP" altLang="en-US" smtClean="0"/>
              <a:t>例えば、</a:t>
            </a:r>
            <a:r>
              <a:rPr lang="en-US" altLang="ja-JP" smtClean="0"/>
              <a:t>WinCE</a:t>
            </a:r>
            <a:r>
              <a:rPr lang="ja-JP" altLang="en-US" smtClean="0"/>
              <a:t>を使う場合、</a:t>
            </a:r>
            <a:r>
              <a:rPr lang="en-US" altLang="ja-JP" smtClean="0"/>
              <a:t>MS</a:t>
            </a:r>
            <a:r>
              <a:rPr lang="ja-JP" altLang="en-US" smtClean="0"/>
              <a:t>のルールに従う必要があるのではないか？</a:t>
            </a:r>
          </a:p>
          <a:p>
            <a:pPr eaLnBrk="1" hangingPunct="1">
              <a:spcBef>
                <a:spcPct val="0"/>
              </a:spcBef>
            </a:pPr>
            <a:endParaRPr lang="ja-JP" altLang="en-US" smtClean="0"/>
          </a:p>
        </p:txBody>
      </p:sp>
      <p:sp>
        <p:nvSpPr>
          <p:cNvPr id="38915" name="スライド番号プレースホルダ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34BFD715-FB47-42B8-B8D7-361B8E5CE3D4}" type="slidenum">
              <a:rPr lang="ja-JP" altLang="en-US" sz="1200"/>
              <a:pPr algn="r"/>
              <a:t>12</a:t>
            </a:fld>
            <a:endParaRPr lang="en-US" altLang="ja-JP"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Rot="1" noChangeAspect="1" noTextEdit="1"/>
          </p:cNvSpPr>
          <p:nvPr>
            <p:ph type="sldImg"/>
          </p:nvPr>
        </p:nvSpPr>
        <p:spPr bwMode="auto">
          <a:noFill/>
          <a:ln>
            <a:solidFill>
              <a:srgbClr val="000000"/>
            </a:solidFill>
            <a:miter lim="800000"/>
            <a:headEnd/>
            <a:tailEnd/>
          </a:ln>
        </p:spPr>
      </p:sp>
      <p:sp>
        <p:nvSpPr>
          <p:cNvPr id="40962"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ja-JP" altLang="en-US" smtClean="0"/>
              <a:t>・歩み</a:t>
            </a:r>
          </a:p>
          <a:p>
            <a:pPr eaLnBrk="1" hangingPunct="1"/>
            <a:r>
              <a:rPr lang="ja-JP" altLang="en-US" smtClean="0"/>
              <a:t>いわゆるロードマップである。</a:t>
            </a:r>
          </a:p>
          <a:p>
            <a:pPr eaLnBrk="1" hangingPunct="1"/>
            <a:r>
              <a:rPr lang="ja-JP" altLang="en-US" smtClean="0"/>
              <a:t>現状と未来についてお話ししたい。</a:t>
            </a:r>
          </a:p>
          <a:p>
            <a:pPr eaLnBrk="1" hangingPunct="1"/>
            <a:endParaRPr lang="ja-JP"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スライド イメージ プレースホルダ 1"/>
          <p:cNvSpPr>
            <a:spLocks noGrp="1" noRot="1" noChangeAspect="1" noTextEdit="1"/>
          </p:cNvSpPr>
          <p:nvPr>
            <p:ph type="sldImg"/>
          </p:nvPr>
        </p:nvSpPr>
        <p:spPr bwMode="auto">
          <a:noFill/>
          <a:ln>
            <a:solidFill>
              <a:srgbClr val="000000"/>
            </a:solidFill>
            <a:miter lim="800000"/>
            <a:headEnd/>
            <a:tailEnd/>
          </a:ln>
        </p:spPr>
      </p:sp>
      <p:sp>
        <p:nvSpPr>
          <p:cNvPr id="43010"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2</a:t>
            </a:r>
            <a:r>
              <a:rPr lang="ja-JP" altLang="en-US" smtClean="0"/>
              <a:t>分</a:t>
            </a:r>
            <a:r>
              <a:rPr lang="en-US" altLang="ja-JP" smtClean="0"/>
              <a:t>(24</a:t>
            </a:r>
            <a:r>
              <a:rPr lang="ja-JP" altLang="en-US" smtClean="0"/>
              <a:t>分まで</a:t>
            </a:r>
            <a:r>
              <a:rPr lang="en-US" altLang="ja-JP" smtClean="0"/>
              <a:t>)</a:t>
            </a:r>
          </a:p>
          <a:p>
            <a:pPr eaLnBrk="1" hangingPunct="1">
              <a:spcBef>
                <a:spcPct val="0"/>
              </a:spcBef>
            </a:pPr>
            <a:endParaRPr lang="ja-JP" altLang="en-US" smtClean="0"/>
          </a:p>
          <a:p>
            <a:pPr eaLnBrk="1" hangingPunct="1">
              <a:spcBef>
                <a:spcPct val="0"/>
              </a:spcBef>
            </a:pPr>
            <a:r>
              <a:rPr lang="ja-JP" altLang="en-US" smtClean="0"/>
              <a:t>会員向け</a:t>
            </a:r>
            <a:r>
              <a:rPr lang="en-US" altLang="ja-JP" smtClean="0"/>
              <a:t>Release</a:t>
            </a:r>
            <a:r>
              <a:rPr lang="ja-JP" altLang="en-US" smtClean="0"/>
              <a:t>がある。</a:t>
            </a:r>
          </a:p>
        </p:txBody>
      </p:sp>
      <p:sp>
        <p:nvSpPr>
          <p:cNvPr id="43011" name="スライド番号プレースホルダ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5F2CA52-4FF2-494B-AFA8-14DAF8BC17D0}" type="slidenum">
              <a:rPr lang="ja-JP" altLang="en-US" sz="1200"/>
              <a:pPr algn="r"/>
              <a:t>14</a:t>
            </a:fld>
            <a:endParaRPr lang="en-US" altLang="ja-JP"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Rot="1" noChangeAspect="1" noTextEdit="1"/>
          </p:cNvSpPr>
          <p:nvPr>
            <p:ph type="sldImg"/>
          </p:nvPr>
        </p:nvSpPr>
        <p:spPr bwMode="auto">
          <a:noFill/>
          <a:ln>
            <a:solidFill>
              <a:srgbClr val="000000"/>
            </a:solidFill>
            <a:miter lim="800000"/>
            <a:headEnd/>
            <a:tailEnd/>
          </a:ln>
        </p:spPr>
      </p:sp>
      <p:sp>
        <p:nvSpPr>
          <p:cNvPr id="45058"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1</a:t>
            </a:r>
            <a:r>
              <a:rPr lang="ja-JP" altLang="en-US" smtClean="0"/>
              <a:t>分</a:t>
            </a:r>
            <a:r>
              <a:rPr lang="en-US" altLang="ja-JP" smtClean="0"/>
              <a:t>(25</a:t>
            </a:r>
            <a:r>
              <a:rPr lang="ja-JP" altLang="en-US" smtClean="0"/>
              <a:t>分まで</a:t>
            </a:r>
            <a:r>
              <a:rPr lang="en-US" altLang="ja-JP" smtClean="0"/>
              <a:t>)</a:t>
            </a:r>
          </a:p>
          <a:p>
            <a:pPr eaLnBrk="1" hangingPunct="1"/>
            <a:endParaRPr lang="en-US" altLang="ja-JP" smtClean="0"/>
          </a:p>
          <a:p>
            <a:pPr eaLnBrk="1" hangingPunct="1"/>
            <a:r>
              <a:rPr lang="en-US" altLang="ja-JP" smtClean="0"/>
              <a:t>Spec</a:t>
            </a:r>
            <a:r>
              <a:rPr lang="ja-JP" altLang="en-US" smtClean="0"/>
              <a:t>のターゲットハードウェアに相当する部分。</a:t>
            </a:r>
          </a:p>
          <a:p>
            <a:pPr eaLnBrk="1" hangingPunct="1"/>
            <a:endParaRPr lang="ja-JP" altLang="en-US" smtClean="0"/>
          </a:p>
          <a:p>
            <a:pPr eaLnBrk="1" hangingPunct="1"/>
            <a:r>
              <a:rPr lang="ja-JP" altLang="en-US" smtClean="0"/>
              <a:t>写真を載せる。</a:t>
            </a:r>
          </a:p>
          <a:p>
            <a:pPr eaLnBrk="1" hangingPunct="1"/>
            <a:r>
              <a:rPr lang="ja-JP" altLang="en-US" smtClean="0"/>
              <a:t>それぞれ、実機デモがでておりますので、よろしく！</a:t>
            </a:r>
          </a:p>
          <a:p>
            <a:pPr eaLnBrk="1" hangingPunct="1"/>
            <a:r>
              <a:rPr lang="en-US" altLang="ja-JP" smtClean="0"/>
              <a:t>OMAP</a:t>
            </a:r>
            <a:r>
              <a:rPr lang="ja-JP" altLang="en-US" smtClean="0"/>
              <a:t>系</a:t>
            </a:r>
          </a:p>
          <a:p>
            <a:pPr eaLnBrk="1" hangingPunct="1"/>
            <a:r>
              <a:rPr lang="en-US" altLang="ja-JP" smtClean="0"/>
              <a:t>MIPS</a:t>
            </a:r>
            <a:r>
              <a:rPr lang="ja-JP" altLang="en-US" smtClean="0"/>
              <a:t>リファレンスボード</a:t>
            </a:r>
          </a:p>
          <a:p>
            <a:pPr eaLnBrk="1" hangingPunct="1"/>
            <a:r>
              <a:rPr lang="en-US" altLang="ja-JP" smtClean="0"/>
              <a:t>Armadillo</a:t>
            </a:r>
            <a:r>
              <a:rPr lang="ja-JP" altLang="en-US" smtClean="0"/>
              <a:t>シリーズ</a:t>
            </a:r>
          </a:p>
          <a:p>
            <a:pPr eaLnBrk="1" hangingPunct="1"/>
            <a:endParaRPr lang="ja-JP"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Rot="1" noChangeAspect="1" noTextEdit="1"/>
          </p:cNvSpPr>
          <p:nvPr>
            <p:ph type="sldImg"/>
          </p:nvPr>
        </p:nvSpPr>
        <p:spPr bwMode="auto">
          <a:noFill/>
          <a:ln>
            <a:solidFill>
              <a:srgbClr val="000000"/>
            </a:solidFill>
            <a:miter lim="800000"/>
            <a:headEnd/>
            <a:tailEnd/>
          </a:ln>
        </p:spPr>
      </p:sp>
      <p:sp>
        <p:nvSpPr>
          <p:cNvPr id="4710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2</a:t>
            </a:r>
            <a:r>
              <a:rPr lang="ja-JP" altLang="en-US" smtClean="0"/>
              <a:t>分</a:t>
            </a:r>
            <a:r>
              <a:rPr lang="en-US" altLang="ja-JP" smtClean="0"/>
              <a:t>(27</a:t>
            </a:r>
            <a:r>
              <a:rPr lang="ja-JP" altLang="en-US" smtClean="0"/>
              <a:t>分まで</a:t>
            </a:r>
            <a:r>
              <a:rPr lang="en-US" altLang="ja-JP" smtClean="0"/>
              <a:t>)</a:t>
            </a:r>
          </a:p>
          <a:p>
            <a:endParaRPr lang="ja-JP" altLang="en-US" smtClean="0"/>
          </a:p>
          <a:p>
            <a:r>
              <a:rPr lang="ja-JP" altLang="en-US" smtClean="0"/>
              <a:t>簡単に読み上げる。</a:t>
            </a:r>
          </a:p>
          <a:p>
            <a:r>
              <a:rPr lang="en-US" altLang="ja-JP" smtClean="0"/>
              <a:t>STB</a:t>
            </a:r>
            <a:r>
              <a:rPr lang="ja-JP" altLang="en-US" smtClean="0"/>
              <a:t>向け機能が多い、それが次の</a:t>
            </a:r>
            <a:r>
              <a:rPr lang="en-US" altLang="ja-JP" smtClean="0"/>
              <a:t>KDDI</a:t>
            </a:r>
            <a:r>
              <a:rPr lang="ja-JP" altLang="en-US" smtClean="0"/>
              <a:t>さんのプレスリリースへ</a:t>
            </a:r>
          </a:p>
          <a:p>
            <a:endParaRPr lang="ja-JP"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Rot="1" noChangeAspect="1" noTextEdit="1"/>
          </p:cNvSpPr>
          <p:nvPr>
            <p:ph type="sldImg"/>
          </p:nvPr>
        </p:nvSpPr>
        <p:spPr bwMode="auto">
          <a:noFill/>
          <a:ln>
            <a:solidFill>
              <a:srgbClr val="000000"/>
            </a:solidFill>
            <a:miter lim="800000"/>
            <a:headEnd/>
            <a:tailEnd/>
          </a:ln>
        </p:spPr>
      </p:sp>
      <p:sp>
        <p:nvSpPr>
          <p:cNvPr id="4915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2</a:t>
            </a:r>
            <a:r>
              <a:rPr lang="ja-JP" altLang="en-US" smtClean="0"/>
              <a:t>分</a:t>
            </a:r>
            <a:r>
              <a:rPr lang="en-US" altLang="ja-JP" smtClean="0"/>
              <a:t>(29</a:t>
            </a:r>
            <a:r>
              <a:rPr lang="ja-JP" altLang="en-US" smtClean="0"/>
              <a:t>分まで</a:t>
            </a:r>
            <a:r>
              <a:rPr lang="en-US" altLang="ja-JP" smtClean="0"/>
              <a:t>)</a:t>
            </a:r>
          </a:p>
          <a:p>
            <a:pPr eaLnBrk="1" hangingPunct="1"/>
            <a:endParaRPr lang="en-US" altLang="ja-JP" smtClean="0"/>
          </a:p>
          <a:p>
            <a:pPr eaLnBrk="1" hangingPunct="1"/>
            <a:r>
              <a:rPr lang="en-US" altLang="ja-JP" smtClean="0"/>
              <a:t>EM1</a:t>
            </a:r>
            <a:r>
              <a:rPr lang="ja-JP" altLang="en-US" smtClean="0"/>
              <a:t>は、これの先行公開ディストリビューションです。</a:t>
            </a:r>
          </a:p>
          <a:p>
            <a:pPr eaLnBrk="1" hangingPunct="1"/>
            <a:r>
              <a:rPr lang="en-US" altLang="ja-JP" smtClean="0"/>
              <a:t>STB Spec</a:t>
            </a:r>
            <a:r>
              <a:rPr lang="ja-JP" altLang="en-US" smtClean="0"/>
              <a:t>や</a:t>
            </a:r>
            <a:r>
              <a:rPr lang="en-US" altLang="ja-JP" smtClean="0"/>
              <a:t>Cert</a:t>
            </a:r>
            <a:r>
              <a:rPr lang="ja-JP" altLang="en-US" smtClean="0"/>
              <a:t>に完全対応したバージョンが、</a:t>
            </a:r>
            <a:r>
              <a:rPr lang="en-US" altLang="ja-JP" smtClean="0"/>
              <a:t>EM2,3</a:t>
            </a:r>
            <a:r>
              <a:rPr lang="ja-JP" altLang="en-US" smtClean="0"/>
              <a:t>として出てきます。</a:t>
            </a:r>
          </a:p>
          <a:p>
            <a:pPr eaLnBrk="1" hangingPunct="1"/>
            <a:r>
              <a:rPr lang="ja-JP" altLang="en-US" smtClean="0"/>
              <a:t>しばらく、お待ちいただければと思います。</a:t>
            </a:r>
          </a:p>
          <a:p>
            <a:pPr eaLnBrk="1" hangingPunct="1"/>
            <a:endParaRPr lang="ja-JP" altLang="en-US" smtClean="0"/>
          </a:p>
          <a:p>
            <a:pPr eaLnBrk="1" hangingPunct="1"/>
            <a:r>
              <a:rPr lang="ja-JP" altLang="en-US" smtClean="0"/>
              <a:t>これがまさに、</a:t>
            </a:r>
            <a:r>
              <a:rPr lang="en-US" altLang="ja-JP" smtClean="0"/>
              <a:t>ECO System</a:t>
            </a:r>
            <a:r>
              <a:rPr lang="ja-JP" altLang="en-US" smtClean="0"/>
              <a:t>の第一歩。</a:t>
            </a:r>
          </a:p>
          <a:p>
            <a:pPr eaLnBrk="1" hangingPunct="1"/>
            <a:endParaRPr lang="ja-JP"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Rot="1" noChangeAspect="1" noTextEdit="1"/>
          </p:cNvSpPr>
          <p:nvPr>
            <p:ph type="sldImg"/>
          </p:nvPr>
        </p:nvSpPr>
        <p:spPr bwMode="auto">
          <a:noFill/>
          <a:ln>
            <a:solidFill>
              <a:srgbClr val="000000"/>
            </a:solidFill>
            <a:miter lim="800000"/>
            <a:headEnd/>
            <a:tailEnd/>
          </a:ln>
        </p:spPr>
      </p:sp>
      <p:sp>
        <p:nvSpPr>
          <p:cNvPr id="89090"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ja-JP" smtClean="0"/>
              <a:t>5</a:t>
            </a:r>
            <a:r>
              <a:rPr lang="ja-JP" altLang="en-US" smtClean="0"/>
              <a:t>分</a:t>
            </a:r>
            <a:r>
              <a:rPr lang="en-US" altLang="ja-JP" smtClean="0"/>
              <a:t>(34</a:t>
            </a:r>
            <a:r>
              <a:rPr lang="ja-JP" altLang="en-US" smtClean="0"/>
              <a:t>分まで</a:t>
            </a:r>
            <a:r>
              <a:rPr lang="en-US" altLang="ja-JP" smtClean="0"/>
              <a:t>)</a:t>
            </a:r>
          </a:p>
          <a:p>
            <a:pPr eaLnBrk="1" hangingPunct="1"/>
            <a:endParaRPr lang="en-US" altLang="ja-JP" smtClean="0"/>
          </a:p>
          <a:p>
            <a:pPr eaLnBrk="1" hangingPunct="1"/>
            <a:r>
              <a:rPr lang="en-US" altLang="ja-JP" smtClean="0"/>
              <a:t>EM1</a:t>
            </a:r>
            <a:r>
              <a:rPr lang="ja-JP" altLang="en-US" smtClean="0"/>
              <a:t>は、最初の</a:t>
            </a:r>
            <a:r>
              <a:rPr lang="en-US" altLang="ja-JP" smtClean="0"/>
              <a:t>Release</a:t>
            </a:r>
            <a:r>
              <a:rPr lang="ja-JP" altLang="en-US" smtClean="0"/>
              <a:t>と言うことで、これから出てくる</a:t>
            </a:r>
            <a:r>
              <a:rPr lang="en-US" altLang="ja-JP" smtClean="0"/>
              <a:t>EM</a:t>
            </a:r>
            <a:r>
              <a:rPr lang="ja-JP" altLang="en-US" smtClean="0"/>
              <a:t>シリーズの概要を把握するための</a:t>
            </a:r>
          </a:p>
          <a:p>
            <a:pPr eaLnBrk="1" hangingPunct="1"/>
            <a:r>
              <a:rPr lang="en-US" altLang="ja-JP" smtClean="0"/>
              <a:t>Edition</a:t>
            </a:r>
            <a:r>
              <a:rPr lang="ja-JP" altLang="en-US" smtClean="0"/>
              <a:t>です。</a:t>
            </a:r>
          </a:p>
          <a:p>
            <a:pPr eaLnBrk="1" hangingPunct="1"/>
            <a:endParaRPr lang="ja-JP" altLang="en-US" smtClean="0"/>
          </a:p>
          <a:p>
            <a:pPr eaLnBrk="1" hangingPunct="1"/>
            <a:r>
              <a:rPr lang="en-US" altLang="ja-JP" smtClean="0"/>
              <a:t>EM2</a:t>
            </a:r>
            <a:r>
              <a:rPr lang="ja-JP" altLang="en-US" smtClean="0"/>
              <a:t>は、</a:t>
            </a:r>
            <a:r>
              <a:rPr lang="en-US" altLang="ja-JP" smtClean="0"/>
              <a:t>System Core WG</a:t>
            </a:r>
            <a:r>
              <a:rPr lang="ja-JP" altLang="en-US" smtClean="0"/>
              <a:t>を中心として、開発のためのツール類が揃う</a:t>
            </a:r>
            <a:r>
              <a:rPr lang="en-US" altLang="ja-JP" smtClean="0"/>
              <a:t>EM</a:t>
            </a:r>
            <a:r>
              <a:rPr lang="ja-JP" altLang="en-US" smtClean="0"/>
              <a:t>です。</a:t>
            </a:r>
          </a:p>
          <a:p>
            <a:pPr eaLnBrk="1" hangingPunct="1"/>
            <a:r>
              <a:rPr lang="en-US" altLang="ja-JP" smtClean="0"/>
              <a:t>SDK</a:t>
            </a:r>
            <a:r>
              <a:rPr lang="ja-JP" altLang="en-US" smtClean="0"/>
              <a:t>開発ツールの話。</a:t>
            </a:r>
          </a:p>
          <a:p>
            <a:pPr eaLnBrk="1" hangingPunct="1"/>
            <a:endParaRPr lang="ja-JP" altLang="en-US" smtClean="0"/>
          </a:p>
          <a:p>
            <a:pPr eaLnBrk="1" hangingPunct="1"/>
            <a:r>
              <a:rPr lang="en-US" altLang="ja-JP" smtClean="0"/>
              <a:t>EM3</a:t>
            </a:r>
            <a:r>
              <a:rPr lang="ja-JP" altLang="en-US" smtClean="0"/>
              <a:t>は、各プロダクトベース</a:t>
            </a:r>
            <a:r>
              <a:rPr lang="en-US" altLang="ja-JP" smtClean="0"/>
              <a:t>WG</a:t>
            </a:r>
            <a:r>
              <a:rPr lang="ja-JP" altLang="en-US" smtClean="0"/>
              <a:t>やテクニカルベース</a:t>
            </a:r>
            <a:r>
              <a:rPr lang="en-US" altLang="ja-JP" smtClean="0"/>
              <a:t>WG</a:t>
            </a:r>
            <a:r>
              <a:rPr lang="ja-JP" altLang="en-US" smtClean="0"/>
              <a:t>などからの最初の</a:t>
            </a:r>
            <a:r>
              <a:rPr lang="en-US" altLang="ja-JP" smtClean="0"/>
              <a:t>Spec</a:t>
            </a:r>
            <a:r>
              <a:rPr lang="ja-JP" altLang="en-US" smtClean="0"/>
              <a:t>を</a:t>
            </a:r>
          </a:p>
          <a:p>
            <a:pPr eaLnBrk="1" hangingPunct="1"/>
            <a:r>
              <a:rPr lang="ja-JP" altLang="en-US" smtClean="0"/>
              <a:t>取り込む</a:t>
            </a:r>
            <a:r>
              <a:rPr lang="en-US" altLang="ja-JP" smtClean="0"/>
              <a:t>Edition</a:t>
            </a:r>
            <a:r>
              <a:rPr lang="ja-JP" altLang="en-US" smtClean="0"/>
              <a:t>となります。</a:t>
            </a:r>
          </a:p>
          <a:p>
            <a:pPr eaLnBrk="1" hangingPunct="1"/>
            <a:r>
              <a:rPr lang="ja-JP" altLang="en-US" smtClean="0"/>
              <a:t>アプリフレームワーク、モジュール、ハードウェアの</a:t>
            </a:r>
            <a:r>
              <a:rPr lang="en-US" altLang="ja-JP" smtClean="0"/>
              <a:t>3</a:t>
            </a:r>
            <a:r>
              <a:rPr lang="ja-JP" altLang="en-US" smtClean="0"/>
              <a:t>点セットである話。</a:t>
            </a:r>
          </a:p>
          <a:p>
            <a:pPr eaLnBrk="1" hangingPunct="1"/>
            <a:endParaRPr lang="ja-JP" altLang="en-US" smtClean="0"/>
          </a:p>
          <a:p>
            <a:pPr eaLnBrk="1" hangingPunct="1"/>
            <a:r>
              <a:rPr lang="en-US" altLang="ja-JP" smtClean="0"/>
              <a:t>EM4</a:t>
            </a:r>
            <a:r>
              <a:rPr lang="ja-JP" altLang="en-US" smtClean="0"/>
              <a:t>は、</a:t>
            </a:r>
            <a:r>
              <a:rPr lang="en-US" altLang="ja-JP" smtClean="0"/>
              <a:t>EM3</a:t>
            </a:r>
            <a:r>
              <a:rPr lang="ja-JP" altLang="en-US" smtClean="0"/>
              <a:t>の</a:t>
            </a:r>
            <a:r>
              <a:rPr lang="en-US" altLang="ja-JP" smtClean="0"/>
              <a:t>Spec</a:t>
            </a:r>
            <a:r>
              <a:rPr lang="ja-JP" altLang="en-US" smtClean="0"/>
              <a:t>を元に</a:t>
            </a:r>
            <a:r>
              <a:rPr lang="en-US" altLang="ja-JP" smtClean="0"/>
              <a:t>Cert</a:t>
            </a:r>
            <a:r>
              <a:rPr lang="ja-JP" altLang="en-US" smtClean="0"/>
              <a:t>や</a:t>
            </a:r>
            <a:r>
              <a:rPr lang="en-US" altLang="ja-JP" smtClean="0"/>
              <a:t>Prof</a:t>
            </a:r>
            <a:r>
              <a:rPr lang="ja-JP" altLang="en-US" smtClean="0"/>
              <a:t>への展開をする</a:t>
            </a:r>
            <a:r>
              <a:rPr lang="en-US" altLang="ja-JP" smtClean="0"/>
              <a:t>Edition</a:t>
            </a:r>
            <a:r>
              <a:rPr lang="ja-JP" altLang="en-US" smtClean="0"/>
              <a:t>です。</a:t>
            </a:r>
          </a:p>
          <a:p>
            <a:pPr eaLnBrk="1" hangingPunct="1"/>
            <a:r>
              <a:rPr lang="en-US" altLang="ja-JP" smtClean="0"/>
              <a:t>Market Place</a:t>
            </a:r>
            <a:r>
              <a:rPr lang="ja-JP" altLang="en-US" smtClean="0"/>
              <a:t>が完成してくる。三浦も言っていたが、</a:t>
            </a:r>
            <a:r>
              <a:rPr lang="en-US" altLang="ja-JP" smtClean="0"/>
              <a:t>OESF</a:t>
            </a:r>
            <a:r>
              <a:rPr lang="ja-JP" altLang="en-US" smtClean="0"/>
              <a:t>が</a:t>
            </a:r>
            <a:r>
              <a:rPr lang="en-US" altLang="ja-JP" smtClean="0"/>
              <a:t>Market</a:t>
            </a:r>
            <a:r>
              <a:rPr lang="ja-JP" altLang="en-US" smtClean="0"/>
              <a:t>をやるのではない。</a:t>
            </a:r>
          </a:p>
          <a:p>
            <a:pPr eaLnBrk="1" hangingPunct="1"/>
            <a:r>
              <a:rPr lang="ja-JP" altLang="en-US" smtClean="0"/>
              <a:t>ここで、商流が変化して、</a:t>
            </a:r>
            <a:r>
              <a:rPr lang="en-US" altLang="ja-JP" smtClean="0"/>
              <a:t>ECO System</a:t>
            </a:r>
            <a:r>
              <a:rPr lang="ja-JP" altLang="en-US" smtClean="0"/>
              <a:t>が産まれる。</a:t>
            </a:r>
          </a:p>
          <a:p>
            <a:pPr eaLnBrk="1" hangingPunct="1"/>
            <a:r>
              <a:rPr lang="ja-JP" altLang="en-US" smtClean="0"/>
              <a:t>先ほども言ったが、</a:t>
            </a:r>
            <a:r>
              <a:rPr lang="en-US" altLang="ja-JP" smtClean="0"/>
              <a:t>EM3</a:t>
            </a:r>
            <a:r>
              <a:rPr lang="ja-JP" altLang="en-US" smtClean="0"/>
              <a:t>までに乗っていないと美味しいところはない。</a:t>
            </a:r>
          </a:p>
          <a:p>
            <a:pPr eaLnBrk="1" hangingPunct="1"/>
            <a:endParaRPr lang="ja-JP"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スライド イメージ プレースホルダ 1"/>
          <p:cNvSpPr>
            <a:spLocks noGrp="1" noRot="1" noChangeAspect="1" noTextEdit="1"/>
          </p:cNvSpPr>
          <p:nvPr>
            <p:ph type="sldImg"/>
          </p:nvPr>
        </p:nvSpPr>
        <p:spPr bwMode="auto">
          <a:noFill/>
          <a:ln>
            <a:solidFill>
              <a:srgbClr val="000000"/>
            </a:solidFill>
            <a:miter lim="800000"/>
            <a:headEnd/>
            <a:tailEnd/>
          </a:ln>
        </p:spPr>
      </p:sp>
      <p:sp>
        <p:nvSpPr>
          <p:cNvPr id="91138"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ja-JP" altLang="en-US" smtClean="0"/>
          </a:p>
        </p:txBody>
      </p:sp>
      <p:sp>
        <p:nvSpPr>
          <p:cNvPr id="44035" name="スライド番号プレースホルダ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80726D4-7266-489F-973D-5866B20DE420}" type="slidenum">
              <a:rPr lang="ja-JP" altLang="en-US"/>
              <a:pPr fontAlgn="base">
                <a:spcBef>
                  <a:spcPct val="0"/>
                </a:spcBef>
                <a:spcAft>
                  <a:spcPct val="0"/>
                </a:spcAft>
                <a:defRPr/>
              </a:pPr>
              <a:t>19</a:t>
            </a:fld>
            <a:endParaRPr lang="en-US" altLang="ja-J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7"/>
            <a:ext cx="7772400" cy="1470025"/>
          </a:xfrm>
        </p:spPr>
        <p:txBody>
          <a:bodyPr/>
          <a:lstStyle>
            <a:lvl1pPr>
              <a:defRPr>
                <a:solidFill>
                  <a:schemeClr val="accent3">
                    <a:lumMod val="60000"/>
                    <a:lumOff val="40000"/>
                  </a:schemeClr>
                </a:solidFill>
              </a:defRPr>
            </a:lvl1pPr>
          </a:lstStyle>
          <a:p>
            <a:r>
              <a:rPr lang="ja-JP" altLang="en-US" dirty="0" smtClean="0"/>
              <a:t>マスタ タイトルの書式設定</a:t>
            </a:r>
            <a:endParaRPr lang="ja-JP" altLang="en-US" dirty="0"/>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dirty="0" smtClean="0"/>
              <a:t>マスタ サブタイトルの書式設定</a:t>
            </a:r>
            <a:endParaRPr lang="ja-JP" altLang="en-US" dirty="0"/>
          </a:p>
        </p:txBody>
      </p:sp>
      <p:sp>
        <p:nvSpPr>
          <p:cNvPr id="4"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5" name="スライド番号プレースホルダ 5"/>
          <p:cNvSpPr>
            <a:spLocks noGrp="1"/>
          </p:cNvSpPr>
          <p:nvPr>
            <p:ph type="sldNum" sz="quarter" idx="11"/>
          </p:nvPr>
        </p:nvSpPr>
        <p:spPr/>
        <p:txBody>
          <a:bodyPr/>
          <a:lstStyle>
            <a:lvl1pPr>
              <a:defRPr/>
            </a:lvl1pPr>
          </a:lstStyle>
          <a:p>
            <a:pPr>
              <a:defRPr/>
            </a:pPr>
            <a:fld id="{67E874DE-C188-4216-8D37-49A4EA12BCA6}" type="slidenum">
              <a:rPr lang="ja-JP" altLang="en-US"/>
              <a:pPr>
                <a:defRPr/>
              </a:pPr>
              <a:t>&lt;#&gt;</a:t>
            </a:fld>
            <a:endParaRPr lang="ja-JP"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5" name="スライド番号プレースホルダ 5"/>
          <p:cNvSpPr>
            <a:spLocks noGrp="1"/>
          </p:cNvSpPr>
          <p:nvPr>
            <p:ph type="sldNum" sz="quarter" idx="11"/>
          </p:nvPr>
        </p:nvSpPr>
        <p:spPr/>
        <p:txBody>
          <a:bodyPr/>
          <a:lstStyle>
            <a:lvl1pPr>
              <a:defRPr/>
            </a:lvl1pPr>
          </a:lstStyle>
          <a:p>
            <a:pPr>
              <a:defRPr/>
            </a:pPr>
            <a:fld id="{9D11F6F7-6093-4C40-B5E0-3A03EF78269D}" type="slidenum">
              <a:rPr lang="ja-JP" altLang="en-US"/>
              <a:pPr>
                <a:defRPr/>
              </a:pPr>
              <a:t>&lt;#&gt;</a:t>
            </a:fld>
            <a:endParaRPr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22313" y="2906715"/>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 テキストの書式設定</a:t>
            </a:r>
          </a:p>
        </p:txBody>
      </p:sp>
      <p:sp>
        <p:nvSpPr>
          <p:cNvPr id="4"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5" name="スライド番号プレースホルダ 5"/>
          <p:cNvSpPr>
            <a:spLocks noGrp="1"/>
          </p:cNvSpPr>
          <p:nvPr>
            <p:ph type="sldNum" sz="quarter" idx="11"/>
          </p:nvPr>
        </p:nvSpPr>
        <p:spPr/>
        <p:txBody>
          <a:bodyPr/>
          <a:lstStyle>
            <a:lvl1pPr>
              <a:defRPr/>
            </a:lvl1pPr>
          </a:lstStyle>
          <a:p>
            <a:pPr>
              <a:defRPr/>
            </a:pPr>
            <a:fld id="{93742F30-45FB-4F18-9601-74D11E6F8180}" type="slidenum">
              <a:rPr lang="ja-JP" altLang="en-US"/>
              <a:pPr>
                <a:defRPr/>
              </a:pPr>
              <a:t>&lt;#&gt;</a:t>
            </a:fld>
            <a:endParaRPr lang="ja-JP"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6" name="スライド番号プレースホルダ 5"/>
          <p:cNvSpPr>
            <a:spLocks noGrp="1"/>
          </p:cNvSpPr>
          <p:nvPr>
            <p:ph type="sldNum" sz="quarter" idx="11"/>
          </p:nvPr>
        </p:nvSpPr>
        <p:spPr/>
        <p:txBody>
          <a:bodyPr/>
          <a:lstStyle>
            <a:lvl1pPr>
              <a:defRPr/>
            </a:lvl1pPr>
          </a:lstStyle>
          <a:p>
            <a:pPr>
              <a:defRPr/>
            </a:pPr>
            <a:fld id="{8B96D223-1E79-45BC-840D-290B50DE9B8A}" type="slidenum">
              <a:rPr lang="ja-JP" altLang="en-US"/>
              <a:pPr>
                <a:defRPr/>
              </a:pPr>
              <a:t>&lt;#&gt;</a:t>
            </a:fld>
            <a:endParaRPr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2"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4" name="コンテンツ プレースホルダ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6" name="コンテンツ プレースホルダ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8" name="スライド番号プレースホルダ 5"/>
          <p:cNvSpPr>
            <a:spLocks noGrp="1"/>
          </p:cNvSpPr>
          <p:nvPr>
            <p:ph type="sldNum" sz="quarter" idx="11"/>
          </p:nvPr>
        </p:nvSpPr>
        <p:spPr/>
        <p:txBody>
          <a:bodyPr/>
          <a:lstStyle>
            <a:lvl1pPr>
              <a:defRPr/>
            </a:lvl1pPr>
          </a:lstStyle>
          <a:p>
            <a:pPr>
              <a:defRPr/>
            </a:pPr>
            <a:fld id="{43434AA0-D2AB-43B4-838F-E87370B5CA68}" type="slidenum">
              <a:rPr lang="ja-JP" altLang="en-US"/>
              <a:pPr>
                <a:defRPr/>
              </a:pPr>
              <a:t>&lt;#&gt;</a:t>
            </a:fld>
            <a:endParaRPr lang="ja-JP"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4" name="スライド番号プレースホルダ 5"/>
          <p:cNvSpPr>
            <a:spLocks noGrp="1"/>
          </p:cNvSpPr>
          <p:nvPr>
            <p:ph type="sldNum" sz="quarter" idx="11"/>
          </p:nvPr>
        </p:nvSpPr>
        <p:spPr/>
        <p:txBody>
          <a:bodyPr/>
          <a:lstStyle>
            <a:lvl1pPr>
              <a:defRPr/>
            </a:lvl1pPr>
          </a:lstStyle>
          <a:p>
            <a:pPr>
              <a:defRPr/>
            </a:pPr>
            <a:fld id="{E5DBAD1C-DA9E-4D11-8E9F-28FF804A013E}" type="slidenum">
              <a:rPr lang="ja-JP" altLang="en-US"/>
              <a:pPr>
                <a:defRPr/>
              </a:pPr>
              <a:t>&lt;#&gt;</a:t>
            </a:fld>
            <a:endParaRPr lang="ja-JP"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3" name="スライド番号プレースホルダ 5"/>
          <p:cNvSpPr>
            <a:spLocks noGrp="1"/>
          </p:cNvSpPr>
          <p:nvPr>
            <p:ph type="sldNum" sz="quarter" idx="11"/>
          </p:nvPr>
        </p:nvSpPr>
        <p:spPr/>
        <p:txBody>
          <a:bodyPr/>
          <a:lstStyle>
            <a:lvl1pPr>
              <a:defRPr/>
            </a:lvl1pPr>
          </a:lstStyle>
          <a:p>
            <a:pPr>
              <a:defRPr/>
            </a:pPr>
            <a:fld id="{956F1ED7-E8C3-4F64-81C0-B74922642E4F}" type="slidenum">
              <a:rPr lang="ja-JP" altLang="en-US"/>
              <a:pPr>
                <a:defRPr/>
              </a:pPr>
              <a:t>&lt;#&gt;</a:t>
            </a:fld>
            <a:endParaRPr lang="ja-JP"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8" y="1285861"/>
            <a:ext cx="3008313" cy="1143008"/>
          </a:xfrm>
        </p:spPr>
        <p:txBody>
          <a:bodyPr anchor="b"/>
          <a:lstStyle>
            <a:lvl1pPr algn="l">
              <a:defRPr sz="2000" b="1"/>
            </a:lvl1pPr>
          </a:lstStyle>
          <a:p>
            <a:r>
              <a:rPr lang="ja-JP" altLang="en-US" smtClean="0"/>
              <a:t>マスタ タイトルの書式設定</a:t>
            </a:r>
            <a:endParaRPr lang="ja-JP" altLang="en-US" dirty="0"/>
          </a:p>
        </p:txBody>
      </p:sp>
      <p:sp>
        <p:nvSpPr>
          <p:cNvPr id="3" name="コンテンツ プレースホルダ 2"/>
          <p:cNvSpPr>
            <a:spLocks noGrp="1"/>
          </p:cNvSpPr>
          <p:nvPr>
            <p:ph idx="1"/>
          </p:nvPr>
        </p:nvSpPr>
        <p:spPr>
          <a:xfrm>
            <a:off x="3575051" y="1285862"/>
            <a:ext cx="5111751" cy="484030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dirty="0"/>
          </a:p>
        </p:txBody>
      </p:sp>
      <p:sp>
        <p:nvSpPr>
          <p:cNvPr id="4" name="テキスト プレースホルダ 3"/>
          <p:cNvSpPr>
            <a:spLocks noGrp="1"/>
          </p:cNvSpPr>
          <p:nvPr>
            <p:ph type="body" sz="half" idx="2"/>
          </p:nvPr>
        </p:nvSpPr>
        <p:spPr>
          <a:xfrm>
            <a:off x="457202" y="2571746"/>
            <a:ext cx="3008313" cy="3554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3"/>
          <p:cNvSpPr>
            <a:spLocks noGrp="1"/>
          </p:cNvSpPr>
          <p:nvPr>
            <p:ph type="dt" sz="half" idx="10"/>
          </p:nvPr>
        </p:nvSpPr>
        <p:spPr>
          <a:xfrm>
            <a:off x="457200" y="6356350"/>
            <a:ext cx="2133600" cy="365125"/>
          </a:xfrm>
          <a:prstGeom prst="rect">
            <a:avLst/>
          </a:prstGeom>
        </p:spPr>
        <p:txBody>
          <a:bodyPr/>
          <a:lstStyle>
            <a:lvl1pPr algn="l" fontAlgn="auto">
              <a:spcBef>
                <a:spcPts val="0"/>
              </a:spcBef>
              <a:spcAft>
                <a:spcPts val="0"/>
              </a:spcAft>
              <a:buFontTx/>
              <a:buNone/>
              <a:defRPr>
                <a:latin typeface="+mn-lt"/>
                <a:ea typeface="+mn-ea"/>
              </a:defRPr>
            </a:lvl1pPr>
          </a:lstStyle>
          <a:p>
            <a:pPr>
              <a:defRPr/>
            </a:pPr>
            <a:fld id="{D972E49D-822F-4E9A-B729-B53A0F5C6D0C}" type="datetimeFigureOut">
              <a:rPr lang="ja-JP" altLang="en-US"/>
              <a:pPr>
                <a:defRPr/>
              </a:pPr>
              <a:t>2009/11/20</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r>
              <a:rPr lang="en-US" altLang="ja-JP"/>
              <a:t>Copyright 2009 Open  Embedded Software Foundation</a:t>
            </a: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2FE9A7B6-2A09-4801-953F-1A2A06C43066}" type="slidenum">
              <a:rPr lang="ja-JP" altLang="en-US"/>
              <a:pPr>
                <a:defRPr/>
              </a:pPr>
              <a:t>&lt;#&gt;</a:t>
            </a:fld>
            <a:endParaRPr lang="ja-JP"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1"/>
            <a:ext cx="5486400" cy="566738"/>
          </a:xfrm>
        </p:spPr>
        <p:txBody>
          <a:bodyPr anchor="b"/>
          <a:lstStyle>
            <a:lvl1pPr algn="l">
              <a:defRPr sz="2000" b="1"/>
            </a:lvl1pPr>
          </a:lstStyle>
          <a:p>
            <a:r>
              <a:rPr lang="ja-JP" altLang="en-US" smtClean="0"/>
              <a:t>マスタ タイトルの書式設定</a:t>
            </a:r>
            <a:endParaRPr lang="ja-JP" altLang="en-US"/>
          </a:p>
        </p:txBody>
      </p:sp>
      <p:sp>
        <p:nvSpPr>
          <p:cNvPr id="3" name="図プレースホルダ 2"/>
          <p:cNvSpPr>
            <a:spLocks noGrp="1"/>
          </p:cNvSpPr>
          <p:nvPr>
            <p:ph type="pic" idx="1"/>
          </p:nvPr>
        </p:nvSpPr>
        <p:spPr>
          <a:xfrm>
            <a:off x="1792288" y="1428737"/>
            <a:ext cx="5486400" cy="329883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smtClean="0"/>
              <a:t>アイコンをクリックして図を追加</a:t>
            </a:r>
            <a:endParaRPr lang="ja-JP" altLang="en-US" noProof="0"/>
          </a:p>
        </p:txBody>
      </p:sp>
      <p:sp>
        <p:nvSpPr>
          <p:cNvPr id="4" name="テキスト プレースホルダ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6" name="スライド番号プレースホルダ 5"/>
          <p:cNvSpPr>
            <a:spLocks noGrp="1"/>
          </p:cNvSpPr>
          <p:nvPr>
            <p:ph type="sldNum" sz="quarter" idx="11"/>
          </p:nvPr>
        </p:nvSpPr>
        <p:spPr/>
        <p:txBody>
          <a:bodyPr/>
          <a:lstStyle>
            <a:lvl1pPr>
              <a:defRPr/>
            </a:lvl1pPr>
          </a:lstStyle>
          <a:p>
            <a:pPr>
              <a:defRPr/>
            </a:pPr>
            <a:fld id="{31AD4016-BB8D-4380-9B8A-DB20DB03EE1D}" type="slidenum">
              <a:rPr lang="ja-JP" altLang="en-US"/>
              <a:pPr>
                <a:defRPr/>
              </a:pPr>
              <a:t>&lt;#&gt;</a:t>
            </a:fld>
            <a:endParaRPr lang="ja-JP"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5" name="スライド番号プレースホルダ 5"/>
          <p:cNvSpPr>
            <a:spLocks noGrp="1"/>
          </p:cNvSpPr>
          <p:nvPr>
            <p:ph type="sldNum" sz="quarter" idx="11"/>
          </p:nvPr>
        </p:nvSpPr>
        <p:spPr/>
        <p:txBody>
          <a:bodyPr/>
          <a:lstStyle>
            <a:lvl1pPr>
              <a:defRPr/>
            </a:lvl1pPr>
          </a:lstStyle>
          <a:p>
            <a:pPr>
              <a:defRPr/>
            </a:pPr>
            <a:fld id="{FC091FFF-88AC-4F59-95FB-C618AB87BB3A}" type="slidenum">
              <a:rPr lang="ja-JP" altLang="en-US"/>
              <a:pPr>
                <a:defRPr/>
              </a:pPr>
              <a:t>&lt;#&gt;</a:t>
            </a:fld>
            <a:endParaRPr lang="ja-JP"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1357300"/>
            <a:ext cx="2057400" cy="4768865"/>
          </a:xfrm>
        </p:spPr>
        <p:txBody>
          <a:bodyPr vert="eaVert"/>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a:xfrm>
            <a:off x="457200" y="1357300"/>
            <a:ext cx="6019800" cy="4768865"/>
          </a:xfrm>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5" name="スライド番号プレースホルダ 5"/>
          <p:cNvSpPr>
            <a:spLocks noGrp="1"/>
          </p:cNvSpPr>
          <p:nvPr>
            <p:ph type="sldNum" sz="quarter" idx="11"/>
          </p:nvPr>
        </p:nvSpPr>
        <p:spPr/>
        <p:txBody>
          <a:bodyPr/>
          <a:lstStyle>
            <a:lvl1pPr>
              <a:defRPr/>
            </a:lvl1pPr>
          </a:lstStyle>
          <a:p>
            <a:pPr>
              <a:defRPr/>
            </a:pPr>
            <a:fld id="{D4554966-6EC7-43F9-B95B-E0CA80E738AD}" type="slidenum">
              <a:rPr lang="ja-JP" altLang="en-US"/>
              <a:pPr>
                <a:defRPr/>
              </a:pPr>
              <a:t>&lt;#&gt;</a:t>
            </a:fld>
            <a:endParaRPr lang="ja-JP"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タイトルとグラフ">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50"/>
          </a:xfrm>
        </p:spPr>
        <p:txBody>
          <a:bodyPr/>
          <a:lstStyle/>
          <a:p>
            <a:r>
              <a:rPr lang="ja-JP" altLang="en-US"/>
              <a:t>マスタ タイトルの書式設定</a:t>
            </a:r>
          </a:p>
        </p:txBody>
      </p:sp>
      <p:sp>
        <p:nvSpPr>
          <p:cNvPr id="3" name="グラフ プレースホルダ 2"/>
          <p:cNvSpPr>
            <a:spLocks noGrp="1"/>
          </p:cNvSpPr>
          <p:nvPr>
            <p:ph type="chart" idx="1"/>
          </p:nvPr>
        </p:nvSpPr>
        <p:spPr>
          <a:xfrm>
            <a:off x="457200" y="1285875"/>
            <a:ext cx="8229600" cy="4840288"/>
          </a:xfrm>
        </p:spPr>
        <p:txBody>
          <a:bodyPr/>
          <a:lstStyle/>
          <a:p>
            <a:pPr lvl="0"/>
            <a:endParaRPr lang="ja-JP" altLang="en-US" noProof="0"/>
          </a:p>
        </p:txBody>
      </p:sp>
      <p:sp>
        <p:nvSpPr>
          <p:cNvPr id="4" name="フッター プレースホルダ 4"/>
          <p:cNvSpPr>
            <a:spLocks noGrp="1"/>
          </p:cNvSpPr>
          <p:nvPr>
            <p:ph type="ftr" sz="quarter" idx="10"/>
          </p:nvPr>
        </p:nvSpPr>
        <p:spPr/>
        <p:txBody>
          <a:bodyPr/>
          <a:lstStyle>
            <a:lvl1pPr>
              <a:defRPr/>
            </a:lvl1pPr>
          </a:lstStyle>
          <a:p>
            <a:pPr>
              <a:defRPr/>
            </a:pPr>
            <a:r>
              <a:rPr lang="en-US" altLang="ja-JP"/>
              <a:t>Copyright 2009 Open  Embedded Software Foundation</a:t>
            </a:r>
            <a:endParaRPr lang="ja-JP" altLang="en-US"/>
          </a:p>
        </p:txBody>
      </p:sp>
      <p:sp>
        <p:nvSpPr>
          <p:cNvPr id="5" name="スライド番号プレースホルダ 5"/>
          <p:cNvSpPr>
            <a:spLocks noGrp="1"/>
          </p:cNvSpPr>
          <p:nvPr>
            <p:ph type="sldNum" sz="quarter" idx="11"/>
          </p:nvPr>
        </p:nvSpPr>
        <p:spPr/>
        <p:txBody>
          <a:bodyPr/>
          <a:lstStyle>
            <a:lvl1pPr>
              <a:defRPr/>
            </a:lvl1pPr>
          </a:lstStyle>
          <a:p>
            <a:pPr>
              <a:defRPr/>
            </a:pPr>
            <a:fld id="{719A5B8F-B05F-4CF1-AAA9-1CC48B7B199D}" type="slidenum">
              <a:rPr lang="ja-JP" altLang="en-US"/>
              <a:pPr>
                <a:defRPr/>
              </a:pPr>
              <a:t>&lt;#&gt;</a:t>
            </a:fld>
            <a:endParaRPr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タイトル プレースホルダ 1"/>
          <p:cNvSpPr>
            <a:spLocks noGrp="1"/>
          </p:cNvSpPr>
          <p:nvPr>
            <p:ph type="title"/>
          </p:nvPr>
        </p:nvSpPr>
        <p:spPr bwMode="auto">
          <a:xfrm>
            <a:off x="457200" y="274638"/>
            <a:ext cx="8229600" cy="6540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smtClean="0"/>
              <a:t>マスタ タイトルの書式設定</a:t>
            </a:r>
          </a:p>
        </p:txBody>
      </p:sp>
      <p:sp>
        <p:nvSpPr>
          <p:cNvPr id="1027" name="テキスト プレースホルダ 2"/>
          <p:cNvSpPr>
            <a:spLocks noGrp="1"/>
          </p:cNvSpPr>
          <p:nvPr>
            <p:ph type="body" idx="1"/>
          </p:nvPr>
        </p:nvSpPr>
        <p:spPr bwMode="auto">
          <a:xfrm>
            <a:off x="457200" y="1285875"/>
            <a:ext cx="8229600" cy="48402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
        <p:nvSpPr>
          <p:cNvPr id="5" name="フッター プレースホルダ 4"/>
          <p:cNvSpPr>
            <a:spLocks noGrp="1"/>
          </p:cNvSpPr>
          <p:nvPr>
            <p:ph type="ftr" sz="quarter" idx="3"/>
          </p:nvPr>
        </p:nvSpPr>
        <p:spPr>
          <a:xfrm>
            <a:off x="1857375" y="6356350"/>
            <a:ext cx="5929313" cy="365125"/>
          </a:xfrm>
          <a:prstGeom prst="rect">
            <a:avLst/>
          </a:prstGeom>
        </p:spPr>
        <p:txBody>
          <a:bodyPr vert="horz" lIns="91440" tIns="45720" rIns="91440" bIns="45720" rtlCol="0" anchor="ctr"/>
          <a:lstStyle>
            <a:lvl1pPr algn="ctr" fontAlgn="auto">
              <a:spcBef>
                <a:spcPts val="0"/>
              </a:spcBef>
              <a:spcAft>
                <a:spcPts val="0"/>
              </a:spcAft>
              <a:buFontTx/>
              <a:buNone/>
              <a:defRPr sz="1600">
                <a:solidFill>
                  <a:schemeClr val="tx1">
                    <a:tint val="75000"/>
                  </a:schemeClr>
                </a:solidFill>
                <a:latin typeface="+mn-lt"/>
                <a:ea typeface="+mn-ea"/>
              </a:defRPr>
            </a:lvl1pPr>
          </a:lstStyle>
          <a:p>
            <a:pPr>
              <a:defRPr/>
            </a:pPr>
            <a:r>
              <a:rPr lang="en-US" altLang="ja-JP"/>
              <a:t>Copyright 2009 Open  Embedded Software Foundation</a:t>
            </a:r>
            <a:endParaRPr lang="ja-JP" altLang="en-US"/>
          </a:p>
        </p:txBody>
      </p:sp>
      <p:sp>
        <p:nvSpPr>
          <p:cNvPr id="6" name="スライド番号プレースホルダ 5"/>
          <p:cNvSpPr>
            <a:spLocks noGrp="1"/>
          </p:cNvSpPr>
          <p:nvPr>
            <p:ph type="sldNum" sz="quarter" idx="4"/>
          </p:nvPr>
        </p:nvSpPr>
        <p:spPr>
          <a:xfrm>
            <a:off x="8001000" y="6356350"/>
            <a:ext cx="685800" cy="365125"/>
          </a:xfrm>
          <a:prstGeom prst="rect">
            <a:avLst/>
          </a:prstGeom>
        </p:spPr>
        <p:txBody>
          <a:bodyPr vert="horz" lIns="91440" tIns="45720" rIns="91440" bIns="45720" rtlCol="0" anchor="ctr"/>
          <a:lstStyle>
            <a:lvl1pPr algn="r" fontAlgn="auto">
              <a:spcBef>
                <a:spcPts val="0"/>
              </a:spcBef>
              <a:spcAft>
                <a:spcPts val="0"/>
              </a:spcAft>
              <a:buFontTx/>
              <a:buNone/>
              <a:defRPr sz="1200">
                <a:solidFill>
                  <a:schemeClr val="tx1">
                    <a:tint val="75000"/>
                  </a:schemeClr>
                </a:solidFill>
                <a:latin typeface="+mn-lt"/>
                <a:ea typeface="+mn-ea"/>
              </a:defRPr>
            </a:lvl1pPr>
          </a:lstStyle>
          <a:p>
            <a:pPr>
              <a:defRPr/>
            </a:pPr>
            <a:fld id="{CD53D7B1-CBAA-40F8-81B9-C3AB7241CF76}" type="slidenum">
              <a:rPr lang="ja-JP" altLang="en-US"/>
              <a:pPr>
                <a:defRPr/>
              </a:pPr>
              <a:t>&lt;#&gt;</a:t>
            </a:fld>
            <a:endParaRPr lang="ja-JP" altLang="en-US" dirty="0"/>
          </a:p>
        </p:txBody>
      </p:sp>
      <p:pic>
        <p:nvPicPr>
          <p:cNvPr id="1030" name="Picture 2" descr="C:\Users\miura\Open Embedded Software Foundation\Logo\oesf-1.gif"/>
          <p:cNvPicPr>
            <a:picLocks noChangeAspect="1" noChangeArrowheads="1"/>
          </p:cNvPicPr>
          <p:nvPr/>
        </p:nvPicPr>
        <p:blipFill>
          <a:blip r:embed="rId14"/>
          <a:srcRect/>
          <a:stretch>
            <a:fillRect/>
          </a:stretch>
        </p:blipFill>
        <p:spPr bwMode="auto">
          <a:xfrm>
            <a:off x="142875" y="6215063"/>
            <a:ext cx="1585913" cy="552450"/>
          </a:xfrm>
          <a:prstGeom prst="rect">
            <a:avLst/>
          </a:prstGeom>
          <a:noFill/>
          <a:ln w="9525">
            <a:noFill/>
            <a:miter lim="800000"/>
            <a:headEnd/>
            <a:tailEnd/>
          </a:ln>
        </p:spPr>
      </p:pic>
      <p:pic>
        <p:nvPicPr>
          <p:cNvPr id="1031" name="Picture 7"/>
          <p:cNvPicPr>
            <a:picLocks noChangeAspect="1" noChangeArrowheads="1"/>
          </p:cNvPicPr>
          <p:nvPr/>
        </p:nvPicPr>
        <p:blipFill>
          <a:blip r:embed="rId15"/>
          <a:srcRect/>
          <a:stretch>
            <a:fillRect/>
          </a:stretch>
        </p:blipFill>
        <p:spPr bwMode="auto">
          <a:xfrm>
            <a:off x="0" y="0"/>
            <a:ext cx="9144000" cy="12144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3"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rtl="0" eaLnBrk="0" fontAlgn="base" hangingPunct="0">
        <a:spcBef>
          <a:spcPct val="0"/>
        </a:spcBef>
        <a:spcAft>
          <a:spcPct val="0"/>
        </a:spcAft>
        <a:defRPr kumimoji="1" sz="4400" kern="1200">
          <a:solidFill>
            <a:schemeClr val="bg1"/>
          </a:solidFill>
          <a:latin typeface="+mj-lt"/>
          <a:ea typeface="+mj-ea"/>
          <a:cs typeface="+mj-cs"/>
        </a:defRPr>
      </a:lvl1pPr>
      <a:lvl2pPr algn="ctr" rtl="0" eaLnBrk="0" fontAlgn="base" hangingPunct="0">
        <a:spcBef>
          <a:spcPct val="0"/>
        </a:spcBef>
        <a:spcAft>
          <a:spcPct val="0"/>
        </a:spcAft>
        <a:defRPr kumimoji="1" sz="4400">
          <a:solidFill>
            <a:schemeClr val="bg1"/>
          </a:solidFill>
          <a:latin typeface="Calibri" pitchFamily="34" charset="0"/>
          <a:ea typeface="ＭＳ Ｐゴシック" charset="-128"/>
        </a:defRPr>
      </a:lvl2pPr>
      <a:lvl3pPr algn="ctr" rtl="0" eaLnBrk="0" fontAlgn="base" hangingPunct="0">
        <a:spcBef>
          <a:spcPct val="0"/>
        </a:spcBef>
        <a:spcAft>
          <a:spcPct val="0"/>
        </a:spcAft>
        <a:defRPr kumimoji="1" sz="4400">
          <a:solidFill>
            <a:schemeClr val="bg1"/>
          </a:solidFill>
          <a:latin typeface="Calibri" pitchFamily="34" charset="0"/>
          <a:ea typeface="ＭＳ Ｐゴシック" charset="-128"/>
        </a:defRPr>
      </a:lvl3pPr>
      <a:lvl4pPr algn="ctr" rtl="0" eaLnBrk="0" fontAlgn="base" hangingPunct="0">
        <a:spcBef>
          <a:spcPct val="0"/>
        </a:spcBef>
        <a:spcAft>
          <a:spcPct val="0"/>
        </a:spcAft>
        <a:defRPr kumimoji="1" sz="4400">
          <a:solidFill>
            <a:schemeClr val="bg1"/>
          </a:solidFill>
          <a:latin typeface="Calibri" pitchFamily="34" charset="0"/>
          <a:ea typeface="ＭＳ Ｐゴシック" charset="-128"/>
        </a:defRPr>
      </a:lvl4pPr>
      <a:lvl5pPr algn="ctr" rtl="0" eaLnBrk="0" fontAlgn="base" hangingPunct="0">
        <a:spcBef>
          <a:spcPct val="0"/>
        </a:spcBef>
        <a:spcAft>
          <a:spcPct val="0"/>
        </a:spcAft>
        <a:defRPr kumimoji="1" sz="4400">
          <a:solidFill>
            <a:schemeClr val="bg1"/>
          </a:solidFill>
          <a:latin typeface="Calibri" pitchFamily="34" charset="0"/>
          <a:ea typeface="ＭＳ Ｐゴシック"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タイトル 1"/>
          <p:cNvSpPr>
            <a:spLocks noGrp="1"/>
          </p:cNvSpPr>
          <p:nvPr>
            <p:ph type="ctrTitle"/>
          </p:nvPr>
        </p:nvSpPr>
        <p:spPr>
          <a:xfrm>
            <a:off x="500063" y="1785938"/>
            <a:ext cx="8358187" cy="2112962"/>
          </a:xfrm>
        </p:spPr>
        <p:txBody>
          <a:bodyPr/>
          <a:lstStyle/>
          <a:p>
            <a:pPr eaLnBrk="1" hangingPunct="1"/>
            <a:r>
              <a:rPr lang="en-US" altLang="ja-JP" sz="6000" b="1" smtClean="0">
                <a:solidFill>
                  <a:srgbClr val="00B050"/>
                </a:solidFill>
              </a:rPr>
              <a:t>Distribution WG</a:t>
            </a:r>
            <a:br>
              <a:rPr lang="en-US" altLang="ja-JP" sz="6000" b="1" smtClean="0">
                <a:solidFill>
                  <a:srgbClr val="00B050"/>
                </a:solidFill>
              </a:rPr>
            </a:br>
            <a:r>
              <a:rPr lang="ja-JP" altLang="en-US" sz="6000" b="1" smtClean="0">
                <a:solidFill>
                  <a:srgbClr val="00B050"/>
                </a:solidFill>
              </a:rPr>
              <a:t>活動報告</a:t>
            </a:r>
            <a:br>
              <a:rPr lang="ja-JP" altLang="en-US" sz="6000" b="1" smtClean="0">
                <a:solidFill>
                  <a:srgbClr val="00B050"/>
                </a:solidFill>
              </a:rPr>
            </a:br>
            <a:r>
              <a:rPr lang="ja-JP" altLang="en-US" sz="6000" b="1" smtClean="0">
                <a:solidFill>
                  <a:srgbClr val="00B050"/>
                </a:solidFill>
              </a:rPr>
              <a:t>～</a:t>
            </a:r>
            <a:r>
              <a:rPr lang="en-US" altLang="ja-JP" b="1" smtClean="0">
                <a:solidFill>
                  <a:srgbClr val="00B050"/>
                </a:solidFill>
              </a:rPr>
              <a:t>EM1</a:t>
            </a:r>
            <a:r>
              <a:rPr lang="ja-JP" altLang="en-US" b="1" smtClean="0">
                <a:solidFill>
                  <a:srgbClr val="00B050"/>
                </a:solidFill>
              </a:rPr>
              <a:t>とロードマップ</a:t>
            </a:r>
            <a:r>
              <a:rPr lang="ja-JP" altLang="en-US" sz="6000" b="1" smtClean="0">
                <a:solidFill>
                  <a:srgbClr val="00B050"/>
                </a:solidFill>
              </a:rPr>
              <a:t>～</a:t>
            </a:r>
            <a:endParaRPr lang="ja-JP" altLang="en-US" sz="6000" smtClean="0">
              <a:solidFill>
                <a:srgbClr val="00FF00"/>
              </a:solidFill>
            </a:endParaRPr>
          </a:p>
        </p:txBody>
      </p:sp>
      <p:sp>
        <p:nvSpPr>
          <p:cNvPr id="15362" name="サブタイトル 2"/>
          <p:cNvSpPr>
            <a:spLocks noGrp="1"/>
          </p:cNvSpPr>
          <p:nvPr>
            <p:ph type="subTitle" idx="1"/>
          </p:nvPr>
        </p:nvSpPr>
        <p:spPr>
          <a:xfrm>
            <a:off x="611188" y="4572000"/>
            <a:ext cx="8353425" cy="2025650"/>
          </a:xfrm>
        </p:spPr>
        <p:txBody>
          <a:bodyPr/>
          <a:lstStyle/>
          <a:p>
            <a:pPr algn="l" eaLnBrk="1" hangingPunct="1">
              <a:lnSpc>
                <a:spcPct val="90000"/>
              </a:lnSpc>
              <a:spcBef>
                <a:spcPct val="0"/>
              </a:spcBef>
            </a:pPr>
            <a:r>
              <a:rPr lang="ja-JP" altLang="en-US" sz="2800" b="1" smtClean="0">
                <a:solidFill>
                  <a:srgbClr val="7F7F7F"/>
                </a:solidFill>
              </a:rPr>
              <a:t>一般社団法人 </a:t>
            </a:r>
            <a:r>
              <a:rPr lang="en-US" altLang="ja-JP" sz="2800" b="1" smtClean="0">
                <a:solidFill>
                  <a:srgbClr val="7F7F7F"/>
                </a:solidFill>
              </a:rPr>
              <a:t>Open</a:t>
            </a:r>
            <a:r>
              <a:rPr lang="ja-JP" altLang="en-US" sz="2800" b="1" smtClean="0">
                <a:solidFill>
                  <a:srgbClr val="7F7F7F"/>
                </a:solidFill>
              </a:rPr>
              <a:t> </a:t>
            </a:r>
            <a:r>
              <a:rPr lang="en-US" altLang="ja-JP" sz="2800" b="1" smtClean="0">
                <a:solidFill>
                  <a:srgbClr val="7F7F7F"/>
                </a:solidFill>
              </a:rPr>
              <a:t>Embedded Software</a:t>
            </a:r>
            <a:r>
              <a:rPr lang="ja-JP" altLang="en-US" sz="2800" b="1" smtClean="0">
                <a:solidFill>
                  <a:srgbClr val="7F7F7F"/>
                </a:solidFill>
              </a:rPr>
              <a:t> </a:t>
            </a:r>
            <a:r>
              <a:rPr lang="en-US" altLang="ja-JP" sz="2800" b="1" smtClean="0">
                <a:solidFill>
                  <a:srgbClr val="7F7F7F"/>
                </a:solidFill>
              </a:rPr>
              <a:t>Foundation</a:t>
            </a:r>
          </a:p>
          <a:p>
            <a:pPr algn="l" eaLnBrk="1" hangingPunct="1">
              <a:lnSpc>
                <a:spcPct val="90000"/>
              </a:lnSpc>
              <a:spcBef>
                <a:spcPct val="0"/>
              </a:spcBef>
            </a:pPr>
            <a:r>
              <a:rPr lang="ja-JP" altLang="en-US" sz="2800" b="1" smtClean="0">
                <a:solidFill>
                  <a:srgbClr val="7F7F7F"/>
                </a:solidFill>
              </a:rPr>
              <a:t>	理事 兼 チーフプロジェクトコーディネーター</a:t>
            </a:r>
          </a:p>
          <a:p>
            <a:pPr algn="l" eaLnBrk="1" hangingPunct="1">
              <a:lnSpc>
                <a:spcPct val="90000"/>
              </a:lnSpc>
              <a:spcBef>
                <a:spcPct val="0"/>
              </a:spcBef>
            </a:pPr>
            <a:r>
              <a:rPr lang="ja-JP" altLang="en-US" sz="2800" b="1" smtClean="0">
                <a:solidFill>
                  <a:srgbClr val="7F7F7F"/>
                </a:solidFill>
              </a:rPr>
              <a:t>日本</a:t>
            </a:r>
            <a:r>
              <a:rPr lang="en-US" altLang="ja-JP" sz="2800" b="1" smtClean="0">
                <a:solidFill>
                  <a:srgbClr val="7F7F7F"/>
                </a:solidFill>
              </a:rPr>
              <a:t>Android</a:t>
            </a:r>
            <a:r>
              <a:rPr lang="ja-JP" altLang="en-US" sz="2800" b="1" smtClean="0">
                <a:solidFill>
                  <a:srgbClr val="7F7F7F"/>
                </a:solidFill>
              </a:rPr>
              <a:t>の会</a:t>
            </a:r>
          </a:p>
          <a:p>
            <a:pPr algn="l" eaLnBrk="1" hangingPunct="1">
              <a:lnSpc>
                <a:spcPct val="90000"/>
              </a:lnSpc>
              <a:spcBef>
                <a:spcPct val="0"/>
              </a:spcBef>
            </a:pPr>
            <a:r>
              <a:rPr lang="ja-JP" altLang="en-US" sz="2800" b="1" smtClean="0">
                <a:solidFill>
                  <a:srgbClr val="7F7F7F"/>
                </a:solidFill>
              </a:rPr>
              <a:t>		事務局長</a:t>
            </a:r>
          </a:p>
          <a:p>
            <a:pPr algn="r" eaLnBrk="1" hangingPunct="1">
              <a:lnSpc>
                <a:spcPct val="90000"/>
              </a:lnSpc>
              <a:spcBef>
                <a:spcPct val="0"/>
              </a:spcBef>
            </a:pPr>
            <a:r>
              <a:rPr lang="ja-JP" altLang="en-US" sz="2800" b="1" smtClean="0">
                <a:solidFill>
                  <a:srgbClr val="7F7F7F"/>
                </a:solidFill>
              </a:rPr>
              <a:t>今村謙之（いまむらのりつな）</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p:txBody>
          <a:bodyPr/>
          <a:lstStyle/>
          <a:p>
            <a:pPr eaLnBrk="1" hangingPunct="1"/>
            <a:r>
              <a:rPr lang="ja-JP" altLang="en-US" sz="4000" smtClean="0"/>
              <a:t>アジェンダ</a:t>
            </a:r>
          </a:p>
        </p:txBody>
      </p:sp>
      <p:sp>
        <p:nvSpPr>
          <p:cNvPr id="17410" name="Rectangle 3"/>
          <p:cNvSpPr>
            <a:spLocks noGrp="1"/>
          </p:cNvSpPr>
          <p:nvPr>
            <p:ph type="body" idx="1"/>
          </p:nvPr>
        </p:nvSpPr>
        <p:spPr/>
        <p:txBody>
          <a:bodyPr/>
          <a:lstStyle/>
          <a:p>
            <a:pPr eaLnBrk="1" hangingPunct="1"/>
            <a:r>
              <a:rPr lang="en-US" altLang="ja-JP" sz="3600" smtClean="0"/>
              <a:t>EM</a:t>
            </a:r>
            <a:r>
              <a:rPr lang="ja-JP" altLang="en-US" sz="3600" smtClean="0"/>
              <a:t>の理念</a:t>
            </a:r>
          </a:p>
          <a:p>
            <a:pPr lvl="1" eaLnBrk="1" hangingPunct="1"/>
            <a:r>
              <a:rPr lang="ja-JP" altLang="en-US" sz="3600" smtClean="0"/>
              <a:t>何を目指すのか？</a:t>
            </a:r>
          </a:p>
          <a:p>
            <a:pPr eaLnBrk="1" hangingPunct="1"/>
            <a:r>
              <a:rPr lang="en-US" altLang="ja-JP" sz="3600" smtClean="0"/>
              <a:t>EM</a:t>
            </a:r>
            <a:r>
              <a:rPr lang="ja-JP" altLang="en-US" sz="3600" smtClean="0"/>
              <a:t>の概念</a:t>
            </a:r>
          </a:p>
          <a:p>
            <a:pPr lvl="1" eaLnBrk="1" hangingPunct="1"/>
            <a:r>
              <a:rPr lang="ja-JP" altLang="en-US" sz="3600" smtClean="0"/>
              <a:t>どのようにやるのか？</a:t>
            </a:r>
          </a:p>
          <a:p>
            <a:pPr eaLnBrk="1" hangingPunct="1"/>
            <a:r>
              <a:rPr lang="en-US" altLang="ja-JP" sz="3600" smtClean="0"/>
              <a:t>EM</a:t>
            </a:r>
            <a:r>
              <a:rPr lang="ja-JP" altLang="en-US" sz="3600" smtClean="0"/>
              <a:t>の歩み</a:t>
            </a:r>
          </a:p>
          <a:p>
            <a:pPr lvl="1" eaLnBrk="1" hangingPunct="1"/>
            <a:r>
              <a:rPr lang="ja-JP" altLang="en-US" sz="3200" smtClean="0"/>
              <a:t>どうなっているのか？</a:t>
            </a:r>
          </a:p>
          <a:p>
            <a:pPr lvl="1" eaLnBrk="1" hangingPunct="1"/>
            <a:endParaRPr lang="ja-JP" altLang="en-US" sz="32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3"/>
          <p:cNvSpPr>
            <a:spLocks noGrp="1"/>
          </p:cNvSpPr>
          <p:nvPr>
            <p:ph type="body" idx="1"/>
          </p:nvPr>
        </p:nvSpPr>
        <p:spPr/>
        <p:txBody>
          <a:bodyPr/>
          <a:lstStyle/>
          <a:p>
            <a:pPr eaLnBrk="1" hangingPunct="1"/>
            <a:r>
              <a:rPr lang="en-US" altLang="ja-JP" sz="3600" smtClean="0"/>
              <a:t>EM</a:t>
            </a:r>
            <a:r>
              <a:rPr lang="ja-JP" altLang="en-US" sz="3600" smtClean="0"/>
              <a:t>の理念</a:t>
            </a:r>
          </a:p>
          <a:p>
            <a:pPr lvl="1" eaLnBrk="1" hangingPunct="1"/>
            <a:r>
              <a:rPr lang="ja-JP" altLang="en-US" sz="3600" smtClean="0"/>
              <a:t>何を目指すのか？</a:t>
            </a:r>
          </a:p>
          <a:p>
            <a:pPr eaLnBrk="1" hangingPunct="1"/>
            <a:r>
              <a:rPr lang="en-US" altLang="ja-JP" sz="3600" smtClean="0">
                <a:solidFill>
                  <a:srgbClr val="C0C0C0"/>
                </a:solidFill>
              </a:rPr>
              <a:t>EM</a:t>
            </a:r>
            <a:r>
              <a:rPr lang="ja-JP" altLang="en-US" sz="3600" smtClean="0">
                <a:solidFill>
                  <a:srgbClr val="C0C0C0"/>
                </a:solidFill>
              </a:rPr>
              <a:t>の概念</a:t>
            </a:r>
          </a:p>
          <a:p>
            <a:pPr lvl="1" eaLnBrk="1" hangingPunct="1"/>
            <a:r>
              <a:rPr lang="ja-JP" altLang="en-US" sz="3600" smtClean="0">
                <a:solidFill>
                  <a:srgbClr val="C0C0C0"/>
                </a:solidFill>
              </a:rPr>
              <a:t>どのようにやるのか？</a:t>
            </a:r>
          </a:p>
          <a:p>
            <a:pPr eaLnBrk="1" hangingPunct="1"/>
            <a:r>
              <a:rPr lang="en-US" altLang="ja-JP" sz="3600" smtClean="0">
                <a:solidFill>
                  <a:srgbClr val="C0C0C0"/>
                </a:solidFill>
              </a:rPr>
              <a:t>EM</a:t>
            </a:r>
            <a:r>
              <a:rPr lang="ja-JP" altLang="en-US" sz="3600" smtClean="0">
                <a:solidFill>
                  <a:srgbClr val="C0C0C0"/>
                </a:solidFill>
              </a:rPr>
              <a:t>の歩み</a:t>
            </a:r>
          </a:p>
          <a:p>
            <a:pPr lvl="1" eaLnBrk="1" hangingPunct="1"/>
            <a:r>
              <a:rPr lang="ja-JP" altLang="en-US" sz="3200" smtClean="0">
                <a:solidFill>
                  <a:srgbClr val="C0C0C0"/>
                </a:solidFill>
              </a:rPr>
              <a:t>どうなっているのか？</a:t>
            </a:r>
          </a:p>
          <a:p>
            <a:pPr lvl="1" eaLnBrk="1" hangingPunct="1"/>
            <a:endParaRPr lang="ja-JP" altLang="en-US" sz="3200" smtClean="0">
              <a:solidFill>
                <a:srgbClr val="C0C0C0"/>
              </a:solidFill>
            </a:endParaRPr>
          </a:p>
        </p:txBody>
      </p:sp>
      <p:sp>
        <p:nvSpPr>
          <p:cNvPr id="19458" name="Rectangle 4"/>
          <p:cNvSpPr>
            <a:spLocks noGrp="1"/>
          </p:cNvSpPr>
          <p:nvPr>
            <p:ph type="title"/>
          </p:nvPr>
        </p:nvSpPr>
        <p:spPr/>
        <p:txBody>
          <a:bodyPr/>
          <a:lstStyle/>
          <a:p>
            <a:pPr eaLnBrk="1" hangingPunct="1"/>
            <a:endParaRPr lang="ja-JP" alt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タイトル 1"/>
          <p:cNvSpPr>
            <a:spLocks noGrp="1"/>
          </p:cNvSpPr>
          <p:nvPr>
            <p:ph type="title" idx="4294967295"/>
          </p:nvPr>
        </p:nvSpPr>
        <p:spPr/>
        <p:txBody>
          <a:bodyPr/>
          <a:lstStyle/>
          <a:p>
            <a:pPr eaLnBrk="1" hangingPunct="1"/>
            <a:r>
              <a:rPr lang="ja-JP" altLang="en-US" smtClean="0"/>
              <a:t>設立趣意</a:t>
            </a:r>
          </a:p>
        </p:txBody>
      </p:sp>
      <p:sp>
        <p:nvSpPr>
          <p:cNvPr id="21506" name="コンテンツ プレースホルダ 2"/>
          <p:cNvSpPr>
            <a:spLocks noGrp="1"/>
          </p:cNvSpPr>
          <p:nvPr>
            <p:ph idx="4294967295"/>
          </p:nvPr>
        </p:nvSpPr>
        <p:spPr>
          <a:xfrm>
            <a:off x="500063" y="1428750"/>
            <a:ext cx="8186737" cy="4927600"/>
          </a:xfrm>
        </p:spPr>
        <p:txBody>
          <a:bodyPr/>
          <a:lstStyle/>
          <a:p>
            <a:pPr eaLnBrk="1" hangingPunct="1">
              <a:lnSpc>
                <a:spcPct val="80000"/>
              </a:lnSpc>
            </a:pPr>
            <a:r>
              <a:rPr lang="en-US" altLang="ja-JP" sz="2700" smtClean="0"/>
              <a:t>Android</a:t>
            </a:r>
            <a:r>
              <a:rPr lang="ja-JP" altLang="en-US" sz="2700" smtClean="0"/>
              <a:t>を組み込みシステムのコアとして、成長、発展させるため、組み込みシステムで共通となるフレームワーク、コンポーネント、モジュールなどを</a:t>
            </a:r>
            <a:r>
              <a:rPr lang="ja-JP" altLang="en-US" sz="2700" smtClean="0">
                <a:solidFill>
                  <a:srgbClr val="FF0066"/>
                </a:solidFill>
              </a:rPr>
              <a:t>共同で開発し、共有する</a:t>
            </a:r>
            <a:r>
              <a:rPr lang="ja-JP" altLang="en-US" sz="2700" smtClean="0"/>
              <a:t>ことにより、更なる生産性の向上と、メンテナンスビリティの向上、開発投資の削減を目的とする。</a:t>
            </a:r>
            <a:endParaRPr lang="en-US" altLang="ja-JP" sz="2700" smtClean="0"/>
          </a:p>
          <a:p>
            <a:pPr eaLnBrk="1" hangingPunct="1">
              <a:lnSpc>
                <a:spcPct val="80000"/>
              </a:lnSpc>
            </a:pPr>
            <a:r>
              <a:rPr lang="ja-JP" altLang="en-US" sz="2700" smtClean="0"/>
              <a:t>成果をオープンソースとして共有することにより、各企業での</a:t>
            </a:r>
            <a:r>
              <a:rPr lang="ja-JP" altLang="en-US" sz="2700" smtClean="0">
                <a:solidFill>
                  <a:srgbClr val="FF0066"/>
                </a:solidFill>
              </a:rPr>
              <a:t>開発投資の大幅な削減</a:t>
            </a:r>
            <a:r>
              <a:rPr lang="ja-JP" altLang="en-US" sz="2700" smtClean="0"/>
              <a:t>を実現する。</a:t>
            </a:r>
            <a:endParaRPr lang="en-US" altLang="ja-JP" sz="2700" smtClean="0"/>
          </a:p>
          <a:p>
            <a:pPr eaLnBrk="1" hangingPunct="1">
              <a:lnSpc>
                <a:spcPct val="80000"/>
              </a:lnSpc>
            </a:pPr>
            <a:r>
              <a:rPr lang="ja-JP" altLang="en-US" sz="2700" smtClean="0"/>
              <a:t>成果を会員間のみならず</a:t>
            </a:r>
            <a:r>
              <a:rPr lang="en-US" altLang="ja-JP" sz="2700" smtClean="0"/>
              <a:t>Public</a:t>
            </a:r>
            <a:r>
              <a:rPr lang="ja-JP" altLang="en-US" sz="2700" smtClean="0"/>
              <a:t>に公開することにより、</a:t>
            </a:r>
            <a:r>
              <a:rPr lang="ja-JP" altLang="en-US" sz="2700" smtClean="0">
                <a:solidFill>
                  <a:srgbClr val="FF0066"/>
                </a:solidFill>
              </a:rPr>
              <a:t>システム開発に携わる企業（</a:t>
            </a:r>
            <a:r>
              <a:rPr lang="en-US" altLang="ja-JP" sz="2700" smtClean="0">
                <a:solidFill>
                  <a:srgbClr val="FF0066"/>
                </a:solidFill>
              </a:rPr>
              <a:t>ISV</a:t>
            </a:r>
            <a:r>
              <a:rPr lang="ja-JP" altLang="en-US" sz="2700" smtClean="0">
                <a:solidFill>
                  <a:srgbClr val="FF0066"/>
                </a:solidFill>
              </a:rPr>
              <a:t>など）に新たなビジネスチャンスを提供</a:t>
            </a:r>
            <a:r>
              <a:rPr lang="ja-JP" altLang="en-US" sz="2700" smtClean="0"/>
              <a:t>する。</a:t>
            </a:r>
            <a:endParaRPr lang="en-US" altLang="ja-JP" sz="2700" smtClean="0"/>
          </a:p>
          <a:p>
            <a:pPr eaLnBrk="1" hangingPunct="1">
              <a:lnSpc>
                <a:spcPct val="80000"/>
              </a:lnSpc>
            </a:pPr>
            <a:r>
              <a:rPr lang="ja-JP" altLang="en-US" sz="2700" smtClean="0"/>
              <a:t>開発者間のコミュニケーションを円滑にし、技術者のスキルの向上を図る。</a:t>
            </a:r>
            <a:endParaRPr lang="en-US" altLang="ja-JP" sz="270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タイトル 1"/>
          <p:cNvSpPr>
            <a:spLocks noGrp="1"/>
          </p:cNvSpPr>
          <p:nvPr>
            <p:ph type="title" idx="4294967295"/>
          </p:nvPr>
        </p:nvSpPr>
        <p:spPr>
          <a:xfrm>
            <a:off x="500063" y="0"/>
            <a:ext cx="8229600" cy="1143000"/>
          </a:xfrm>
        </p:spPr>
        <p:txBody>
          <a:bodyPr/>
          <a:lstStyle/>
          <a:p>
            <a:pPr eaLnBrk="1" hangingPunct="1"/>
            <a:r>
              <a:rPr lang="en-US" altLang="ja-JP" smtClean="0"/>
              <a:t>『</a:t>
            </a:r>
            <a:r>
              <a:rPr lang="ja-JP" altLang="en-US" smtClean="0"/>
              <a:t>標準化</a:t>
            </a:r>
            <a:r>
              <a:rPr lang="en-US" altLang="ja-JP" smtClean="0"/>
              <a:t>』</a:t>
            </a:r>
            <a:r>
              <a:rPr lang="ja-JP" altLang="en-US" smtClean="0"/>
              <a:t>と</a:t>
            </a:r>
            <a:r>
              <a:rPr lang="en-US" altLang="ja-JP" smtClean="0"/>
              <a:t>『</a:t>
            </a:r>
            <a:r>
              <a:rPr lang="ja-JP" altLang="en-US" smtClean="0"/>
              <a:t>差別化</a:t>
            </a:r>
            <a:r>
              <a:rPr lang="en-US" altLang="ja-JP" smtClean="0"/>
              <a:t>』</a:t>
            </a:r>
            <a:endParaRPr lang="ja-JP" altLang="en-US" smtClean="0"/>
          </a:p>
        </p:txBody>
      </p:sp>
      <p:sp>
        <p:nvSpPr>
          <p:cNvPr id="5" name="テキスト ボックス 4"/>
          <p:cNvSpPr txBox="1"/>
          <p:nvPr/>
        </p:nvSpPr>
        <p:spPr>
          <a:xfrm>
            <a:off x="889000" y="1484313"/>
            <a:ext cx="7715250" cy="2530475"/>
          </a:xfrm>
          <a:prstGeom prst="rect">
            <a:avLst/>
          </a:prstGeom>
          <a:solidFill>
            <a:schemeClr val="tx2">
              <a:lumMod val="20000"/>
              <a:lumOff val="80000"/>
            </a:schemeClr>
          </a:solidFill>
        </p:spPr>
        <p:txBody>
          <a:bodyPr>
            <a:spAutoFit/>
          </a:bodyPr>
          <a:lstStyle/>
          <a:p>
            <a:pPr algn="l">
              <a:defRPr/>
            </a:pPr>
            <a:r>
              <a:rPr lang="ja-JP" altLang="en-US" sz="2000"/>
              <a:t>組み込みソフトウェア産業が発展可能なビジネスモデルを構築するために求められるのは、「標準化」と「差別化」である。</a:t>
            </a:r>
            <a:r>
              <a:rPr lang="ja-JP" altLang="en-US" sz="2000">
                <a:solidFill>
                  <a:srgbClr val="FF0066"/>
                </a:solidFill>
              </a:rPr>
              <a:t>産業、または各業界等の努力によって開発環境を標準化</a:t>
            </a:r>
            <a:r>
              <a:rPr lang="ja-JP" altLang="en-US" sz="2000"/>
              <a:t>した下での、ソフトウェア開発会社が</a:t>
            </a:r>
            <a:r>
              <a:rPr lang="ja-JP" altLang="en-US" sz="2000">
                <a:solidFill>
                  <a:srgbClr val="FF0066"/>
                </a:solidFill>
              </a:rPr>
              <a:t>差別化された技術力や開発手法により競争</a:t>
            </a:r>
            <a:r>
              <a:rPr lang="ja-JP" altLang="en-US" sz="2000"/>
              <a:t>することがのぞまれる。</a:t>
            </a:r>
            <a:endParaRPr lang="en-US" altLang="ja-JP" sz="2000"/>
          </a:p>
          <a:p>
            <a:pPr algn="l">
              <a:defRPr/>
            </a:pPr>
            <a:endParaRPr lang="en-US" altLang="ja-JP" sz="2000"/>
          </a:p>
          <a:p>
            <a:pPr algn="l">
              <a:defRPr/>
            </a:pPr>
            <a:endParaRPr lang="en-US" altLang="ja-JP"/>
          </a:p>
          <a:p>
            <a:pPr algn="r">
              <a:defRPr/>
            </a:pPr>
            <a:r>
              <a:rPr lang="ja-JP" altLang="en-US" sz="1200"/>
              <a:t>組み込みソフトウェア産業の展望</a:t>
            </a:r>
            <a:endParaRPr lang="en-US" altLang="ja-JP" sz="1200"/>
          </a:p>
          <a:p>
            <a:pPr algn="r">
              <a:defRPr/>
            </a:pPr>
            <a:r>
              <a:rPr lang="en-US" altLang="ja-JP" sz="1200"/>
              <a:t>Daiwa Institute of Research</a:t>
            </a:r>
            <a:endParaRPr lang="ja-JP" altLang="en-US" sz="1200"/>
          </a:p>
          <a:p>
            <a:pPr algn="l">
              <a:defRPr/>
            </a:pPr>
            <a:endParaRPr lang="ja-JP" altLang="en-US"/>
          </a:p>
        </p:txBody>
      </p:sp>
      <p:sp>
        <p:nvSpPr>
          <p:cNvPr id="23555" name="タイトル 1"/>
          <p:cNvSpPr txBox="1">
            <a:spLocks/>
          </p:cNvSpPr>
          <p:nvPr/>
        </p:nvSpPr>
        <p:spPr bwMode="auto">
          <a:xfrm>
            <a:off x="446088" y="4127500"/>
            <a:ext cx="8229600" cy="1143000"/>
          </a:xfrm>
          <a:prstGeom prst="rect">
            <a:avLst/>
          </a:prstGeom>
          <a:noFill/>
          <a:ln w="9525">
            <a:noFill/>
            <a:miter lim="800000"/>
            <a:headEnd/>
            <a:tailEnd/>
          </a:ln>
        </p:spPr>
        <p:txBody>
          <a:bodyPr anchor="ctr"/>
          <a:lstStyle/>
          <a:p>
            <a:r>
              <a:rPr lang="en-US" altLang="ja-JP" sz="4400"/>
              <a:t>ECO System</a:t>
            </a:r>
            <a:r>
              <a:rPr lang="ja-JP" altLang="en-US" sz="4400"/>
              <a:t>構築</a:t>
            </a:r>
          </a:p>
        </p:txBody>
      </p:sp>
      <p:sp>
        <p:nvSpPr>
          <p:cNvPr id="6" name="テキスト ボックス 5"/>
          <p:cNvSpPr txBox="1"/>
          <p:nvPr/>
        </p:nvSpPr>
        <p:spPr>
          <a:xfrm>
            <a:off x="857250" y="5127625"/>
            <a:ext cx="7715250" cy="1190625"/>
          </a:xfrm>
          <a:prstGeom prst="rect">
            <a:avLst/>
          </a:prstGeom>
          <a:solidFill>
            <a:schemeClr val="tx2">
              <a:lumMod val="20000"/>
              <a:lumOff val="80000"/>
            </a:schemeClr>
          </a:solidFill>
        </p:spPr>
        <p:txBody>
          <a:bodyPr>
            <a:spAutoFit/>
          </a:bodyPr>
          <a:lstStyle/>
          <a:p>
            <a:pPr algn="l">
              <a:defRPr/>
            </a:pPr>
            <a:r>
              <a:rPr lang="ja-JP" altLang="en-US"/>
              <a:t>従来、組込みソフトウェアは機器メーカーが自社で開発してきたが、</a:t>
            </a:r>
            <a:r>
              <a:rPr lang="ja-JP" altLang="en-US">
                <a:solidFill>
                  <a:srgbClr val="FF0066"/>
                </a:solidFill>
              </a:rPr>
              <a:t>開発期間の短縮や開発コストの低減のため、標準化されたプラットホームが求められ始めた</a:t>
            </a:r>
            <a:r>
              <a:rPr lang="ja-JP" altLang="en-US"/>
              <a:t>。</a:t>
            </a:r>
            <a:r>
              <a:rPr lang="en-US" altLang="ja-JP"/>
              <a:t>Android</a:t>
            </a:r>
            <a:r>
              <a:rPr lang="ja-JP" altLang="en-US"/>
              <a:t>は多くの</a:t>
            </a:r>
            <a:r>
              <a:rPr lang="en-US" altLang="ja-JP"/>
              <a:t>Enterprise JAVA</a:t>
            </a:r>
            <a:r>
              <a:rPr lang="ja-JP" altLang="en-US"/>
              <a:t>エンジニアを、組込みシステムエンジニアに変身させる。</a:t>
            </a:r>
            <a:endParaRPr lang="en-US" altLang="ja-JP"/>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5" descr="jgainen13_ページ_17"/>
          <p:cNvPicPr>
            <a:picLocks noChangeAspect="1" noChangeArrowheads="1"/>
          </p:cNvPicPr>
          <p:nvPr/>
        </p:nvPicPr>
        <p:blipFill>
          <a:blip r:embed="rId3"/>
          <a:srcRect/>
          <a:stretch>
            <a:fillRect/>
          </a:stretch>
        </p:blipFill>
        <p:spPr bwMode="auto">
          <a:xfrm>
            <a:off x="0" y="1268413"/>
            <a:ext cx="9144000" cy="5589587"/>
          </a:xfrm>
          <a:prstGeom prst="rect">
            <a:avLst/>
          </a:prstGeom>
          <a:noFill/>
          <a:ln w="9525">
            <a:noFill/>
            <a:miter lim="800000"/>
            <a:headEnd/>
            <a:tailEnd/>
          </a:ln>
        </p:spPr>
      </p:pic>
      <p:sp>
        <p:nvSpPr>
          <p:cNvPr id="25602" name="Rectangle 2"/>
          <p:cNvSpPr>
            <a:spLocks noGrp="1"/>
          </p:cNvSpPr>
          <p:nvPr>
            <p:ph type="title"/>
          </p:nvPr>
        </p:nvSpPr>
        <p:spPr/>
        <p:txBody>
          <a:bodyPr/>
          <a:lstStyle/>
          <a:p>
            <a:pPr eaLnBrk="1" hangingPunct="1"/>
            <a:r>
              <a:rPr lang="ja-JP" altLang="en-US" sz="4000" smtClean="0"/>
              <a:t>いつか来た道</a:t>
            </a:r>
          </a:p>
        </p:txBody>
      </p:sp>
      <p:sp>
        <p:nvSpPr>
          <p:cNvPr id="25603" name="Text Box 4"/>
          <p:cNvSpPr txBox="1">
            <a:spLocks noChangeArrowheads="1"/>
          </p:cNvSpPr>
          <p:nvPr/>
        </p:nvSpPr>
        <p:spPr bwMode="auto">
          <a:xfrm>
            <a:off x="6300788" y="6538913"/>
            <a:ext cx="2843212" cy="274637"/>
          </a:xfrm>
          <a:prstGeom prst="rect">
            <a:avLst/>
          </a:prstGeom>
          <a:noFill/>
          <a:ln w="9525">
            <a:noFill/>
            <a:miter lim="800000"/>
            <a:headEnd/>
            <a:tailEnd/>
          </a:ln>
        </p:spPr>
        <p:txBody>
          <a:bodyPr>
            <a:spAutoFit/>
          </a:bodyPr>
          <a:lstStyle/>
          <a:p>
            <a:pPr algn="l">
              <a:spcBef>
                <a:spcPct val="50000"/>
              </a:spcBef>
            </a:pPr>
            <a:r>
              <a:rPr lang="ja-JP" altLang="en-US" sz="1200">
                <a:latin typeface="Arial" charset="0"/>
              </a:rPr>
              <a:t>出典：京都産業大学 安田豊様 講義資料</a:t>
            </a:r>
          </a:p>
        </p:txBody>
      </p:sp>
      <p:sp>
        <p:nvSpPr>
          <p:cNvPr id="61446" name="Rectangle 6"/>
          <p:cNvSpPr>
            <a:spLocks noGrp="1"/>
          </p:cNvSpPr>
          <p:nvPr>
            <p:ph type="body" sz="half" idx="1"/>
          </p:nvPr>
        </p:nvSpPr>
        <p:spPr>
          <a:xfrm>
            <a:off x="539750" y="1628775"/>
            <a:ext cx="8135938" cy="4895850"/>
          </a:xfrm>
          <a:solidFill>
            <a:srgbClr val="CCFFCC"/>
          </a:solidFill>
        </p:spPr>
        <p:txBody>
          <a:bodyPr/>
          <a:lstStyle/>
          <a:p>
            <a:pPr eaLnBrk="1" hangingPunct="1"/>
            <a:r>
              <a:rPr lang="ja-JP" altLang="en-US" sz="2800" smtClean="0"/>
              <a:t>結果起きたこと</a:t>
            </a:r>
          </a:p>
          <a:p>
            <a:pPr lvl="1" eaLnBrk="1" hangingPunct="1"/>
            <a:r>
              <a:rPr lang="ja-JP" altLang="en-US" sz="2400" smtClean="0"/>
              <a:t>競争要因の変化</a:t>
            </a:r>
          </a:p>
          <a:p>
            <a:pPr lvl="2" eaLnBrk="1" hangingPunct="1"/>
            <a:r>
              <a:rPr lang="ja-JP" altLang="en-US" sz="2000" smtClean="0"/>
              <a:t>高いハードウェア技術と特定小数顧客から技術の一般化と利用者層の大衆化へ</a:t>
            </a:r>
          </a:p>
          <a:p>
            <a:pPr lvl="2" eaLnBrk="1" hangingPunct="1">
              <a:buFont typeface="Arial" charset="0"/>
              <a:buNone/>
            </a:pPr>
            <a:r>
              <a:rPr lang="ja-JP" altLang="en-US" sz="2000" smtClean="0"/>
              <a:t>　⇒いわゆる</a:t>
            </a:r>
            <a:r>
              <a:rPr lang="en-US" altLang="ja-JP" sz="2000" smtClean="0">
                <a:solidFill>
                  <a:srgbClr val="FF0066"/>
                </a:solidFill>
              </a:rPr>
              <a:t>OSS</a:t>
            </a:r>
            <a:r>
              <a:rPr lang="ja-JP" altLang="en-US" sz="2000" smtClean="0">
                <a:solidFill>
                  <a:srgbClr val="FF0066"/>
                </a:solidFill>
              </a:rPr>
              <a:t>への遷移の利点（</a:t>
            </a:r>
            <a:r>
              <a:rPr lang="en-US" altLang="ja-JP" sz="2000" smtClean="0">
                <a:solidFill>
                  <a:srgbClr val="FF0066"/>
                </a:solidFill>
              </a:rPr>
              <a:t>Linux</a:t>
            </a:r>
            <a:r>
              <a:rPr lang="ja-JP" altLang="en-US" sz="2000" smtClean="0">
                <a:solidFill>
                  <a:srgbClr val="FF0066"/>
                </a:solidFill>
              </a:rPr>
              <a:t>化）</a:t>
            </a:r>
          </a:p>
          <a:p>
            <a:pPr lvl="1" eaLnBrk="1" hangingPunct="1"/>
            <a:r>
              <a:rPr lang="ja-JP" altLang="en-US" sz="2400" smtClean="0"/>
              <a:t>収益の源泉</a:t>
            </a:r>
          </a:p>
          <a:p>
            <a:pPr lvl="2" eaLnBrk="1" hangingPunct="1"/>
            <a:r>
              <a:rPr lang="ja-JP" altLang="en-US" sz="2000" smtClean="0"/>
              <a:t>ハードウェアからソフトウェアへ</a:t>
            </a:r>
          </a:p>
          <a:p>
            <a:pPr lvl="2" eaLnBrk="1" hangingPunct="1"/>
            <a:r>
              <a:rPr lang="ja-JP" altLang="en-US" sz="2000" smtClean="0"/>
              <a:t>ソフトウェアからサービスへ</a:t>
            </a:r>
          </a:p>
          <a:p>
            <a:pPr lvl="2" eaLnBrk="1" hangingPunct="1">
              <a:buFont typeface="Arial" charset="0"/>
              <a:buNone/>
            </a:pPr>
            <a:r>
              <a:rPr lang="ja-JP" altLang="en-US" sz="2000" smtClean="0"/>
              <a:t>　⇒</a:t>
            </a:r>
            <a:r>
              <a:rPr lang="ja-JP" altLang="en-US" sz="2000" smtClean="0">
                <a:solidFill>
                  <a:srgbClr val="FF0066"/>
                </a:solidFill>
              </a:rPr>
              <a:t>ビジネスモデル</a:t>
            </a:r>
            <a:r>
              <a:rPr lang="ja-JP" altLang="en-US" sz="2000" smtClean="0"/>
              <a:t>の変化</a:t>
            </a:r>
          </a:p>
          <a:p>
            <a:pPr lvl="2" eaLnBrk="1" hangingPunct="1">
              <a:buFont typeface="Arial" charset="0"/>
              <a:buNone/>
            </a:pPr>
            <a:endParaRPr lang="ja-JP" altLang="en-US" sz="2000" smtClean="0"/>
          </a:p>
          <a:p>
            <a:pPr lvl="1" eaLnBrk="1" hangingPunct="1"/>
            <a:r>
              <a:rPr lang="en-US" altLang="ja-JP" sz="2400" smtClean="0"/>
              <a:t>Market Place</a:t>
            </a:r>
            <a:r>
              <a:rPr lang="ja-JP" altLang="en-US" sz="2400" smtClean="0"/>
              <a:t>の誕生</a:t>
            </a:r>
          </a:p>
          <a:p>
            <a:pPr lvl="2" eaLnBrk="1" hangingPunct="1"/>
            <a:r>
              <a:rPr lang="ja-JP" altLang="en-US" sz="2000" smtClean="0">
                <a:solidFill>
                  <a:srgbClr val="FF0066"/>
                </a:solidFill>
              </a:rPr>
              <a:t>新しい商流</a:t>
            </a:r>
            <a:r>
              <a:rPr lang="ja-JP" altLang="en-US" sz="2000" smtClean="0"/>
              <a:t>が産まれている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46">
                                            <p:bg/>
                                          </p:spTgt>
                                        </p:tgtEl>
                                        <p:attrNameLst>
                                          <p:attrName>style.visibility</p:attrName>
                                        </p:attrNameLst>
                                      </p:cBhvr>
                                      <p:to>
                                        <p:strVal val="visible"/>
                                      </p:to>
                                    </p:set>
                                    <p:animEffect transition="in" filter="box(in)">
                                      <p:cBhvr>
                                        <p:cTn id="7" dur="500"/>
                                        <p:tgtEl>
                                          <p:spTgt spid="61446">
                                            <p:bg/>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61446">
                                            <p:txEl>
                                              <p:pRg st="0" end="0"/>
                                            </p:txEl>
                                          </p:spTgt>
                                        </p:tgtEl>
                                        <p:attrNameLst>
                                          <p:attrName>style.visibility</p:attrName>
                                        </p:attrNameLst>
                                      </p:cBhvr>
                                      <p:to>
                                        <p:strVal val="visible"/>
                                      </p:to>
                                    </p:set>
                                    <p:animEffect transition="in" filter="box(in)">
                                      <p:cBhvr>
                                        <p:cTn id="10" dur="500"/>
                                        <p:tgtEl>
                                          <p:spTgt spid="61446">
                                            <p:txEl>
                                              <p:pRg st="0" end="0"/>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61446">
                                            <p:txEl>
                                              <p:pRg st="1" end="1"/>
                                            </p:txEl>
                                          </p:spTgt>
                                        </p:tgtEl>
                                        <p:attrNameLst>
                                          <p:attrName>style.visibility</p:attrName>
                                        </p:attrNameLst>
                                      </p:cBhvr>
                                      <p:to>
                                        <p:strVal val="visible"/>
                                      </p:to>
                                    </p:set>
                                    <p:animEffect transition="in" filter="box(in)">
                                      <p:cBhvr>
                                        <p:cTn id="13" dur="500"/>
                                        <p:tgtEl>
                                          <p:spTgt spid="61446">
                                            <p:txEl>
                                              <p:pRg st="1" end="1"/>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61446">
                                            <p:txEl>
                                              <p:pRg st="2" end="2"/>
                                            </p:txEl>
                                          </p:spTgt>
                                        </p:tgtEl>
                                        <p:attrNameLst>
                                          <p:attrName>style.visibility</p:attrName>
                                        </p:attrNameLst>
                                      </p:cBhvr>
                                      <p:to>
                                        <p:strVal val="visible"/>
                                      </p:to>
                                    </p:set>
                                    <p:animEffect transition="in" filter="box(in)">
                                      <p:cBhvr>
                                        <p:cTn id="16" dur="500"/>
                                        <p:tgtEl>
                                          <p:spTgt spid="61446">
                                            <p:txEl>
                                              <p:pRg st="2" end="2"/>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61446">
                                            <p:txEl>
                                              <p:pRg st="4" end="4"/>
                                            </p:txEl>
                                          </p:spTgt>
                                        </p:tgtEl>
                                        <p:attrNameLst>
                                          <p:attrName>style.visibility</p:attrName>
                                        </p:attrNameLst>
                                      </p:cBhvr>
                                      <p:to>
                                        <p:strVal val="visible"/>
                                      </p:to>
                                    </p:set>
                                    <p:animEffect transition="in" filter="box(in)">
                                      <p:cBhvr>
                                        <p:cTn id="19" dur="500"/>
                                        <p:tgtEl>
                                          <p:spTgt spid="61446">
                                            <p:txEl>
                                              <p:pRg st="4" end="4"/>
                                            </p:txEl>
                                          </p:spTgt>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61446">
                                            <p:txEl>
                                              <p:pRg st="5" end="5"/>
                                            </p:txEl>
                                          </p:spTgt>
                                        </p:tgtEl>
                                        <p:attrNameLst>
                                          <p:attrName>style.visibility</p:attrName>
                                        </p:attrNameLst>
                                      </p:cBhvr>
                                      <p:to>
                                        <p:strVal val="visible"/>
                                      </p:to>
                                    </p:set>
                                    <p:animEffect transition="in" filter="box(in)">
                                      <p:cBhvr>
                                        <p:cTn id="22" dur="500"/>
                                        <p:tgtEl>
                                          <p:spTgt spid="61446">
                                            <p:txEl>
                                              <p:pRg st="5" end="5"/>
                                            </p:txEl>
                                          </p:spTgt>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61446">
                                            <p:txEl>
                                              <p:pRg st="6" end="6"/>
                                            </p:txEl>
                                          </p:spTgt>
                                        </p:tgtEl>
                                        <p:attrNameLst>
                                          <p:attrName>style.visibility</p:attrName>
                                        </p:attrNameLst>
                                      </p:cBhvr>
                                      <p:to>
                                        <p:strVal val="visible"/>
                                      </p:to>
                                    </p:set>
                                    <p:animEffect transition="in" filter="box(in)">
                                      <p:cBhvr>
                                        <p:cTn id="25" dur="500"/>
                                        <p:tgtEl>
                                          <p:spTgt spid="61446">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61446">
                                            <p:txEl>
                                              <p:pRg st="3" end="3"/>
                                            </p:txEl>
                                          </p:spTgt>
                                        </p:tgtEl>
                                        <p:attrNameLst>
                                          <p:attrName>style.visibility</p:attrName>
                                        </p:attrNameLst>
                                      </p:cBhvr>
                                      <p:to>
                                        <p:strVal val="visible"/>
                                      </p:to>
                                    </p:set>
                                    <p:anim calcmode="lin" valueType="num">
                                      <p:cBhvr additive="base">
                                        <p:cTn id="30" dur="500" fill="hold"/>
                                        <p:tgtEl>
                                          <p:spTgt spid="61446">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6144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61446">
                                            <p:txEl>
                                              <p:pRg st="7" end="7"/>
                                            </p:txEl>
                                          </p:spTgt>
                                        </p:tgtEl>
                                        <p:attrNameLst>
                                          <p:attrName>style.visibility</p:attrName>
                                        </p:attrNameLst>
                                      </p:cBhvr>
                                      <p:to>
                                        <p:strVal val="visible"/>
                                      </p:to>
                                    </p:set>
                                    <p:anim calcmode="lin" valueType="num">
                                      <p:cBhvr additive="base">
                                        <p:cTn id="36" dur="500" fill="hold"/>
                                        <p:tgtEl>
                                          <p:spTgt spid="61446">
                                            <p:txEl>
                                              <p:pRg st="7" end="7"/>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6144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61446">
                                            <p:txEl>
                                              <p:pRg st="9" end="9"/>
                                            </p:txEl>
                                          </p:spTgt>
                                        </p:tgtEl>
                                        <p:attrNameLst>
                                          <p:attrName>style.visibility</p:attrName>
                                        </p:attrNameLst>
                                      </p:cBhvr>
                                      <p:to>
                                        <p:strVal val="visible"/>
                                      </p:to>
                                    </p:set>
                                    <p:animEffect transition="in" filter="checkerboard(across)">
                                      <p:cBhvr>
                                        <p:cTn id="42" dur="500"/>
                                        <p:tgtEl>
                                          <p:spTgt spid="61446">
                                            <p:txEl>
                                              <p:pRg st="9" end="9"/>
                                            </p:txEl>
                                          </p:spTgt>
                                        </p:tgtEl>
                                      </p:cBhvr>
                                    </p:animEffect>
                                  </p:childTnLst>
                                </p:cTn>
                              </p:par>
                              <p:par>
                                <p:cTn id="43" presetID="5" presetClass="entr" presetSubtype="10" fill="hold" nodeType="withEffect">
                                  <p:stCondLst>
                                    <p:cond delay="0"/>
                                  </p:stCondLst>
                                  <p:childTnLst>
                                    <p:set>
                                      <p:cBhvr>
                                        <p:cTn id="44" dur="1" fill="hold">
                                          <p:stCondLst>
                                            <p:cond delay="0"/>
                                          </p:stCondLst>
                                        </p:cTn>
                                        <p:tgtEl>
                                          <p:spTgt spid="61446">
                                            <p:txEl>
                                              <p:pRg st="10" end="10"/>
                                            </p:txEl>
                                          </p:spTgt>
                                        </p:tgtEl>
                                        <p:attrNameLst>
                                          <p:attrName>style.visibility</p:attrName>
                                        </p:attrNameLst>
                                      </p:cBhvr>
                                      <p:to>
                                        <p:strVal val="visible"/>
                                      </p:to>
                                    </p:set>
                                    <p:animEffect transition="in" filter="checkerboard(across)">
                                      <p:cBhvr>
                                        <p:cTn id="45" dur="500"/>
                                        <p:tgtEl>
                                          <p:spTgt spid="6144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3"/>
          <p:cNvSpPr>
            <a:spLocks noGrp="1"/>
          </p:cNvSpPr>
          <p:nvPr>
            <p:ph type="body" idx="1"/>
          </p:nvPr>
        </p:nvSpPr>
        <p:spPr/>
        <p:txBody>
          <a:bodyPr/>
          <a:lstStyle/>
          <a:p>
            <a:pPr eaLnBrk="1" hangingPunct="1"/>
            <a:r>
              <a:rPr lang="en-US" altLang="ja-JP" sz="3600" smtClean="0">
                <a:solidFill>
                  <a:srgbClr val="C0C0C0"/>
                </a:solidFill>
              </a:rPr>
              <a:t>EM</a:t>
            </a:r>
            <a:r>
              <a:rPr lang="ja-JP" altLang="en-US" sz="3600" smtClean="0">
                <a:solidFill>
                  <a:srgbClr val="C0C0C0"/>
                </a:solidFill>
              </a:rPr>
              <a:t>の理念</a:t>
            </a:r>
          </a:p>
          <a:p>
            <a:pPr lvl="1" eaLnBrk="1" hangingPunct="1"/>
            <a:r>
              <a:rPr lang="ja-JP" altLang="en-US" sz="3600" smtClean="0">
                <a:solidFill>
                  <a:srgbClr val="C0C0C0"/>
                </a:solidFill>
              </a:rPr>
              <a:t>何を目指すのか？</a:t>
            </a:r>
          </a:p>
          <a:p>
            <a:pPr eaLnBrk="1" hangingPunct="1"/>
            <a:r>
              <a:rPr lang="en-US" altLang="ja-JP" sz="3600" smtClean="0"/>
              <a:t>EM</a:t>
            </a:r>
            <a:r>
              <a:rPr lang="ja-JP" altLang="en-US" sz="3600" smtClean="0"/>
              <a:t>の概念</a:t>
            </a:r>
          </a:p>
          <a:p>
            <a:pPr lvl="1" eaLnBrk="1" hangingPunct="1"/>
            <a:r>
              <a:rPr lang="ja-JP" altLang="en-US" sz="3600" smtClean="0"/>
              <a:t>どのようにやるのか？</a:t>
            </a:r>
          </a:p>
          <a:p>
            <a:pPr eaLnBrk="1" hangingPunct="1"/>
            <a:r>
              <a:rPr lang="en-US" altLang="ja-JP" sz="3600" smtClean="0">
                <a:solidFill>
                  <a:srgbClr val="C0C0C0"/>
                </a:solidFill>
              </a:rPr>
              <a:t>EM</a:t>
            </a:r>
            <a:r>
              <a:rPr lang="ja-JP" altLang="en-US" sz="3600" smtClean="0">
                <a:solidFill>
                  <a:srgbClr val="C0C0C0"/>
                </a:solidFill>
              </a:rPr>
              <a:t>の歩み</a:t>
            </a:r>
          </a:p>
          <a:p>
            <a:pPr lvl="1" eaLnBrk="1" hangingPunct="1"/>
            <a:r>
              <a:rPr lang="ja-JP" altLang="en-US" sz="3200" smtClean="0">
                <a:solidFill>
                  <a:srgbClr val="C0C0C0"/>
                </a:solidFill>
              </a:rPr>
              <a:t>どうなっているのか？</a:t>
            </a:r>
          </a:p>
          <a:p>
            <a:pPr lvl="1" eaLnBrk="1" hangingPunct="1"/>
            <a:endParaRPr lang="ja-JP" altLang="en-US" sz="3200" smtClean="0">
              <a:solidFill>
                <a:srgbClr val="C0C0C0"/>
              </a:solidFill>
            </a:endParaRPr>
          </a:p>
        </p:txBody>
      </p:sp>
      <p:sp>
        <p:nvSpPr>
          <p:cNvPr id="27650" name="Rectangle 4"/>
          <p:cNvSpPr>
            <a:spLocks noGrp="1"/>
          </p:cNvSpPr>
          <p:nvPr>
            <p:ph type="title"/>
          </p:nvPr>
        </p:nvSpPr>
        <p:spPr/>
        <p:txBody>
          <a:bodyPr/>
          <a:lstStyle/>
          <a:p>
            <a:pPr eaLnBrk="1" hangingPunct="1"/>
            <a:endParaRPr lang="ja-JP" altLang="en-US"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タイトル 1"/>
          <p:cNvSpPr>
            <a:spLocks noGrp="1"/>
          </p:cNvSpPr>
          <p:nvPr>
            <p:ph type="title" idx="4294967295"/>
          </p:nvPr>
        </p:nvSpPr>
        <p:spPr/>
        <p:txBody>
          <a:bodyPr/>
          <a:lstStyle/>
          <a:p>
            <a:pPr eaLnBrk="1" hangingPunct="1"/>
            <a:r>
              <a:rPr lang="en-US" altLang="ja-JP" smtClean="0"/>
              <a:t>EM</a:t>
            </a:r>
            <a:r>
              <a:rPr lang="ja-JP" altLang="en-US" smtClean="0"/>
              <a:t>はどうなっている？</a:t>
            </a:r>
          </a:p>
        </p:txBody>
      </p:sp>
      <p:pic>
        <p:nvPicPr>
          <p:cNvPr id="29698" name="Picture 14"/>
          <p:cNvPicPr>
            <a:picLocks noChangeAspect="1" noChangeArrowheads="1"/>
          </p:cNvPicPr>
          <p:nvPr/>
        </p:nvPicPr>
        <p:blipFill>
          <a:blip r:embed="rId3"/>
          <a:srcRect/>
          <a:stretch>
            <a:fillRect/>
          </a:stretch>
        </p:blipFill>
        <p:spPr bwMode="auto">
          <a:xfrm>
            <a:off x="611188" y="1773238"/>
            <a:ext cx="1433512" cy="1714500"/>
          </a:xfrm>
          <a:prstGeom prst="rect">
            <a:avLst/>
          </a:prstGeom>
          <a:noFill/>
          <a:ln w="9525">
            <a:noFill/>
            <a:miter lim="800000"/>
            <a:headEnd/>
            <a:tailEnd/>
          </a:ln>
        </p:spPr>
      </p:pic>
      <p:pic>
        <p:nvPicPr>
          <p:cNvPr id="29699" name="Picture 15"/>
          <p:cNvPicPr>
            <a:picLocks noChangeAspect="1" noChangeArrowheads="1"/>
          </p:cNvPicPr>
          <p:nvPr/>
        </p:nvPicPr>
        <p:blipFill>
          <a:blip r:embed="rId4"/>
          <a:srcRect/>
          <a:stretch>
            <a:fillRect/>
          </a:stretch>
        </p:blipFill>
        <p:spPr bwMode="auto">
          <a:xfrm>
            <a:off x="395288" y="3644900"/>
            <a:ext cx="1428750" cy="1357313"/>
          </a:xfrm>
          <a:prstGeom prst="rect">
            <a:avLst/>
          </a:prstGeom>
          <a:noFill/>
          <a:ln w="9525">
            <a:noFill/>
            <a:miter lim="800000"/>
            <a:headEnd/>
            <a:tailEnd/>
          </a:ln>
        </p:spPr>
      </p:pic>
      <p:pic>
        <p:nvPicPr>
          <p:cNvPr id="29700" name="Picture 16"/>
          <p:cNvPicPr>
            <a:picLocks noChangeAspect="1" noChangeArrowheads="1"/>
          </p:cNvPicPr>
          <p:nvPr/>
        </p:nvPicPr>
        <p:blipFill>
          <a:blip r:embed="rId5"/>
          <a:srcRect/>
          <a:stretch>
            <a:fillRect/>
          </a:stretch>
        </p:blipFill>
        <p:spPr bwMode="auto">
          <a:xfrm>
            <a:off x="2063750" y="5086350"/>
            <a:ext cx="1428750" cy="1428750"/>
          </a:xfrm>
          <a:prstGeom prst="rect">
            <a:avLst/>
          </a:prstGeom>
          <a:noFill/>
          <a:ln w="9525">
            <a:noFill/>
            <a:miter lim="800000"/>
            <a:headEnd/>
            <a:tailEnd/>
          </a:ln>
        </p:spPr>
      </p:pic>
      <p:pic>
        <p:nvPicPr>
          <p:cNvPr id="29701" name="Picture 17"/>
          <p:cNvPicPr>
            <a:picLocks noChangeAspect="1" noChangeArrowheads="1"/>
          </p:cNvPicPr>
          <p:nvPr/>
        </p:nvPicPr>
        <p:blipFill>
          <a:blip r:embed="rId6"/>
          <a:srcRect/>
          <a:stretch>
            <a:fillRect/>
          </a:stretch>
        </p:blipFill>
        <p:spPr bwMode="auto">
          <a:xfrm>
            <a:off x="6215063" y="1643063"/>
            <a:ext cx="1296987" cy="1296987"/>
          </a:xfrm>
          <a:prstGeom prst="rect">
            <a:avLst/>
          </a:prstGeom>
          <a:noFill/>
          <a:ln w="9525">
            <a:noFill/>
            <a:miter lim="800000"/>
            <a:headEnd/>
            <a:tailEnd/>
          </a:ln>
        </p:spPr>
      </p:pic>
      <p:pic>
        <p:nvPicPr>
          <p:cNvPr id="29702" name="Picture 18"/>
          <p:cNvPicPr>
            <a:picLocks noChangeAspect="1" noChangeArrowheads="1"/>
          </p:cNvPicPr>
          <p:nvPr/>
        </p:nvPicPr>
        <p:blipFill>
          <a:blip r:embed="rId7"/>
          <a:srcRect/>
          <a:stretch>
            <a:fillRect/>
          </a:stretch>
        </p:blipFill>
        <p:spPr bwMode="auto">
          <a:xfrm>
            <a:off x="6357938" y="3284538"/>
            <a:ext cx="1379537" cy="1379537"/>
          </a:xfrm>
          <a:prstGeom prst="rect">
            <a:avLst/>
          </a:prstGeom>
          <a:noFill/>
          <a:ln w="9525">
            <a:noFill/>
            <a:miter lim="800000"/>
            <a:headEnd/>
            <a:tailEnd/>
          </a:ln>
        </p:spPr>
      </p:pic>
      <p:pic>
        <p:nvPicPr>
          <p:cNvPr id="29703" name="Picture 19"/>
          <p:cNvPicPr>
            <a:picLocks noChangeAspect="1" noChangeArrowheads="1"/>
          </p:cNvPicPr>
          <p:nvPr/>
        </p:nvPicPr>
        <p:blipFill>
          <a:blip r:embed="rId8"/>
          <a:srcRect/>
          <a:stretch>
            <a:fillRect/>
          </a:stretch>
        </p:blipFill>
        <p:spPr bwMode="auto">
          <a:xfrm>
            <a:off x="5292725" y="5157788"/>
            <a:ext cx="1428750" cy="1428750"/>
          </a:xfrm>
          <a:prstGeom prst="rect">
            <a:avLst/>
          </a:prstGeom>
          <a:noFill/>
          <a:ln w="9525">
            <a:noFill/>
            <a:miter lim="800000"/>
            <a:headEnd/>
            <a:tailEnd/>
          </a:ln>
        </p:spPr>
      </p:pic>
      <p:pic>
        <p:nvPicPr>
          <p:cNvPr id="29704" name="Picture 20"/>
          <p:cNvPicPr>
            <a:picLocks noChangeAspect="1" noChangeArrowheads="1"/>
          </p:cNvPicPr>
          <p:nvPr/>
        </p:nvPicPr>
        <p:blipFill>
          <a:blip r:embed="rId9"/>
          <a:srcRect/>
          <a:stretch>
            <a:fillRect/>
          </a:stretch>
        </p:blipFill>
        <p:spPr bwMode="auto">
          <a:xfrm>
            <a:off x="3348038" y="1341438"/>
            <a:ext cx="1428750" cy="1428750"/>
          </a:xfrm>
          <a:prstGeom prst="rect">
            <a:avLst/>
          </a:prstGeom>
          <a:noFill/>
          <a:ln w="9525">
            <a:noFill/>
            <a:miter lim="800000"/>
            <a:headEnd/>
            <a:tailEnd/>
          </a:ln>
        </p:spPr>
      </p:pic>
      <p:sp>
        <p:nvSpPr>
          <p:cNvPr id="29705" name="テキスト ボックス 24"/>
          <p:cNvSpPr txBox="1">
            <a:spLocks noChangeArrowheads="1"/>
          </p:cNvSpPr>
          <p:nvPr/>
        </p:nvSpPr>
        <p:spPr bwMode="auto">
          <a:xfrm>
            <a:off x="2071688" y="1714500"/>
            <a:ext cx="1347787" cy="822325"/>
          </a:xfrm>
          <a:prstGeom prst="rect">
            <a:avLst/>
          </a:prstGeom>
          <a:noFill/>
          <a:ln w="9525">
            <a:noFill/>
            <a:miter lim="800000"/>
            <a:headEnd/>
            <a:tailEnd/>
          </a:ln>
        </p:spPr>
        <p:txBody>
          <a:bodyPr>
            <a:spAutoFit/>
          </a:bodyPr>
          <a:lstStyle/>
          <a:p>
            <a:pPr algn="l"/>
            <a:r>
              <a:rPr lang="en-US" altLang="ja-JP" sz="2400"/>
              <a:t>VoIP</a:t>
            </a:r>
          </a:p>
          <a:p>
            <a:pPr algn="l"/>
            <a:r>
              <a:rPr lang="en-US" altLang="ja-JP" sz="2400"/>
              <a:t>IP-Comm</a:t>
            </a:r>
            <a:endParaRPr lang="ja-JP" altLang="en-US" sz="2400"/>
          </a:p>
        </p:txBody>
      </p:sp>
      <p:sp>
        <p:nvSpPr>
          <p:cNvPr id="29706" name="テキスト ボックス 25"/>
          <p:cNvSpPr txBox="1">
            <a:spLocks noChangeArrowheads="1"/>
          </p:cNvSpPr>
          <p:nvPr/>
        </p:nvSpPr>
        <p:spPr bwMode="auto">
          <a:xfrm>
            <a:off x="2038350" y="3644900"/>
            <a:ext cx="785813" cy="457200"/>
          </a:xfrm>
          <a:prstGeom prst="rect">
            <a:avLst/>
          </a:prstGeom>
          <a:noFill/>
          <a:ln w="9525">
            <a:noFill/>
            <a:miter lim="800000"/>
            <a:headEnd/>
            <a:tailEnd/>
          </a:ln>
        </p:spPr>
        <p:txBody>
          <a:bodyPr>
            <a:spAutoFit/>
          </a:bodyPr>
          <a:lstStyle/>
          <a:p>
            <a:pPr algn="l"/>
            <a:r>
              <a:rPr lang="en-US" altLang="ja-JP" sz="2400"/>
              <a:t>STB</a:t>
            </a:r>
            <a:endParaRPr lang="ja-JP" altLang="en-US" sz="2400"/>
          </a:p>
        </p:txBody>
      </p:sp>
      <p:sp>
        <p:nvSpPr>
          <p:cNvPr id="29707" name="テキスト ボックス 26"/>
          <p:cNvSpPr txBox="1">
            <a:spLocks noChangeArrowheads="1"/>
          </p:cNvSpPr>
          <p:nvPr/>
        </p:nvSpPr>
        <p:spPr bwMode="auto">
          <a:xfrm>
            <a:off x="3563938" y="5157788"/>
            <a:ext cx="1143000" cy="1006475"/>
          </a:xfrm>
          <a:prstGeom prst="rect">
            <a:avLst/>
          </a:prstGeom>
          <a:noFill/>
          <a:ln w="9525">
            <a:noFill/>
            <a:miter lim="800000"/>
            <a:headEnd/>
            <a:tailEnd/>
          </a:ln>
        </p:spPr>
        <p:txBody>
          <a:bodyPr>
            <a:spAutoFit/>
          </a:bodyPr>
          <a:lstStyle/>
          <a:p>
            <a:r>
              <a:rPr lang="en-US" altLang="ja-JP" sz="2000"/>
              <a:t>Network</a:t>
            </a:r>
            <a:r>
              <a:rPr lang="ja-JP" altLang="en-US" sz="2000"/>
              <a:t>　</a:t>
            </a:r>
            <a:r>
              <a:rPr lang="en-US" altLang="ja-JP" sz="2000"/>
              <a:t>&amp; Security</a:t>
            </a:r>
            <a:endParaRPr lang="ja-JP" altLang="en-US" sz="2000"/>
          </a:p>
        </p:txBody>
      </p:sp>
      <p:sp>
        <p:nvSpPr>
          <p:cNvPr id="29708" name="テキスト ボックス 27"/>
          <p:cNvSpPr txBox="1">
            <a:spLocks noChangeArrowheads="1"/>
          </p:cNvSpPr>
          <p:nvPr/>
        </p:nvSpPr>
        <p:spPr bwMode="auto">
          <a:xfrm>
            <a:off x="4716463" y="1628775"/>
            <a:ext cx="1357312" cy="1006475"/>
          </a:xfrm>
          <a:prstGeom prst="rect">
            <a:avLst/>
          </a:prstGeom>
          <a:noFill/>
          <a:ln w="9525">
            <a:noFill/>
            <a:miter lim="800000"/>
            <a:headEnd/>
            <a:tailEnd/>
          </a:ln>
        </p:spPr>
        <p:txBody>
          <a:bodyPr>
            <a:spAutoFit/>
          </a:bodyPr>
          <a:lstStyle/>
          <a:p>
            <a:r>
              <a:rPr lang="en-US" altLang="ja-JP" sz="2000"/>
              <a:t>Application</a:t>
            </a:r>
            <a:br>
              <a:rPr lang="en-US" altLang="ja-JP" sz="2000"/>
            </a:br>
            <a:r>
              <a:rPr lang="en-US" altLang="ja-JP" sz="2000"/>
              <a:t>&amp;</a:t>
            </a:r>
            <a:br>
              <a:rPr lang="en-US" altLang="ja-JP" sz="2000"/>
            </a:br>
            <a:r>
              <a:rPr lang="en-US" altLang="ja-JP" sz="2000"/>
              <a:t>Service</a:t>
            </a:r>
            <a:endParaRPr lang="ja-JP" altLang="en-US" sz="2000"/>
          </a:p>
        </p:txBody>
      </p:sp>
      <p:sp>
        <p:nvSpPr>
          <p:cNvPr id="29709" name="テキスト ボックス 28"/>
          <p:cNvSpPr txBox="1">
            <a:spLocks noChangeArrowheads="1"/>
          </p:cNvSpPr>
          <p:nvPr/>
        </p:nvSpPr>
        <p:spPr bwMode="auto">
          <a:xfrm>
            <a:off x="7786688" y="3355975"/>
            <a:ext cx="1357312" cy="701675"/>
          </a:xfrm>
          <a:prstGeom prst="rect">
            <a:avLst/>
          </a:prstGeom>
          <a:noFill/>
          <a:ln w="9525">
            <a:noFill/>
            <a:miter lim="800000"/>
            <a:headEnd/>
            <a:tailEnd/>
          </a:ln>
        </p:spPr>
        <p:txBody>
          <a:bodyPr>
            <a:spAutoFit/>
          </a:bodyPr>
          <a:lstStyle/>
          <a:p>
            <a:r>
              <a:rPr lang="en-US" altLang="ja-JP" sz="2000"/>
              <a:t>System Core</a:t>
            </a:r>
            <a:endParaRPr lang="ja-JP" altLang="en-US" sz="2000"/>
          </a:p>
        </p:txBody>
      </p:sp>
      <p:sp>
        <p:nvSpPr>
          <p:cNvPr id="29710" name="テキスト ボックス 29"/>
          <p:cNvSpPr txBox="1">
            <a:spLocks noChangeArrowheads="1"/>
          </p:cNvSpPr>
          <p:nvPr/>
        </p:nvSpPr>
        <p:spPr bwMode="auto">
          <a:xfrm>
            <a:off x="6804025" y="5157788"/>
            <a:ext cx="1357313" cy="701675"/>
          </a:xfrm>
          <a:prstGeom prst="rect">
            <a:avLst/>
          </a:prstGeom>
          <a:noFill/>
          <a:ln w="9525">
            <a:noFill/>
            <a:miter lim="800000"/>
            <a:headEnd/>
            <a:tailEnd/>
          </a:ln>
        </p:spPr>
        <p:txBody>
          <a:bodyPr>
            <a:spAutoFit/>
          </a:bodyPr>
          <a:lstStyle/>
          <a:p>
            <a:r>
              <a:rPr lang="en-US" altLang="ja-JP" sz="2000"/>
              <a:t>Consumer</a:t>
            </a:r>
            <a:br>
              <a:rPr lang="en-US" altLang="ja-JP" sz="2000"/>
            </a:br>
            <a:r>
              <a:rPr lang="en-US" altLang="ja-JP" sz="2000"/>
              <a:t>Electronics</a:t>
            </a:r>
            <a:endParaRPr lang="ja-JP" altLang="en-US" sz="2000"/>
          </a:p>
        </p:txBody>
      </p:sp>
      <p:sp>
        <p:nvSpPr>
          <p:cNvPr id="29711" name="テキスト ボックス 30"/>
          <p:cNvSpPr txBox="1">
            <a:spLocks noChangeArrowheads="1"/>
          </p:cNvSpPr>
          <p:nvPr/>
        </p:nvSpPr>
        <p:spPr bwMode="auto">
          <a:xfrm>
            <a:off x="7572375" y="1714500"/>
            <a:ext cx="1357313" cy="1016000"/>
          </a:xfrm>
          <a:prstGeom prst="rect">
            <a:avLst/>
          </a:prstGeom>
          <a:noFill/>
          <a:ln w="9525">
            <a:noFill/>
            <a:miter lim="800000"/>
            <a:headEnd/>
            <a:tailEnd/>
          </a:ln>
        </p:spPr>
        <p:txBody>
          <a:bodyPr>
            <a:spAutoFit/>
          </a:bodyPr>
          <a:lstStyle/>
          <a:p>
            <a:r>
              <a:rPr lang="en-US" altLang="ja-JP" sz="2000"/>
              <a:t>Marketing</a:t>
            </a:r>
            <a:br>
              <a:rPr lang="en-US" altLang="ja-JP" sz="2000"/>
            </a:br>
            <a:r>
              <a:rPr lang="en-US" altLang="ja-JP" sz="2000"/>
              <a:t>&amp;</a:t>
            </a:r>
          </a:p>
          <a:p>
            <a:r>
              <a:rPr lang="en-US" altLang="ja-JP" sz="2000"/>
              <a:t>Education</a:t>
            </a:r>
            <a:endParaRPr lang="ja-JP" altLang="en-US" sz="2000"/>
          </a:p>
        </p:txBody>
      </p:sp>
      <p:pic>
        <p:nvPicPr>
          <p:cNvPr id="29712" name="Picture 17" descr="MCj04378490000[1]"/>
          <p:cNvPicPr>
            <a:picLocks noChangeAspect="1" noChangeArrowheads="1"/>
          </p:cNvPicPr>
          <p:nvPr/>
        </p:nvPicPr>
        <p:blipFill>
          <a:blip r:embed="rId10"/>
          <a:srcRect/>
          <a:stretch>
            <a:fillRect/>
          </a:stretch>
        </p:blipFill>
        <p:spPr bwMode="auto">
          <a:xfrm>
            <a:off x="3059113" y="3355975"/>
            <a:ext cx="1481137" cy="1481138"/>
          </a:xfrm>
          <a:prstGeom prst="rect">
            <a:avLst/>
          </a:prstGeom>
          <a:noFill/>
          <a:ln w="9525">
            <a:noFill/>
            <a:miter lim="800000"/>
            <a:headEnd/>
            <a:tailEnd/>
          </a:ln>
        </p:spPr>
      </p:pic>
      <p:sp>
        <p:nvSpPr>
          <p:cNvPr id="29713" name="テキスト ボックス 28"/>
          <p:cNvSpPr txBox="1">
            <a:spLocks noChangeArrowheads="1"/>
          </p:cNvSpPr>
          <p:nvPr/>
        </p:nvSpPr>
        <p:spPr bwMode="auto">
          <a:xfrm>
            <a:off x="2987675" y="3213100"/>
            <a:ext cx="1562100" cy="396875"/>
          </a:xfrm>
          <a:prstGeom prst="rect">
            <a:avLst/>
          </a:prstGeom>
          <a:noFill/>
          <a:ln w="9525">
            <a:noFill/>
            <a:miter lim="800000"/>
            <a:headEnd/>
            <a:tailEnd/>
          </a:ln>
        </p:spPr>
        <p:txBody>
          <a:bodyPr>
            <a:spAutoFit/>
          </a:bodyPr>
          <a:lstStyle/>
          <a:p>
            <a:r>
              <a:rPr lang="en-US" altLang="ja-JP" sz="2000"/>
              <a:t>Distribution</a:t>
            </a:r>
          </a:p>
        </p:txBody>
      </p:sp>
      <p:pic>
        <p:nvPicPr>
          <p:cNvPr id="29714" name="Picture 19" descr="MCj04348250000[1]"/>
          <p:cNvPicPr>
            <a:picLocks noChangeAspect="1" noChangeArrowheads="1"/>
          </p:cNvPicPr>
          <p:nvPr/>
        </p:nvPicPr>
        <p:blipFill>
          <a:blip r:embed="rId11"/>
          <a:srcRect/>
          <a:stretch>
            <a:fillRect/>
          </a:stretch>
        </p:blipFill>
        <p:spPr bwMode="auto">
          <a:xfrm>
            <a:off x="4716463" y="3500438"/>
            <a:ext cx="1223962" cy="1223962"/>
          </a:xfrm>
          <a:prstGeom prst="rect">
            <a:avLst/>
          </a:prstGeom>
          <a:noFill/>
          <a:ln w="9525">
            <a:noFill/>
            <a:miter lim="800000"/>
            <a:headEnd/>
            <a:tailEnd/>
          </a:ln>
        </p:spPr>
      </p:pic>
      <p:sp>
        <p:nvSpPr>
          <p:cNvPr id="29715" name="テキスト ボックス 28"/>
          <p:cNvSpPr txBox="1">
            <a:spLocks noChangeArrowheads="1"/>
          </p:cNvSpPr>
          <p:nvPr/>
        </p:nvSpPr>
        <p:spPr bwMode="auto">
          <a:xfrm>
            <a:off x="4594225" y="2997200"/>
            <a:ext cx="1562100" cy="1006475"/>
          </a:xfrm>
          <a:prstGeom prst="rect">
            <a:avLst/>
          </a:prstGeom>
          <a:noFill/>
          <a:ln w="9525">
            <a:noFill/>
            <a:miter lim="800000"/>
            <a:headEnd/>
            <a:tailEnd/>
          </a:ln>
        </p:spPr>
        <p:txBody>
          <a:bodyPr>
            <a:spAutoFit/>
          </a:bodyPr>
          <a:lstStyle/>
          <a:p>
            <a:r>
              <a:rPr lang="en-US" altLang="ja-JP" sz="2000"/>
              <a:t>Test </a:t>
            </a:r>
          </a:p>
          <a:p>
            <a:r>
              <a:rPr lang="en-US" altLang="ja-JP" sz="2000"/>
              <a:t>&amp;</a:t>
            </a:r>
          </a:p>
          <a:p>
            <a:r>
              <a:rPr lang="en-US" altLang="ja-JP" sz="2000"/>
              <a:t>Certification</a:t>
            </a: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タイトル 1"/>
          <p:cNvSpPr>
            <a:spLocks noGrp="1"/>
          </p:cNvSpPr>
          <p:nvPr>
            <p:ph type="title" idx="4294967295"/>
          </p:nvPr>
        </p:nvSpPr>
        <p:spPr/>
        <p:txBody>
          <a:bodyPr/>
          <a:lstStyle/>
          <a:p>
            <a:pPr eaLnBrk="1" hangingPunct="1"/>
            <a:r>
              <a:rPr lang="en-US" altLang="ja-JP" smtClean="0"/>
              <a:t>EM Development Flow</a:t>
            </a:r>
            <a:endParaRPr lang="ja-JP" altLang="en-US" smtClean="0"/>
          </a:p>
        </p:txBody>
      </p:sp>
      <p:sp>
        <p:nvSpPr>
          <p:cNvPr id="31746" name="コンテンツ プレースホルダ 2"/>
          <p:cNvSpPr>
            <a:spLocks noGrp="1"/>
          </p:cNvSpPr>
          <p:nvPr>
            <p:ph idx="4294967295"/>
          </p:nvPr>
        </p:nvSpPr>
        <p:spPr/>
        <p:txBody>
          <a:bodyPr/>
          <a:lstStyle/>
          <a:p>
            <a:pPr eaLnBrk="1" hangingPunct="1"/>
            <a:r>
              <a:rPr lang="ja-JP" altLang="en-US" sz="2800" smtClean="0"/>
              <a:t>ＷＧでロードマップを作成</a:t>
            </a:r>
            <a:endParaRPr lang="en-US" altLang="ja-JP" sz="2800" smtClean="0"/>
          </a:p>
          <a:p>
            <a:pPr lvl="1" eaLnBrk="1" hangingPunct="1"/>
            <a:r>
              <a:rPr lang="ja-JP" altLang="en-US" sz="2400" smtClean="0"/>
              <a:t>市場調査</a:t>
            </a:r>
            <a:endParaRPr lang="en-US" altLang="ja-JP" sz="2400" smtClean="0"/>
          </a:p>
          <a:p>
            <a:pPr lvl="1" eaLnBrk="1" hangingPunct="1"/>
            <a:r>
              <a:rPr lang="ja-JP" altLang="en-US" sz="2400" smtClean="0"/>
              <a:t>要求仕様の洗い出し</a:t>
            </a:r>
            <a:endParaRPr lang="en-US" altLang="ja-JP" sz="2400" smtClean="0"/>
          </a:p>
          <a:p>
            <a:pPr lvl="1" eaLnBrk="1" hangingPunct="1"/>
            <a:r>
              <a:rPr lang="ja-JP" altLang="en-US" sz="2400" smtClean="0"/>
              <a:t>フレームワークの設計</a:t>
            </a:r>
            <a:endParaRPr lang="en-US" altLang="ja-JP" sz="2400" smtClean="0"/>
          </a:p>
          <a:p>
            <a:pPr eaLnBrk="1" hangingPunct="1"/>
            <a:r>
              <a:rPr lang="ja-JP" altLang="en-US" sz="2800" smtClean="0"/>
              <a:t>開発項目単位での</a:t>
            </a:r>
            <a:r>
              <a:rPr lang="en-US" altLang="ja-JP" sz="2800" smtClean="0"/>
              <a:t>Project</a:t>
            </a:r>
            <a:r>
              <a:rPr lang="ja-JP" altLang="en-US" sz="2800" smtClean="0"/>
              <a:t>を組織</a:t>
            </a:r>
            <a:endParaRPr lang="en-US" altLang="ja-JP" sz="2800" smtClean="0"/>
          </a:p>
          <a:p>
            <a:pPr lvl="1" eaLnBrk="1" hangingPunct="1"/>
            <a:r>
              <a:rPr lang="ja-JP" altLang="en-US" sz="2400" smtClean="0"/>
              <a:t>開発作業</a:t>
            </a:r>
            <a:endParaRPr lang="en-US" altLang="ja-JP" sz="2400" smtClean="0"/>
          </a:p>
          <a:p>
            <a:pPr lvl="1" eaLnBrk="1" hangingPunct="1"/>
            <a:r>
              <a:rPr lang="ja-JP" altLang="en-US" sz="2400" smtClean="0"/>
              <a:t>開発助成金の支出</a:t>
            </a:r>
            <a:endParaRPr lang="en-US" altLang="ja-JP" sz="2400" smtClean="0"/>
          </a:p>
          <a:p>
            <a:pPr lvl="1" eaLnBrk="1" hangingPunct="1"/>
            <a:r>
              <a:rPr lang="ja-JP" altLang="en-US" sz="2400" smtClean="0"/>
              <a:t>必要に応じてライセンスの取得</a:t>
            </a:r>
            <a:endParaRPr lang="en-US" altLang="ja-JP" sz="2400" smtClean="0"/>
          </a:p>
          <a:p>
            <a:pPr eaLnBrk="1" hangingPunct="1"/>
            <a:r>
              <a:rPr lang="en-US" altLang="ja-JP" sz="2800" smtClean="0"/>
              <a:t>Project</a:t>
            </a:r>
            <a:r>
              <a:rPr lang="ja-JP" altLang="en-US" sz="2800" smtClean="0"/>
              <a:t>の成果を集約</a:t>
            </a:r>
            <a:endParaRPr lang="en-US" altLang="ja-JP" sz="2800" smtClean="0"/>
          </a:p>
          <a:p>
            <a:pPr lvl="1" eaLnBrk="1" hangingPunct="1"/>
            <a:r>
              <a:rPr lang="en-US" altLang="ja-JP" sz="2400" smtClean="0"/>
              <a:t>Embedded Master</a:t>
            </a:r>
            <a:r>
              <a:rPr lang="ja-JP" altLang="en-US" sz="2400" smtClean="0"/>
              <a:t>のリリース</a:t>
            </a:r>
            <a:endParaRPr lang="en-US" altLang="ja-JP" sz="2400" smtClean="0"/>
          </a:p>
          <a:p>
            <a:pPr eaLnBrk="1" hangingPunct="1"/>
            <a:endParaRPr lang="ja-JP" altLang="en-US" sz="280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3" name="タイトル 1"/>
          <p:cNvSpPr>
            <a:spLocks noGrp="1"/>
          </p:cNvSpPr>
          <p:nvPr>
            <p:ph type="title" idx="4294967295"/>
          </p:nvPr>
        </p:nvSpPr>
        <p:spPr/>
        <p:txBody>
          <a:bodyPr/>
          <a:lstStyle/>
          <a:p>
            <a:pPr eaLnBrk="1" hangingPunct="1"/>
            <a:r>
              <a:rPr lang="en-US" altLang="ja-JP" smtClean="0"/>
              <a:t>Android</a:t>
            </a:r>
            <a:r>
              <a:rPr lang="ja-JP" altLang="en-US" smtClean="0"/>
              <a:t>のフレームワークの拡張</a:t>
            </a:r>
          </a:p>
        </p:txBody>
      </p:sp>
      <p:sp>
        <p:nvSpPr>
          <p:cNvPr id="3" name="コンテンツ プレースホルダ 2"/>
          <p:cNvSpPr>
            <a:spLocks noGrp="1"/>
          </p:cNvSpPr>
          <p:nvPr>
            <p:ph idx="4294967295"/>
          </p:nvPr>
        </p:nvSpPr>
        <p:spPr>
          <a:xfrm>
            <a:off x="457200" y="1285875"/>
            <a:ext cx="8229600" cy="571500"/>
          </a:xfrm>
        </p:spPr>
        <p:txBody>
          <a:bodyPr rtlCol="0">
            <a:normAutofit lnSpcReduction="10000"/>
          </a:bodyPr>
          <a:lstStyle/>
          <a:p>
            <a:pPr eaLnBrk="1" fontAlgn="auto" hangingPunct="1">
              <a:spcAft>
                <a:spcPts val="0"/>
              </a:spcAft>
              <a:buFont typeface="Arial" pitchFamily="34" charset="0"/>
              <a:buChar char="•"/>
              <a:defRPr/>
            </a:pPr>
            <a:r>
              <a:rPr lang="ja-JP" altLang="en-US" dirty="0" smtClean="0"/>
              <a:t>組み込み業種向けに拡張</a:t>
            </a:r>
            <a:endParaRPr lang="ja-JP" altLang="en-US" dirty="0"/>
          </a:p>
        </p:txBody>
      </p:sp>
      <p:pic>
        <p:nvPicPr>
          <p:cNvPr id="33795" name="Picture 2" descr="Android System Architecture"/>
          <p:cNvPicPr>
            <a:picLocks noChangeAspect="1" noChangeArrowheads="1"/>
          </p:cNvPicPr>
          <p:nvPr/>
        </p:nvPicPr>
        <p:blipFill>
          <a:blip r:embed="rId3"/>
          <a:srcRect/>
          <a:stretch>
            <a:fillRect/>
          </a:stretch>
        </p:blipFill>
        <p:spPr bwMode="auto">
          <a:xfrm>
            <a:off x="357188" y="1785938"/>
            <a:ext cx="6000750" cy="4214812"/>
          </a:xfrm>
          <a:prstGeom prst="rect">
            <a:avLst/>
          </a:prstGeom>
          <a:noFill/>
          <a:ln w="9525">
            <a:noFill/>
            <a:miter lim="800000"/>
            <a:headEnd/>
            <a:tailEnd/>
          </a:ln>
        </p:spPr>
      </p:pic>
      <p:sp>
        <p:nvSpPr>
          <p:cNvPr id="5" name="角丸四角形吹き出し 4"/>
          <p:cNvSpPr/>
          <p:nvPr/>
        </p:nvSpPr>
        <p:spPr>
          <a:xfrm>
            <a:off x="6786563" y="5286375"/>
            <a:ext cx="1928812" cy="714375"/>
          </a:xfrm>
          <a:prstGeom prst="wedgeRoundRectCallout">
            <a:avLst>
              <a:gd name="adj1" fmla="val -74661"/>
              <a:gd name="adj2" fmla="val -136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ja-JP" altLang="en-US" dirty="0"/>
              <a:t>新規ドライバの開発</a:t>
            </a:r>
          </a:p>
        </p:txBody>
      </p:sp>
      <p:sp>
        <p:nvSpPr>
          <p:cNvPr id="6" name="角丸四角形吹き出し 5"/>
          <p:cNvSpPr/>
          <p:nvPr/>
        </p:nvSpPr>
        <p:spPr>
          <a:xfrm>
            <a:off x="6786563" y="4071938"/>
            <a:ext cx="1928812" cy="714375"/>
          </a:xfrm>
          <a:prstGeom prst="wedgeRoundRectCallout">
            <a:avLst>
              <a:gd name="adj1" fmla="val -75629"/>
              <a:gd name="adj2" fmla="val 5429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ja-JP" altLang="en-US" dirty="0"/>
              <a:t>新規ライブラリの開発</a:t>
            </a:r>
          </a:p>
        </p:txBody>
      </p:sp>
      <p:sp>
        <p:nvSpPr>
          <p:cNvPr id="7" name="角丸四角形吹き出し 6"/>
          <p:cNvSpPr/>
          <p:nvPr/>
        </p:nvSpPr>
        <p:spPr>
          <a:xfrm>
            <a:off x="6786563" y="3071813"/>
            <a:ext cx="1928812" cy="714375"/>
          </a:xfrm>
          <a:prstGeom prst="wedgeRoundRectCallout">
            <a:avLst>
              <a:gd name="adj1" fmla="val -77564"/>
              <a:gd name="adj2" fmla="val -4497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ja-JP" altLang="en-US" dirty="0"/>
              <a:t>業種向けフレームワークの開発</a:t>
            </a:r>
          </a:p>
        </p:txBody>
      </p:sp>
      <p:sp>
        <p:nvSpPr>
          <p:cNvPr id="8" name="角丸四角形吹き出し 7"/>
          <p:cNvSpPr>
            <a:spLocks noChangeArrowheads="1"/>
          </p:cNvSpPr>
          <p:nvPr/>
        </p:nvSpPr>
        <p:spPr bwMode="auto">
          <a:xfrm>
            <a:off x="6786563" y="2000250"/>
            <a:ext cx="2106612" cy="714375"/>
          </a:xfrm>
          <a:prstGeom prst="wedgeRoundRectCallout">
            <a:avLst>
              <a:gd name="adj1" fmla="val -75245"/>
              <a:gd name="adj2" fmla="val -44889"/>
              <a:gd name="adj3" fmla="val 16667"/>
            </a:avLst>
          </a:prstGeom>
          <a:solidFill>
            <a:schemeClr val="accent1"/>
          </a:solidFill>
          <a:ln w="25400" algn="ctr">
            <a:solidFill>
              <a:srgbClr val="385D8A"/>
            </a:solidFill>
            <a:miter lim="800000"/>
            <a:headEnd/>
            <a:tailEnd/>
          </a:ln>
        </p:spPr>
        <p:txBody>
          <a:bodyPr anchor="ctr"/>
          <a:lstStyle/>
          <a:p>
            <a:pPr fontAlgn="auto">
              <a:spcBef>
                <a:spcPts val="0"/>
              </a:spcBef>
              <a:spcAft>
                <a:spcPts val="0"/>
              </a:spcAft>
              <a:defRPr/>
            </a:pPr>
            <a:r>
              <a:rPr lang="ja-JP" altLang="en-US" dirty="0">
                <a:solidFill>
                  <a:schemeClr val="lt1"/>
                </a:solidFill>
                <a:latin typeface="+mn-lt"/>
                <a:ea typeface="+mn-ea"/>
              </a:rPr>
              <a:t>標準的アプリケーションの開発</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p:nvPr>
        </p:nvSpPr>
        <p:spPr/>
        <p:txBody>
          <a:bodyPr/>
          <a:lstStyle/>
          <a:p>
            <a:pPr eaLnBrk="1" hangingPunct="1"/>
            <a:r>
              <a:rPr lang="en-US" altLang="ja-JP" sz="4000" smtClean="0"/>
              <a:t>EM ECO System</a:t>
            </a:r>
            <a:endParaRPr lang="ja-JP" altLang="en-US" sz="4000" smtClean="0"/>
          </a:p>
        </p:txBody>
      </p:sp>
      <p:grpSp>
        <p:nvGrpSpPr>
          <p:cNvPr id="35842" name="Group 16"/>
          <p:cNvGrpSpPr>
            <a:grpSpLocks/>
          </p:cNvGrpSpPr>
          <p:nvPr/>
        </p:nvGrpSpPr>
        <p:grpSpPr bwMode="auto">
          <a:xfrm>
            <a:off x="2198688" y="1484313"/>
            <a:ext cx="4605337" cy="4806950"/>
            <a:chOff x="1474" y="981"/>
            <a:chExt cx="2901" cy="3028"/>
          </a:xfrm>
        </p:grpSpPr>
        <p:pic>
          <p:nvPicPr>
            <p:cNvPr id="35850" name="Picture 14" descr="MCj03449650000[1]"/>
            <p:cNvPicPr>
              <a:picLocks noChangeAspect="1" noChangeArrowheads="1"/>
            </p:cNvPicPr>
            <p:nvPr/>
          </p:nvPicPr>
          <p:blipFill>
            <a:blip r:embed="rId3"/>
            <a:srcRect/>
            <a:stretch>
              <a:fillRect/>
            </a:stretch>
          </p:blipFill>
          <p:spPr bwMode="auto">
            <a:xfrm>
              <a:off x="1474" y="981"/>
              <a:ext cx="2901" cy="3028"/>
            </a:xfrm>
            <a:prstGeom prst="rect">
              <a:avLst/>
            </a:prstGeom>
            <a:noFill/>
            <a:ln w="9525">
              <a:noFill/>
              <a:miter lim="800000"/>
              <a:headEnd/>
              <a:tailEnd/>
            </a:ln>
          </p:spPr>
        </p:pic>
        <p:sp>
          <p:nvSpPr>
            <p:cNvPr id="35851" name="Rectangle 15"/>
            <p:cNvSpPr>
              <a:spLocks noChangeArrowheads="1"/>
            </p:cNvSpPr>
            <p:nvPr/>
          </p:nvSpPr>
          <p:spPr bwMode="auto">
            <a:xfrm>
              <a:off x="2109" y="2160"/>
              <a:ext cx="1678" cy="862"/>
            </a:xfrm>
            <a:prstGeom prst="rect">
              <a:avLst/>
            </a:prstGeom>
            <a:solidFill>
              <a:schemeClr val="bg1"/>
            </a:solidFill>
            <a:ln w="9525" algn="ctr">
              <a:noFill/>
              <a:miter lim="800000"/>
              <a:headEnd/>
              <a:tailEnd/>
            </a:ln>
          </p:spPr>
          <p:txBody>
            <a:bodyPr wrap="none" anchor="ctr"/>
            <a:lstStyle/>
            <a:p>
              <a:pPr>
                <a:spcBef>
                  <a:spcPct val="20000"/>
                </a:spcBef>
                <a:buFont typeface="Arial" charset="0"/>
                <a:buChar char="•"/>
              </a:pPr>
              <a:endParaRPr lang="ja-JP" altLang="en-US"/>
            </a:p>
          </p:txBody>
        </p:sp>
      </p:grpSp>
      <p:sp>
        <p:nvSpPr>
          <p:cNvPr id="95249" name="Rectangle 17"/>
          <p:cNvSpPr>
            <a:spLocks noGrp="1"/>
          </p:cNvSpPr>
          <p:nvPr>
            <p:ph type="body" idx="1"/>
          </p:nvPr>
        </p:nvSpPr>
        <p:spPr>
          <a:xfrm>
            <a:off x="323850" y="1412875"/>
            <a:ext cx="4114800" cy="2232025"/>
          </a:xfrm>
        </p:spPr>
        <p:txBody>
          <a:bodyPr/>
          <a:lstStyle/>
          <a:p>
            <a:pPr eaLnBrk="1" hangingPunct="1">
              <a:lnSpc>
                <a:spcPct val="90000"/>
              </a:lnSpc>
            </a:pPr>
            <a:r>
              <a:rPr lang="en-US" altLang="ja-JP" sz="2400" smtClean="0">
                <a:solidFill>
                  <a:srgbClr val="FF0066"/>
                </a:solidFill>
              </a:rPr>
              <a:t>Specification</a:t>
            </a:r>
          </a:p>
          <a:p>
            <a:pPr lvl="1" eaLnBrk="1" hangingPunct="1">
              <a:lnSpc>
                <a:spcPct val="90000"/>
              </a:lnSpc>
            </a:pPr>
            <a:r>
              <a:rPr lang="ja-JP" altLang="en-US" sz="2000" smtClean="0"/>
              <a:t>プロダクト型</a:t>
            </a:r>
            <a:r>
              <a:rPr lang="en-US" altLang="ja-JP" sz="2000" smtClean="0"/>
              <a:t>WG</a:t>
            </a:r>
          </a:p>
          <a:p>
            <a:pPr lvl="2" eaLnBrk="1" hangingPunct="1">
              <a:lnSpc>
                <a:spcPct val="90000"/>
              </a:lnSpc>
            </a:pPr>
            <a:r>
              <a:rPr lang="en-US" altLang="ja-JP" sz="1800" smtClean="0"/>
              <a:t>STB WG</a:t>
            </a:r>
          </a:p>
          <a:p>
            <a:pPr lvl="2" eaLnBrk="1" hangingPunct="1">
              <a:lnSpc>
                <a:spcPct val="90000"/>
              </a:lnSpc>
            </a:pPr>
            <a:r>
              <a:rPr lang="en-US" altLang="ja-JP" sz="1800" smtClean="0"/>
              <a:t>IP-Comps &amp; VoIP WG</a:t>
            </a:r>
            <a:endParaRPr lang="ja-JP" altLang="en-US" sz="1800" smtClean="0"/>
          </a:p>
          <a:p>
            <a:pPr lvl="1" eaLnBrk="1" hangingPunct="1">
              <a:lnSpc>
                <a:spcPct val="90000"/>
              </a:lnSpc>
            </a:pPr>
            <a:r>
              <a:rPr lang="ja-JP" altLang="en-US" sz="1800" smtClean="0"/>
              <a:t>テクノロジー型</a:t>
            </a:r>
            <a:r>
              <a:rPr lang="en-US" altLang="ja-JP" sz="1800" smtClean="0"/>
              <a:t>WG</a:t>
            </a:r>
          </a:p>
          <a:p>
            <a:pPr lvl="2" eaLnBrk="1" hangingPunct="1">
              <a:lnSpc>
                <a:spcPct val="90000"/>
              </a:lnSpc>
            </a:pPr>
            <a:r>
              <a:rPr lang="en-US" altLang="ja-JP" sz="1600" smtClean="0"/>
              <a:t>Net&amp;Sec WG</a:t>
            </a:r>
          </a:p>
          <a:p>
            <a:pPr lvl="2" eaLnBrk="1" hangingPunct="1">
              <a:lnSpc>
                <a:spcPct val="90000"/>
              </a:lnSpc>
            </a:pPr>
            <a:r>
              <a:rPr lang="en-US" altLang="ja-JP" sz="1600" smtClean="0"/>
              <a:t>System Core WG</a:t>
            </a:r>
          </a:p>
        </p:txBody>
      </p:sp>
      <p:sp>
        <p:nvSpPr>
          <p:cNvPr id="95250" name="Rectangle 18"/>
          <p:cNvSpPr>
            <a:spLocks/>
          </p:cNvSpPr>
          <p:nvPr/>
        </p:nvSpPr>
        <p:spPr bwMode="auto">
          <a:xfrm>
            <a:off x="1978025" y="5516563"/>
            <a:ext cx="4681538" cy="1855787"/>
          </a:xfrm>
          <a:prstGeom prst="rect">
            <a:avLst/>
          </a:prstGeom>
          <a:noFill/>
          <a:ln w="9525">
            <a:noFill/>
            <a:miter lim="800000"/>
            <a:headEnd/>
            <a:tailEnd/>
          </a:ln>
        </p:spPr>
        <p:txBody>
          <a:bodyPr/>
          <a:lstStyle/>
          <a:p>
            <a:pPr marL="342900" indent="-342900" algn="l">
              <a:spcBef>
                <a:spcPct val="20000"/>
              </a:spcBef>
              <a:buFont typeface="Arial" charset="0"/>
              <a:buChar char="•"/>
            </a:pPr>
            <a:r>
              <a:rPr lang="en-US" altLang="ja-JP" sz="3200">
                <a:solidFill>
                  <a:srgbClr val="FF0066"/>
                </a:solidFill>
              </a:rPr>
              <a:t>Certification &amp; Testing</a:t>
            </a:r>
          </a:p>
          <a:p>
            <a:pPr marL="742950" lvl="1" indent="-285750" algn="l">
              <a:spcBef>
                <a:spcPct val="20000"/>
              </a:spcBef>
              <a:buFont typeface="Arial" charset="0"/>
              <a:buChar char="–"/>
            </a:pPr>
            <a:r>
              <a:rPr lang="en-US" altLang="ja-JP" sz="2400"/>
              <a:t>Test &amp; Certification WG</a:t>
            </a:r>
          </a:p>
          <a:p>
            <a:pPr marL="742950" lvl="1" indent="-285750" algn="l">
              <a:spcBef>
                <a:spcPct val="20000"/>
              </a:spcBef>
              <a:buFont typeface="Arial" charset="0"/>
              <a:buChar char="–"/>
            </a:pPr>
            <a:r>
              <a:rPr lang="en-US" altLang="ja-JP" sz="2400"/>
              <a:t>CE WG</a:t>
            </a:r>
          </a:p>
        </p:txBody>
      </p:sp>
      <p:sp>
        <p:nvSpPr>
          <p:cNvPr id="95251" name="Rectangle 19"/>
          <p:cNvSpPr>
            <a:spLocks/>
          </p:cNvSpPr>
          <p:nvPr/>
        </p:nvSpPr>
        <p:spPr bwMode="auto">
          <a:xfrm>
            <a:off x="5651500" y="2852738"/>
            <a:ext cx="4105275" cy="1512887"/>
          </a:xfrm>
          <a:prstGeom prst="rect">
            <a:avLst/>
          </a:prstGeom>
          <a:noFill/>
          <a:ln w="9525">
            <a:noFill/>
            <a:miter lim="800000"/>
            <a:headEnd/>
            <a:tailEnd/>
          </a:ln>
        </p:spPr>
        <p:txBody>
          <a:bodyPr/>
          <a:lstStyle/>
          <a:p>
            <a:pPr marL="342900" indent="-342900" algn="l">
              <a:spcBef>
                <a:spcPct val="20000"/>
              </a:spcBef>
              <a:buFont typeface="Arial" charset="0"/>
              <a:buChar char="•"/>
            </a:pPr>
            <a:r>
              <a:rPr lang="en-US" altLang="ja-JP" sz="3200">
                <a:solidFill>
                  <a:srgbClr val="FF0066"/>
                </a:solidFill>
              </a:rPr>
              <a:t>Profiling</a:t>
            </a:r>
          </a:p>
          <a:p>
            <a:pPr marL="742950" lvl="1" indent="-285750" algn="l">
              <a:spcBef>
                <a:spcPct val="20000"/>
              </a:spcBef>
              <a:buFont typeface="Arial" charset="0"/>
              <a:buChar char="–"/>
            </a:pPr>
            <a:r>
              <a:rPr lang="en-US" altLang="ja-JP" sz="2800"/>
              <a:t>App&amp;Serv WG</a:t>
            </a:r>
          </a:p>
          <a:p>
            <a:pPr marL="1143000" lvl="2" indent="-228600" algn="l">
              <a:spcBef>
                <a:spcPct val="20000"/>
              </a:spcBef>
              <a:buFont typeface="Arial" charset="0"/>
              <a:buChar char="•"/>
            </a:pPr>
            <a:r>
              <a:rPr lang="en-US" altLang="ja-JP" sz="2400"/>
              <a:t>Market Place Prj</a:t>
            </a:r>
            <a:endParaRPr lang="ja-JP" altLang="en-US" sz="2800"/>
          </a:p>
        </p:txBody>
      </p:sp>
      <p:sp>
        <p:nvSpPr>
          <p:cNvPr id="95252" name="Rectangle 20"/>
          <p:cNvSpPr>
            <a:spLocks/>
          </p:cNvSpPr>
          <p:nvPr/>
        </p:nvSpPr>
        <p:spPr bwMode="auto">
          <a:xfrm>
            <a:off x="4284663" y="1339850"/>
            <a:ext cx="4608512" cy="1225550"/>
          </a:xfrm>
          <a:prstGeom prst="rect">
            <a:avLst/>
          </a:prstGeom>
          <a:noFill/>
          <a:ln w="9525">
            <a:noFill/>
            <a:miter lim="800000"/>
            <a:headEnd/>
            <a:tailEnd/>
          </a:ln>
        </p:spPr>
        <p:txBody>
          <a:bodyPr/>
          <a:lstStyle/>
          <a:p>
            <a:pPr marL="342900" indent="-342900" algn="l">
              <a:spcBef>
                <a:spcPct val="20000"/>
              </a:spcBef>
              <a:buFont typeface="Arial" charset="0"/>
              <a:buChar char="•"/>
            </a:pPr>
            <a:r>
              <a:rPr lang="ja-JP" altLang="en-US" sz="2400">
                <a:solidFill>
                  <a:schemeClr val="hlink"/>
                </a:solidFill>
              </a:rPr>
              <a:t>新たなる商流</a:t>
            </a:r>
          </a:p>
          <a:p>
            <a:pPr marL="742950" lvl="1" indent="-285750" algn="l">
              <a:spcBef>
                <a:spcPct val="20000"/>
              </a:spcBef>
              <a:buFont typeface="Arial" charset="0"/>
              <a:buChar char="–"/>
            </a:pPr>
            <a:r>
              <a:rPr lang="ja-JP" altLang="en-US" sz="2000"/>
              <a:t>マッシュアップによるコラボ</a:t>
            </a:r>
          </a:p>
          <a:p>
            <a:pPr marL="742950" lvl="1" indent="-285750" algn="l">
              <a:spcBef>
                <a:spcPct val="20000"/>
              </a:spcBef>
              <a:buFont typeface="Arial" charset="0"/>
              <a:buChar char="–"/>
            </a:pPr>
            <a:r>
              <a:rPr lang="ja-JP" altLang="en-US" sz="2000"/>
              <a:t>アプリ開発者からのフィードバック</a:t>
            </a:r>
            <a:endParaRPr lang="ja-JP" altLang="en-US" sz="2400"/>
          </a:p>
        </p:txBody>
      </p:sp>
      <p:sp>
        <p:nvSpPr>
          <p:cNvPr id="95253" name="Rectangle 21"/>
          <p:cNvSpPr>
            <a:spLocks/>
          </p:cNvSpPr>
          <p:nvPr/>
        </p:nvSpPr>
        <p:spPr bwMode="auto">
          <a:xfrm>
            <a:off x="5580063" y="4581525"/>
            <a:ext cx="3563937" cy="1584325"/>
          </a:xfrm>
          <a:prstGeom prst="rect">
            <a:avLst/>
          </a:prstGeom>
          <a:noFill/>
          <a:ln w="9525">
            <a:noFill/>
            <a:miter lim="800000"/>
            <a:headEnd/>
            <a:tailEnd/>
          </a:ln>
        </p:spPr>
        <p:txBody>
          <a:bodyPr/>
          <a:lstStyle/>
          <a:p>
            <a:pPr marL="342900" indent="-342900" algn="l">
              <a:spcBef>
                <a:spcPct val="20000"/>
              </a:spcBef>
              <a:buFont typeface="Arial" charset="0"/>
              <a:buChar char="•"/>
            </a:pPr>
            <a:r>
              <a:rPr lang="ja-JP" altLang="en-US" sz="2400">
                <a:solidFill>
                  <a:schemeClr val="hlink"/>
                </a:solidFill>
              </a:rPr>
              <a:t>新たなる機器群の登場</a:t>
            </a:r>
          </a:p>
          <a:p>
            <a:pPr marL="742950" lvl="1" indent="-285750" algn="l">
              <a:spcBef>
                <a:spcPct val="20000"/>
              </a:spcBef>
              <a:buFont typeface="Arial" charset="0"/>
              <a:buChar char="–"/>
            </a:pPr>
            <a:r>
              <a:rPr lang="ja-JP" altLang="en-US" sz="2000"/>
              <a:t>アプリフレームワークレベルで互換性が取れた製品</a:t>
            </a:r>
          </a:p>
          <a:p>
            <a:pPr marL="742950" lvl="1" indent="-285750" algn="l">
              <a:spcBef>
                <a:spcPct val="20000"/>
              </a:spcBef>
              <a:buFont typeface="Arial" charset="0"/>
              <a:buChar char="–"/>
            </a:pPr>
            <a:r>
              <a:rPr lang="ja-JP" altLang="en-US" sz="2000"/>
              <a:t>多品種少量生産</a:t>
            </a:r>
          </a:p>
        </p:txBody>
      </p:sp>
      <p:sp>
        <p:nvSpPr>
          <p:cNvPr id="95254" name="Rectangle 22"/>
          <p:cNvSpPr>
            <a:spLocks/>
          </p:cNvSpPr>
          <p:nvPr/>
        </p:nvSpPr>
        <p:spPr bwMode="auto">
          <a:xfrm>
            <a:off x="0" y="4005263"/>
            <a:ext cx="3276600" cy="2016125"/>
          </a:xfrm>
          <a:prstGeom prst="rect">
            <a:avLst/>
          </a:prstGeom>
          <a:noFill/>
          <a:ln w="9525">
            <a:noFill/>
            <a:miter lim="800000"/>
            <a:headEnd/>
            <a:tailEnd/>
          </a:ln>
        </p:spPr>
        <p:txBody>
          <a:bodyPr/>
          <a:lstStyle/>
          <a:p>
            <a:pPr marL="342900" indent="-342900" algn="l">
              <a:spcBef>
                <a:spcPct val="20000"/>
              </a:spcBef>
              <a:buFont typeface="Arial" charset="0"/>
              <a:buChar char="•"/>
            </a:pPr>
            <a:r>
              <a:rPr lang="ja-JP" altLang="en-US" sz="2400">
                <a:solidFill>
                  <a:schemeClr val="hlink"/>
                </a:solidFill>
              </a:rPr>
              <a:t>新たなるディストリやコントリビュートの形</a:t>
            </a:r>
          </a:p>
          <a:p>
            <a:pPr marL="742950" lvl="1" indent="-285750" algn="l">
              <a:spcBef>
                <a:spcPct val="20000"/>
              </a:spcBef>
              <a:buFont typeface="Arial" charset="0"/>
              <a:buChar char="–"/>
            </a:pPr>
            <a:r>
              <a:rPr lang="ja-JP" altLang="en-US" sz="1600"/>
              <a:t>アプリフレームワーク</a:t>
            </a:r>
          </a:p>
          <a:p>
            <a:pPr marL="742950" lvl="1" indent="-285750" algn="l">
              <a:spcBef>
                <a:spcPct val="20000"/>
              </a:spcBef>
              <a:buFont typeface="Arial" charset="0"/>
              <a:buChar char="–"/>
            </a:pPr>
            <a:r>
              <a:rPr lang="ja-JP" altLang="en-US" sz="1600"/>
              <a:t>モジュール</a:t>
            </a:r>
            <a:r>
              <a:rPr lang="en-US" altLang="ja-JP" sz="1600"/>
              <a:t>/</a:t>
            </a:r>
            <a:r>
              <a:rPr lang="ja-JP" altLang="en-US" sz="1600"/>
              <a:t>ドライバ</a:t>
            </a:r>
          </a:p>
          <a:p>
            <a:pPr marL="742950" lvl="1" indent="-285750" algn="l">
              <a:spcBef>
                <a:spcPct val="20000"/>
              </a:spcBef>
              <a:buFont typeface="Arial" charset="0"/>
              <a:buChar char="–"/>
            </a:pPr>
            <a:r>
              <a:rPr lang="ja-JP" altLang="en-US" sz="1600"/>
              <a:t>ハードウェア</a:t>
            </a:r>
            <a:r>
              <a:rPr lang="en-US" altLang="ja-JP" sz="1600"/>
              <a:t>Spec</a:t>
            </a:r>
            <a:endParaRPr lang="ja-JP" altLang="en-US" sz="1600"/>
          </a:p>
        </p:txBody>
      </p:sp>
      <p:sp>
        <p:nvSpPr>
          <p:cNvPr id="95255" name="Rectangle 23"/>
          <p:cNvSpPr>
            <a:spLocks/>
          </p:cNvSpPr>
          <p:nvPr/>
        </p:nvSpPr>
        <p:spPr bwMode="auto">
          <a:xfrm>
            <a:off x="3132138" y="3213100"/>
            <a:ext cx="3311525" cy="1655763"/>
          </a:xfrm>
          <a:prstGeom prst="rect">
            <a:avLst/>
          </a:prstGeom>
          <a:noFill/>
          <a:ln w="9525">
            <a:noFill/>
            <a:miter lim="800000"/>
            <a:headEnd/>
            <a:tailEnd/>
          </a:ln>
        </p:spPr>
        <p:txBody>
          <a:bodyPr/>
          <a:lstStyle/>
          <a:p>
            <a:pPr marL="342900" indent="-342900" algn="l">
              <a:lnSpc>
                <a:spcPct val="90000"/>
              </a:lnSpc>
              <a:spcBef>
                <a:spcPct val="20000"/>
              </a:spcBef>
              <a:buFont typeface="Arial" charset="0"/>
              <a:buChar char="•"/>
            </a:pPr>
            <a:r>
              <a:rPr lang="en-US" altLang="ja-JP" sz="2400">
                <a:solidFill>
                  <a:srgbClr val="FF0066"/>
                </a:solidFill>
              </a:rPr>
              <a:t>General</a:t>
            </a:r>
          </a:p>
          <a:p>
            <a:pPr marL="742950" lvl="1" indent="-285750" algn="l">
              <a:lnSpc>
                <a:spcPct val="90000"/>
              </a:lnSpc>
              <a:spcBef>
                <a:spcPct val="20000"/>
              </a:spcBef>
              <a:buFont typeface="Arial" charset="0"/>
              <a:buChar char="–"/>
            </a:pPr>
            <a:r>
              <a:rPr lang="en-US" altLang="ja-JP" sz="2000"/>
              <a:t>Distribution WG</a:t>
            </a:r>
          </a:p>
          <a:p>
            <a:pPr marL="742950" lvl="1" indent="-285750" algn="l">
              <a:lnSpc>
                <a:spcPct val="90000"/>
              </a:lnSpc>
              <a:spcBef>
                <a:spcPct val="20000"/>
              </a:spcBef>
              <a:buFont typeface="Arial" charset="0"/>
              <a:buChar char="–"/>
            </a:pPr>
            <a:r>
              <a:rPr lang="en-US" altLang="ja-JP" sz="2000"/>
              <a:t>Marketing&amp;Edu WG</a:t>
            </a:r>
          </a:p>
          <a:p>
            <a:pPr marL="742950" lvl="1" indent="-285750" algn="l">
              <a:lnSpc>
                <a:spcPct val="90000"/>
              </a:lnSpc>
              <a:spcBef>
                <a:spcPct val="20000"/>
              </a:spcBef>
              <a:buFont typeface="Arial" charset="0"/>
              <a:buChar char="–"/>
            </a:pPr>
            <a:r>
              <a:rPr lang="en-US" altLang="ja-JP" sz="2000"/>
              <a:t>ACP</a:t>
            </a:r>
            <a:endParaRPr lang="ja-JP"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5249">
                                            <p:txEl>
                                              <p:pRg st="1" end="1"/>
                                            </p:txEl>
                                          </p:spTgt>
                                        </p:tgtEl>
                                        <p:attrNameLst>
                                          <p:attrName>style.visibility</p:attrName>
                                        </p:attrNameLst>
                                      </p:cBhvr>
                                      <p:to>
                                        <p:strVal val="visible"/>
                                      </p:to>
                                    </p:set>
                                    <p:anim calcmode="lin" valueType="num">
                                      <p:cBhvr additive="base">
                                        <p:cTn id="7" dur="500" fill="hold"/>
                                        <p:tgtEl>
                                          <p:spTgt spid="9524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5249">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95249">
                                            <p:txEl>
                                              <p:pRg st="2" end="2"/>
                                            </p:txEl>
                                          </p:spTgt>
                                        </p:tgtEl>
                                        <p:attrNameLst>
                                          <p:attrName>style.visibility</p:attrName>
                                        </p:attrNameLst>
                                      </p:cBhvr>
                                      <p:to>
                                        <p:strVal val="visible"/>
                                      </p:to>
                                    </p:set>
                                    <p:anim calcmode="lin" valueType="num">
                                      <p:cBhvr additive="base">
                                        <p:cTn id="11" dur="500" fill="hold"/>
                                        <p:tgtEl>
                                          <p:spTgt spid="95249">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95249">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95249">
                                            <p:txEl>
                                              <p:pRg st="3" end="3"/>
                                            </p:txEl>
                                          </p:spTgt>
                                        </p:tgtEl>
                                        <p:attrNameLst>
                                          <p:attrName>style.visibility</p:attrName>
                                        </p:attrNameLst>
                                      </p:cBhvr>
                                      <p:to>
                                        <p:strVal val="visible"/>
                                      </p:to>
                                    </p:set>
                                    <p:anim calcmode="lin" valueType="num">
                                      <p:cBhvr additive="base">
                                        <p:cTn id="15" dur="500" fill="hold"/>
                                        <p:tgtEl>
                                          <p:spTgt spid="95249">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95249">
                                            <p:txEl>
                                              <p:pRg st="3" end="3"/>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95249">
                                            <p:txEl>
                                              <p:pRg st="4" end="4"/>
                                            </p:txEl>
                                          </p:spTgt>
                                        </p:tgtEl>
                                        <p:attrNameLst>
                                          <p:attrName>style.visibility</p:attrName>
                                        </p:attrNameLst>
                                      </p:cBhvr>
                                      <p:to>
                                        <p:strVal val="visible"/>
                                      </p:to>
                                    </p:set>
                                    <p:anim calcmode="lin" valueType="num">
                                      <p:cBhvr additive="base">
                                        <p:cTn id="19" dur="500" fill="hold"/>
                                        <p:tgtEl>
                                          <p:spTgt spid="9524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5249">
                                            <p:txEl>
                                              <p:pRg st="4" end="4"/>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95249">
                                            <p:txEl>
                                              <p:pRg st="5" end="5"/>
                                            </p:txEl>
                                          </p:spTgt>
                                        </p:tgtEl>
                                        <p:attrNameLst>
                                          <p:attrName>style.visibility</p:attrName>
                                        </p:attrNameLst>
                                      </p:cBhvr>
                                      <p:to>
                                        <p:strVal val="visible"/>
                                      </p:to>
                                    </p:set>
                                    <p:anim calcmode="lin" valueType="num">
                                      <p:cBhvr additive="base">
                                        <p:cTn id="23" dur="500" fill="hold"/>
                                        <p:tgtEl>
                                          <p:spTgt spid="95249">
                                            <p:txEl>
                                              <p:pRg st="5" end="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95249">
                                            <p:txEl>
                                              <p:pRg st="5" end="5"/>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95249">
                                            <p:txEl>
                                              <p:pRg st="6" end="6"/>
                                            </p:txEl>
                                          </p:spTgt>
                                        </p:tgtEl>
                                        <p:attrNameLst>
                                          <p:attrName>style.visibility</p:attrName>
                                        </p:attrNameLst>
                                      </p:cBhvr>
                                      <p:to>
                                        <p:strVal val="visible"/>
                                      </p:to>
                                    </p:set>
                                    <p:anim calcmode="lin" valueType="num">
                                      <p:cBhvr additive="base">
                                        <p:cTn id="27" dur="500" fill="hold"/>
                                        <p:tgtEl>
                                          <p:spTgt spid="95249">
                                            <p:txEl>
                                              <p:pRg st="6" end="6"/>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9524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95254"/>
                                        </p:tgtEl>
                                        <p:attrNameLst>
                                          <p:attrName>style.visibility</p:attrName>
                                        </p:attrNameLst>
                                      </p:cBhvr>
                                      <p:to>
                                        <p:strVal val="visible"/>
                                      </p:to>
                                    </p:set>
                                    <p:animEffect transition="in" filter="blinds(horizontal)">
                                      <p:cBhvr>
                                        <p:cTn id="33" dur="500"/>
                                        <p:tgtEl>
                                          <p:spTgt spid="9525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nodeType="clickEffect">
                                  <p:stCondLst>
                                    <p:cond delay="0"/>
                                  </p:stCondLst>
                                  <p:childTnLst>
                                    <p:set>
                                      <p:cBhvr>
                                        <p:cTn id="37" dur="1" fill="hold">
                                          <p:stCondLst>
                                            <p:cond delay="0"/>
                                          </p:stCondLst>
                                        </p:cTn>
                                        <p:tgtEl>
                                          <p:spTgt spid="95250">
                                            <p:txEl>
                                              <p:pRg st="1" end="1"/>
                                            </p:txEl>
                                          </p:spTgt>
                                        </p:tgtEl>
                                        <p:attrNameLst>
                                          <p:attrName>style.visibility</p:attrName>
                                        </p:attrNameLst>
                                      </p:cBhvr>
                                      <p:to>
                                        <p:strVal val="visible"/>
                                      </p:to>
                                    </p:set>
                                    <p:anim calcmode="lin" valueType="num">
                                      <p:cBhvr additive="base">
                                        <p:cTn id="38" dur="500" fill="hold"/>
                                        <p:tgtEl>
                                          <p:spTgt spid="95250">
                                            <p:txEl>
                                              <p:pRg st="1" end="1"/>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95250">
                                            <p:txEl>
                                              <p:pRg st="1" end="1"/>
                                            </p:txEl>
                                          </p:spTgt>
                                        </p:tgtEl>
                                        <p:attrNameLst>
                                          <p:attrName>ppt_y</p:attrName>
                                        </p:attrNameLst>
                                      </p:cBhvr>
                                      <p:tavLst>
                                        <p:tav tm="0">
                                          <p:val>
                                            <p:strVal val="#ppt_y"/>
                                          </p:val>
                                        </p:tav>
                                        <p:tav tm="100000">
                                          <p:val>
                                            <p:strVal val="#ppt_y"/>
                                          </p:val>
                                        </p:tav>
                                      </p:tavLst>
                                    </p:anim>
                                  </p:childTnLst>
                                </p:cTn>
                              </p:par>
                              <p:par>
                                <p:cTn id="40" presetID="2" presetClass="entr" presetSubtype="8" fill="hold" nodeType="withEffect">
                                  <p:stCondLst>
                                    <p:cond delay="0"/>
                                  </p:stCondLst>
                                  <p:childTnLst>
                                    <p:set>
                                      <p:cBhvr>
                                        <p:cTn id="41" dur="1" fill="hold">
                                          <p:stCondLst>
                                            <p:cond delay="0"/>
                                          </p:stCondLst>
                                        </p:cTn>
                                        <p:tgtEl>
                                          <p:spTgt spid="95250">
                                            <p:txEl>
                                              <p:pRg st="2" end="2"/>
                                            </p:txEl>
                                          </p:spTgt>
                                        </p:tgtEl>
                                        <p:attrNameLst>
                                          <p:attrName>style.visibility</p:attrName>
                                        </p:attrNameLst>
                                      </p:cBhvr>
                                      <p:to>
                                        <p:strVal val="visible"/>
                                      </p:to>
                                    </p:set>
                                    <p:anim calcmode="lin" valueType="num">
                                      <p:cBhvr additive="base">
                                        <p:cTn id="42" dur="500" fill="hold"/>
                                        <p:tgtEl>
                                          <p:spTgt spid="95250">
                                            <p:txEl>
                                              <p:pRg st="2" end="2"/>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9525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95253"/>
                                        </p:tgtEl>
                                        <p:attrNameLst>
                                          <p:attrName>style.visibility</p:attrName>
                                        </p:attrNameLst>
                                      </p:cBhvr>
                                      <p:to>
                                        <p:strVal val="visible"/>
                                      </p:to>
                                    </p:set>
                                    <p:animEffect transition="in" filter="blinds(horizontal)">
                                      <p:cBhvr>
                                        <p:cTn id="48" dur="500"/>
                                        <p:tgtEl>
                                          <p:spTgt spid="95253"/>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95251">
                                            <p:txEl>
                                              <p:pRg st="1" end="1"/>
                                            </p:txEl>
                                          </p:spTgt>
                                        </p:tgtEl>
                                        <p:attrNameLst>
                                          <p:attrName>style.visibility</p:attrName>
                                        </p:attrNameLst>
                                      </p:cBhvr>
                                      <p:to>
                                        <p:strVal val="visible"/>
                                      </p:to>
                                    </p:set>
                                    <p:anim calcmode="lin" valueType="num">
                                      <p:cBhvr additive="base">
                                        <p:cTn id="53" dur="500" fill="hold"/>
                                        <p:tgtEl>
                                          <p:spTgt spid="95251">
                                            <p:txEl>
                                              <p:pRg st="1" end="1"/>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95251">
                                            <p:txEl>
                                              <p:pRg st="1" end="1"/>
                                            </p:txEl>
                                          </p:spTgt>
                                        </p:tgtEl>
                                        <p:attrNameLst>
                                          <p:attrName>ppt_y</p:attrName>
                                        </p:attrNameLst>
                                      </p:cBhvr>
                                      <p:tavLst>
                                        <p:tav tm="0">
                                          <p:val>
                                            <p:strVal val="#ppt_y"/>
                                          </p:val>
                                        </p:tav>
                                        <p:tav tm="100000">
                                          <p:val>
                                            <p:strVal val="#ppt_y"/>
                                          </p:val>
                                        </p:tav>
                                      </p:tavLst>
                                    </p:anim>
                                  </p:childTnLst>
                                </p:cTn>
                              </p:par>
                              <p:par>
                                <p:cTn id="55" presetID="2" presetClass="entr" presetSubtype="2" fill="hold" nodeType="withEffect">
                                  <p:stCondLst>
                                    <p:cond delay="0"/>
                                  </p:stCondLst>
                                  <p:childTnLst>
                                    <p:set>
                                      <p:cBhvr>
                                        <p:cTn id="56" dur="1" fill="hold">
                                          <p:stCondLst>
                                            <p:cond delay="0"/>
                                          </p:stCondLst>
                                        </p:cTn>
                                        <p:tgtEl>
                                          <p:spTgt spid="95251">
                                            <p:txEl>
                                              <p:pRg st="2" end="2"/>
                                            </p:txEl>
                                          </p:spTgt>
                                        </p:tgtEl>
                                        <p:attrNameLst>
                                          <p:attrName>style.visibility</p:attrName>
                                        </p:attrNameLst>
                                      </p:cBhvr>
                                      <p:to>
                                        <p:strVal val="visible"/>
                                      </p:to>
                                    </p:set>
                                    <p:anim calcmode="lin" valueType="num">
                                      <p:cBhvr additive="base">
                                        <p:cTn id="57" dur="500" fill="hold"/>
                                        <p:tgtEl>
                                          <p:spTgt spid="95251">
                                            <p:txEl>
                                              <p:pRg st="2" end="2"/>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952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95252"/>
                                        </p:tgtEl>
                                        <p:attrNameLst>
                                          <p:attrName>style.visibility</p:attrName>
                                        </p:attrNameLst>
                                      </p:cBhvr>
                                      <p:to>
                                        <p:strVal val="visible"/>
                                      </p:to>
                                    </p:set>
                                    <p:animEffect transition="in" filter="blinds(horizontal)">
                                      <p:cBhvr>
                                        <p:cTn id="63" dur="500"/>
                                        <p:tgtEl>
                                          <p:spTgt spid="95252"/>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95255">
                                            <p:txEl>
                                              <p:pRg st="1" end="1"/>
                                            </p:txEl>
                                          </p:spTgt>
                                        </p:tgtEl>
                                        <p:attrNameLst>
                                          <p:attrName>style.visibility</p:attrName>
                                        </p:attrNameLst>
                                      </p:cBhvr>
                                      <p:to>
                                        <p:strVal val="visible"/>
                                      </p:to>
                                    </p:set>
                                    <p:anim calcmode="lin" valueType="num">
                                      <p:cBhvr additive="base">
                                        <p:cTn id="68" dur="500" fill="hold"/>
                                        <p:tgtEl>
                                          <p:spTgt spid="95255">
                                            <p:txEl>
                                              <p:pRg st="1" end="1"/>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95255">
                                            <p:txEl>
                                              <p:pRg st="1" end="1"/>
                                            </p:txEl>
                                          </p:spTgt>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95255">
                                            <p:txEl>
                                              <p:pRg st="2" end="2"/>
                                            </p:txEl>
                                          </p:spTgt>
                                        </p:tgtEl>
                                        <p:attrNameLst>
                                          <p:attrName>style.visibility</p:attrName>
                                        </p:attrNameLst>
                                      </p:cBhvr>
                                      <p:to>
                                        <p:strVal val="visible"/>
                                      </p:to>
                                    </p:set>
                                    <p:anim calcmode="lin" valueType="num">
                                      <p:cBhvr additive="base">
                                        <p:cTn id="72" dur="500" fill="hold"/>
                                        <p:tgtEl>
                                          <p:spTgt spid="95255">
                                            <p:txEl>
                                              <p:pRg st="2" end="2"/>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95255">
                                            <p:txEl>
                                              <p:pRg st="2" end="2"/>
                                            </p:txEl>
                                          </p:spTgt>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95255">
                                            <p:txEl>
                                              <p:pRg st="3" end="3"/>
                                            </p:txEl>
                                          </p:spTgt>
                                        </p:tgtEl>
                                        <p:attrNameLst>
                                          <p:attrName>style.visibility</p:attrName>
                                        </p:attrNameLst>
                                      </p:cBhvr>
                                      <p:to>
                                        <p:strVal val="visible"/>
                                      </p:to>
                                    </p:set>
                                    <p:anim calcmode="lin" valueType="num">
                                      <p:cBhvr additive="base">
                                        <p:cTn id="76" dur="500" fill="hold"/>
                                        <p:tgtEl>
                                          <p:spTgt spid="95255">
                                            <p:txEl>
                                              <p:pRg st="3" end="3"/>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9525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52" grpId="0"/>
      <p:bldP spid="95253" grpId="0"/>
      <p:bldP spid="9525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タイトル 1"/>
          <p:cNvSpPr>
            <a:spLocks noGrp="1"/>
          </p:cNvSpPr>
          <p:nvPr>
            <p:ph type="title" idx="4294967295"/>
          </p:nvPr>
        </p:nvSpPr>
        <p:spPr/>
        <p:txBody>
          <a:bodyPr/>
          <a:lstStyle/>
          <a:p>
            <a:pPr eaLnBrk="1" hangingPunct="1"/>
            <a:r>
              <a:rPr lang="en-US" altLang="ja-JP" smtClean="0"/>
              <a:t>JFK</a:t>
            </a:r>
            <a:r>
              <a:rPr lang="ja-JP" altLang="en-US" smtClean="0"/>
              <a:t>の就任演説より</a:t>
            </a:r>
          </a:p>
        </p:txBody>
      </p:sp>
      <p:sp>
        <p:nvSpPr>
          <p:cNvPr id="37890" name="テキスト ボックス 3"/>
          <p:cNvSpPr txBox="1">
            <a:spLocks noChangeArrowheads="1"/>
          </p:cNvSpPr>
          <p:nvPr/>
        </p:nvSpPr>
        <p:spPr bwMode="auto">
          <a:xfrm>
            <a:off x="214313" y="1500188"/>
            <a:ext cx="8715375" cy="1754187"/>
          </a:xfrm>
          <a:prstGeom prst="rect">
            <a:avLst/>
          </a:prstGeom>
          <a:noFill/>
          <a:ln w="9525">
            <a:noFill/>
            <a:miter lim="800000"/>
            <a:headEnd/>
            <a:tailEnd/>
          </a:ln>
        </p:spPr>
        <p:txBody>
          <a:bodyPr>
            <a:spAutoFit/>
          </a:bodyPr>
          <a:lstStyle/>
          <a:p>
            <a:r>
              <a:rPr lang="en-US" altLang="ja-JP" sz="3600"/>
              <a:t>And so, my fellow Americans:</a:t>
            </a:r>
          </a:p>
          <a:p>
            <a:r>
              <a:rPr lang="en-US" altLang="ja-JP" sz="3600"/>
              <a:t>ask not what your country can do for You</a:t>
            </a:r>
          </a:p>
          <a:p>
            <a:r>
              <a:rPr lang="en-US" altLang="ja-JP" sz="3600"/>
              <a:t>Ask what you can do for your country.</a:t>
            </a:r>
            <a:endParaRPr lang="ja-JP" altLang="en-US" sz="3600"/>
          </a:p>
        </p:txBody>
      </p:sp>
      <p:sp>
        <p:nvSpPr>
          <p:cNvPr id="37891" name="テキスト ボックス 4"/>
          <p:cNvSpPr txBox="1">
            <a:spLocks noChangeArrowheads="1"/>
          </p:cNvSpPr>
          <p:nvPr/>
        </p:nvSpPr>
        <p:spPr bwMode="auto">
          <a:xfrm>
            <a:off x="285750" y="3929063"/>
            <a:ext cx="8715375" cy="1754187"/>
          </a:xfrm>
          <a:prstGeom prst="rect">
            <a:avLst/>
          </a:prstGeom>
          <a:noFill/>
          <a:ln w="9525">
            <a:noFill/>
            <a:miter lim="800000"/>
            <a:headEnd/>
            <a:tailEnd/>
          </a:ln>
        </p:spPr>
        <p:txBody>
          <a:bodyPr>
            <a:spAutoFit/>
          </a:bodyPr>
          <a:lstStyle/>
          <a:p>
            <a:r>
              <a:rPr lang="en-US" altLang="ja-JP" sz="3600"/>
              <a:t>And so, my fellow Members:</a:t>
            </a:r>
          </a:p>
          <a:p>
            <a:r>
              <a:rPr lang="en-US" altLang="ja-JP" sz="3600"/>
              <a:t>ask not what OESF can do for You</a:t>
            </a:r>
          </a:p>
          <a:p>
            <a:r>
              <a:rPr lang="en-US" altLang="ja-JP" sz="3600"/>
              <a:t>Ask what you can do for OESF.</a:t>
            </a:r>
            <a:endParaRPr lang="ja-JP" altLang="en-US" sz="36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type="body" idx="1"/>
          </p:nvPr>
        </p:nvSpPr>
        <p:spPr/>
        <p:txBody>
          <a:bodyPr/>
          <a:lstStyle/>
          <a:p>
            <a:pPr eaLnBrk="1" hangingPunct="1"/>
            <a:r>
              <a:rPr lang="en-US" altLang="ja-JP" sz="3600" smtClean="0">
                <a:solidFill>
                  <a:srgbClr val="C0C0C0"/>
                </a:solidFill>
              </a:rPr>
              <a:t>EM</a:t>
            </a:r>
            <a:r>
              <a:rPr lang="ja-JP" altLang="en-US" sz="3600" smtClean="0">
                <a:solidFill>
                  <a:srgbClr val="C0C0C0"/>
                </a:solidFill>
              </a:rPr>
              <a:t>の理念</a:t>
            </a:r>
          </a:p>
          <a:p>
            <a:pPr lvl="1" eaLnBrk="1" hangingPunct="1"/>
            <a:r>
              <a:rPr lang="ja-JP" altLang="en-US" sz="3600" smtClean="0">
                <a:solidFill>
                  <a:srgbClr val="C0C0C0"/>
                </a:solidFill>
              </a:rPr>
              <a:t>何を目指すのか？</a:t>
            </a:r>
          </a:p>
          <a:p>
            <a:pPr eaLnBrk="1" hangingPunct="1"/>
            <a:r>
              <a:rPr lang="en-US" altLang="ja-JP" sz="3600" smtClean="0">
                <a:solidFill>
                  <a:srgbClr val="C0C0C0"/>
                </a:solidFill>
              </a:rPr>
              <a:t>EM</a:t>
            </a:r>
            <a:r>
              <a:rPr lang="ja-JP" altLang="en-US" sz="3600" smtClean="0">
                <a:solidFill>
                  <a:srgbClr val="C0C0C0"/>
                </a:solidFill>
              </a:rPr>
              <a:t>の概念</a:t>
            </a:r>
          </a:p>
          <a:p>
            <a:pPr lvl="1" eaLnBrk="1" hangingPunct="1"/>
            <a:r>
              <a:rPr lang="ja-JP" altLang="en-US" sz="3600" smtClean="0">
                <a:solidFill>
                  <a:srgbClr val="C0C0C0"/>
                </a:solidFill>
              </a:rPr>
              <a:t>どのようにやるのか？</a:t>
            </a:r>
          </a:p>
          <a:p>
            <a:pPr eaLnBrk="1" hangingPunct="1"/>
            <a:r>
              <a:rPr lang="en-US" altLang="ja-JP" sz="3600" smtClean="0"/>
              <a:t>EM</a:t>
            </a:r>
            <a:r>
              <a:rPr lang="ja-JP" altLang="en-US" sz="3600" smtClean="0"/>
              <a:t>の歩み</a:t>
            </a:r>
          </a:p>
          <a:p>
            <a:pPr lvl="1" eaLnBrk="1" hangingPunct="1"/>
            <a:r>
              <a:rPr lang="ja-JP" altLang="en-US" sz="3200" smtClean="0"/>
              <a:t>どうなっているのか？</a:t>
            </a:r>
          </a:p>
          <a:p>
            <a:pPr lvl="1" eaLnBrk="1" hangingPunct="1"/>
            <a:endParaRPr lang="ja-JP" altLang="en-US" sz="3200" smtClean="0"/>
          </a:p>
        </p:txBody>
      </p:sp>
      <p:sp>
        <p:nvSpPr>
          <p:cNvPr id="39938" name="Rectangle 4"/>
          <p:cNvSpPr>
            <a:spLocks noGrp="1"/>
          </p:cNvSpPr>
          <p:nvPr>
            <p:ph type="title"/>
          </p:nvPr>
        </p:nvSpPr>
        <p:spPr/>
        <p:txBody>
          <a:bodyPr/>
          <a:lstStyle/>
          <a:p>
            <a:pPr eaLnBrk="1" hangingPunct="1"/>
            <a:endParaRPr lang="ja-JP" altLang="en-US"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タイトル 1"/>
          <p:cNvSpPr>
            <a:spLocks noGrp="1"/>
          </p:cNvSpPr>
          <p:nvPr>
            <p:ph type="title" idx="4294967295"/>
          </p:nvPr>
        </p:nvSpPr>
        <p:spPr/>
        <p:txBody>
          <a:bodyPr/>
          <a:lstStyle/>
          <a:p>
            <a:pPr eaLnBrk="1" hangingPunct="1"/>
            <a:r>
              <a:rPr lang="en-US" altLang="ja-JP" smtClean="0"/>
              <a:t>EM1</a:t>
            </a:r>
            <a:r>
              <a:rPr lang="ja-JP" altLang="en-US" smtClean="0"/>
              <a:t>とは？</a:t>
            </a:r>
          </a:p>
        </p:txBody>
      </p:sp>
      <p:sp>
        <p:nvSpPr>
          <p:cNvPr id="41986" name="コンテンツ プレースホルダ 2"/>
          <p:cNvSpPr>
            <a:spLocks noGrp="1"/>
          </p:cNvSpPr>
          <p:nvPr>
            <p:ph idx="4294967295"/>
          </p:nvPr>
        </p:nvSpPr>
        <p:spPr/>
        <p:txBody>
          <a:bodyPr/>
          <a:lstStyle/>
          <a:p>
            <a:pPr eaLnBrk="1" hangingPunct="1"/>
            <a:r>
              <a:rPr lang="en-US" altLang="ja-JP" sz="2800" smtClean="0"/>
              <a:t>OESF</a:t>
            </a:r>
            <a:r>
              <a:rPr lang="ja-JP" altLang="en-US" sz="2800" smtClean="0"/>
              <a:t>の最初のディストリビューション</a:t>
            </a:r>
          </a:p>
          <a:p>
            <a:pPr lvl="1" eaLnBrk="1" hangingPunct="1"/>
            <a:r>
              <a:rPr lang="ja-JP" altLang="en-US" sz="2400" smtClean="0"/>
              <a:t>各</a:t>
            </a:r>
            <a:r>
              <a:rPr lang="en-US" altLang="ja-JP" sz="2400" smtClean="0"/>
              <a:t>WG</a:t>
            </a:r>
            <a:r>
              <a:rPr lang="ja-JP" altLang="en-US" sz="2400" smtClean="0"/>
              <a:t>のコントリビューションを細かく取り入れた</a:t>
            </a:r>
            <a:r>
              <a:rPr lang="en-US" altLang="ja-JP" sz="2400" smtClean="0"/>
              <a:t>Edition</a:t>
            </a:r>
          </a:p>
          <a:p>
            <a:pPr lvl="1" eaLnBrk="1" hangingPunct="1"/>
            <a:r>
              <a:rPr lang="ja-JP" altLang="en-US" sz="2400" smtClean="0"/>
              <a:t>主に、ＳＴＢに関する機能面が豊富</a:t>
            </a:r>
          </a:p>
          <a:p>
            <a:pPr eaLnBrk="1" hangingPunct="1"/>
            <a:endParaRPr lang="en-US" altLang="ja-JP" sz="2800" smtClean="0"/>
          </a:p>
          <a:p>
            <a:pPr eaLnBrk="1" hangingPunct="1"/>
            <a:r>
              <a:rPr lang="en-US" altLang="ja-JP" sz="2800" smtClean="0"/>
              <a:t>Embedded Master 1(EM1)</a:t>
            </a:r>
          </a:p>
          <a:p>
            <a:pPr lvl="1" eaLnBrk="1" hangingPunct="1"/>
            <a:r>
              <a:rPr lang="en-US" altLang="ja-JP" sz="2400" smtClean="0"/>
              <a:t>Project Code: Blueberry</a:t>
            </a:r>
          </a:p>
          <a:p>
            <a:pPr lvl="1" eaLnBrk="1" hangingPunct="1"/>
            <a:r>
              <a:rPr lang="en-US" altLang="ja-JP" sz="2400" smtClean="0"/>
              <a:t>Base Release: Android 1.6</a:t>
            </a:r>
            <a:r>
              <a:rPr lang="ja-JP" altLang="en-US" sz="2400" smtClean="0"/>
              <a:t> </a:t>
            </a:r>
            <a:r>
              <a:rPr lang="en-US" altLang="ja-JP" sz="2400" smtClean="0"/>
              <a:t>(Donuts)</a:t>
            </a:r>
          </a:p>
          <a:p>
            <a:pPr lvl="1" eaLnBrk="1" hangingPunct="1"/>
            <a:r>
              <a:rPr lang="en-US" altLang="ja-JP" sz="2400" smtClean="0"/>
              <a:t>Member Release November/2009</a:t>
            </a:r>
          </a:p>
          <a:p>
            <a:pPr lvl="1" eaLnBrk="1" hangingPunct="1"/>
            <a:r>
              <a:rPr lang="en-US" altLang="ja-JP" sz="2400" smtClean="0"/>
              <a:t>Public Release February/2010</a:t>
            </a:r>
          </a:p>
        </p:txBody>
      </p:sp>
      <p:pic>
        <p:nvPicPr>
          <p:cNvPr id="41987" name="Picture 3" descr="C:\Users\miura\AppData\Local\Microsoft\Windows\Temporary Internet Files\Content.IE5\OW4V1ZPX\MCj01986650000[1].wmf"/>
          <p:cNvPicPr>
            <a:picLocks noChangeAspect="1" noChangeArrowheads="1"/>
          </p:cNvPicPr>
          <p:nvPr/>
        </p:nvPicPr>
        <p:blipFill>
          <a:blip r:embed="rId3"/>
          <a:srcRect/>
          <a:stretch>
            <a:fillRect/>
          </a:stretch>
        </p:blipFill>
        <p:spPr bwMode="auto">
          <a:xfrm>
            <a:off x="6804025" y="4437063"/>
            <a:ext cx="1809750" cy="1428750"/>
          </a:xfrm>
          <a:prstGeom prst="rect">
            <a:avLst/>
          </a:prstGeom>
          <a:noFill/>
          <a:ln w="9525">
            <a:noFill/>
            <a:miter lim="800000"/>
            <a:headEnd/>
            <a:tailEnd/>
          </a:ln>
        </p:spPr>
      </p:pic>
      <p:pic>
        <p:nvPicPr>
          <p:cNvPr id="41988" name="Picture 5" descr="C:\Users\miura\AppData\Local\Microsoft\Windows\Temporary Internet Files\Content.IE5\V8V0F7OA\MCj04369010000[1].png"/>
          <p:cNvPicPr>
            <a:picLocks noChangeAspect="1" noChangeArrowheads="1"/>
          </p:cNvPicPr>
          <p:nvPr/>
        </p:nvPicPr>
        <p:blipFill>
          <a:blip r:embed="rId4"/>
          <a:srcRect/>
          <a:stretch>
            <a:fillRect/>
          </a:stretch>
        </p:blipFill>
        <p:spPr bwMode="auto">
          <a:xfrm>
            <a:off x="6877050" y="4221163"/>
            <a:ext cx="1144588" cy="11445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p:nvPr>
        </p:nvSpPr>
        <p:spPr/>
        <p:txBody>
          <a:bodyPr/>
          <a:lstStyle/>
          <a:p>
            <a:pPr eaLnBrk="1" hangingPunct="1"/>
            <a:r>
              <a:rPr lang="en-US" altLang="ja-JP" sz="4000" smtClean="0"/>
              <a:t>EM1 </a:t>
            </a:r>
            <a:r>
              <a:rPr lang="ja-JP" altLang="en-US" sz="4000" smtClean="0"/>
              <a:t>の 対応ハードウェア</a:t>
            </a:r>
          </a:p>
        </p:txBody>
      </p:sp>
      <p:pic>
        <p:nvPicPr>
          <p:cNvPr id="44034" name="Picture 4" descr="EM_all"/>
          <p:cNvPicPr>
            <a:picLocks noChangeAspect="1" noChangeArrowheads="1"/>
          </p:cNvPicPr>
          <p:nvPr/>
        </p:nvPicPr>
        <p:blipFill>
          <a:blip r:embed="rId3"/>
          <a:srcRect/>
          <a:stretch>
            <a:fillRect/>
          </a:stretch>
        </p:blipFill>
        <p:spPr bwMode="auto">
          <a:xfrm>
            <a:off x="468313" y="1412875"/>
            <a:ext cx="5111750" cy="3835400"/>
          </a:xfrm>
          <a:prstGeom prst="rect">
            <a:avLst/>
          </a:prstGeom>
          <a:noFill/>
          <a:ln w="9525">
            <a:noFill/>
            <a:miter lim="800000"/>
            <a:headEnd/>
            <a:tailEnd/>
          </a:ln>
        </p:spPr>
      </p:pic>
      <p:pic>
        <p:nvPicPr>
          <p:cNvPr id="44035" name="Picture 6" descr="EM_bg"/>
          <p:cNvPicPr>
            <a:picLocks noChangeAspect="1" noChangeArrowheads="1"/>
          </p:cNvPicPr>
          <p:nvPr/>
        </p:nvPicPr>
        <p:blipFill>
          <a:blip r:embed="rId4"/>
          <a:srcRect/>
          <a:stretch>
            <a:fillRect/>
          </a:stretch>
        </p:blipFill>
        <p:spPr bwMode="auto">
          <a:xfrm>
            <a:off x="4500563" y="4868863"/>
            <a:ext cx="2346325" cy="1760537"/>
          </a:xfrm>
          <a:prstGeom prst="rect">
            <a:avLst/>
          </a:prstGeom>
          <a:noFill/>
          <a:ln w="9525">
            <a:noFill/>
            <a:miter lim="800000"/>
            <a:headEnd/>
            <a:tailEnd/>
          </a:ln>
        </p:spPr>
      </p:pic>
      <p:pic>
        <p:nvPicPr>
          <p:cNvPr id="44036" name="Picture 7" descr="EM_mips"/>
          <p:cNvPicPr>
            <a:picLocks noChangeAspect="1" noChangeArrowheads="1"/>
          </p:cNvPicPr>
          <p:nvPr/>
        </p:nvPicPr>
        <p:blipFill>
          <a:blip r:embed="rId5"/>
          <a:srcRect/>
          <a:stretch>
            <a:fillRect/>
          </a:stretch>
        </p:blipFill>
        <p:spPr bwMode="auto">
          <a:xfrm>
            <a:off x="5724525" y="1773238"/>
            <a:ext cx="2490788" cy="1868487"/>
          </a:xfrm>
          <a:prstGeom prst="rect">
            <a:avLst/>
          </a:prstGeom>
          <a:noFill/>
          <a:ln w="9525">
            <a:noFill/>
            <a:miter lim="800000"/>
            <a:headEnd/>
            <a:tailEnd/>
          </a:ln>
        </p:spPr>
      </p:pic>
      <p:pic>
        <p:nvPicPr>
          <p:cNvPr id="44037" name="Picture 5" descr="EM_alma"/>
          <p:cNvPicPr>
            <a:picLocks noChangeAspect="1" noChangeArrowheads="1"/>
          </p:cNvPicPr>
          <p:nvPr/>
        </p:nvPicPr>
        <p:blipFill>
          <a:blip r:embed="rId6"/>
          <a:srcRect/>
          <a:stretch>
            <a:fillRect/>
          </a:stretch>
        </p:blipFill>
        <p:spPr bwMode="auto">
          <a:xfrm>
            <a:off x="6227763" y="3357563"/>
            <a:ext cx="2563812" cy="19224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1" name="Rectangle 2"/>
          <p:cNvSpPr>
            <a:spLocks noGrp="1"/>
          </p:cNvSpPr>
          <p:nvPr>
            <p:ph type="title" idx="4294967295"/>
          </p:nvPr>
        </p:nvSpPr>
        <p:spPr/>
        <p:txBody>
          <a:bodyPr/>
          <a:lstStyle/>
          <a:p>
            <a:pPr eaLnBrk="1" hangingPunct="1"/>
            <a:r>
              <a:rPr lang="en-US" altLang="ja-JP" sz="4000" smtClean="0"/>
              <a:t>EM1 </a:t>
            </a:r>
            <a:r>
              <a:rPr lang="ja-JP" altLang="en-US" sz="4000" smtClean="0"/>
              <a:t>の 拡張部分・ソフトウェア</a:t>
            </a:r>
            <a:endParaRPr lang="en-US" altLang="ja-JP" sz="4000" smtClean="0"/>
          </a:p>
        </p:txBody>
      </p:sp>
      <p:pic>
        <p:nvPicPr>
          <p:cNvPr id="46082" name="Picture 8" descr="EM1_1"/>
          <p:cNvPicPr>
            <a:picLocks noChangeAspect="1" noChangeArrowheads="1"/>
          </p:cNvPicPr>
          <p:nvPr/>
        </p:nvPicPr>
        <p:blipFill>
          <a:blip r:embed="rId3"/>
          <a:srcRect/>
          <a:stretch>
            <a:fillRect/>
          </a:stretch>
        </p:blipFill>
        <p:spPr bwMode="auto">
          <a:xfrm>
            <a:off x="1042988" y="1412875"/>
            <a:ext cx="7272337" cy="4838700"/>
          </a:xfrm>
          <a:prstGeom prst="rect">
            <a:avLst/>
          </a:prstGeom>
          <a:noFill/>
          <a:ln w="9525">
            <a:noFill/>
            <a:miter lim="800000"/>
            <a:headEnd/>
            <a:tailEnd/>
          </a:ln>
        </p:spPr>
      </p:pic>
      <p:grpSp>
        <p:nvGrpSpPr>
          <p:cNvPr id="46088" name="Group 8"/>
          <p:cNvGrpSpPr>
            <a:grpSpLocks/>
          </p:cNvGrpSpPr>
          <p:nvPr/>
        </p:nvGrpSpPr>
        <p:grpSpPr bwMode="auto">
          <a:xfrm>
            <a:off x="1835150" y="404813"/>
            <a:ext cx="7092950" cy="3167062"/>
            <a:chOff x="1156" y="255"/>
            <a:chExt cx="4468" cy="1995"/>
          </a:xfrm>
        </p:grpSpPr>
        <p:grpSp>
          <p:nvGrpSpPr>
            <p:cNvPr id="74762" name="Group 10"/>
            <p:cNvGrpSpPr>
              <a:grpSpLocks/>
            </p:cNvGrpSpPr>
            <p:nvPr/>
          </p:nvGrpSpPr>
          <p:grpSpPr bwMode="auto">
            <a:xfrm>
              <a:off x="1156" y="255"/>
              <a:ext cx="4468" cy="1995"/>
              <a:chOff x="1156" y="255"/>
              <a:chExt cx="4468" cy="1995"/>
            </a:xfrm>
          </p:grpSpPr>
          <p:sp>
            <p:nvSpPr>
              <p:cNvPr id="46084" name="AutoShape 9"/>
              <p:cNvSpPr>
                <a:spLocks noChangeArrowheads="1"/>
              </p:cNvSpPr>
              <p:nvPr/>
            </p:nvSpPr>
            <p:spPr bwMode="auto">
              <a:xfrm>
                <a:off x="1156" y="255"/>
                <a:ext cx="4468" cy="1995"/>
              </a:xfrm>
              <a:prstGeom prst="wedgeRoundRectCallout">
                <a:avLst>
                  <a:gd name="adj1" fmla="val -41361"/>
                  <a:gd name="adj2" fmla="val 83736"/>
                  <a:gd name="adj3" fmla="val 16667"/>
                </a:avLst>
              </a:prstGeom>
              <a:solidFill>
                <a:schemeClr val="bg1"/>
              </a:solidFill>
              <a:ln w="9525">
                <a:solidFill>
                  <a:schemeClr val="tx1"/>
                </a:solidFill>
                <a:miter lim="800000"/>
                <a:headEnd/>
                <a:tailEnd/>
              </a:ln>
            </p:spPr>
            <p:txBody>
              <a:bodyPr/>
              <a:lstStyle/>
              <a:p>
                <a:endParaRPr lang="ja-JP" altLang="en-US">
                  <a:latin typeface="Arial" charset="0"/>
                </a:endParaRPr>
              </a:p>
            </p:txBody>
          </p:sp>
          <p:pic>
            <p:nvPicPr>
              <p:cNvPr id="46085" name="Picture 4" descr="EM1_2"/>
              <p:cNvPicPr>
                <a:picLocks noChangeAspect="1" noChangeArrowheads="1"/>
              </p:cNvPicPr>
              <p:nvPr/>
            </p:nvPicPr>
            <p:blipFill>
              <a:blip r:embed="rId4"/>
              <a:srcRect/>
              <a:stretch>
                <a:fillRect/>
              </a:stretch>
            </p:blipFill>
            <p:spPr bwMode="auto">
              <a:xfrm>
                <a:off x="1565" y="346"/>
                <a:ext cx="3719" cy="1753"/>
              </a:xfrm>
              <a:prstGeom prst="rect">
                <a:avLst/>
              </a:prstGeom>
              <a:noFill/>
              <a:ln w="9525">
                <a:noFill/>
                <a:miter lim="800000"/>
                <a:headEnd/>
                <a:tailEnd/>
              </a:ln>
            </p:spPr>
          </p:pic>
        </p:grpSp>
        <p:sp>
          <p:nvSpPr>
            <p:cNvPr id="46087" name="Rectangle 7"/>
            <p:cNvSpPr>
              <a:spLocks noChangeArrowheads="1"/>
            </p:cNvSpPr>
            <p:nvPr/>
          </p:nvSpPr>
          <p:spPr bwMode="auto">
            <a:xfrm>
              <a:off x="1655" y="1887"/>
              <a:ext cx="3130" cy="182"/>
            </a:xfrm>
            <a:prstGeom prst="rect">
              <a:avLst/>
            </a:prstGeom>
            <a:solidFill>
              <a:schemeClr val="bg1"/>
            </a:solidFill>
            <a:ln w="9525">
              <a:noFill/>
              <a:miter lim="800000"/>
              <a:headEnd/>
              <a:tailEnd/>
            </a:ln>
            <a:effectLst/>
          </p:spPr>
          <p:txBody>
            <a:bodyPr wrap="none" anchor="ctr"/>
            <a:lstStyle/>
            <a:p>
              <a:endParaRPr lang="ja-JP"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6088"/>
                                        </p:tgtEl>
                                        <p:attrNameLst>
                                          <p:attrName>style.visibility</p:attrName>
                                        </p:attrNameLst>
                                      </p:cBhvr>
                                      <p:to>
                                        <p:strVal val="visible"/>
                                      </p:to>
                                    </p:set>
                                    <p:anim calcmode="lin" valueType="num">
                                      <p:cBhvr additive="base">
                                        <p:cTn id="7" dur="500" fill="hold"/>
                                        <p:tgtEl>
                                          <p:spTgt spid="46088"/>
                                        </p:tgtEl>
                                        <p:attrNameLst>
                                          <p:attrName>ppt_x</p:attrName>
                                        </p:attrNameLst>
                                      </p:cBhvr>
                                      <p:tavLst>
                                        <p:tav tm="0">
                                          <p:val>
                                            <p:strVal val="1+#ppt_w/2"/>
                                          </p:val>
                                        </p:tav>
                                        <p:tav tm="100000">
                                          <p:val>
                                            <p:strVal val="#ppt_x"/>
                                          </p:val>
                                        </p:tav>
                                      </p:tavLst>
                                    </p:anim>
                                    <p:anim calcmode="lin" valueType="num">
                                      <p:cBhvr additive="base">
                                        <p:cTn id="8" dur="500" fill="hold"/>
                                        <p:tgtEl>
                                          <p:spTgt spid="460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p:txBody>
          <a:bodyPr/>
          <a:lstStyle/>
          <a:p>
            <a:pPr eaLnBrk="1" hangingPunct="1"/>
            <a:r>
              <a:rPr lang="en-US" altLang="ja-JP" sz="4000" smtClean="0"/>
              <a:t>STB-WG </a:t>
            </a:r>
            <a:r>
              <a:rPr lang="ja-JP" altLang="en-US" sz="4000" smtClean="0"/>
              <a:t>成果</a:t>
            </a:r>
          </a:p>
        </p:txBody>
      </p:sp>
      <p:sp>
        <p:nvSpPr>
          <p:cNvPr id="48130" name="Rectangle 3"/>
          <p:cNvSpPr>
            <a:spLocks noGrp="1"/>
          </p:cNvSpPr>
          <p:nvPr>
            <p:ph type="body" idx="1"/>
          </p:nvPr>
        </p:nvSpPr>
        <p:spPr/>
        <p:txBody>
          <a:bodyPr/>
          <a:lstStyle/>
          <a:p>
            <a:pPr eaLnBrk="1" hangingPunct="1"/>
            <a:r>
              <a:rPr lang="en-US" altLang="ja-JP" smtClean="0"/>
              <a:t>KDDI</a:t>
            </a:r>
            <a:r>
              <a:rPr lang="ja-JP" altLang="en-US" smtClean="0"/>
              <a:t>さんのプレスリリース</a:t>
            </a:r>
          </a:p>
          <a:p>
            <a:pPr lvl="1" eaLnBrk="1" hangingPunct="1"/>
            <a:r>
              <a:rPr lang="en-US" altLang="ja-JP" smtClean="0"/>
              <a:t>11/13 </a:t>
            </a:r>
            <a:r>
              <a:rPr lang="ja-JP" altLang="en-US" smtClean="0"/>
              <a:t>発表資料</a:t>
            </a:r>
          </a:p>
        </p:txBody>
      </p:sp>
      <p:pic>
        <p:nvPicPr>
          <p:cNvPr id="59396" name="Picture 4" descr="138_1_ページ_1"/>
          <p:cNvPicPr>
            <a:picLocks noChangeAspect="1" noChangeArrowheads="1"/>
          </p:cNvPicPr>
          <p:nvPr/>
        </p:nvPicPr>
        <p:blipFill>
          <a:blip r:embed="rId3"/>
          <a:srcRect/>
          <a:stretch>
            <a:fillRect/>
          </a:stretch>
        </p:blipFill>
        <p:spPr bwMode="auto">
          <a:xfrm>
            <a:off x="252413" y="-1111250"/>
            <a:ext cx="8567737" cy="10301288"/>
          </a:xfrm>
          <a:prstGeom prst="rect">
            <a:avLst/>
          </a:prstGeom>
          <a:noFill/>
          <a:ln w="9525">
            <a:noFill/>
            <a:miter lim="800000"/>
            <a:headEnd/>
            <a:tailEnd/>
          </a:ln>
        </p:spPr>
      </p:pic>
      <p:grpSp>
        <p:nvGrpSpPr>
          <p:cNvPr id="59399" name="Group 7"/>
          <p:cNvGrpSpPr>
            <a:grpSpLocks/>
          </p:cNvGrpSpPr>
          <p:nvPr/>
        </p:nvGrpSpPr>
        <p:grpSpPr bwMode="auto">
          <a:xfrm>
            <a:off x="1835150" y="1773238"/>
            <a:ext cx="5761038" cy="2447925"/>
            <a:chOff x="1156" y="1117"/>
            <a:chExt cx="3629" cy="1542"/>
          </a:xfrm>
        </p:grpSpPr>
        <p:sp>
          <p:nvSpPr>
            <p:cNvPr id="48133" name="AutoShape 5"/>
            <p:cNvSpPr>
              <a:spLocks noChangeArrowheads="1"/>
            </p:cNvSpPr>
            <p:nvPr/>
          </p:nvSpPr>
          <p:spPr bwMode="auto">
            <a:xfrm>
              <a:off x="1156" y="1117"/>
              <a:ext cx="3629" cy="1542"/>
            </a:xfrm>
            <a:prstGeom prst="wedgeRoundRectCallout">
              <a:avLst>
                <a:gd name="adj1" fmla="val 33495"/>
                <a:gd name="adj2" fmla="val 116926"/>
                <a:gd name="adj3" fmla="val 16667"/>
              </a:avLst>
            </a:prstGeom>
            <a:solidFill>
              <a:schemeClr val="accent1"/>
            </a:solidFill>
            <a:ln w="9525">
              <a:solidFill>
                <a:schemeClr val="tx1"/>
              </a:solidFill>
              <a:miter lim="800000"/>
              <a:headEnd/>
              <a:tailEnd/>
            </a:ln>
          </p:spPr>
          <p:txBody>
            <a:bodyPr/>
            <a:lstStyle/>
            <a:p>
              <a:endParaRPr lang="ja-JP" altLang="en-US">
                <a:latin typeface="Arial" charset="0"/>
              </a:endParaRPr>
            </a:p>
          </p:txBody>
        </p:sp>
        <p:sp>
          <p:nvSpPr>
            <p:cNvPr id="48134" name="Text Box 6"/>
            <p:cNvSpPr txBox="1">
              <a:spLocks noChangeArrowheads="1"/>
            </p:cNvSpPr>
            <p:nvPr/>
          </p:nvSpPr>
          <p:spPr bwMode="auto">
            <a:xfrm>
              <a:off x="1292" y="1162"/>
              <a:ext cx="3312" cy="1438"/>
            </a:xfrm>
            <a:prstGeom prst="rect">
              <a:avLst/>
            </a:prstGeom>
            <a:noFill/>
            <a:ln w="9525">
              <a:noFill/>
              <a:miter lim="800000"/>
              <a:headEnd/>
              <a:tailEnd/>
            </a:ln>
          </p:spPr>
          <p:txBody>
            <a:bodyPr>
              <a:spAutoFit/>
            </a:bodyPr>
            <a:lstStyle/>
            <a:p>
              <a:pPr algn="l">
                <a:spcBef>
                  <a:spcPct val="50000"/>
                </a:spcBef>
              </a:pPr>
              <a:r>
                <a:rPr lang="en-US" altLang="ja-JP" sz="2400">
                  <a:latin typeface="Arial" charset="0"/>
                </a:rPr>
                <a:t>Embedded technology 2009/</a:t>
              </a:r>
              <a:r>
                <a:rPr lang="ja-JP" altLang="en-US" sz="2400">
                  <a:latin typeface="Arial" charset="0"/>
                </a:rPr>
                <a:t>組込み総合技術展の</a:t>
              </a:r>
              <a:r>
                <a:rPr lang="en-US" altLang="ja-JP" sz="2400">
                  <a:latin typeface="Arial" charset="0"/>
                </a:rPr>
                <a:t>OESF</a:t>
              </a:r>
              <a:r>
                <a:rPr lang="ja-JP" altLang="en-US" sz="2400">
                  <a:latin typeface="Arial" charset="0"/>
                </a:rPr>
                <a:t>のブース内にて出展いたします。本開発成果は、</a:t>
              </a:r>
              <a:r>
                <a:rPr lang="en-US" altLang="ja-JP" sz="2400">
                  <a:latin typeface="Arial" charset="0"/>
                </a:rPr>
                <a:t>OESF </a:t>
              </a:r>
              <a:r>
                <a:rPr lang="ja-JP" altLang="en-US" sz="2400">
                  <a:latin typeface="Arial" charset="0"/>
                </a:rPr>
                <a:t>の</a:t>
              </a:r>
              <a:r>
                <a:rPr lang="en-US" altLang="ja-JP" sz="2400">
                  <a:solidFill>
                    <a:srgbClr val="FF0066"/>
                  </a:solidFill>
                  <a:latin typeface="Arial" charset="0"/>
                </a:rPr>
                <a:t>STB-WG </a:t>
              </a:r>
              <a:r>
                <a:rPr lang="ja-JP" altLang="en-US" sz="2400">
                  <a:solidFill>
                    <a:srgbClr val="FF0066"/>
                  </a:solidFill>
                  <a:latin typeface="Arial" charset="0"/>
                </a:rPr>
                <a:t>に反映し、</a:t>
              </a:r>
              <a:r>
                <a:rPr lang="en-US" altLang="ja-JP" sz="2400">
                  <a:solidFill>
                    <a:srgbClr val="FF0066"/>
                  </a:solidFill>
                  <a:latin typeface="Arial" charset="0"/>
                </a:rPr>
                <a:t>STB </a:t>
              </a:r>
              <a:r>
                <a:rPr lang="ja-JP" altLang="en-US" sz="2400">
                  <a:solidFill>
                    <a:srgbClr val="FF0066"/>
                  </a:solidFill>
                  <a:latin typeface="Arial" charset="0"/>
                </a:rPr>
                <a:t>フレームワークの整備・標準化に寄与する予定</a:t>
              </a:r>
              <a:r>
                <a:rPr lang="ja-JP" altLang="en-US" sz="2400">
                  <a:latin typeface="Arial" charset="0"/>
                </a:rPr>
                <a:t>です。</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ox(in)">
                                      <p:cBhvr>
                                        <p:cTn id="7" dur="500"/>
                                        <p:tgtEl>
                                          <p:spTgt spid="593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9399"/>
                                        </p:tgtEl>
                                        <p:attrNameLst>
                                          <p:attrName>style.visibility</p:attrName>
                                        </p:attrNameLst>
                                      </p:cBhvr>
                                      <p:to>
                                        <p:strVal val="visible"/>
                                      </p:to>
                                    </p:set>
                                    <p:anim calcmode="lin" valueType="num">
                                      <p:cBhvr additive="base">
                                        <p:cTn id="12" dur="500" fill="hold"/>
                                        <p:tgtEl>
                                          <p:spTgt spid="59399"/>
                                        </p:tgtEl>
                                        <p:attrNameLst>
                                          <p:attrName>ppt_x</p:attrName>
                                        </p:attrNameLst>
                                      </p:cBhvr>
                                      <p:tavLst>
                                        <p:tav tm="0">
                                          <p:val>
                                            <p:strVal val="0-#ppt_w/2"/>
                                          </p:val>
                                        </p:tav>
                                        <p:tav tm="100000">
                                          <p:val>
                                            <p:strVal val="#ppt_x"/>
                                          </p:val>
                                        </p:tav>
                                      </p:tavLst>
                                    </p:anim>
                                    <p:anim calcmode="lin" valueType="num">
                                      <p:cBhvr additive="base">
                                        <p:cTn id="13" dur="500" fill="hold"/>
                                        <p:tgtEl>
                                          <p:spTgt spid="593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9" name="Rectangle 2"/>
          <p:cNvSpPr>
            <a:spLocks noGrp="1"/>
          </p:cNvSpPr>
          <p:nvPr>
            <p:ph type="title"/>
          </p:nvPr>
        </p:nvSpPr>
        <p:spPr/>
        <p:txBody>
          <a:bodyPr/>
          <a:lstStyle/>
          <a:p>
            <a:pPr eaLnBrk="1" hangingPunct="1"/>
            <a:r>
              <a:rPr lang="ja-JP" altLang="en-US" sz="4000" smtClean="0"/>
              <a:t>ロードマップ</a:t>
            </a:r>
          </a:p>
        </p:txBody>
      </p:sp>
      <p:graphicFrame>
        <p:nvGraphicFramePr>
          <p:cNvPr id="88068" name="Object 4"/>
          <p:cNvGraphicFramePr>
            <a:graphicFrameLocks noChangeAspect="1"/>
          </p:cNvGraphicFramePr>
          <p:nvPr>
            <p:ph idx="1"/>
          </p:nvPr>
        </p:nvGraphicFramePr>
        <p:xfrm>
          <a:off x="-107950" y="1125538"/>
          <a:ext cx="10909300" cy="5983287"/>
        </p:xfrm>
        <a:graphic>
          <a:graphicData uri="http://schemas.openxmlformats.org/presentationml/2006/ole">
            <p:oleObj spid="_x0000_s88068" name="グラフ" r:id="rId4" imgW="6096179" imgH="4067175" progId="MSGraph.Chart.8">
              <p:embed followColorScheme="full"/>
            </p:oleObj>
          </a:graphicData>
        </a:graphic>
      </p:graphicFrame>
      <p:grpSp>
        <p:nvGrpSpPr>
          <p:cNvPr id="88081" name="Group 17"/>
          <p:cNvGrpSpPr>
            <a:grpSpLocks/>
          </p:cNvGrpSpPr>
          <p:nvPr/>
        </p:nvGrpSpPr>
        <p:grpSpPr bwMode="auto">
          <a:xfrm>
            <a:off x="539750" y="3860800"/>
            <a:ext cx="2590800" cy="1370013"/>
            <a:chOff x="340" y="2432"/>
            <a:chExt cx="1632" cy="863"/>
          </a:xfrm>
        </p:grpSpPr>
        <p:sp>
          <p:nvSpPr>
            <p:cNvPr id="2" name="AutoShape 6"/>
            <p:cNvSpPr>
              <a:spLocks noChangeArrowheads="1"/>
            </p:cNvSpPr>
            <p:nvPr/>
          </p:nvSpPr>
          <p:spPr bwMode="auto">
            <a:xfrm>
              <a:off x="340" y="2432"/>
              <a:ext cx="1270" cy="863"/>
            </a:xfrm>
            <a:prstGeom prst="downArrowCallout">
              <a:avLst>
                <a:gd name="adj1" fmla="val 32226"/>
                <a:gd name="adj2" fmla="val 16113"/>
                <a:gd name="adj3" fmla="val 14403"/>
                <a:gd name="adj4" fmla="val 68134"/>
              </a:avLst>
            </a:prstGeom>
            <a:solidFill>
              <a:srgbClr val="FFCC00"/>
            </a:solidFill>
            <a:ln w="9525">
              <a:solidFill>
                <a:schemeClr val="tx1"/>
              </a:solidFill>
              <a:miter lim="800000"/>
              <a:headEnd/>
              <a:tailEnd/>
            </a:ln>
          </p:spPr>
          <p:txBody>
            <a:bodyPr wrap="none" anchor="ctr"/>
            <a:lstStyle/>
            <a:p>
              <a:pPr>
                <a:spcBef>
                  <a:spcPct val="20000"/>
                </a:spcBef>
                <a:buFont typeface="Arial" charset="0"/>
                <a:buChar char="•"/>
              </a:pPr>
              <a:endParaRPr lang="ja-JP" altLang="en-US"/>
            </a:p>
          </p:txBody>
        </p:sp>
        <p:sp>
          <p:nvSpPr>
            <p:cNvPr id="3" name="Text Box 7"/>
            <p:cNvSpPr txBox="1">
              <a:spLocks noChangeArrowheads="1"/>
            </p:cNvSpPr>
            <p:nvPr/>
          </p:nvSpPr>
          <p:spPr bwMode="auto">
            <a:xfrm>
              <a:off x="385" y="2470"/>
              <a:ext cx="1587" cy="518"/>
            </a:xfrm>
            <a:prstGeom prst="rect">
              <a:avLst/>
            </a:prstGeom>
            <a:noFill/>
            <a:ln w="9525">
              <a:noFill/>
              <a:miter lim="800000"/>
              <a:headEnd/>
              <a:tailEnd/>
            </a:ln>
          </p:spPr>
          <p:txBody>
            <a:bodyPr>
              <a:spAutoFit/>
            </a:bodyPr>
            <a:lstStyle/>
            <a:p>
              <a:pPr algn="l"/>
              <a:r>
                <a:rPr lang="en-US" altLang="ja-JP" sz="2400">
                  <a:latin typeface="Arial" charset="0"/>
                </a:rPr>
                <a:t>EM1</a:t>
              </a:r>
            </a:p>
            <a:p>
              <a:pPr algn="l"/>
              <a:r>
                <a:rPr lang="ja-JP" altLang="en-US" sz="2400">
                  <a:latin typeface="Arial" charset="0"/>
                </a:rPr>
                <a:t>　</a:t>
              </a:r>
              <a:r>
                <a:rPr lang="ja-JP" altLang="en-US">
                  <a:latin typeface="Arial" charset="0"/>
                </a:rPr>
                <a:t>・</a:t>
              </a:r>
              <a:r>
                <a:rPr lang="en-US" altLang="ja-JP">
                  <a:latin typeface="Arial" charset="0"/>
                </a:rPr>
                <a:t>First Release</a:t>
              </a:r>
            </a:p>
          </p:txBody>
        </p:sp>
      </p:grpSp>
      <p:grpSp>
        <p:nvGrpSpPr>
          <p:cNvPr id="88077" name="Group 13"/>
          <p:cNvGrpSpPr>
            <a:grpSpLocks/>
          </p:cNvGrpSpPr>
          <p:nvPr/>
        </p:nvGrpSpPr>
        <p:grpSpPr bwMode="auto">
          <a:xfrm>
            <a:off x="2411413" y="2709863"/>
            <a:ext cx="2376487" cy="2087562"/>
            <a:chOff x="1610" y="1389"/>
            <a:chExt cx="1451" cy="1315"/>
          </a:xfrm>
        </p:grpSpPr>
        <p:sp>
          <p:nvSpPr>
            <p:cNvPr id="88078" name="AutoShape 8"/>
            <p:cNvSpPr>
              <a:spLocks noChangeArrowheads="1"/>
            </p:cNvSpPr>
            <p:nvPr/>
          </p:nvSpPr>
          <p:spPr bwMode="auto">
            <a:xfrm>
              <a:off x="1610" y="1389"/>
              <a:ext cx="1361" cy="1315"/>
            </a:xfrm>
            <a:prstGeom prst="downArrowCallout">
              <a:avLst>
                <a:gd name="adj1" fmla="val 22664"/>
                <a:gd name="adj2" fmla="val 11332"/>
                <a:gd name="adj3" fmla="val 14403"/>
                <a:gd name="adj4" fmla="val 68134"/>
              </a:avLst>
            </a:prstGeom>
            <a:solidFill>
              <a:srgbClr val="FF9900"/>
            </a:solidFill>
            <a:ln w="9525">
              <a:solidFill>
                <a:schemeClr val="tx1"/>
              </a:solidFill>
              <a:miter lim="800000"/>
              <a:headEnd/>
              <a:tailEnd/>
            </a:ln>
          </p:spPr>
          <p:txBody>
            <a:bodyPr wrap="none" anchor="ctr"/>
            <a:lstStyle/>
            <a:p>
              <a:pPr>
                <a:spcBef>
                  <a:spcPct val="20000"/>
                </a:spcBef>
                <a:buFont typeface="Arial" charset="0"/>
                <a:buChar char="•"/>
              </a:pPr>
              <a:endParaRPr lang="ja-JP" altLang="en-US"/>
            </a:p>
          </p:txBody>
        </p:sp>
        <p:sp>
          <p:nvSpPr>
            <p:cNvPr id="4" name="Text Box 11"/>
            <p:cNvSpPr txBox="1">
              <a:spLocks noChangeArrowheads="1"/>
            </p:cNvSpPr>
            <p:nvPr/>
          </p:nvSpPr>
          <p:spPr bwMode="auto">
            <a:xfrm>
              <a:off x="1610" y="1407"/>
              <a:ext cx="1451" cy="1037"/>
            </a:xfrm>
            <a:prstGeom prst="rect">
              <a:avLst/>
            </a:prstGeom>
            <a:noFill/>
            <a:ln w="9525">
              <a:noFill/>
              <a:miter lim="800000"/>
              <a:headEnd/>
              <a:tailEnd/>
            </a:ln>
          </p:spPr>
          <p:txBody>
            <a:bodyPr>
              <a:spAutoFit/>
            </a:bodyPr>
            <a:lstStyle/>
            <a:p>
              <a:pPr algn="l"/>
              <a:r>
                <a:rPr lang="en-US" altLang="ja-JP" sz="2400">
                  <a:latin typeface="Arial" charset="0"/>
                </a:rPr>
                <a:t>EM2</a:t>
              </a:r>
            </a:p>
            <a:p>
              <a:pPr algn="l"/>
              <a:r>
                <a:rPr lang="ja-JP" altLang="en-US" sz="2400">
                  <a:latin typeface="Arial" charset="0"/>
                </a:rPr>
                <a:t>　</a:t>
              </a:r>
              <a:r>
                <a:rPr lang="ja-JP" altLang="en-US">
                  <a:latin typeface="Arial" charset="0"/>
                </a:rPr>
                <a:t>・</a:t>
              </a:r>
              <a:r>
                <a:rPr lang="en-US" altLang="ja-JP">
                  <a:latin typeface="Arial" charset="0"/>
                </a:rPr>
                <a:t>Development</a:t>
              </a:r>
            </a:p>
            <a:p>
              <a:pPr algn="l"/>
              <a:r>
                <a:rPr lang="ja-JP" altLang="en-US">
                  <a:latin typeface="Arial" charset="0"/>
                </a:rPr>
                <a:t>　　</a:t>
              </a:r>
              <a:r>
                <a:rPr lang="en-US" altLang="ja-JP">
                  <a:latin typeface="Arial" charset="0"/>
                </a:rPr>
                <a:t>ready Edition</a:t>
              </a:r>
            </a:p>
            <a:p>
              <a:pPr algn="l"/>
              <a:r>
                <a:rPr lang="ja-JP" altLang="en-US">
                  <a:latin typeface="Arial" charset="0"/>
                </a:rPr>
                <a:t>　・</a:t>
              </a:r>
              <a:r>
                <a:rPr lang="en-US" altLang="ja-JP">
                  <a:latin typeface="Arial" charset="0"/>
                </a:rPr>
                <a:t>System Core WG</a:t>
              </a:r>
              <a:endParaRPr lang="ja-JP" altLang="en-US">
                <a:latin typeface="Arial" charset="0"/>
              </a:endParaRPr>
            </a:p>
            <a:p>
              <a:pPr lvl="1" algn="l"/>
              <a:endParaRPr lang="en-US" altLang="ja-JP">
                <a:latin typeface="Arial" charset="0"/>
              </a:endParaRPr>
            </a:p>
          </p:txBody>
        </p:sp>
      </p:grpSp>
      <p:grpSp>
        <p:nvGrpSpPr>
          <p:cNvPr id="88079" name="Group 15"/>
          <p:cNvGrpSpPr>
            <a:grpSpLocks/>
          </p:cNvGrpSpPr>
          <p:nvPr/>
        </p:nvGrpSpPr>
        <p:grpSpPr bwMode="auto">
          <a:xfrm>
            <a:off x="4283075" y="1671638"/>
            <a:ext cx="2449513" cy="2478087"/>
            <a:chOff x="2789" y="916"/>
            <a:chExt cx="1543" cy="1425"/>
          </a:xfrm>
        </p:grpSpPr>
        <p:sp>
          <p:nvSpPr>
            <p:cNvPr id="88076" name="AutoShape 9"/>
            <p:cNvSpPr>
              <a:spLocks noChangeArrowheads="1"/>
            </p:cNvSpPr>
            <p:nvPr/>
          </p:nvSpPr>
          <p:spPr bwMode="auto">
            <a:xfrm>
              <a:off x="2789" y="935"/>
              <a:ext cx="1543" cy="1406"/>
            </a:xfrm>
            <a:prstGeom prst="downArrowCallout">
              <a:avLst>
                <a:gd name="adj1" fmla="val 24032"/>
                <a:gd name="adj2" fmla="val 12016"/>
                <a:gd name="adj3" fmla="val 14403"/>
                <a:gd name="adj4" fmla="val 68134"/>
              </a:avLst>
            </a:prstGeom>
            <a:solidFill>
              <a:srgbClr val="66FF33"/>
            </a:solidFill>
            <a:ln w="9525">
              <a:solidFill>
                <a:schemeClr val="tx1"/>
              </a:solidFill>
              <a:miter lim="800000"/>
              <a:headEnd/>
              <a:tailEnd/>
            </a:ln>
          </p:spPr>
          <p:txBody>
            <a:bodyPr wrap="none" anchor="ctr"/>
            <a:lstStyle/>
            <a:p>
              <a:pPr>
                <a:spcBef>
                  <a:spcPct val="20000"/>
                </a:spcBef>
                <a:buFont typeface="Arial" charset="0"/>
                <a:buChar char="•"/>
              </a:pPr>
              <a:endParaRPr lang="ja-JP" altLang="en-US"/>
            </a:p>
          </p:txBody>
        </p:sp>
        <p:sp>
          <p:nvSpPr>
            <p:cNvPr id="5" name="Text Box 12"/>
            <p:cNvSpPr txBox="1">
              <a:spLocks noChangeArrowheads="1"/>
            </p:cNvSpPr>
            <p:nvPr/>
          </p:nvSpPr>
          <p:spPr bwMode="auto">
            <a:xfrm>
              <a:off x="2881" y="916"/>
              <a:ext cx="1451" cy="1105"/>
            </a:xfrm>
            <a:prstGeom prst="rect">
              <a:avLst/>
            </a:prstGeom>
            <a:noFill/>
            <a:ln w="9525">
              <a:noFill/>
              <a:miter lim="800000"/>
              <a:headEnd/>
              <a:tailEnd/>
            </a:ln>
          </p:spPr>
          <p:txBody>
            <a:bodyPr>
              <a:spAutoFit/>
            </a:bodyPr>
            <a:lstStyle/>
            <a:p>
              <a:pPr algn="l"/>
              <a:r>
                <a:rPr lang="en-US" altLang="ja-JP" sz="2400">
                  <a:latin typeface="Arial" charset="0"/>
                </a:rPr>
                <a:t>EM3</a:t>
              </a:r>
            </a:p>
            <a:p>
              <a:pPr algn="l"/>
              <a:r>
                <a:rPr lang="ja-JP" altLang="en-US" sz="2400">
                  <a:latin typeface="Arial" charset="0"/>
                </a:rPr>
                <a:t>　</a:t>
              </a:r>
              <a:r>
                <a:rPr lang="ja-JP" altLang="en-US">
                  <a:latin typeface="Arial" charset="0"/>
                </a:rPr>
                <a:t>・ </a:t>
              </a:r>
              <a:r>
                <a:rPr lang="en-US" altLang="ja-JP">
                  <a:latin typeface="Arial" charset="0"/>
                </a:rPr>
                <a:t>Specification </a:t>
              </a:r>
            </a:p>
            <a:p>
              <a:pPr algn="l"/>
              <a:r>
                <a:rPr lang="ja-JP" altLang="en-US">
                  <a:latin typeface="Arial" charset="0"/>
                </a:rPr>
                <a:t>　　　</a:t>
              </a:r>
              <a:r>
                <a:rPr lang="en-US" altLang="ja-JP">
                  <a:latin typeface="Arial" charset="0"/>
                </a:rPr>
                <a:t>ready Edition</a:t>
              </a:r>
            </a:p>
            <a:p>
              <a:pPr algn="l"/>
              <a:r>
                <a:rPr lang="ja-JP" altLang="en-US">
                  <a:latin typeface="Arial" charset="0"/>
                </a:rPr>
                <a:t>　・ </a:t>
              </a:r>
              <a:r>
                <a:rPr lang="en-US" altLang="ja-JP">
                  <a:latin typeface="Arial" charset="0"/>
                </a:rPr>
                <a:t>STB WG</a:t>
              </a:r>
            </a:p>
            <a:p>
              <a:pPr algn="l"/>
              <a:r>
                <a:rPr lang="ja-JP" altLang="en-US">
                  <a:latin typeface="Arial" charset="0"/>
                </a:rPr>
                <a:t>　・ </a:t>
              </a:r>
              <a:r>
                <a:rPr lang="en-US" altLang="ja-JP">
                  <a:latin typeface="Arial" charset="0"/>
                </a:rPr>
                <a:t>IP-Comm WG</a:t>
              </a:r>
              <a:endParaRPr lang="ja-JP" altLang="en-US">
                <a:latin typeface="Arial" charset="0"/>
              </a:endParaRPr>
            </a:p>
            <a:p>
              <a:pPr lvl="1" algn="l"/>
              <a:endParaRPr lang="en-US" altLang="ja-JP">
                <a:latin typeface="Arial" charset="0"/>
              </a:endParaRPr>
            </a:p>
          </p:txBody>
        </p:sp>
      </p:grpSp>
      <p:grpSp>
        <p:nvGrpSpPr>
          <p:cNvPr id="88080" name="Group 16"/>
          <p:cNvGrpSpPr>
            <a:grpSpLocks/>
          </p:cNvGrpSpPr>
          <p:nvPr/>
        </p:nvGrpSpPr>
        <p:grpSpPr bwMode="auto">
          <a:xfrm>
            <a:off x="6372225" y="620713"/>
            <a:ext cx="2771775" cy="3024187"/>
            <a:chOff x="4286" y="300"/>
            <a:chExt cx="1542" cy="1723"/>
          </a:xfrm>
        </p:grpSpPr>
        <p:sp>
          <p:nvSpPr>
            <p:cNvPr id="88074" name="AutoShape 10"/>
            <p:cNvSpPr>
              <a:spLocks noChangeArrowheads="1"/>
            </p:cNvSpPr>
            <p:nvPr/>
          </p:nvSpPr>
          <p:spPr bwMode="auto">
            <a:xfrm>
              <a:off x="4286" y="300"/>
              <a:ext cx="1474" cy="1723"/>
            </a:xfrm>
            <a:prstGeom prst="downArrowCallout">
              <a:avLst>
                <a:gd name="adj1" fmla="val 21898"/>
                <a:gd name="adj2" fmla="val 10949"/>
                <a:gd name="adj3" fmla="val 16836"/>
                <a:gd name="adj4" fmla="val 68134"/>
              </a:avLst>
            </a:prstGeom>
            <a:solidFill>
              <a:srgbClr val="3366FF"/>
            </a:solidFill>
            <a:ln w="9525">
              <a:solidFill>
                <a:schemeClr val="tx1"/>
              </a:solidFill>
              <a:miter lim="800000"/>
              <a:headEnd/>
              <a:tailEnd/>
            </a:ln>
          </p:spPr>
          <p:txBody>
            <a:bodyPr wrap="none" anchor="ctr"/>
            <a:lstStyle/>
            <a:p>
              <a:pPr>
                <a:spcBef>
                  <a:spcPct val="20000"/>
                </a:spcBef>
                <a:buFont typeface="Arial" charset="0"/>
                <a:buChar char="•"/>
              </a:pPr>
              <a:endParaRPr lang="ja-JP" altLang="en-US"/>
            </a:p>
          </p:txBody>
        </p:sp>
        <p:sp>
          <p:nvSpPr>
            <p:cNvPr id="88075" name="Text Box 14"/>
            <p:cNvSpPr txBox="1">
              <a:spLocks noChangeArrowheads="1"/>
            </p:cNvSpPr>
            <p:nvPr/>
          </p:nvSpPr>
          <p:spPr bwMode="auto">
            <a:xfrm>
              <a:off x="4377" y="300"/>
              <a:ext cx="1451" cy="1251"/>
            </a:xfrm>
            <a:prstGeom prst="rect">
              <a:avLst/>
            </a:prstGeom>
            <a:noFill/>
            <a:ln w="9525">
              <a:noFill/>
              <a:miter lim="800000"/>
              <a:headEnd/>
              <a:tailEnd/>
            </a:ln>
          </p:spPr>
          <p:txBody>
            <a:bodyPr>
              <a:spAutoFit/>
            </a:bodyPr>
            <a:lstStyle/>
            <a:p>
              <a:pPr algn="l"/>
              <a:r>
                <a:rPr lang="en-US" altLang="ja-JP" sz="2400">
                  <a:latin typeface="Arial" charset="0"/>
                </a:rPr>
                <a:t>EM4</a:t>
              </a:r>
            </a:p>
            <a:p>
              <a:pPr algn="l"/>
              <a:r>
                <a:rPr lang="ja-JP" altLang="en-US" sz="2400">
                  <a:latin typeface="Arial" charset="0"/>
                </a:rPr>
                <a:t>　</a:t>
              </a:r>
              <a:r>
                <a:rPr lang="ja-JP" altLang="en-US">
                  <a:latin typeface="Arial" charset="0"/>
                </a:rPr>
                <a:t>・ </a:t>
              </a:r>
              <a:r>
                <a:rPr lang="en-US" altLang="ja-JP">
                  <a:latin typeface="Arial" charset="0"/>
                </a:rPr>
                <a:t>Certification &amp;</a:t>
              </a:r>
              <a:r>
                <a:rPr lang="ja-JP" altLang="en-US">
                  <a:latin typeface="Arial" charset="0"/>
                </a:rPr>
                <a:t>　 </a:t>
              </a:r>
            </a:p>
            <a:p>
              <a:pPr algn="l"/>
              <a:r>
                <a:rPr lang="en-US" altLang="ja-JP">
                  <a:latin typeface="Arial" charset="0"/>
                </a:rPr>
                <a:t>      Profiling</a:t>
              </a:r>
              <a:r>
                <a:rPr lang="ja-JP" altLang="en-US">
                  <a:latin typeface="Arial" charset="0"/>
                </a:rPr>
                <a:t> </a:t>
              </a:r>
            </a:p>
            <a:p>
              <a:pPr algn="l"/>
              <a:r>
                <a:rPr lang="en-US" altLang="ja-JP">
                  <a:latin typeface="Arial" charset="0"/>
                </a:rPr>
                <a:t>      ready Edition</a:t>
              </a:r>
            </a:p>
            <a:p>
              <a:pPr algn="l"/>
              <a:r>
                <a:rPr lang="ja-JP" altLang="en-US">
                  <a:latin typeface="Arial" charset="0"/>
                </a:rPr>
                <a:t>   ・ </a:t>
              </a:r>
              <a:r>
                <a:rPr lang="en-US" altLang="ja-JP">
                  <a:latin typeface="Arial" charset="0"/>
                </a:rPr>
                <a:t>Cert WG</a:t>
              </a:r>
            </a:p>
            <a:p>
              <a:pPr algn="l"/>
              <a:r>
                <a:rPr lang="ja-JP" altLang="en-US">
                  <a:latin typeface="Arial" charset="0"/>
                </a:rPr>
                <a:t>   ・ </a:t>
              </a:r>
              <a:r>
                <a:rPr lang="en-US" altLang="ja-JP">
                  <a:latin typeface="Arial" charset="0"/>
                </a:rPr>
                <a:t>Market Place</a:t>
              </a:r>
              <a:r>
                <a:rPr lang="ja-JP" altLang="en-US">
                  <a:latin typeface="Arial" charset="0"/>
                </a:rPr>
                <a:t> </a:t>
              </a:r>
              <a:r>
                <a:rPr lang="en-US" altLang="ja-JP">
                  <a:latin typeface="Arial" charset="0"/>
                </a:rPr>
                <a:t>Prj</a:t>
              </a:r>
            </a:p>
            <a:p>
              <a:pPr lvl="1" algn="l"/>
              <a:endParaRPr lang="en-US" altLang="ja-JP">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8081"/>
                                        </p:tgtEl>
                                        <p:attrNameLst>
                                          <p:attrName>style.visibility</p:attrName>
                                        </p:attrNameLst>
                                      </p:cBhvr>
                                      <p:to>
                                        <p:strVal val="visible"/>
                                      </p:to>
                                    </p:set>
                                    <p:anim calcmode="lin" valueType="num">
                                      <p:cBhvr additive="base">
                                        <p:cTn id="7" dur="500" fill="hold"/>
                                        <p:tgtEl>
                                          <p:spTgt spid="88081"/>
                                        </p:tgtEl>
                                        <p:attrNameLst>
                                          <p:attrName>ppt_x</p:attrName>
                                        </p:attrNameLst>
                                      </p:cBhvr>
                                      <p:tavLst>
                                        <p:tav tm="0">
                                          <p:val>
                                            <p:strVal val="#ppt_x"/>
                                          </p:val>
                                        </p:tav>
                                        <p:tav tm="100000">
                                          <p:val>
                                            <p:strVal val="#ppt_x"/>
                                          </p:val>
                                        </p:tav>
                                      </p:tavLst>
                                    </p:anim>
                                    <p:anim calcmode="lin" valueType="num">
                                      <p:cBhvr additive="base">
                                        <p:cTn id="8" dur="500" fill="hold"/>
                                        <p:tgtEl>
                                          <p:spTgt spid="8808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88077"/>
                                        </p:tgtEl>
                                        <p:attrNameLst>
                                          <p:attrName>style.visibility</p:attrName>
                                        </p:attrNameLst>
                                      </p:cBhvr>
                                      <p:to>
                                        <p:strVal val="visible"/>
                                      </p:to>
                                    </p:set>
                                    <p:anim calcmode="lin" valueType="num">
                                      <p:cBhvr additive="base">
                                        <p:cTn id="13" dur="500" fill="hold"/>
                                        <p:tgtEl>
                                          <p:spTgt spid="88077"/>
                                        </p:tgtEl>
                                        <p:attrNameLst>
                                          <p:attrName>ppt_x</p:attrName>
                                        </p:attrNameLst>
                                      </p:cBhvr>
                                      <p:tavLst>
                                        <p:tav tm="0">
                                          <p:val>
                                            <p:strVal val="#ppt_x"/>
                                          </p:val>
                                        </p:tav>
                                        <p:tav tm="100000">
                                          <p:val>
                                            <p:strVal val="#ppt_x"/>
                                          </p:val>
                                        </p:tav>
                                      </p:tavLst>
                                    </p:anim>
                                    <p:anim calcmode="lin" valueType="num">
                                      <p:cBhvr additive="base">
                                        <p:cTn id="14" dur="500" fill="hold"/>
                                        <p:tgtEl>
                                          <p:spTgt spid="88077"/>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88079"/>
                                        </p:tgtEl>
                                        <p:attrNameLst>
                                          <p:attrName>style.visibility</p:attrName>
                                        </p:attrNameLst>
                                      </p:cBhvr>
                                      <p:to>
                                        <p:strVal val="visible"/>
                                      </p:to>
                                    </p:set>
                                    <p:anim calcmode="lin" valueType="num">
                                      <p:cBhvr additive="base">
                                        <p:cTn id="19" dur="500" fill="hold"/>
                                        <p:tgtEl>
                                          <p:spTgt spid="88079"/>
                                        </p:tgtEl>
                                        <p:attrNameLst>
                                          <p:attrName>ppt_x</p:attrName>
                                        </p:attrNameLst>
                                      </p:cBhvr>
                                      <p:tavLst>
                                        <p:tav tm="0">
                                          <p:val>
                                            <p:strVal val="#ppt_x"/>
                                          </p:val>
                                        </p:tav>
                                        <p:tav tm="100000">
                                          <p:val>
                                            <p:strVal val="#ppt_x"/>
                                          </p:val>
                                        </p:tav>
                                      </p:tavLst>
                                    </p:anim>
                                    <p:anim calcmode="lin" valueType="num">
                                      <p:cBhvr additive="base">
                                        <p:cTn id="20" dur="500" fill="hold"/>
                                        <p:tgtEl>
                                          <p:spTgt spid="88079"/>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88080"/>
                                        </p:tgtEl>
                                        <p:attrNameLst>
                                          <p:attrName>style.visibility</p:attrName>
                                        </p:attrNameLst>
                                      </p:cBhvr>
                                      <p:to>
                                        <p:strVal val="visible"/>
                                      </p:to>
                                    </p:set>
                                    <p:anim calcmode="lin" valueType="num">
                                      <p:cBhvr additive="base">
                                        <p:cTn id="25" dur="500" fill="hold"/>
                                        <p:tgtEl>
                                          <p:spTgt spid="88080"/>
                                        </p:tgtEl>
                                        <p:attrNameLst>
                                          <p:attrName>ppt_x</p:attrName>
                                        </p:attrNameLst>
                                      </p:cBhvr>
                                      <p:tavLst>
                                        <p:tav tm="0">
                                          <p:val>
                                            <p:strVal val="#ppt_x"/>
                                          </p:val>
                                        </p:tav>
                                        <p:tav tm="100000">
                                          <p:val>
                                            <p:strVal val="#ppt_x"/>
                                          </p:val>
                                        </p:tav>
                                      </p:tavLst>
                                    </p:anim>
                                    <p:anim calcmode="lin" valueType="num">
                                      <p:cBhvr additive="base">
                                        <p:cTn id="26" dur="500" fill="hold"/>
                                        <p:tgtEl>
                                          <p:spTgt spid="8808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3" name="Picture 2" descr="C:\Users\miura\Desktop\A122_048.jpg"/>
          <p:cNvPicPr>
            <a:picLocks noChangeAspect="1" noChangeArrowheads="1"/>
          </p:cNvPicPr>
          <p:nvPr/>
        </p:nvPicPr>
        <p:blipFill>
          <a:blip r:embed="rId3"/>
          <a:srcRect/>
          <a:stretch>
            <a:fillRect/>
          </a:stretch>
        </p:blipFill>
        <p:spPr bwMode="auto">
          <a:xfrm>
            <a:off x="0" y="0"/>
            <a:ext cx="9144000" cy="6000750"/>
          </a:xfrm>
          <a:prstGeom prst="rect">
            <a:avLst/>
          </a:prstGeom>
          <a:noFill/>
          <a:ln w="9525">
            <a:noFill/>
            <a:miter lim="800000"/>
            <a:headEnd/>
            <a:tailEnd/>
          </a:ln>
        </p:spPr>
      </p:pic>
      <p:sp>
        <p:nvSpPr>
          <p:cNvPr id="4" name="テキスト ボックス 3"/>
          <p:cNvSpPr txBox="1"/>
          <p:nvPr/>
        </p:nvSpPr>
        <p:spPr>
          <a:xfrm>
            <a:off x="857224" y="285728"/>
            <a:ext cx="7500990" cy="5170646"/>
          </a:xfrm>
          <a:prstGeom prst="rect">
            <a:avLst/>
          </a:prstGeom>
          <a:noFill/>
        </p:spPr>
        <p:txBody>
          <a:bodyPr>
            <a:spAutoFit/>
          </a:bodyPr>
          <a:lstStyle/>
          <a:p>
            <a:pPr fontAlgn="auto">
              <a:spcBef>
                <a:spcPts val="0"/>
              </a:spcBef>
              <a:spcAft>
                <a:spcPts val="0"/>
              </a:spcAft>
              <a:defRPr/>
            </a:pPr>
            <a:r>
              <a:rPr lang="en-US" altLang="ja-JP" sz="6600" b="1" i="1" dirty="0">
                <a:solidFill>
                  <a:srgbClr val="00B0F0"/>
                </a:solidFill>
                <a:effectLst>
                  <a:innerShdw blurRad="63500" dist="50800" dir="13500000">
                    <a:prstClr val="black">
                      <a:alpha val="50000"/>
                    </a:prstClr>
                  </a:innerShdw>
                </a:effectLst>
                <a:latin typeface="+mn-lt"/>
                <a:ea typeface="+mn-ea"/>
              </a:rPr>
              <a:t>The rising market</a:t>
            </a:r>
          </a:p>
          <a:p>
            <a:pPr fontAlgn="auto">
              <a:spcBef>
                <a:spcPts val="0"/>
              </a:spcBef>
              <a:spcAft>
                <a:spcPts val="0"/>
              </a:spcAft>
              <a:defRPr/>
            </a:pPr>
            <a:r>
              <a:rPr lang="en-US" altLang="ja-JP" sz="6600" b="1" i="1" dirty="0">
                <a:solidFill>
                  <a:srgbClr val="00B0F0"/>
                </a:solidFill>
                <a:effectLst>
                  <a:innerShdw blurRad="63500" dist="50800" dir="13500000">
                    <a:prstClr val="black">
                      <a:alpha val="50000"/>
                    </a:prstClr>
                  </a:innerShdw>
                </a:effectLst>
                <a:latin typeface="+mn-lt"/>
                <a:ea typeface="+mn-ea"/>
              </a:rPr>
              <a:t>revolution</a:t>
            </a:r>
            <a:br>
              <a:rPr lang="en-US" altLang="ja-JP" sz="6600" b="1" i="1" dirty="0">
                <a:solidFill>
                  <a:srgbClr val="00B0F0"/>
                </a:solidFill>
                <a:effectLst>
                  <a:innerShdw blurRad="63500" dist="50800" dir="13500000">
                    <a:prstClr val="black">
                      <a:alpha val="50000"/>
                    </a:prstClr>
                  </a:innerShdw>
                </a:effectLst>
                <a:latin typeface="+mn-lt"/>
                <a:ea typeface="+mn-ea"/>
              </a:rPr>
            </a:br>
            <a:r>
              <a:rPr lang="en-US" altLang="ja-JP" sz="6600" b="1" i="1" dirty="0">
                <a:solidFill>
                  <a:srgbClr val="00B0F0"/>
                </a:solidFill>
                <a:effectLst>
                  <a:innerShdw blurRad="63500" dist="50800" dir="13500000">
                    <a:prstClr val="black">
                      <a:alpha val="50000"/>
                    </a:prstClr>
                  </a:innerShdw>
                </a:effectLst>
                <a:latin typeface="+mn-lt"/>
                <a:ea typeface="+mn-ea"/>
              </a:rPr>
              <a:t>of</a:t>
            </a:r>
            <a:br>
              <a:rPr lang="en-US" altLang="ja-JP" sz="6600" b="1" i="1" dirty="0">
                <a:solidFill>
                  <a:srgbClr val="00B0F0"/>
                </a:solidFill>
                <a:effectLst>
                  <a:innerShdw blurRad="63500" dist="50800" dir="13500000">
                    <a:prstClr val="black">
                      <a:alpha val="50000"/>
                    </a:prstClr>
                  </a:innerShdw>
                </a:effectLst>
                <a:latin typeface="+mn-lt"/>
                <a:ea typeface="+mn-ea"/>
              </a:rPr>
            </a:br>
            <a:r>
              <a:rPr lang="en-US" altLang="ja-JP" sz="6600" b="1" i="1" dirty="0">
                <a:solidFill>
                  <a:srgbClr val="00B0F0"/>
                </a:solidFill>
                <a:effectLst>
                  <a:innerShdw blurRad="63500" dist="50800" dir="13500000">
                    <a:prstClr val="black">
                      <a:alpha val="50000"/>
                    </a:prstClr>
                  </a:innerShdw>
                </a:effectLst>
                <a:latin typeface="+mn-lt"/>
                <a:ea typeface="+mn-ea"/>
              </a:rPr>
              <a:t>Android Embedded Systems</a:t>
            </a:r>
            <a:endParaRPr lang="ja-JP" altLang="en-US" sz="6600" b="1" i="1" dirty="0">
              <a:solidFill>
                <a:srgbClr val="00B0F0"/>
              </a:solidFill>
              <a:effectLst>
                <a:innerShdw blurRad="63500" dist="50800" dir="13500000">
                  <a:prstClr val="black">
                    <a:alpha val="50000"/>
                  </a:prstClr>
                </a:innerShdw>
              </a:effectLst>
              <a:latin typeface="+mn-lt"/>
              <a:ea typeface="+mn-ea"/>
            </a:endParaRPr>
          </a:p>
        </p:txBody>
      </p:sp>
      <p:sp>
        <p:nvSpPr>
          <p:cNvPr id="90115" name="Text Box 4"/>
          <p:cNvSpPr txBox="1">
            <a:spLocks noChangeArrowheads="1"/>
          </p:cNvSpPr>
          <p:nvPr/>
        </p:nvSpPr>
        <p:spPr bwMode="auto">
          <a:xfrm>
            <a:off x="2843213" y="6165850"/>
            <a:ext cx="4392612" cy="457200"/>
          </a:xfrm>
          <a:prstGeom prst="rect">
            <a:avLst/>
          </a:prstGeom>
          <a:noFill/>
          <a:ln w="9525">
            <a:noFill/>
            <a:miter lim="800000"/>
            <a:headEnd/>
            <a:tailEnd/>
          </a:ln>
        </p:spPr>
        <p:txBody>
          <a:bodyPr>
            <a:spAutoFit/>
          </a:bodyPr>
          <a:lstStyle/>
          <a:p>
            <a:pPr algn="l">
              <a:spcBef>
                <a:spcPct val="50000"/>
              </a:spcBef>
            </a:pPr>
            <a:r>
              <a:rPr lang="en-US" altLang="ja-JP" sz="2400" b="1"/>
              <a:t>ET2009 OESF</a:t>
            </a:r>
            <a:r>
              <a:rPr lang="ja-JP" altLang="en-US" sz="2400" b="1"/>
              <a:t>ブース：</a:t>
            </a:r>
            <a:r>
              <a:rPr lang="en-US" altLang="ja-JP" sz="2400" b="1"/>
              <a:t>B-04</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ESF標準プレゼンテーションテンプレー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OESF標準プレゼンテーションテンプレート</Template>
  <TotalTime>870</TotalTime>
  <Words>3136</Words>
  <Application>Microsoft Office PowerPoint</Application>
  <PresentationFormat>画面に合わせる (4:3)</PresentationFormat>
  <Paragraphs>301</Paragraphs>
  <Slides>19</Slides>
  <Notes>19</Notes>
  <HiddenSlides>0</HiddenSlides>
  <MMClips>0</MMClips>
  <ScaleCrop>false</ScaleCrop>
  <HeadingPairs>
    <vt:vector size="8" baseType="variant">
      <vt:variant>
        <vt:lpstr>使用されているフォント</vt:lpstr>
      </vt:variant>
      <vt:variant>
        <vt:i4>3</vt:i4>
      </vt:variant>
      <vt:variant>
        <vt:lpstr>デザイン テンプレート</vt:lpstr>
      </vt:variant>
      <vt:variant>
        <vt:i4>2</vt:i4>
      </vt:variant>
      <vt:variant>
        <vt:lpstr>埋め込まれた OLE サーバー</vt:lpstr>
      </vt:variant>
      <vt:variant>
        <vt:i4>1</vt:i4>
      </vt:variant>
      <vt:variant>
        <vt:lpstr>スライド タイトル</vt:lpstr>
      </vt:variant>
      <vt:variant>
        <vt:i4>19</vt:i4>
      </vt:variant>
    </vt:vector>
  </HeadingPairs>
  <TitlesOfParts>
    <vt:vector size="25" baseType="lpstr">
      <vt:lpstr>Calibri</vt:lpstr>
      <vt:lpstr>ＭＳ Ｐゴシック</vt:lpstr>
      <vt:lpstr>Arial</vt:lpstr>
      <vt:lpstr>OESF標準プレゼンテーションテンプレート</vt:lpstr>
      <vt:lpstr>OESF標準プレゼンテーションテンプレート</vt:lpstr>
      <vt:lpstr>グラフ</vt:lpstr>
      <vt:lpstr>Distribution WG 活動報告 ～EM1とロードマップ～</vt:lpstr>
      <vt:lpstr>アジェンダ</vt:lpstr>
      <vt:lpstr>スライド 3</vt:lpstr>
      <vt:lpstr>設立趣意</vt:lpstr>
      <vt:lpstr>『標準化』と『差別化』</vt:lpstr>
      <vt:lpstr>いつか来た道</vt:lpstr>
      <vt:lpstr>スライド 7</vt:lpstr>
      <vt:lpstr>EMはどうなっている？</vt:lpstr>
      <vt:lpstr>EM Development Flow</vt:lpstr>
      <vt:lpstr>Androidのフレームワークの拡張</vt:lpstr>
      <vt:lpstr>EM ECO System</vt:lpstr>
      <vt:lpstr>JFKの就任演説より</vt:lpstr>
      <vt:lpstr>スライド 13</vt:lpstr>
      <vt:lpstr>EM1とは？</vt:lpstr>
      <vt:lpstr>EM1 の 対応ハードウェア</vt:lpstr>
      <vt:lpstr>EM1 の 拡張部分・ソフトウェア</vt:lpstr>
      <vt:lpstr>STB-WG 成果</vt:lpstr>
      <vt:lpstr>ロードマップ</vt:lpstr>
      <vt:lpstr>スライド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Androidが変える 組込みシステム </dc:title>
  <dc:creator>miura</dc:creator>
  <cp:lastModifiedBy>Noritsuna</cp:lastModifiedBy>
  <cp:revision>154</cp:revision>
  <dcterms:created xsi:type="dcterms:W3CDTF">2009-05-09T13:04:10Z</dcterms:created>
  <dcterms:modified xsi:type="dcterms:W3CDTF">2009-11-20T07:19:41Z</dcterms:modified>
</cp:coreProperties>
</file>