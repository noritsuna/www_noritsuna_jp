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7"/>
  </p:notesMasterIdLst>
  <p:sldIdLst>
    <p:sldId id="256" r:id="rId2"/>
    <p:sldId id="512" r:id="rId3"/>
    <p:sldId id="489" r:id="rId4"/>
    <p:sldId id="573" r:id="rId5"/>
    <p:sldId id="572" r:id="rId6"/>
    <p:sldId id="574" r:id="rId7"/>
    <p:sldId id="513" r:id="rId8"/>
    <p:sldId id="571" r:id="rId9"/>
    <p:sldId id="515" r:id="rId10"/>
    <p:sldId id="518" r:id="rId11"/>
    <p:sldId id="525" r:id="rId12"/>
    <p:sldId id="524" r:id="rId13"/>
    <p:sldId id="517" r:id="rId14"/>
    <p:sldId id="526" r:id="rId15"/>
    <p:sldId id="527" r:id="rId16"/>
    <p:sldId id="521" r:id="rId17"/>
    <p:sldId id="528" r:id="rId18"/>
    <p:sldId id="537" r:id="rId19"/>
    <p:sldId id="538" r:id="rId20"/>
    <p:sldId id="539" r:id="rId21"/>
    <p:sldId id="541" r:id="rId22"/>
    <p:sldId id="542" r:id="rId23"/>
    <p:sldId id="557" r:id="rId24"/>
    <p:sldId id="544" r:id="rId25"/>
    <p:sldId id="561" r:id="rId26"/>
    <p:sldId id="559" r:id="rId27"/>
    <p:sldId id="565" r:id="rId28"/>
    <p:sldId id="562" r:id="rId29"/>
    <p:sldId id="569" r:id="rId30"/>
    <p:sldId id="570" r:id="rId31"/>
    <p:sldId id="566" r:id="rId32"/>
    <p:sldId id="558" r:id="rId33"/>
    <p:sldId id="567" r:id="rId34"/>
    <p:sldId id="568" r:id="rId35"/>
    <p:sldId id="543" r:id="rId36"/>
    <p:sldId id="575" r:id="rId37"/>
    <p:sldId id="577" r:id="rId38"/>
    <p:sldId id="578" r:id="rId39"/>
    <p:sldId id="581" r:id="rId40"/>
    <p:sldId id="593" r:id="rId41"/>
    <p:sldId id="579" r:id="rId42"/>
    <p:sldId id="583" r:id="rId43"/>
    <p:sldId id="576" r:id="rId44"/>
    <p:sldId id="585" r:id="rId45"/>
    <p:sldId id="586" r:id="rId46"/>
    <p:sldId id="587" r:id="rId47"/>
    <p:sldId id="588" r:id="rId48"/>
    <p:sldId id="589" r:id="rId49"/>
    <p:sldId id="591" r:id="rId50"/>
    <p:sldId id="594" r:id="rId51"/>
    <p:sldId id="599" r:id="rId52"/>
    <p:sldId id="595" r:id="rId53"/>
    <p:sldId id="596" r:id="rId54"/>
    <p:sldId id="548" r:id="rId55"/>
    <p:sldId id="602" r:id="rId56"/>
    <p:sldId id="603" r:id="rId57"/>
    <p:sldId id="604" r:id="rId58"/>
    <p:sldId id="600" r:id="rId59"/>
    <p:sldId id="606" r:id="rId60"/>
    <p:sldId id="608" r:id="rId61"/>
    <p:sldId id="609" r:id="rId62"/>
    <p:sldId id="612" r:id="rId63"/>
    <p:sldId id="613" r:id="rId64"/>
    <p:sldId id="614" r:id="rId65"/>
    <p:sldId id="618" r:id="rId66"/>
    <p:sldId id="616" r:id="rId67"/>
    <p:sldId id="611" r:id="rId68"/>
    <p:sldId id="620" r:id="rId69"/>
    <p:sldId id="619" r:id="rId70"/>
    <p:sldId id="622" r:id="rId71"/>
    <p:sldId id="625" r:id="rId72"/>
    <p:sldId id="626" r:id="rId73"/>
    <p:sldId id="624" r:id="rId74"/>
    <p:sldId id="623" r:id="rId75"/>
    <p:sldId id="615" r:id="rId76"/>
  </p:sldIdLst>
  <p:sldSz cx="9144000" cy="6858000" type="screen4x3"/>
  <p:notesSz cx="6805613" cy="9939338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5BA125"/>
    <a:srgbClr val="66FF33"/>
    <a:srgbClr val="CCFFCC"/>
    <a:srgbClr val="E5DEDB"/>
    <a:srgbClr val="0080FF"/>
    <a:srgbClr val="FF0000"/>
    <a:srgbClr val="FF6FCF"/>
    <a:srgbClr val="E8E8E8"/>
    <a:srgbClr val="FFFF99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49" autoAdjust="0"/>
    <p:restoredTop sz="90318" autoAdjust="0"/>
  </p:normalViewPr>
  <p:slideViewPr>
    <p:cSldViewPr>
      <p:cViewPr varScale="1">
        <p:scale>
          <a:sx n="87" d="100"/>
          <a:sy n="87" d="100"/>
        </p:scale>
        <p:origin x="53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95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ja-JP"/>
          </a:p>
        </p:txBody>
      </p:sp>
      <p:sp>
        <p:nvSpPr>
          <p:cNvPr id="11267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54450" y="0"/>
            <a:ext cx="29495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ja-JP"/>
          </a:p>
        </p:txBody>
      </p:sp>
      <p:sp>
        <p:nvSpPr>
          <p:cNvPr id="11268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0" y="746125"/>
            <a:ext cx="4967288" cy="3725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269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1225"/>
            <a:ext cx="5443537" cy="4471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11270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0863"/>
            <a:ext cx="2949575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ja-JP"/>
          </a:p>
        </p:txBody>
      </p:sp>
      <p:sp>
        <p:nvSpPr>
          <p:cNvPr id="11271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4450" y="9440863"/>
            <a:ext cx="2949575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A09F16D-A5D2-4AEA-B0EF-699BC8DB2050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494149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ED71AB-1AB1-49AC-B815-075566572DC1}" type="slidenum">
              <a:rPr lang="en-US" altLang="ja-JP"/>
              <a:pPr/>
              <a:t>1</a:t>
            </a:fld>
            <a:endParaRPr lang="en-US" altLang="ja-JP"/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336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33400" y="119697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ja-JP" noProof="0" smtClean="0"/>
              <a:t>Click to edit Master title style</a:t>
            </a:r>
            <a:endParaRPr lang="ja-JP" altLang="en-US" noProof="0" smtClean="0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533400" y="2924175"/>
            <a:ext cx="4105275" cy="1752600"/>
          </a:xfrm>
        </p:spPr>
        <p:txBody>
          <a:bodyPr/>
          <a:lstStyle>
            <a:lvl1pPr marL="0" indent="0">
              <a:buFont typeface="Times" panose="02020603050405020304" pitchFamily="18" charset="0"/>
              <a:buNone/>
              <a:defRPr sz="2400"/>
            </a:lvl1pPr>
          </a:lstStyle>
          <a:p>
            <a:pPr lvl="0"/>
            <a:r>
              <a:rPr lang="en-US" altLang="ja-JP" noProof="0" smtClean="0"/>
              <a:t>Click to edit Master subtitle style</a:t>
            </a:r>
            <a:endParaRPr lang="ja-JP" altLang="en-US" noProof="0" smtClean="0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563938" y="6589713"/>
            <a:ext cx="1090612" cy="268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900">
                <a:latin typeface="+mn-lt"/>
              </a:defRPr>
            </a:lvl1pPr>
          </a:lstStyle>
          <a:p>
            <a:endParaRPr lang="en-US" altLang="ja-JP"/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643438" y="6596063"/>
            <a:ext cx="4033837" cy="28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</a:defRPr>
            </a:lvl1pPr>
          </a:lstStyle>
          <a:p>
            <a:r>
              <a:rPr lang="en-US" altLang="ja-JP"/>
              <a:t>©SIProp Project, 2006-2008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01088" y="6578600"/>
            <a:ext cx="442912" cy="27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</a:defRPr>
            </a:lvl1pPr>
          </a:lstStyle>
          <a:p>
            <a:fld id="{E96569D1-15AB-4E5A-B692-F1A00763D9D9}" type="slidenum">
              <a:rPr lang="en-US" altLang="ja-JP"/>
              <a:pPr/>
              <a:t>‹#›</a:t>
            </a:fld>
            <a:endParaRPr lang="en-US" altLang="ja-JP"/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0" y="2743200"/>
            <a:ext cx="9144000" cy="714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0255" name="Picture 15" descr="siprop-b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6" name="Picture 16" descr="siprop-whit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" y="2844800"/>
            <a:ext cx="349250" cy="1169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7" name="Picture 17" descr="siprop-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343400"/>
            <a:ext cx="3622675" cy="209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094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9762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25538"/>
            <a:ext cx="3810000" cy="53276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125538"/>
            <a:ext cx="3810000" cy="53276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6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74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258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4911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0123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586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271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0"/>
            <a:ext cx="1943100" cy="64531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6613" y="0"/>
            <a:ext cx="5678487" cy="64531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729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Rectangle 18"/>
          <p:cNvSpPr>
            <a:spLocks noChangeArrowheads="1"/>
          </p:cNvSpPr>
          <p:nvPr/>
        </p:nvSpPr>
        <p:spPr bwMode="auto">
          <a:xfrm>
            <a:off x="0" y="838200"/>
            <a:ext cx="9144000" cy="714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36613" y="0"/>
            <a:ext cx="7772400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125538"/>
            <a:ext cx="7772400" cy="532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3563938" y="6589713"/>
            <a:ext cx="1090612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ja-JP" sz="900">
              <a:latin typeface="ＭＳ Ｐゴシック" panose="020B0600070205080204" pitchFamily="50" charset="-128"/>
            </a:endParaRPr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4643438" y="6596063"/>
            <a:ext cx="4033837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r>
              <a:rPr lang="en-US" altLang="ja-JP" sz="1000">
                <a:latin typeface="ＭＳ Ｐゴシック" panose="020B0600070205080204" pitchFamily="50" charset="-128"/>
              </a:rPr>
              <a:t>©SIProp Project, 2006-2008</a:t>
            </a:r>
          </a:p>
        </p:txBody>
      </p:sp>
      <p:sp>
        <p:nvSpPr>
          <p:cNvPr id="1037" name="Rectangle 13"/>
          <p:cNvSpPr>
            <a:spLocks noChangeArrowheads="1"/>
          </p:cNvSpPr>
          <p:nvPr/>
        </p:nvSpPr>
        <p:spPr bwMode="auto">
          <a:xfrm>
            <a:off x="8701088" y="6578600"/>
            <a:ext cx="442912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fld id="{2A7930ED-31C0-4461-B235-95703576676C}" type="slidenum">
              <a:rPr lang="en-US" altLang="ja-JP" sz="1000">
                <a:latin typeface="ＭＳ Ｐゴシック" panose="020B0600070205080204" pitchFamily="50" charset="-128"/>
              </a:rPr>
              <a:pPr algn="r"/>
              <a:t>‹#›</a:t>
            </a:fld>
            <a:endParaRPr lang="en-US" altLang="ja-JP" sz="1000">
              <a:latin typeface="ＭＳ Ｐゴシック" panose="020B0600070205080204" pitchFamily="50" charset="-128"/>
            </a:endParaRPr>
          </a:p>
        </p:txBody>
      </p:sp>
      <p:pic>
        <p:nvPicPr>
          <p:cNvPr id="1044" name="Picture 20" descr="siprop-bar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21" descr="siprop-logo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9863" y="0"/>
            <a:ext cx="1354137" cy="784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siprop-white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" y="2844800"/>
            <a:ext cx="349250" cy="1169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Times" panose="02020603050405020304" pitchFamily="18" charset="0"/>
        <a:buBlip>
          <a:blip r:embed="rId16"/>
        </a:buBlip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8"/>
        </a:buBlip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9"/>
        </a:buBlip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20"/>
        </a:buBlip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://developer.android.com/tools/help/lint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hyperlink" Target="http://developer.android.com/tools/help/hprof-conv.html" TargetMode="Externa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://developer.android.com/tools/help/traceview.html" TargetMode="External"/><Relationship Id="rId2" Type="http://schemas.openxmlformats.org/officeDocument/2006/relationships/hyperlink" Target="http://developer.android.com/tools/debugging/systrace.html" TargetMode="Externa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://developer.android.com/tools/help/dmtracedump.html" TargetMode="Externa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raphviz.org/" TargetMode="External"/><Relationship Id="rId2" Type="http://schemas.openxmlformats.org/officeDocument/2006/relationships/hyperlink" Target="http://www.python.org/" TargetMode="Externa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©SIProp Project, 2006-2008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2F11F904-56FD-4A1A-A7FA-EEA3E1D1CC61}" type="slidenum">
              <a:rPr lang="en-US" altLang="ja-JP"/>
              <a:pPr/>
              <a:t>1</a:t>
            </a:fld>
            <a:endParaRPr lang="en-US" altLang="ja-JP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ctrTitle"/>
          </p:nvPr>
        </p:nvSpPr>
        <p:spPr>
          <a:xfrm>
            <a:off x="533400" y="1352550"/>
            <a:ext cx="8167688" cy="1143000"/>
          </a:xfrm>
        </p:spPr>
        <p:txBody>
          <a:bodyPr/>
          <a:lstStyle/>
          <a:p>
            <a:r>
              <a:rPr lang="en-US" dirty="0" smtClean="0"/>
              <a:t>How to Make Android Native Application</a:t>
            </a:r>
            <a:endParaRPr lang="en-US" dirty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Noritsuna</a:t>
            </a:r>
            <a:r>
              <a:rPr lang="en-US" dirty="0" smtClean="0"/>
              <a:t> Imamura</a:t>
            </a:r>
          </a:p>
          <a:p>
            <a:r>
              <a:rPr lang="en-US" dirty="0" smtClean="0"/>
              <a:t>noritsuna@siprop.org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How to Make </a:t>
            </a:r>
            <a:r>
              <a:rPr lang="en-US" dirty="0" err="1" smtClean="0"/>
              <a:t>NativeActivity</a:t>
            </a:r>
            <a:r>
              <a:rPr lang="en-US" dirty="0" smtClean="0"/>
              <a:t> Application</a:t>
            </a:r>
          </a:p>
          <a:p>
            <a:pPr lvl="1"/>
            <a:r>
              <a:rPr lang="en-US" dirty="0" err="1" smtClean="0"/>
              <a:t>NativeActivity</a:t>
            </a:r>
            <a:r>
              <a:rPr lang="en-US" dirty="0" err="1" smtClean="0"/>
              <a:t>Glue</a:t>
            </a:r>
            <a:endParaRPr lang="en-US" dirty="0" smtClean="0"/>
          </a:p>
          <a:p>
            <a:r>
              <a:rPr lang="en-US" dirty="0" smtClean="0"/>
              <a:t>How to Draw Something</a:t>
            </a:r>
          </a:p>
          <a:p>
            <a:pPr lvl="1"/>
            <a:r>
              <a:rPr lang="en-US" dirty="0" smtClean="0"/>
              <a:t>How </a:t>
            </a:r>
            <a:r>
              <a:rPr lang="en-US" dirty="0" smtClean="0"/>
              <a:t>to Use </a:t>
            </a:r>
            <a:r>
              <a:rPr lang="en-US" dirty="0" smtClean="0"/>
              <a:t>Library(</a:t>
            </a:r>
            <a:r>
              <a:rPr lang="en-US" dirty="0" err="1" smtClean="0"/>
              <a:t>OpenCV</a:t>
            </a:r>
            <a:r>
              <a:rPr lang="en-US" dirty="0" smtClean="0"/>
              <a:t>)</a:t>
            </a:r>
            <a:endParaRPr lang="en-US" dirty="0" smtClean="0"/>
          </a:p>
          <a:p>
            <a:r>
              <a:rPr lang="en-US" dirty="0" smtClean="0"/>
              <a:t>How to Debug </a:t>
            </a:r>
            <a:r>
              <a:rPr lang="en-US" dirty="0" err="1" smtClean="0"/>
              <a:t>NativeActivity</a:t>
            </a:r>
            <a:r>
              <a:rPr lang="en-US" dirty="0" smtClean="0"/>
              <a:t> Application</a:t>
            </a:r>
          </a:p>
          <a:p>
            <a:pPr lvl="1"/>
            <a:r>
              <a:rPr lang="en-US" dirty="0" smtClean="0"/>
              <a:t>Debug</a:t>
            </a:r>
          </a:p>
          <a:p>
            <a:pPr lvl="1"/>
            <a:r>
              <a:rPr lang="en-US" dirty="0" smtClean="0"/>
              <a:t>Profiling</a:t>
            </a:r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026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dirty="0" smtClean="0"/>
          </a:p>
          <a:p>
            <a:pPr algn="ctr"/>
            <a:r>
              <a:rPr lang="en-US" altLang="ja-JP" sz="3600" dirty="0" smtClean="0"/>
              <a:t>How </a:t>
            </a:r>
            <a:r>
              <a:rPr lang="en-US" altLang="ja-JP" sz="3600" dirty="0" smtClean="0"/>
              <a:t>to Make</a:t>
            </a:r>
            <a:r>
              <a:rPr lang="en-US" altLang="ja-JP" sz="3600" dirty="0" smtClean="0"/>
              <a:t> Native Application</a:t>
            </a:r>
          </a:p>
          <a:p>
            <a:pPr marL="0" indent="0" algn="ctr">
              <a:buNone/>
            </a:pPr>
            <a:r>
              <a:rPr lang="en-US" altLang="ja-JP" sz="3600" dirty="0" smtClean="0"/>
              <a:t>                                   w</a:t>
            </a:r>
            <a:r>
              <a:rPr lang="en-US" altLang="ja-JP" sz="3600" dirty="0" smtClean="0"/>
              <a:t>ith Eclipse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253538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Native Application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5538"/>
            <a:ext cx="4237857" cy="5660454"/>
          </a:xfrm>
        </p:spPr>
        <p:txBody>
          <a:bodyPr/>
          <a:lstStyle/>
          <a:p>
            <a:r>
              <a:rPr lang="en-US" dirty="0" smtClean="0"/>
              <a:t>NDK </a:t>
            </a:r>
            <a:r>
              <a:rPr lang="en-US" dirty="0" err="1" smtClean="0"/>
              <a:t>wo</a:t>
            </a:r>
            <a:r>
              <a:rPr lang="en-US" dirty="0" smtClean="0"/>
              <a:t>/ADT</a:t>
            </a:r>
            <a:endParaRPr lang="en-US" dirty="0"/>
          </a:p>
          <a:p>
            <a:pPr lvl="1"/>
            <a:r>
              <a:rPr lang="en-US" dirty="0" smtClean="0"/>
              <a:t>Standard </a:t>
            </a:r>
            <a:r>
              <a:rPr lang="en-US" dirty="0"/>
              <a:t>Android Application for C/C++</a:t>
            </a:r>
          </a:p>
          <a:p>
            <a:pPr lvl="1"/>
            <a:r>
              <a:rPr lang="en-US" dirty="0" smtClean="0"/>
              <a:t>Only C/C++ on </a:t>
            </a:r>
            <a:r>
              <a:rPr lang="en-US" b="1" dirty="0" smtClean="0">
                <a:solidFill>
                  <a:srgbClr val="FF0000"/>
                </a:solidFill>
              </a:rPr>
              <a:t>Limited</a:t>
            </a:r>
            <a:r>
              <a:rPr lang="en-US" dirty="0" smtClean="0"/>
              <a:t> Library Layer</a:t>
            </a:r>
            <a:endParaRPr lang="en-US" dirty="0"/>
          </a:p>
          <a:p>
            <a:pPr lvl="1"/>
            <a:endParaRPr lang="en-US" dirty="0"/>
          </a:p>
          <a:p>
            <a:r>
              <a:rPr lang="en-US" altLang="ja-JP" dirty="0" smtClean="0"/>
              <a:t>Advantage</a:t>
            </a:r>
          </a:p>
          <a:p>
            <a:pPr lvl="1"/>
            <a:r>
              <a:rPr lang="en-US" altLang="ja-JP" dirty="0" smtClean="0"/>
              <a:t>Only C/C++</a:t>
            </a:r>
          </a:p>
          <a:p>
            <a:pPr lvl="1"/>
            <a:r>
              <a:rPr lang="en-US" altLang="ja-JP" dirty="0" err="1" smtClean="0"/>
              <a:t>DirectCall</a:t>
            </a:r>
            <a:r>
              <a:rPr lang="en-US" altLang="ja-JP" dirty="0" smtClean="0"/>
              <a:t> C/C++ API</a:t>
            </a:r>
          </a:p>
          <a:p>
            <a:r>
              <a:rPr lang="en-US" altLang="ja-JP" dirty="0" smtClean="0"/>
              <a:t>Dis-Advantage</a:t>
            </a:r>
            <a:endParaRPr lang="en-US" dirty="0"/>
          </a:p>
          <a:p>
            <a:pPr lvl="1"/>
            <a:r>
              <a:rPr lang="en-US" dirty="0"/>
              <a:t>Use </a:t>
            </a:r>
            <a:r>
              <a:rPr lang="en-US" b="1" dirty="0" smtClean="0">
                <a:solidFill>
                  <a:srgbClr val="FF0000"/>
                </a:solidFill>
              </a:rPr>
              <a:t>a few</a:t>
            </a:r>
            <a:r>
              <a:rPr lang="en-US" dirty="0" smtClean="0"/>
              <a:t> Android </a:t>
            </a:r>
            <a:r>
              <a:rPr lang="en-US" dirty="0"/>
              <a:t>Tools</a:t>
            </a:r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A few</a:t>
            </a:r>
            <a:r>
              <a:rPr lang="en-US" dirty="0" smtClean="0"/>
              <a:t> </a:t>
            </a:r>
            <a:r>
              <a:rPr lang="en-US" dirty="0"/>
              <a:t>Docs from Google Developer Site &amp; Blogs</a:t>
            </a:r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54"/>
          <a:stretch/>
        </p:blipFill>
        <p:spPr>
          <a:xfrm>
            <a:off x="7439954" y="44624"/>
            <a:ext cx="1668550" cy="11521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148064" y="1844824"/>
            <a:ext cx="3744416" cy="953839"/>
          </a:xfrm>
          <a:prstGeom prst="roundRect">
            <a:avLst/>
          </a:prstGeom>
          <a:solidFill>
            <a:srgbClr val="5BA1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APK File(</a:t>
            </a:r>
            <a:r>
              <a:rPr lang="en-US" dirty="0"/>
              <a:t>Your Application</a:t>
            </a:r>
            <a:r>
              <a:rPr lang="en-US" dirty="0" smtClean="0"/>
              <a:t>)</a:t>
            </a:r>
          </a:p>
          <a:p>
            <a:pPr algn="ctr"/>
            <a:r>
              <a:rPr lang="en-US" dirty="0" smtClean="0"/>
              <a:t>(C/C++)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5148064" y="4581128"/>
            <a:ext cx="3744416" cy="864096"/>
          </a:xfrm>
          <a:prstGeom prst="roundRect">
            <a:avLst/>
          </a:prstGeom>
          <a:solidFill>
            <a:srgbClr val="5BA1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Library</a:t>
            </a:r>
            <a:r>
              <a:rPr lang="en-US" altLang="ja-JP" dirty="0"/>
              <a:t> </a:t>
            </a:r>
            <a:r>
              <a:rPr lang="en-US" dirty="0" smtClean="0"/>
              <a:t>Layer </a:t>
            </a:r>
          </a:p>
          <a:p>
            <a:pPr algn="ctr"/>
            <a:r>
              <a:rPr lang="en-US" dirty="0" smtClean="0"/>
              <a:t>(</a:t>
            </a:r>
            <a:r>
              <a:rPr lang="en-US" altLang="ja-JP" dirty="0" smtClean="0"/>
              <a:t>C/C++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5114502" y="5877272"/>
            <a:ext cx="3744416" cy="908720"/>
          </a:xfrm>
          <a:prstGeom prst="roundRect">
            <a:avLst/>
          </a:prstGeom>
          <a:solidFill>
            <a:srgbClr val="A52E2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Kernel/Driver Layer</a:t>
            </a:r>
          </a:p>
          <a:p>
            <a:pPr algn="ctr"/>
            <a:r>
              <a:rPr lang="en-US" dirty="0" smtClean="0"/>
              <a:t>(C/ASM)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5436096" y="2798663"/>
            <a:ext cx="0" cy="176449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652120" y="4149080"/>
            <a:ext cx="4176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Call as </a:t>
            </a:r>
            <a:r>
              <a:rPr lang="en-US" dirty="0" smtClean="0">
                <a:solidFill>
                  <a:srgbClr val="FF0000"/>
                </a:solidFill>
              </a:rPr>
              <a:t>C/C++ APIs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5940152" y="5431232"/>
            <a:ext cx="4320480" cy="467319"/>
            <a:chOff x="2843808" y="2780928"/>
            <a:chExt cx="4320480" cy="467319"/>
          </a:xfrm>
        </p:grpSpPr>
        <p:cxnSp>
          <p:nvCxnSpPr>
            <p:cNvPr id="20" name="Straight Arrow Connector 19"/>
            <p:cNvCxnSpPr/>
            <p:nvPr/>
          </p:nvCxnSpPr>
          <p:spPr>
            <a:xfrm>
              <a:off x="2843808" y="2798663"/>
              <a:ext cx="0" cy="449584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2987824" y="2780928"/>
              <a:ext cx="41764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Call as </a:t>
              </a:r>
              <a:r>
                <a:rPr lang="en-US" dirty="0" err="1" smtClean="0"/>
                <a:t>SysCall</a:t>
              </a:r>
              <a:r>
                <a:rPr lang="en-US" dirty="0" smtClean="0"/>
                <a:t>(C/ASM)</a:t>
              </a:r>
              <a:endParaRPr lang="en-US" dirty="0"/>
            </a:p>
          </p:txBody>
        </p:sp>
      </p:grpSp>
      <p:sp>
        <p:nvSpPr>
          <p:cNvPr id="22" name="Content Placeholder 2"/>
          <p:cNvSpPr txBox="1">
            <a:spLocks/>
          </p:cNvSpPr>
          <p:nvPr/>
        </p:nvSpPr>
        <p:spPr bwMode="auto">
          <a:xfrm>
            <a:off x="4895162" y="1125538"/>
            <a:ext cx="2725688" cy="705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imes" pitchFamily="-96" charset="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kern="0" dirty="0" smtClean="0"/>
              <a:t>Call Stack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3083279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Make Android Project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17"/>
          <a:stretch/>
        </p:blipFill>
        <p:spPr>
          <a:xfrm>
            <a:off x="467544" y="1196752"/>
            <a:ext cx="8640960" cy="5296921"/>
          </a:xfrm>
        </p:spPr>
      </p:pic>
    </p:spTree>
    <p:extLst>
      <p:ext uri="{BB962C8B-B14F-4D97-AF65-F5344CB8AC3E}">
        <p14:creationId xmlns:p14="http://schemas.microsoft.com/office/powerpoint/2010/main" val="460216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Setup App Name &amp; Target API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908720"/>
            <a:ext cx="6912768" cy="5912807"/>
          </a:xfrm>
        </p:spPr>
      </p:pic>
    </p:spTree>
    <p:extLst>
      <p:ext uri="{BB962C8B-B14F-4D97-AF65-F5344CB8AC3E}">
        <p14:creationId xmlns:p14="http://schemas.microsoft.com/office/powerpoint/2010/main" val="46558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Enable JNI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17"/>
          <a:stretch/>
        </p:blipFill>
        <p:spPr>
          <a:xfrm>
            <a:off x="483559" y="1210373"/>
            <a:ext cx="8552937" cy="5242963"/>
          </a:xfrm>
        </p:spPr>
      </p:pic>
    </p:spTree>
    <p:extLst>
      <p:ext uri="{BB962C8B-B14F-4D97-AF65-F5344CB8AC3E}">
        <p14:creationId xmlns:p14="http://schemas.microsoft.com/office/powerpoint/2010/main" val="566787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Enable JNI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3738" y="1722149"/>
            <a:ext cx="5001323" cy="4134427"/>
          </a:xfrm>
        </p:spPr>
      </p:pic>
    </p:spTree>
    <p:extLst>
      <p:ext uri="{BB962C8B-B14F-4D97-AF65-F5344CB8AC3E}">
        <p14:creationId xmlns:p14="http://schemas.microsoft.com/office/powerpoint/2010/main" val="3420137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SampleNativeActivity.cpp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/>
          </a:p>
          <a:p>
            <a:endParaRPr 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1700808"/>
            <a:ext cx="6801633" cy="8640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dirty="0">
                <a:solidFill>
                  <a:schemeClr val="bg1"/>
                </a:solidFill>
              </a:rPr>
              <a:t>#include &lt;</a:t>
            </a:r>
            <a:r>
              <a:rPr lang="en-US" altLang="ja-JP" dirty="0" err="1">
                <a:solidFill>
                  <a:schemeClr val="bg1"/>
                </a:solidFill>
              </a:rPr>
              <a:t>jni.h</a:t>
            </a:r>
            <a:r>
              <a:rPr lang="en-US" altLang="ja-JP" dirty="0" smtClean="0">
                <a:solidFill>
                  <a:schemeClr val="bg1"/>
                </a:solidFill>
              </a:rPr>
              <a:t>&gt;</a:t>
            </a:r>
            <a:endParaRPr lang="en-US" altLang="ja-JP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534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Android.mk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/>
          </a:p>
          <a:p>
            <a:endParaRPr 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1700808"/>
            <a:ext cx="6801633" cy="374441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dirty="0">
                <a:solidFill>
                  <a:schemeClr val="bg1"/>
                </a:solidFill>
              </a:rPr>
              <a:t>LOCAL_PATH := $(call my-</a:t>
            </a:r>
            <a:r>
              <a:rPr lang="en-US" altLang="ja-JP" dirty="0" err="1">
                <a:solidFill>
                  <a:schemeClr val="bg1"/>
                </a:solidFill>
              </a:rPr>
              <a:t>dir</a:t>
            </a:r>
            <a:r>
              <a:rPr lang="en-US" altLang="ja-JP" dirty="0">
                <a:solidFill>
                  <a:schemeClr val="bg1"/>
                </a:solidFill>
              </a:rPr>
              <a:t>)</a:t>
            </a:r>
          </a:p>
          <a:p>
            <a:pPr marL="914400" lvl="1" indent="-457200">
              <a:buFont typeface="+mj-lt"/>
              <a:buAutoNum type="arabicPeriod"/>
            </a:pPr>
            <a:endParaRPr lang="en-US" altLang="ja-JP" dirty="0">
              <a:solidFill>
                <a:schemeClr val="bg1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>
                <a:solidFill>
                  <a:schemeClr val="bg1"/>
                </a:solidFill>
              </a:rPr>
              <a:t>include $(CLEAR_VARS)</a:t>
            </a:r>
          </a:p>
          <a:p>
            <a:pPr marL="914400" lvl="1" indent="-457200">
              <a:buFont typeface="+mj-lt"/>
              <a:buAutoNum type="arabicPeriod"/>
            </a:pPr>
            <a:endParaRPr lang="en-US" altLang="ja-JP" dirty="0">
              <a:solidFill>
                <a:schemeClr val="bg1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>
                <a:solidFill>
                  <a:schemeClr val="bg1"/>
                </a:solidFill>
              </a:rPr>
              <a:t>LOCAL_MODULE    := </a:t>
            </a:r>
            <a:r>
              <a:rPr lang="en-US" altLang="ja-JP" dirty="0" err="1">
                <a:solidFill>
                  <a:srgbClr val="FF0000"/>
                </a:solidFill>
              </a:rPr>
              <a:t>SampleNativeActivity</a:t>
            </a:r>
            <a:endParaRPr lang="en-US" altLang="ja-JP" dirty="0">
              <a:solidFill>
                <a:srgbClr val="FF0000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>
                <a:solidFill>
                  <a:schemeClr val="bg1"/>
                </a:solidFill>
              </a:rPr>
              <a:t>LOCAL_SRC_FILES := </a:t>
            </a:r>
            <a:r>
              <a:rPr lang="en-US" altLang="ja-JP" dirty="0">
                <a:solidFill>
                  <a:srgbClr val="FF0000"/>
                </a:solidFill>
              </a:rPr>
              <a:t>SampleNativeActivity.cpp</a:t>
            </a:r>
          </a:p>
          <a:p>
            <a:pPr marL="914400" lvl="1" indent="-457200">
              <a:buFont typeface="+mj-lt"/>
              <a:buAutoNum type="arabicPeriod"/>
            </a:pPr>
            <a:endParaRPr lang="en-US" altLang="ja-JP" dirty="0">
              <a:solidFill>
                <a:schemeClr val="bg1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>
                <a:solidFill>
                  <a:schemeClr val="bg1"/>
                </a:solidFill>
              </a:rPr>
              <a:t>include $(BUILD_SHARED_LIBRARY)</a:t>
            </a:r>
          </a:p>
        </p:txBody>
      </p:sp>
    </p:spTree>
    <p:extLst>
      <p:ext uri="{BB962C8B-B14F-4D97-AF65-F5344CB8AC3E}">
        <p14:creationId xmlns:p14="http://schemas.microsoft.com/office/powerpoint/2010/main" val="3537030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LifeCycle</a:t>
            </a:r>
            <a:r>
              <a:rPr lang="en-US" dirty="0" smtClean="0"/>
              <a:t> 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5538"/>
            <a:ext cx="5245968" cy="5327650"/>
          </a:xfrm>
        </p:spPr>
        <p:txBody>
          <a:bodyPr/>
          <a:lstStyle/>
          <a:p>
            <a:r>
              <a:rPr lang="en-US" dirty="0" smtClean="0"/>
              <a:t>Activity is Event Driven Arch</a:t>
            </a:r>
            <a:endParaRPr lang="en-US" dirty="0"/>
          </a:p>
          <a:p>
            <a:r>
              <a:rPr lang="en-US" dirty="0" smtClean="0"/>
              <a:t>Main Event</a:t>
            </a:r>
          </a:p>
          <a:p>
            <a:pPr lvl="1"/>
            <a:r>
              <a:rPr lang="en-US" dirty="0" err="1" smtClean="0"/>
              <a:t>onCreate</a:t>
            </a:r>
            <a:r>
              <a:rPr lang="en-US" dirty="0" smtClean="0"/>
              <a:t>()</a:t>
            </a:r>
          </a:p>
          <a:p>
            <a:pPr lvl="2"/>
            <a:r>
              <a:rPr lang="en-US" dirty="0" smtClean="0"/>
              <a:t>Start Activity</a:t>
            </a:r>
          </a:p>
          <a:p>
            <a:pPr lvl="2"/>
            <a:r>
              <a:rPr lang="en-US" altLang="ja-JP" dirty="0" smtClean="0"/>
              <a:t>Initialize Objects</a:t>
            </a:r>
            <a:endParaRPr lang="en-US" dirty="0" smtClean="0"/>
          </a:p>
          <a:p>
            <a:pPr lvl="1"/>
            <a:r>
              <a:rPr lang="en-US" dirty="0" err="1" smtClean="0"/>
              <a:t>onStart</a:t>
            </a:r>
            <a:r>
              <a:rPr lang="en-US" dirty="0" smtClean="0"/>
              <a:t>()</a:t>
            </a:r>
          </a:p>
          <a:p>
            <a:pPr lvl="2"/>
            <a:r>
              <a:rPr lang="en-US" dirty="0" smtClean="0"/>
              <a:t>Finish Initialized</a:t>
            </a:r>
          </a:p>
          <a:p>
            <a:pPr lvl="1"/>
            <a:r>
              <a:rPr lang="en-US" dirty="0" err="1" smtClean="0"/>
              <a:t>onPause</a:t>
            </a:r>
            <a:r>
              <a:rPr lang="en-US" dirty="0" smtClean="0"/>
              <a:t>()</a:t>
            </a:r>
          </a:p>
          <a:p>
            <a:pPr lvl="2"/>
            <a:r>
              <a:rPr lang="en-US" dirty="0" smtClean="0"/>
              <a:t>Other Activity Start</a:t>
            </a:r>
          </a:p>
          <a:p>
            <a:pPr lvl="1"/>
            <a:r>
              <a:rPr lang="en-US" dirty="0" err="1"/>
              <a:t>onResume</a:t>
            </a:r>
            <a:r>
              <a:rPr lang="en-US" dirty="0" smtClean="0"/>
              <a:t>()</a:t>
            </a:r>
          </a:p>
          <a:p>
            <a:pPr lvl="2"/>
            <a:r>
              <a:rPr lang="en-US" dirty="0" smtClean="0"/>
              <a:t>Back from Other Activity</a:t>
            </a:r>
            <a:endParaRPr lang="en-US" dirty="0"/>
          </a:p>
          <a:p>
            <a:pPr lvl="1"/>
            <a:r>
              <a:rPr lang="en-US" dirty="0" err="1" smtClean="0"/>
              <a:t>onStop</a:t>
            </a:r>
            <a:r>
              <a:rPr lang="en-US" dirty="0" smtClean="0"/>
              <a:t>()</a:t>
            </a:r>
          </a:p>
          <a:p>
            <a:pPr lvl="2"/>
            <a:r>
              <a:rPr lang="en-US" dirty="0" smtClean="0"/>
              <a:t>Don’t back long time</a:t>
            </a:r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2813" y="918741"/>
            <a:ext cx="4442320" cy="5741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72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LifeCycle</a:t>
            </a:r>
            <a:r>
              <a:rPr lang="en-US" dirty="0" smtClean="0"/>
              <a:t> in </a:t>
            </a:r>
            <a:r>
              <a:rPr lang="en-US" dirty="0" err="1" smtClean="0"/>
              <a:t>NativeActivity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5538"/>
            <a:ext cx="8305800" cy="5327650"/>
          </a:xfrm>
        </p:spPr>
        <p:txBody>
          <a:bodyPr/>
          <a:lstStyle/>
          <a:p>
            <a:r>
              <a:rPr lang="en-US" dirty="0"/>
              <a:t>[</a:t>
            </a:r>
            <a:r>
              <a:rPr lang="en-US" dirty="0" err="1" smtClean="0"/>
              <a:t>ndk</a:t>
            </a:r>
            <a:r>
              <a:rPr lang="en-US" dirty="0" smtClean="0"/>
              <a:t> </a:t>
            </a:r>
            <a:r>
              <a:rPr lang="en-US" dirty="0" err="1" smtClean="0"/>
              <a:t>dir</a:t>
            </a:r>
            <a:r>
              <a:rPr lang="en-US" dirty="0" smtClean="0"/>
              <a:t>]/platforms/android-19/arch-arm/</a:t>
            </a:r>
            <a:r>
              <a:rPr lang="en-US" dirty="0" err="1" smtClean="0"/>
              <a:t>usr</a:t>
            </a:r>
            <a:r>
              <a:rPr lang="en-US" dirty="0" smtClean="0"/>
              <a:t>/include/android</a:t>
            </a:r>
          </a:p>
          <a:p>
            <a:pPr lvl="1"/>
            <a:r>
              <a:rPr lang="en-US" dirty="0"/>
              <a:t>n</a:t>
            </a:r>
            <a:r>
              <a:rPr lang="en-US" dirty="0" smtClean="0"/>
              <a:t>ative-</a:t>
            </a:r>
            <a:r>
              <a:rPr lang="en-US" dirty="0" err="1" smtClean="0"/>
              <a:t>activity.h</a:t>
            </a:r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547664" y="2537520"/>
            <a:ext cx="6801633" cy="432048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sz="2000" dirty="0" err="1">
                <a:solidFill>
                  <a:schemeClr val="bg1"/>
                </a:solidFill>
              </a:rPr>
              <a:t>typedef</a:t>
            </a:r>
            <a:r>
              <a:rPr lang="en-US" altLang="ja-JP" sz="2000" dirty="0">
                <a:solidFill>
                  <a:schemeClr val="bg1"/>
                </a:solidFill>
              </a:rPr>
              <a:t> </a:t>
            </a:r>
            <a:r>
              <a:rPr lang="en-US" altLang="ja-JP" sz="2000" dirty="0" err="1">
                <a:solidFill>
                  <a:schemeClr val="bg1"/>
                </a:solidFill>
              </a:rPr>
              <a:t>struct</a:t>
            </a:r>
            <a:r>
              <a:rPr lang="en-US" altLang="ja-JP" sz="2000" dirty="0">
                <a:solidFill>
                  <a:schemeClr val="bg1"/>
                </a:solidFill>
              </a:rPr>
              <a:t> </a:t>
            </a:r>
            <a:r>
              <a:rPr lang="en-US" altLang="ja-JP" sz="2000" dirty="0" err="1">
                <a:solidFill>
                  <a:schemeClr val="bg1"/>
                </a:solidFill>
              </a:rPr>
              <a:t>ANativeActivityCallbacks</a:t>
            </a:r>
            <a:r>
              <a:rPr lang="en-US" altLang="ja-JP" sz="2000" dirty="0">
                <a:solidFill>
                  <a:schemeClr val="bg1"/>
                </a:solidFill>
              </a:rPr>
              <a:t> {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2000" dirty="0">
                <a:solidFill>
                  <a:schemeClr val="bg1"/>
                </a:solidFill>
              </a:rPr>
              <a:t>    void (*</a:t>
            </a:r>
            <a:r>
              <a:rPr lang="en-US" altLang="ja-JP" sz="2000" dirty="0" err="1">
                <a:solidFill>
                  <a:schemeClr val="bg1"/>
                </a:solidFill>
              </a:rPr>
              <a:t>onStart</a:t>
            </a:r>
            <a:r>
              <a:rPr lang="en-US" altLang="ja-JP" sz="2000" dirty="0">
                <a:solidFill>
                  <a:schemeClr val="bg1"/>
                </a:solidFill>
              </a:rPr>
              <a:t>)(</a:t>
            </a:r>
            <a:r>
              <a:rPr lang="en-US" altLang="ja-JP" sz="2000" dirty="0" err="1">
                <a:solidFill>
                  <a:schemeClr val="bg1"/>
                </a:solidFill>
              </a:rPr>
              <a:t>ANativeActivity</a:t>
            </a:r>
            <a:r>
              <a:rPr lang="en-US" altLang="ja-JP" sz="2000" dirty="0">
                <a:solidFill>
                  <a:schemeClr val="bg1"/>
                </a:solidFill>
              </a:rPr>
              <a:t>* activity);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2000" dirty="0">
                <a:solidFill>
                  <a:schemeClr val="bg1"/>
                </a:solidFill>
              </a:rPr>
              <a:t>   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2000" dirty="0">
                <a:solidFill>
                  <a:schemeClr val="bg1"/>
                </a:solidFill>
              </a:rPr>
              <a:t>    void (*</a:t>
            </a:r>
            <a:r>
              <a:rPr lang="en-US" altLang="ja-JP" sz="2000" dirty="0" err="1">
                <a:solidFill>
                  <a:schemeClr val="bg1"/>
                </a:solidFill>
              </a:rPr>
              <a:t>onResume</a:t>
            </a:r>
            <a:r>
              <a:rPr lang="en-US" altLang="ja-JP" sz="2000" dirty="0">
                <a:solidFill>
                  <a:schemeClr val="bg1"/>
                </a:solidFill>
              </a:rPr>
              <a:t>)(</a:t>
            </a:r>
            <a:r>
              <a:rPr lang="en-US" altLang="ja-JP" sz="2000" dirty="0" err="1">
                <a:solidFill>
                  <a:schemeClr val="bg1"/>
                </a:solidFill>
              </a:rPr>
              <a:t>ANativeActivity</a:t>
            </a:r>
            <a:r>
              <a:rPr lang="en-US" altLang="ja-JP" sz="2000" dirty="0">
                <a:solidFill>
                  <a:schemeClr val="bg1"/>
                </a:solidFill>
              </a:rPr>
              <a:t>* activity);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2000" dirty="0">
                <a:solidFill>
                  <a:schemeClr val="bg1"/>
                </a:solidFill>
              </a:rPr>
              <a:t>   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2000" dirty="0">
                <a:solidFill>
                  <a:schemeClr val="bg1"/>
                </a:solidFill>
              </a:rPr>
              <a:t>    void* (*</a:t>
            </a:r>
            <a:r>
              <a:rPr lang="en-US" altLang="ja-JP" sz="2000" dirty="0" err="1">
                <a:solidFill>
                  <a:schemeClr val="bg1"/>
                </a:solidFill>
              </a:rPr>
              <a:t>onSaveInstanceState</a:t>
            </a:r>
            <a:r>
              <a:rPr lang="en-US" altLang="ja-JP" sz="2000" dirty="0">
                <a:solidFill>
                  <a:schemeClr val="bg1"/>
                </a:solidFill>
              </a:rPr>
              <a:t>)(</a:t>
            </a:r>
            <a:r>
              <a:rPr lang="en-US" altLang="ja-JP" sz="2000" dirty="0" err="1">
                <a:solidFill>
                  <a:schemeClr val="bg1"/>
                </a:solidFill>
              </a:rPr>
              <a:t>ANativeActivity</a:t>
            </a:r>
            <a:r>
              <a:rPr lang="en-US" altLang="ja-JP" sz="2000" dirty="0">
                <a:solidFill>
                  <a:schemeClr val="bg1"/>
                </a:solidFill>
              </a:rPr>
              <a:t>* activity, </a:t>
            </a:r>
            <a:r>
              <a:rPr lang="en-US" altLang="ja-JP" sz="2000" dirty="0" err="1">
                <a:solidFill>
                  <a:schemeClr val="bg1"/>
                </a:solidFill>
              </a:rPr>
              <a:t>size_t</a:t>
            </a:r>
            <a:r>
              <a:rPr lang="en-US" altLang="ja-JP" sz="2000" dirty="0">
                <a:solidFill>
                  <a:schemeClr val="bg1"/>
                </a:solidFill>
              </a:rPr>
              <a:t>* </a:t>
            </a:r>
            <a:r>
              <a:rPr lang="en-US" altLang="ja-JP" sz="2000" dirty="0" err="1">
                <a:solidFill>
                  <a:schemeClr val="bg1"/>
                </a:solidFill>
              </a:rPr>
              <a:t>outSize</a:t>
            </a:r>
            <a:r>
              <a:rPr lang="en-US" altLang="ja-JP" sz="2000" dirty="0">
                <a:solidFill>
                  <a:schemeClr val="bg1"/>
                </a:solidFill>
              </a:rPr>
              <a:t>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2000" dirty="0">
                <a:solidFill>
                  <a:schemeClr val="bg1"/>
                </a:solidFill>
              </a:rPr>
              <a:t>   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2000" dirty="0">
                <a:solidFill>
                  <a:schemeClr val="bg1"/>
                </a:solidFill>
              </a:rPr>
              <a:t>    void (*</a:t>
            </a:r>
            <a:r>
              <a:rPr lang="en-US" altLang="ja-JP" sz="2000" dirty="0" err="1">
                <a:solidFill>
                  <a:schemeClr val="bg1"/>
                </a:solidFill>
              </a:rPr>
              <a:t>onPause</a:t>
            </a:r>
            <a:r>
              <a:rPr lang="en-US" altLang="ja-JP" sz="2000" dirty="0">
                <a:solidFill>
                  <a:schemeClr val="bg1"/>
                </a:solidFill>
              </a:rPr>
              <a:t>)(</a:t>
            </a:r>
            <a:r>
              <a:rPr lang="en-US" altLang="ja-JP" sz="2000" dirty="0" err="1">
                <a:solidFill>
                  <a:schemeClr val="bg1"/>
                </a:solidFill>
              </a:rPr>
              <a:t>ANativeActivity</a:t>
            </a:r>
            <a:r>
              <a:rPr lang="en-US" altLang="ja-JP" sz="2000" dirty="0">
                <a:solidFill>
                  <a:schemeClr val="bg1"/>
                </a:solidFill>
              </a:rPr>
              <a:t>* activity);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2000" dirty="0">
                <a:solidFill>
                  <a:schemeClr val="bg1"/>
                </a:solidFill>
              </a:rPr>
              <a:t>   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2000" dirty="0">
                <a:solidFill>
                  <a:schemeClr val="bg1"/>
                </a:solidFill>
              </a:rPr>
              <a:t>    void (*</a:t>
            </a:r>
            <a:r>
              <a:rPr lang="en-US" altLang="ja-JP" sz="2000" dirty="0" err="1">
                <a:solidFill>
                  <a:schemeClr val="bg1"/>
                </a:solidFill>
              </a:rPr>
              <a:t>onStop</a:t>
            </a:r>
            <a:r>
              <a:rPr lang="en-US" altLang="ja-JP" sz="2000" dirty="0">
                <a:solidFill>
                  <a:schemeClr val="bg1"/>
                </a:solidFill>
              </a:rPr>
              <a:t>)(</a:t>
            </a:r>
            <a:r>
              <a:rPr lang="en-US" altLang="ja-JP" sz="2000" dirty="0" err="1">
                <a:solidFill>
                  <a:schemeClr val="bg1"/>
                </a:solidFill>
              </a:rPr>
              <a:t>ANativeActivity</a:t>
            </a:r>
            <a:r>
              <a:rPr lang="en-US" altLang="ja-JP" sz="2000" dirty="0">
                <a:solidFill>
                  <a:schemeClr val="bg1"/>
                </a:solidFill>
              </a:rPr>
              <a:t>* activity);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2000" dirty="0">
                <a:solidFill>
                  <a:schemeClr val="bg1"/>
                </a:solidFill>
              </a:rPr>
              <a:t>   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2000" dirty="0">
                <a:solidFill>
                  <a:schemeClr val="bg1"/>
                </a:solidFill>
              </a:rPr>
              <a:t>    void (*</a:t>
            </a:r>
            <a:r>
              <a:rPr lang="en-US" altLang="ja-JP" sz="2000" dirty="0" err="1">
                <a:solidFill>
                  <a:schemeClr val="bg1"/>
                </a:solidFill>
              </a:rPr>
              <a:t>onDestroy</a:t>
            </a:r>
            <a:r>
              <a:rPr lang="en-US" altLang="ja-JP" sz="2000" dirty="0">
                <a:solidFill>
                  <a:schemeClr val="bg1"/>
                </a:solidFill>
              </a:rPr>
              <a:t>)(</a:t>
            </a:r>
            <a:r>
              <a:rPr lang="en-US" altLang="ja-JP" sz="2000" dirty="0" err="1">
                <a:solidFill>
                  <a:schemeClr val="bg1"/>
                </a:solidFill>
              </a:rPr>
              <a:t>ANativeActivity</a:t>
            </a:r>
            <a:r>
              <a:rPr lang="en-US" altLang="ja-JP" sz="2000" dirty="0">
                <a:solidFill>
                  <a:schemeClr val="bg1"/>
                </a:solidFill>
              </a:rPr>
              <a:t>* activity);</a:t>
            </a:r>
          </a:p>
        </p:txBody>
      </p:sp>
    </p:spTree>
    <p:extLst>
      <p:ext uri="{BB962C8B-B14F-4D97-AF65-F5344CB8AC3E}">
        <p14:creationId xmlns:p14="http://schemas.microsoft.com/office/powerpoint/2010/main" val="1795896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-243408"/>
            <a:ext cx="7772400" cy="908050"/>
          </a:xfrm>
        </p:spPr>
        <p:txBody>
          <a:bodyPr/>
          <a:lstStyle/>
          <a:p>
            <a:r>
              <a:rPr lang="en-US" dirty="0" err="1" smtClean="0"/>
              <a:t>NativeActivity</a:t>
            </a:r>
            <a:r>
              <a:rPr lang="en-US" dirty="0" smtClean="0"/>
              <a:t> </a:t>
            </a:r>
            <a:r>
              <a:rPr lang="en-US" dirty="0" err="1" smtClean="0"/>
              <a:t>CallBacks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7035793"/>
              </p:ext>
            </p:extLst>
          </p:nvPr>
        </p:nvGraphicFramePr>
        <p:xfrm>
          <a:off x="838200" y="509096"/>
          <a:ext cx="7772400" cy="630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3760"/>
                <a:gridCol w="439864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NativeActivity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Effect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onStart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= </a:t>
                      </a:r>
                      <a:r>
                        <a:rPr lang="en-US" dirty="0" err="1" smtClean="0"/>
                        <a:t>Activity.onStart</a:t>
                      </a:r>
                      <a:r>
                        <a:rPr lang="en-US" dirty="0" smtClean="0"/>
                        <a:t>()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onResume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= </a:t>
                      </a:r>
                      <a:r>
                        <a:rPr lang="en-US" dirty="0" err="1" smtClean="0"/>
                        <a:t>Activity.onResume</a:t>
                      </a:r>
                      <a:r>
                        <a:rPr lang="en-US" dirty="0" smtClean="0"/>
                        <a:t>()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onSaveInstanceState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= </a:t>
                      </a:r>
                      <a:r>
                        <a:rPr lang="en-US" dirty="0" err="1" smtClean="0"/>
                        <a:t>Activity.onSaveInstanceState</a:t>
                      </a:r>
                      <a:r>
                        <a:rPr lang="en-US" dirty="0" smtClean="0"/>
                        <a:t>()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onPause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= </a:t>
                      </a:r>
                      <a:r>
                        <a:rPr lang="en-US" dirty="0" err="1" smtClean="0"/>
                        <a:t>Activity.onPause</a:t>
                      </a:r>
                      <a:r>
                        <a:rPr lang="en-US" dirty="0" smtClean="0"/>
                        <a:t>()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onStop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= </a:t>
                      </a:r>
                      <a:r>
                        <a:rPr lang="en-US" dirty="0" err="1" smtClean="0"/>
                        <a:t>Activity.onStop</a:t>
                      </a:r>
                      <a:r>
                        <a:rPr lang="en-US" dirty="0" smtClean="0"/>
                        <a:t>()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onDestroy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= </a:t>
                      </a:r>
                      <a:r>
                        <a:rPr lang="en-US" dirty="0" err="1" smtClean="0"/>
                        <a:t>Activity.onDestroy</a:t>
                      </a:r>
                      <a:r>
                        <a:rPr lang="en-US" dirty="0" smtClean="0"/>
                        <a:t>()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onWindowsFocusChanged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Focus of Window was Changed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onNativeWindowCreated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Native Windows was Created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onNativeWindowResized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Native Window</a:t>
                      </a:r>
                      <a:r>
                        <a:rPr lang="en-US" baseline="0" dirty="0" smtClean="0"/>
                        <a:t> was Re-sized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onNativeWindowRedrawNeeded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Native Window</a:t>
                      </a:r>
                      <a:r>
                        <a:rPr lang="en-US" baseline="0" dirty="0" smtClean="0"/>
                        <a:t> was Required Re-Draw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onNativeWindowDestroyed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Native Window was Destroyed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onInputQueueCreated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InputQueue</a:t>
                      </a:r>
                      <a:r>
                        <a:rPr lang="en-US" dirty="0" smtClean="0"/>
                        <a:t> was Created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onInputQueueDestroyed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InputQueue</a:t>
                      </a:r>
                      <a:r>
                        <a:rPr lang="en-US" dirty="0" smtClean="0"/>
                        <a:t> was Destroyed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onContentRectChanged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Drawable</a:t>
                      </a:r>
                      <a:r>
                        <a:rPr lang="en-US" baseline="0" dirty="0" smtClean="0"/>
                        <a:t> Area was Changed (</a:t>
                      </a:r>
                      <a:r>
                        <a:rPr lang="en-US" baseline="0" dirty="0" err="1" smtClean="0"/>
                        <a:t>Ex.Keyboard</a:t>
                      </a:r>
                      <a:r>
                        <a:rPr lang="en-US" baseline="0" dirty="0" smtClean="0"/>
                        <a:t>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onConfiguratinChanged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System Configuration</a:t>
                      </a:r>
                      <a:r>
                        <a:rPr lang="en-US" baseline="0" dirty="0" smtClean="0"/>
                        <a:t> was Changed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onLowMemory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System Memory</a:t>
                      </a:r>
                      <a:r>
                        <a:rPr lang="en-US" baseline="0" dirty="0" smtClean="0"/>
                        <a:t> was Low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1158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Point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You MUST write it as </a:t>
            </a:r>
            <a:r>
              <a:rPr lang="en-US" dirty="0" smtClean="0">
                <a:solidFill>
                  <a:srgbClr val="FF0000"/>
                </a:solidFill>
              </a:rPr>
              <a:t>Non-Block</a:t>
            </a:r>
            <a:r>
              <a:rPr lang="en-US" dirty="0" smtClean="0"/>
              <a:t> Function.</a:t>
            </a:r>
          </a:p>
          <a:p>
            <a:pPr lvl="1"/>
            <a:r>
              <a:rPr lang="en-US" dirty="0" smtClean="0"/>
              <a:t>In other word, you MUST use “</a:t>
            </a:r>
            <a:r>
              <a:rPr lang="en-US" dirty="0" smtClean="0">
                <a:solidFill>
                  <a:srgbClr val="FF0000"/>
                </a:solidFill>
              </a:rPr>
              <a:t>Thread</a:t>
            </a:r>
            <a:r>
              <a:rPr lang="en-US" dirty="0" smtClean="0"/>
              <a:t>”.</a:t>
            </a:r>
          </a:p>
          <a:p>
            <a:pPr lvl="2"/>
            <a:r>
              <a:rPr lang="en-US" dirty="0" smtClean="0"/>
              <a:t>Thread Programing is </a:t>
            </a:r>
            <a:r>
              <a:rPr lang="en-US" dirty="0" err="1" smtClean="0"/>
              <a:t>sooooo</a:t>
            </a:r>
            <a:r>
              <a:rPr lang="en-US" dirty="0" smtClean="0"/>
              <a:t> hard…</a:t>
            </a:r>
          </a:p>
          <a:p>
            <a:pPr lvl="3"/>
            <a:r>
              <a:rPr lang="en-US" dirty="0" smtClean="0"/>
              <a:t>Why? Go to Next Page!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416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-315416"/>
            <a:ext cx="7772400" cy="908050"/>
          </a:xfrm>
        </p:spPr>
        <p:txBody>
          <a:bodyPr/>
          <a:lstStyle/>
          <a:p>
            <a:r>
              <a:rPr lang="en-US" dirty="0" err="1" smtClean="0"/>
              <a:t>NativeActivityGlue</a:t>
            </a:r>
            <a:r>
              <a:rPr lang="en-US" dirty="0" smtClean="0"/>
              <a:t> </a:t>
            </a:r>
            <a:r>
              <a:rPr lang="en-US" dirty="0" err="1" smtClean="0"/>
              <a:t>CallBacks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496525"/>
              </p:ext>
            </p:extLst>
          </p:nvPr>
        </p:nvGraphicFramePr>
        <p:xfrm>
          <a:off x="838200" y="413464"/>
          <a:ext cx="7772400" cy="647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3760"/>
                <a:gridCol w="439864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NativeActivity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NativeActivityGlue</a:t>
                      </a:r>
                      <a:endParaRPr lang="en-US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onStart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APP_CMD_START</a:t>
                      </a:r>
                      <a:endParaRPr lang="en-US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onResume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APP_CMD_RESUME</a:t>
                      </a:r>
                      <a:endParaRPr lang="en-US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onSaveInstanceState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APP_CMD_SAVE_STATE</a:t>
                      </a:r>
                      <a:endParaRPr lang="en-US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onPause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APP_CMD_PAUSE</a:t>
                      </a:r>
                      <a:endParaRPr lang="en-US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onStop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APP_CMD_STOP</a:t>
                      </a:r>
                      <a:endParaRPr lang="en-US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onDestroy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APP_CMD_DESTROY</a:t>
                      </a:r>
                      <a:endParaRPr lang="en-US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onWindowsFocusChanged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APP_CMD_GAINED_FOCUS</a:t>
                      </a:r>
                    </a:p>
                    <a:p>
                      <a:r>
                        <a:rPr lang="en-US" sz="1800" dirty="0" smtClean="0"/>
                        <a:t>APP_CMD_LOST_FOCUS</a:t>
                      </a:r>
                      <a:endParaRPr lang="en-US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onNativeWindowCreated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APP_CMD_INIT_WINDOW</a:t>
                      </a:r>
                      <a:endParaRPr lang="en-US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onNativeWindowResized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APP_CMD_WINDOW_RESIZED</a:t>
                      </a:r>
                      <a:endParaRPr lang="en-US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onNativeWindowRedrawNeeded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APP_CMD_WINDOW_REDRAW_NEEDED</a:t>
                      </a:r>
                      <a:endParaRPr lang="en-US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onNativeWindowDestroyed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APP_CMD_TERM_WINDOW</a:t>
                      </a:r>
                      <a:endParaRPr lang="en-US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onInputQueueCreated</a:t>
                      </a:r>
                      <a:endParaRPr lang="en-US" sz="180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 smtClean="0"/>
                        <a:t>onInputQueueDestroyed</a:t>
                      </a:r>
                      <a:endParaRPr lang="en-US" sz="1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APP_CMD_INPUT_CHANGED</a:t>
                      </a:r>
                      <a:endParaRPr lang="en-US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onContentRectChanged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APP_CMD_CONTENT_RECT_CHANGED</a:t>
                      </a:r>
                      <a:endParaRPr lang="en-US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onConfiguratinChanged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APP_CMD_CONFIG_CHANGED</a:t>
                      </a:r>
                      <a:endParaRPr lang="en-US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onLowMemory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APP_CMD_LOW_MEMORY</a:t>
                      </a:r>
                      <a:endParaRPr lang="en-US" sz="18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7549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NativeActivityGlue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[NDK </a:t>
            </a:r>
            <a:r>
              <a:rPr lang="en-US" dirty="0" err="1" smtClean="0"/>
              <a:t>dir</a:t>
            </a:r>
            <a:r>
              <a:rPr lang="en-US" dirty="0" smtClean="0"/>
              <a:t>]/sources/android/</a:t>
            </a:r>
            <a:r>
              <a:rPr lang="en-US" dirty="0" err="1" smtClean="0"/>
              <a:t>native_app_glue</a:t>
            </a:r>
            <a:endParaRPr 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547664" y="1700808"/>
            <a:ext cx="6801633" cy="496986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void </a:t>
            </a:r>
            <a:r>
              <a:rPr lang="en-US" altLang="ja-JP" sz="1600" dirty="0" err="1">
                <a:solidFill>
                  <a:schemeClr val="bg1"/>
                </a:solidFill>
              </a:rPr>
              <a:t>android_app_pre_exec_cmd</a:t>
            </a:r>
            <a:r>
              <a:rPr lang="en-US" altLang="ja-JP" sz="1600" dirty="0">
                <a:solidFill>
                  <a:schemeClr val="bg1"/>
                </a:solidFill>
              </a:rPr>
              <a:t>(</a:t>
            </a:r>
            <a:r>
              <a:rPr lang="en-US" altLang="ja-JP" sz="1600" dirty="0" err="1">
                <a:solidFill>
                  <a:schemeClr val="bg1"/>
                </a:solidFill>
              </a:rPr>
              <a:t>struct</a:t>
            </a:r>
            <a:r>
              <a:rPr lang="en-US" altLang="ja-JP" sz="1600" dirty="0">
                <a:solidFill>
                  <a:schemeClr val="bg1"/>
                </a:solidFill>
              </a:rPr>
              <a:t> </a:t>
            </a:r>
            <a:r>
              <a:rPr lang="en-US" altLang="ja-JP" sz="1600" dirty="0" err="1">
                <a:solidFill>
                  <a:schemeClr val="bg1"/>
                </a:solidFill>
              </a:rPr>
              <a:t>android_app</a:t>
            </a:r>
            <a:r>
              <a:rPr lang="en-US" altLang="ja-JP" sz="1600" dirty="0">
                <a:solidFill>
                  <a:schemeClr val="bg1"/>
                </a:solidFill>
              </a:rPr>
              <a:t>* </a:t>
            </a:r>
            <a:r>
              <a:rPr lang="en-US" altLang="ja-JP" sz="1600" dirty="0" err="1">
                <a:solidFill>
                  <a:schemeClr val="bg1"/>
                </a:solidFill>
              </a:rPr>
              <a:t>android_app</a:t>
            </a:r>
            <a:r>
              <a:rPr lang="en-US" altLang="ja-JP" sz="1600" dirty="0">
                <a:solidFill>
                  <a:schemeClr val="bg1"/>
                </a:solidFill>
              </a:rPr>
              <a:t>, int8_t </a:t>
            </a:r>
            <a:r>
              <a:rPr lang="en-US" altLang="ja-JP" sz="1600" dirty="0" err="1">
                <a:solidFill>
                  <a:schemeClr val="bg1"/>
                </a:solidFill>
              </a:rPr>
              <a:t>cmd</a:t>
            </a:r>
            <a:r>
              <a:rPr lang="en-US" altLang="ja-JP" sz="1600" dirty="0">
                <a:solidFill>
                  <a:schemeClr val="bg1"/>
                </a:solidFill>
              </a:rPr>
              <a:t>) {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    switch (</a:t>
            </a:r>
            <a:r>
              <a:rPr lang="en-US" altLang="ja-JP" sz="1600" dirty="0" err="1">
                <a:solidFill>
                  <a:schemeClr val="bg1"/>
                </a:solidFill>
              </a:rPr>
              <a:t>cmd</a:t>
            </a:r>
            <a:r>
              <a:rPr lang="en-US" altLang="ja-JP" sz="1600" dirty="0">
                <a:solidFill>
                  <a:schemeClr val="bg1"/>
                </a:solidFill>
              </a:rPr>
              <a:t>) {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        case </a:t>
            </a:r>
            <a:r>
              <a:rPr lang="en-US" altLang="ja-JP" sz="1600" dirty="0">
                <a:solidFill>
                  <a:srgbClr val="FF0000"/>
                </a:solidFill>
              </a:rPr>
              <a:t>APP_CMD_INPUT_CHANGED</a:t>
            </a:r>
            <a:r>
              <a:rPr lang="en-US" altLang="ja-JP" sz="1600" dirty="0">
                <a:solidFill>
                  <a:schemeClr val="bg1"/>
                </a:solidFill>
              </a:rPr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            LOGV("APP_CMD_INPUT_CHANGED\n");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 smtClean="0">
                <a:solidFill>
                  <a:schemeClr val="bg1"/>
                </a:solidFill>
              </a:rPr>
              <a:t>            </a:t>
            </a:r>
            <a:r>
              <a:rPr lang="en-US" altLang="ja-JP" sz="1600" dirty="0" err="1" smtClean="0">
                <a:solidFill>
                  <a:srgbClr val="FF0000"/>
                </a:solidFill>
              </a:rPr>
              <a:t>pthread_mutex_lock</a:t>
            </a:r>
            <a:r>
              <a:rPr lang="en-US" altLang="ja-JP" sz="1600" dirty="0">
                <a:solidFill>
                  <a:schemeClr val="bg1"/>
                </a:solidFill>
              </a:rPr>
              <a:t>(&amp;</a:t>
            </a:r>
            <a:r>
              <a:rPr lang="en-US" altLang="ja-JP" sz="1600" dirty="0" err="1">
                <a:solidFill>
                  <a:schemeClr val="bg1"/>
                </a:solidFill>
              </a:rPr>
              <a:t>android_app</a:t>
            </a:r>
            <a:r>
              <a:rPr lang="en-US" altLang="ja-JP" sz="1600" dirty="0">
                <a:solidFill>
                  <a:schemeClr val="bg1"/>
                </a:solidFill>
              </a:rPr>
              <a:t>-&gt;</a:t>
            </a:r>
            <a:r>
              <a:rPr lang="en-US" altLang="ja-JP" sz="1600" dirty="0" err="1">
                <a:solidFill>
                  <a:schemeClr val="bg1"/>
                </a:solidFill>
              </a:rPr>
              <a:t>mutex</a:t>
            </a:r>
            <a:r>
              <a:rPr lang="en-US" altLang="ja-JP" sz="1600" dirty="0">
                <a:solidFill>
                  <a:schemeClr val="bg1"/>
                </a:solidFill>
              </a:rPr>
              <a:t>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            if (</a:t>
            </a:r>
            <a:r>
              <a:rPr lang="en-US" altLang="ja-JP" sz="1600" dirty="0" err="1" smtClean="0">
                <a:solidFill>
                  <a:schemeClr val="bg1"/>
                </a:solidFill>
              </a:rPr>
              <a:t>android_app</a:t>
            </a:r>
            <a:r>
              <a:rPr lang="en-US" altLang="ja-JP" sz="1600" dirty="0" smtClean="0">
                <a:solidFill>
                  <a:schemeClr val="bg1"/>
                </a:solidFill>
              </a:rPr>
              <a:t>-</a:t>
            </a:r>
            <a:r>
              <a:rPr lang="en-US" altLang="ja-JP" sz="1600" dirty="0">
                <a:solidFill>
                  <a:schemeClr val="bg1"/>
                </a:solidFill>
              </a:rPr>
              <a:t>&gt;</a:t>
            </a:r>
            <a:r>
              <a:rPr lang="en-US" altLang="ja-JP" sz="1600" dirty="0" err="1">
                <a:solidFill>
                  <a:schemeClr val="bg1"/>
                </a:solidFill>
              </a:rPr>
              <a:t>inputQueue</a:t>
            </a:r>
            <a:r>
              <a:rPr lang="en-US" altLang="ja-JP" sz="1600" dirty="0">
                <a:solidFill>
                  <a:schemeClr val="bg1"/>
                </a:solidFill>
              </a:rPr>
              <a:t> != NULL) {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                </a:t>
            </a:r>
            <a:r>
              <a:rPr lang="en-US" altLang="ja-JP" sz="1600" dirty="0" err="1">
                <a:solidFill>
                  <a:schemeClr val="bg1"/>
                </a:solidFill>
              </a:rPr>
              <a:t>AInputQueue_detachLooper</a:t>
            </a:r>
            <a:r>
              <a:rPr lang="en-US" altLang="ja-JP" sz="1600" dirty="0">
                <a:solidFill>
                  <a:schemeClr val="bg1"/>
                </a:solidFill>
              </a:rPr>
              <a:t>(</a:t>
            </a:r>
            <a:r>
              <a:rPr lang="en-US" altLang="ja-JP" sz="1600" dirty="0" err="1">
                <a:solidFill>
                  <a:schemeClr val="bg1"/>
                </a:solidFill>
              </a:rPr>
              <a:t>android_app</a:t>
            </a:r>
            <a:r>
              <a:rPr lang="en-US" altLang="ja-JP" sz="1600" dirty="0">
                <a:solidFill>
                  <a:schemeClr val="bg1"/>
                </a:solidFill>
              </a:rPr>
              <a:t>-&gt;</a:t>
            </a:r>
            <a:r>
              <a:rPr lang="en-US" altLang="ja-JP" sz="1600" dirty="0" err="1">
                <a:solidFill>
                  <a:schemeClr val="bg1"/>
                </a:solidFill>
              </a:rPr>
              <a:t>inputQueue</a:t>
            </a:r>
            <a:r>
              <a:rPr lang="en-US" altLang="ja-JP" sz="1600" dirty="0">
                <a:solidFill>
                  <a:schemeClr val="bg1"/>
                </a:solidFill>
              </a:rPr>
              <a:t>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            }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            </a:t>
            </a:r>
            <a:r>
              <a:rPr lang="en-US" altLang="ja-JP" sz="1600" dirty="0" err="1">
                <a:solidFill>
                  <a:schemeClr val="bg1"/>
                </a:solidFill>
              </a:rPr>
              <a:t>android_app</a:t>
            </a:r>
            <a:r>
              <a:rPr lang="en-US" altLang="ja-JP" sz="1600" dirty="0">
                <a:solidFill>
                  <a:schemeClr val="bg1"/>
                </a:solidFill>
              </a:rPr>
              <a:t>-&gt;</a:t>
            </a:r>
            <a:r>
              <a:rPr lang="en-US" altLang="ja-JP" sz="1600" dirty="0" err="1">
                <a:solidFill>
                  <a:schemeClr val="bg1"/>
                </a:solidFill>
              </a:rPr>
              <a:t>inputQueue</a:t>
            </a:r>
            <a:r>
              <a:rPr lang="en-US" altLang="ja-JP" sz="1600" dirty="0">
                <a:solidFill>
                  <a:schemeClr val="bg1"/>
                </a:solidFill>
              </a:rPr>
              <a:t> = </a:t>
            </a:r>
            <a:r>
              <a:rPr lang="en-US" altLang="ja-JP" sz="1600" dirty="0" err="1">
                <a:solidFill>
                  <a:schemeClr val="bg1"/>
                </a:solidFill>
              </a:rPr>
              <a:t>android_app</a:t>
            </a:r>
            <a:r>
              <a:rPr lang="en-US" altLang="ja-JP" sz="1600" dirty="0">
                <a:solidFill>
                  <a:schemeClr val="bg1"/>
                </a:solidFill>
              </a:rPr>
              <a:t>-&gt;</a:t>
            </a:r>
            <a:r>
              <a:rPr lang="en-US" altLang="ja-JP" sz="1600" dirty="0" err="1">
                <a:solidFill>
                  <a:schemeClr val="bg1"/>
                </a:solidFill>
              </a:rPr>
              <a:t>pendingInputQueue</a:t>
            </a:r>
            <a:r>
              <a:rPr lang="en-US" altLang="ja-JP" sz="1600" dirty="0">
                <a:solidFill>
                  <a:schemeClr val="bg1"/>
                </a:solidFill>
              </a:rPr>
              <a:t>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            if (</a:t>
            </a:r>
            <a:r>
              <a:rPr lang="en-US" altLang="ja-JP" sz="1600" dirty="0" err="1">
                <a:solidFill>
                  <a:schemeClr val="bg1"/>
                </a:solidFill>
              </a:rPr>
              <a:t>android_app</a:t>
            </a:r>
            <a:r>
              <a:rPr lang="en-US" altLang="ja-JP" sz="1600" dirty="0">
                <a:solidFill>
                  <a:schemeClr val="bg1"/>
                </a:solidFill>
              </a:rPr>
              <a:t>-&gt;</a:t>
            </a:r>
            <a:r>
              <a:rPr lang="en-US" altLang="ja-JP" sz="1600" dirty="0" err="1">
                <a:solidFill>
                  <a:schemeClr val="bg1"/>
                </a:solidFill>
              </a:rPr>
              <a:t>inputQueue</a:t>
            </a:r>
            <a:r>
              <a:rPr lang="en-US" altLang="ja-JP" sz="1600" dirty="0">
                <a:solidFill>
                  <a:schemeClr val="bg1"/>
                </a:solidFill>
              </a:rPr>
              <a:t> != NULL) {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                LOGV("Attaching input queue to </a:t>
            </a:r>
            <a:r>
              <a:rPr lang="en-US" altLang="ja-JP" sz="1600" dirty="0" err="1">
                <a:solidFill>
                  <a:schemeClr val="bg1"/>
                </a:solidFill>
              </a:rPr>
              <a:t>looper</a:t>
            </a:r>
            <a:r>
              <a:rPr lang="en-US" altLang="ja-JP" sz="1600" dirty="0">
                <a:solidFill>
                  <a:schemeClr val="bg1"/>
                </a:solidFill>
              </a:rPr>
              <a:t>");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                </a:t>
            </a:r>
            <a:r>
              <a:rPr lang="en-US" altLang="ja-JP" sz="1600" dirty="0" err="1">
                <a:solidFill>
                  <a:schemeClr val="bg1"/>
                </a:solidFill>
              </a:rPr>
              <a:t>AInputQueue_attachLooper</a:t>
            </a:r>
            <a:r>
              <a:rPr lang="en-US" altLang="ja-JP" sz="1600" dirty="0">
                <a:solidFill>
                  <a:schemeClr val="bg1"/>
                </a:solidFill>
              </a:rPr>
              <a:t>(</a:t>
            </a:r>
            <a:r>
              <a:rPr lang="en-US" altLang="ja-JP" sz="1600" dirty="0" err="1">
                <a:solidFill>
                  <a:schemeClr val="bg1"/>
                </a:solidFill>
              </a:rPr>
              <a:t>android_app</a:t>
            </a:r>
            <a:r>
              <a:rPr lang="en-US" altLang="ja-JP" sz="1600" dirty="0">
                <a:solidFill>
                  <a:schemeClr val="bg1"/>
                </a:solidFill>
              </a:rPr>
              <a:t>-&gt;</a:t>
            </a:r>
            <a:r>
              <a:rPr lang="en-US" altLang="ja-JP" sz="1600" dirty="0" err="1">
                <a:solidFill>
                  <a:schemeClr val="bg1"/>
                </a:solidFill>
              </a:rPr>
              <a:t>inputQueue</a:t>
            </a:r>
            <a:r>
              <a:rPr lang="en-US" altLang="ja-JP" sz="1600" dirty="0">
                <a:solidFill>
                  <a:schemeClr val="bg1"/>
                </a:solidFill>
              </a:rPr>
              <a:t>,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                        </a:t>
            </a:r>
            <a:r>
              <a:rPr lang="en-US" altLang="ja-JP" sz="1600" dirty="0" err="1">
                <a:solidFill>
                  <a:schemeClr val="bg1"/>
                </a:solidFill>
              </a:rPr>
              <a:t>android_app</a:t>
            </a:r>
            <a:r>
              <a:rPr lang="en-US" altLang="ja-JP" sz="1600" dirty="0">
                <a:solidFill>
                  <a:schemeClr val="bg1"/>
                </a:solidFill>
              </a:rPr>
              <a:t>-&gt;</a:t>
            </a:r>
            <a:r>
              <a:rPr lang="en-US" altLang="ja-JP" sz="1600" dirty="0" err="1">
                <a:solidFill>
                  <a:schemeClr val="bg1"/>
                </a:solidFill>
              </a:rPr>
              <a:t>looper</a:t>
            </a:r>
            <a:r>
              <a:rPr lang="en-US" altLang="ja-JP" sz="1600" dirty="0">
                <a:solidFill>
                  <a:schemeClr val="bg1"/>
                </a:solidFill>
              </a:rPr>
              <a:t>, LOOPER_ID_INPUT, NULL,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                        &amp;</a:t>
            </a:r>
            <a:r>
              <a:rPr lang="en-US" altLang="ja-JP" sz="1600" dirty="0" err="1">
                <a:solidFill>
                  <a:schemeClr val="bg1"/>
                </a:solidFill>
              </a:rPr>
              <a:t>android_app</a:t>
            </a:r>
            <a:r>
              <a:rPr lang="en-US" altLang="ja-JP" sz="1600" dirty="0">
                <a:solidFill>
                  <a:schemeClr val="bg1"/>
                </a:solidFill>
              </a:rPr>
              <a:t>-&gt;</a:t>
            </a:r>
            <a:r>
              <a:rPr lang="en-US" altLang="ja-JP" sz="1600" dirty="0" err="1">
                <a:solidFill>
                  <a:schemeClr val="bg1"/>
                </a:solidFill>
              </a:rPr>
              <a:t>inputPollSource</a:t>
            </a:r>
            <a:r>
              <a:rPr lang="en-US" altLang="ja-JP" sz="1600" dirty="0">
                <a:solidFill>
                  <a:schemeClr val="bg1"/>
                </a:solidFill>
              </a:rPr>
              <a:t>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            }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            </a:t>
            </a:r>
            <a:r>
              <a:rPr lang="en-US" altLang="ja-JP" sz="1600" dirty="0" err="1">
                <a:solidFill>
                  <a:srgbClr val="FF0000"/>
                </a:solidFill>
              </a:rPr>
              <a:t>pthread_cond_broadcast</a:t>
            </a:r>
            <a:r>
              <a:rPr lang="en-US" altLang="ja-JP" sz="1600" dirty="0">
                <a:solidFill>
                  <a:schemeClr val="bg1"/>
                </a:solidFill>
              </a:rPr>
              <a:t>(&amp;</a:t>
            </a:r>
            <a:r>
              <a:rPr lang="en-US" altLang="ja-JP" sz="1600" dirty="0" err="1">
                <a:solidFill>
                  <a:schemeClr val="bg1"/>
                </a:solidFill>
              </a:rPr>
              <a:t>android_app</a:t>
            </a:r>
            <a:r>
              <a:rPr lang="en-US" altLang="ja-JP" sz="1600" dirty="0">
                <a:solidFill>
                  <a:schemeClr val="bg1"/>
                </a:solidFill>
              </a:rPr>
              <a:t>-&gt;</a:t>
            </a:r>
            <a:r>
              <a:rPr lang="en-US" altLang="ja-JP" sz="1600" dirty="0" err="1">
                <a:solidFill>
                  <a:schemeClr val="bg1"/>
                </a:solidFill>
              </a:rPr>
              <a:t>cond</a:t>
            </a:r>
            <a:r>
              <a:rPr lang="en-US" altLang="ja-JP" sz="1600" dirty="0">
                <a:solidFill>
                  <a:schemeClr val="bg1"/>
                </a:solidFill>
              </a:rPr>
              <a:t>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            </a:t>
            </a:r>
            <a:r>
              <a:rPr lang="en-US" altLang="ja-JP" sz="1600" dirty="0" err="1">
                <a:solidFill>
                  <a:srgbClr val="FF0000"/>
                </a:solidFill>
              </a:rPr>
              <a:t>pthread_mutex_unlock</a:t>
            </a:r>
            <a:r>
              <a:rPr lang="en-US" altLang="ja-JP" sz="1600" dirty="0">
                <a:solidFill>
                  <a:schemeClr val="bg1"/>
                </a:solidFill>
              </a:rPr>
              <a:t>(&amp;</a:t>
            </a:r>
            <a:r>
              <a:rPr lang="en-US" altLang="ja-JP" sz="1600" dirty="0" err="1">
                <a:solidFill>
                  <a:schemeClr val="bg1"/>
                </a:solidFill>
              </a:rPr>
              <a:t>android_app</a:t>
            </a:r>
            <a:r>
              <a:rPr lang="en-US" altLang="ja-JP" sz="1600" dirty="0">
                <a:solidFill>
                  <a:schemeClr val="bg1"/>
                </a:solidFill>
              </a:rPr>
              <a:t>-&gt;</a:t>
            </a:r>
            <a:r>
              <a:rPr lang="en-US" altLang="ja-JP" sz="1600" dirty="0" err="1">
                <a:solidFill>
                  <a:schemeClr val="bg1"/>
                </a:solidFill>
              </a:rPr>
              <a:t>mutex</a:t>
            </a:r>
            <a:r>
              <a:rPr lang="en-US" altLang="ja-JP" sz="1600" dirty="0">
                <a:solidFill>
                  <a:schemeClr val="bg1"/>
                </a:solidFill>
              </a:rPr>
              <a:t>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            break</a:t>
            </a:r>
            <a:r>
              <a:rPr lang="en-US" altLang="ja-JP" sz="1600" dirty="0" smtClean="0">
                <a:solidFill>
                  <a:schemeClr val="bg1"/>
                </a:solidFill>
              </a:rPr>
              <a:t>;</a:t>
            </a:r>
            <a:endParaRPr lang="en-US" altLang="ja-JP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5434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Sample of</a:t>
            </a:r>
            <a:r>
              <a:rPr lang="en-US" dirty="0" smtClean="0"/>
              <a:t> </a:t>
            </a:r>
            <a:r>
              <a:rPr lang="en-US" dirty="0" err="1" smtClean="0"/>
              <a:t>NativeActivityGlue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Don’t Need to Use “thread” </a:t>
            </a:r>
            <a:r>
              <a:rPr lang="en-US" dirty="0" err="1" smtClean="0"/>
              <a:t>Funcs</a:t>
            </a:r>
            <a:r>
              <a:rPr lang="en-US" dirty="0"/>
              <a:t>.</a:t>
            </a:r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2132856"/>
            <a:ext cx="6801633" cy="316835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static void engine_handle_cmd(android_app* app, int32_t cmd) {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Engine* engine = (Engine*)app-&gt;userData;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switch (</a:t>
            </a:r>
            <a:r>
              <a:rPr lang="sv-SE" altLang="ja-JP" sz="1600" dirty="0">
                <a:solidFill>
                  <a:srgbClr val="FF0000"/>
                </a:solidFill>
              </a:rPr>
              <a:t>cmd</a:t>
            </a:r>
            <a:r>
              <a:rPr lang="sv-SE" altLang="ja-JP" sz="1600" dirty="0"/>
              <a:t>) {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case </a:t>
            </a:r>
            <a:r>
              <a:rPr lang="sv-SE" altLang="ja-JP" sz="1600" dirty="0">
                <a:solidFill>
                  <a:srgbClr val="FF0000"/>
                </a:solidFill>
              </a:rPr>
              <a:t>APP_CMD_INIT_WINDOW</a:t>
            </a:r>
            <a:r>
              <a:rPr lang="sv-SE" altLang="ja-JP" sz="1600" dirty="0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    if (app-&gt;window != NULL)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        LOGI("APP_CMD_INIT_WINDOW");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    break;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case </a:t>
            </a:r>
            <a:r>
              <a:rPr lang="sv-SE" altLang="ja-JP" sz="1600" dirty="0">
                <a:solidFill>
                  <a:srgbClr val="FF0000"/>
                </a:solidFill>
              </a:rPr>
              <a:t>APP_CMD_TERM_WINDOW</a:t>
            </a:r>
            <a:r>
              <a:rPr lang="sv-SE" altLang="ja-JP" sz="1600" dirty="0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    LOGI("APP_CMD_TERM_WINDOW");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    break;</a:t>
            </a:r>
            <a:endParaRPr lang="sv-SE" altLang="ja-JP" sz="1600" dirty="0"/>
          </a:p>
        </p:txBody>
      </p:sp>
    </p:spTree>
    <p:extLst>
      <p:ext uri="{BB962C8B-B14F-4D97-AF65-F5344CB8AC3E}">
        <p14:creationId xmlns:p14="http://schemas.microsoft.com/office/powerpoint/2010/main" val="11076349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Functions that you CAN USE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5538"/>
            <a:ext cx="7982272" cy="5327650"/>
          </a:xfrm>
        </p:spPr>
        <p:txBody>
          <a:bodyPr/>
          <a:lstStyle/>
          <a:p>
            <a:r>
              <a:rPr lang="en-US" dirty="0" smtClean="0"/>
              <a:t>Build-in Libs: How to Use: -lxx</a:t>
            </a:r>
          </a:p>
          <a:p>
            <a:pPr lvl="1"/>
            <a:r>
              <a:rPr lang="en-US" dirty="0" smtClean="0"/>
              <a:t>[NDK DIR]/platforms/android-19/arch-arm/</a:t>
            </a:r>
            <a:r>
              <a:rPr lang="en-US" dirty="0" err="1" smtClean="0"/>
              <a:t>usr</a:t>
            </a:r>
            <a:r>
              <a:rPr lang="en-US" dirty="0"/>
              <a:t>/</a:t>
            </a:r>
            <a:r>
              <a:rPr lang="en-US" dirty="0" smtClean="0"/>
              <a:t>lib</a:t>
            </a:r>
            <a:endParaRPr lang="en-US" dirty="0"/>
          </a:p>
          <a:p>
            <a:pPr lvl="2"/>
            <a:r>
              <a:rPr lang="en-US" dirty="0" smtClean="0"/>
              <a:t>libandroid.so</a:t>
            </a:r>
          </a:p>
          <a:p>
            <a:pPr lvl="3"/>
            <a:r>
              <a:rPr lang="en-US" dirty="0" err="1" smtClean="0"/>
              <a:t>NativeActivity</a:t>
            </a:r>
            <a:r>
              <a:rPr lang="en-US" dirty="0" smtClean="0"/>
              <a:t> Lib</a:t>
            </a:r>
            <a:endParaRPr lang="en-US" dirty="0"/>
          </a:p>
          <a:p>
            <a:pPr lvl="2"/>
            <a:r>
              <a:rPr lang="en-US" dirty="0" smtClean="0"/>
              <a:t>libc.so</a:t>
            </a:r>
          </a:p>
          <a:p>
            <a:pPr lvl="2"/>
            <a:r>
              <a:rPr lang="en-US" dirty="0"/>
              <a:t>libstdc++.</a:t>
            </a:r>
            <a:r>
              <a:rPr lang="en-US" dirty="0" smtClean="0"/>
              <a:t>so</a:t>
            </a:r>
          </a:p>
          <a:p>
            <a:pPr lvl="3"/>
            <a:r>
              <a:rPr lang="en-US" dirty="0" err="1" smtClean="0"/>
              <a:t>libc</a:t>
            </a:r>
            <a:endParaRPr lang="en-US" dirty="0"/>
          </a:p>
          <a:p>
            <a:pPr lvl="2"/>
            <a:r>
              <a:rPr lang="en-US" dirty="0" smtClean="0"/>
              <a:t>libdl.so</a:t>
            </a:r>
          </a:p>
          <a:p>
            <a:pPr lvl="3"/>
            <a:r>
              <a:rPr lang="en-US" dirty="0" smtClean="0"/>
              <a:t>Dynamic Load Lib</a:t>
            </a:r>
            <a:endParaRPr lang="en-US" dirty="0"/>
          </a:p>
          <a:p>
            <a:pPr lvl="2"/>
            <a:r>
              <a:rPr lang="en-US" dirty="0"/>
              <a:t>libEGL.so</a:t>
            </a:r>
          </a:p>
          <a:p>
            <a:pPr lvl="2"/>
            <a:r>
              <a:rPr lang="en-US" dirty="0"/>
              <a:t>libGLESv1_CM.so</a:t>
            </a:r>
          </a:p>
          <a:p>
            <a:pPr lvl="2"/>
            <a:r>
              <a:rPr lang="en-US" dirty="0"/>
              <a:t>libGLESv2.so</a:t>
            </a:r>
          </a:p>
          <a:p>
            <a:pPr lvl="2"/>
            <a:r>
              <a:rPr lang="en-US" dirty="0"/>
              <a:t>libGLESv3.so</a:t>
            </a:r>
          </a:p>
          <a:p>
            <a:pPr lvl="2"/>
            <a:r>
              <a:rPr lang="en-US" dirty="0" smtClean="0"/>
              <a:t>libjnigraphics.so</a:t>
            </a:r>
          </a:p>
          <a:p>
            <a:pPr lvl="3"/>
            <a:r>
              <a:rPr lang="en-US" dirty="0" smtClean="0"/>
              <a:t>Graphic </a:t>
            </a:r>
            <a:r>
              <a:rPr lang="en-US" dirty="0" err="1" smtClean="0"/>
              <a:t>Funcs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 smtClean="0"/>
          </a:p>
          <a:p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4374976" y="1988840"/>
            <a:ext cx="4733528" cy="4681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Blip>
                <a:blip r:embed="rId2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en-US" dirty="0" smtClean="0"/>
              <a:t>liblog.so</a:t>
            </a:r>
          </a:p>
          <a:p>
            <a:pPr lvl="3"/>
            <a:r>
              <a:rPr lang="en-US" sz="2000" dirty="0" smtClean="0"/>
              <a:t>Logging</a:t>
            </a:r>
          </a:p>
          <a:p>
            <a:pPr lvl="2"/>
            <a:r>
              <a:rPr lang="en-US" dirty="0" smtClean="0"/>
              <a:t>libm.so</a:t>
            </a:r>
          </a:p>
          <a:p>
            <a:pPr lvl="3"/>
            <a:r>
              <a:rPr lang="en-US" sz="2000" dirty="0" smtClean="0"/>
              <a:t>Math Lib</a:t>
            </a:r>
          </a:p>
          <a:p>
            <a:pPr lvl="2"/>
            <a:r>
              <a:rPr lang="en-US" dirty="0" smtClean="0"/>
              <a:t>libOpenMAXAL.so</a:t>
            </a:r>
          </a:p>
          <a:p>
            <a:pPr lvl="3"/>
            <a:r>
              <a:rPr lang="en-US" sz="2000" dirty="0" smtClean="0"/>
              <a:t>Media Lib</a:t>
            </a:r>
          </a:p>
          <a:p>
            <a:pPr lvl="2"/>
            <a:r>
              <a:rPr lang="en-US" dirty="0" smtClean="0"/>
              <a:t>libOpenSLES.so</a:t>
            </a:r>
          </a:p>
          <a:p>
            <a:pPr lvl="3"/>
            <a:r>
              <a:rPr lang="en-US" sz="2000" dirty="0" smtClean="0"/>
              <a:t>Sound Lib</a:t>
            </a:r>
          </a:p>
          <a:p>
            <a:pPr lvl="2"/>
            <a:r>
              <a:rPr lang="en-US" dirty="0" smtClean="0"/>
              <a:t>libthread_db.so</a:t>
            </a:r>
          </a:p>
          <a:p>
            <a:pPr lvl="3"/>
            <a:r>
              <a:rPr lang="en-US" sz="2000" dirty="0" smtClean="0"/>
              <a:t>thread</a:t>
            </a:r>
          </a:p>
          <a:p>
            <a:pPr lvl="2"/>
            <a:r>
              <a:rPr lang="en-US" dirty="0" smtClean="0"/>
              <a:t>libz.so</a:t>
            </a:r>
          </a:p>
          <a:p>
            <a:pPr lvl="3"/>
            <a:r>
              <a:rPr lang="en-US" sz="2000" dirty="0" smtClean="0"/>
              <a:t>Zip Lib</a:t>
            </a:r>
          </a:p>
          <a:p>
            <a:pPr marL="457200" lvl="1" indent="0">
              <a:buFontTx/>
              <a:buNone/>
            </a:pPr>
            <a:endParaRPr lang="en-US" dirty="0" smtClean="0"/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7120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jni/Android.mk </a:t>
            </a:r>
            <a:r>
              <a:rPr lang="en-US" dirty="0" smtClean="0"/>
              <a:t>8/8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 Loading Lib &amp; </a:t>
            </a:r>
            <a:r>
              <a:rPr lang="en-US" dirty="0" err="1" smtClean="0"/>
              <a:t>OpenCV</a:t>
            </a:r>
            <a:r>
              <a:rPr lang="en-US" dirty="0" smtClean="0"/>
              <a:t> Lib</a:t>
            </a:r>
          </a:p>
          <a:p>
            <a:pPr lvl="1"/>
            <a:r>
              <a:rPr lang="en-US" dirty="0" smtClean="0"/>
              <a:t>LOCAL_LDLIBS</a:t>
            </a:r>
          </a:p>
          <a:p>
            <a:pPr lvl="2"/>
            <a:r>
              <a:rPr lang="en-US" dirty="0" smtClean="0"/>
              <a:t>-</a:t>
            </a:r>
            <a:r>
              <a:rPr lang="en-US" dirty="0" err="1"/>
              <a:t>lc</a:t>
            </a:r>
            <a:r>
              <a:rPr lang="en-US" dirty="0"/>
              <a:t> -</a:t>
            </a:r>
            <a:r>
              <a:rPr lang="en-US" dirty="0" err="1"/>
              <a:t>ldl</a:t>
            </a:r>
            <a:r>
              <a:rPr lang="en-US" dirty="0"/>
              <a:t> -</a:t>
            </a:r>
            <a:r>
              <a:rPr lang="en-US" dirty="0" err="1"/>
              <a:t>lz</a:t>
            </a:r>
            <a:endParaRPr lang="en-US" dirty="0"/>
          </a:p>
          <a:p>
            <a:pPr lvl="1"/>
            <a:r>
              <a:rPr lang="en-US" dirty="0" smtClean="0"/>
              <a:t>LOCAL_STATIC_LIBRARIES</a:t>
            </a:r>
          </a:p>
          <a:p>
            <a:pPr lvl="2"/>
            <a:r>
              <a:rPr lang="en-US" dirty="0" smtClean="0"/>
              <a:t>$(</a:t>
            </a:r>
            <a:r>
              <a:rPr lang="en-US" dirty="0" err="1"/>
              <a:t>foreach</a:t>
            </a:r>
            <a:r>
              <a:rPr lang="en-US" dirty="0"/>
              <a:t> mod, $(OPENCV_MODULES), </a:t>
            </a:r>
            <a:r>
              <a:rPr lang="en-US" dirty="0" err="1"/>
              <a:t>opencv</a:t>
            </a:r>
            <a:r>
              <a:rPr lang="en-US" dirty="0"/>
              <a:t>_$(mod)) $(OPENCV_3RDPARTY_COMPONENTS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3861048"/>
            <a:ext cx="6801633" cy="254881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sv-SE" altLang="ja-JP" dirty="0"/>
              <a:t>LOCAL_LDLIBS    += -lm -llog -landroid </a:t>
            </a:r>
            <a:r>
              <a:rPr lang="sv-SE" altLang="ja-JP" dirty="0">
                <a:solidFill>
                  <a:srgbClr val="FF0000"/>
                </a:solidFill>
              </a:rPr>
              <a:t>-lc -ldl -lz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dirty="0"/>
              <a:t>LOCAL_STATIC_LIBRARIES := android_native_app_glue </a:t>
            </a:r>
            <a:r>
              <a:rPr lang="sv-SE" altLang="ja-JP" dirty="0">
                <a:solidFill>
                  <a:srgbClr val="FF0000"/>
                </a:solidFill>
              </a:rPr>
              <a:t>$(foreach mod, $(OPENCV_MODULES), opencv_$(mod)) $(OPENCV_3RDPARTY_COMPONENTS)</a:t>
            </a:r>
          </a:p>
        </p:txBody>
      </p:sp>
    </p:spTree>
    <p:extLst>
      <p:ext uri="{BB962C8B-B14F-4D97-AF65-F5344CB8AC3E}">
        <p14:creationId xmlns:p14="http://schemas.microsoft.com/office/powerpoint/2010/main" val="5205497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</a:t>
            </a:r>
            <a:r>
              <a:rPr lang="en-US" dirty="0" smtClean="0"/>
              <a:t>jni/Android.mk 4/8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Make Loading </a:t>
            </a:r>
            <a:r>
              <a:rPr lang="en-US" dirty="0" err="1" smtClean="0"/>
              <a:t>OpenCV</a:t>
            </a:r>
            <a:r>
              <a:rPr lang="en-US" dirty="0" smtClean="0"/>
              <a:t> Libs Function</a:t>
            </a:r>
            <a:endParaRPr lang="en-US" dirty="0"/>
          </a:p>
        </p:txBody>
      </p:sp>
      <p:sp>
        <p:nvSpPr>
          <p:cNvPr id="5" name="正方形/長方形 6"/>
          <p:cNvSpPr/>
          <p:nvPr/>
        </p:nvSpPr>
        <p:spPr>
          <a:xfrm>
            <a:off x="1384120" y="5157192"/>
            <a:ext cx="6801633" cy="151348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dirty="0">
                <a:solidFill>
                  <a:schemeClr val="bg1"/>
                </a:solidFill>
              </a:rPr>
              <a:t>$(</a:t>
            </a:r>
            <a:r>
              <a:rPr lang="en-US" altLang="ja-JP" dirty="0" err="1">
                <a:solidFill>
                  <a:schemeClr val="bg1"/>
                </a:solidFill>
              </a:rPr>
              <a:t>foreach</a:t>
            </a:r>
            <a:r>
              <a:rPr lang="en-US" altLang="ja-JP" dirty="0">
                <a:solidFill>
                  <a:schemeClr val="bg1"/>
                </a:solidFill>
              </a:rPr>
              <a:t> module,$(OPENCV_3RDPARTY_COMPONENTS),$(</a:t>
            </a:r>
            <a:r>
              <a:rPr lang="en-US" altLang="ja-JP" dirty="0" err="1">
                <a:solidFill>
                  <a:schemeClr val="bg1"/>
                </a:solidFill>
              </a:rPr>
              <a:t>eval</a:t>
            </a:r>
            <a:r>
              <a:rPr lang="en-US" altLang="ja-JP" dirty="0">
                <a:solidFill>
                  <a:schemeClr val="bg1"/>
                </a:solidFill>
              </a:rPr>
              <a:t> $(call add_opencv_3rdparty_component,$(module))))</a:t>
            </a:r>
          </a:p>
        </p:txBody>
      </p:sp>
      <p:sp>
        <p:nvSpPr>
          <p:cNvPr id="6" name="正方形/長方形 6"/>
          <p:cNvSpPr/>
          <p:nvPr/>
        </p:nvSpPr>
        <p:spPr>
          <a:xfrm>
            <a:off x="1403648" y="1816440"/>
            <a:ext cx="6801633" cy="30527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dirty="0">
                <a:solidFill>
                  <a:schemeClr val="bg1"/>
                </a:solidFill>
              </a:rPr>
              <a:t>define add_opencv_3rdparty_component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>
                <a:solidFill>
                  <a:schemeClr val="bg1"/>
                </a:solidFill>
              </a:rPr>
              <a:t>    include $(CLEAR_VARS)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>
                <a:solidFill>
                  <a:schemeClr val="bg1"/>
                </a:solidFill>
              </a:rPr>
              <a:t>    LOCAL_MODULE:=$1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>
                <a:solidFill>
                  <a:schemeClr val="bg1"/>
                </a:solidFill>
              </a:rPr>
              <a:t>    LOCAL_SRC_FILES:=../../opencv-2.4.7/platforms/</a:t>
            </a:r>
            <a:r>
              <a:rPr lang="en-US" altLang="ja-JP" dirty="0" err="1">
                <a:solidFill>
                  <a:schemeClr val="bg1"/>
                </a:solidFill>
              </a:rPr>
              <a:t>build_android_service</a:t>
            </a:r>
            <a:r>
              <a:rPr lang="en-US" altLang="ja-JP" dirty="0">
                <a:solidFill>
                  <a:schemeClr val="bg1"/>
                </a:solidFill>
              </a:rPr>
              <a:t>/3rdparty/lib/armeabi-v7a/lib$1.</a:t>
            </a:r>
            <a:r>
              <a:rPr lang="en-US" altLang="ja-JP" dirty="0">
                <a:solidFill>
                  <a:srgbClr val="FF0000"/>
                </a:solidFill>
              </a:rPr>
              <a:t>a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>
                <a:solidFill>
                  <a:schemeClr val="bg1"/>
                </a:solidFill>
              </a:rPr>
              <a:t>    include $(</a:t>
            </a:r>
            <a:r>
              <a:rPr lang="en-US" altLang="ja-JP" dirty="0">
                <a:solidFill>
                  <a:srgbClr val="FF0000"/>
                </a:solidFill>
              </a:rPr>
              <a:t>PREBUILT_STATIC_LIBRARY</a:t>
            </a:r>
            <a:r>
              <a:rPr lang="en-US" altLang="ja-JP" dirty="0">
                <a:solidFill>
                  <a:schemeClr val="bg1"/>
                </a:solidFill>
              </a:rPr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 err="1">
                <a:solidFill>
                  <a:schemeClr val="bg1"/>
                </a:solidFill>
              </a:rPr>
              <a:t>endef</a:t>
            </a:r>
            <a:endParaRPr lang="en-US" altLang="ja-JP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75465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</a:t>
            </a:r>
            <a:r>
              <a:rPr lang="en-US" dirty="0" smtClean="0"/>
              <a:t>jni/Android.mk 6/8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Make Loading </a:t>
            </a:r>
            <a:r>
              <a:rPr lang="en-US" dirty="0" err="1" smtClean="0"/>
              <a:t>AndroidCamera</a:t>
            </a:r>
            <a:r>
              <a:rPr lang="en-US" dirty="0" smtClean="0"/>
              <a:t> Libs Function</a:t>
            </a:r>
            <a:endParaRPr lang="en-US" dirty="0"/>
          </a:p>
        </p:txBody>
      </p:sp>
      <p:sp>
        <p:nvSpPr>
          <p:cNvPr id="5" name="正方形/長方形 6"/>
          <p:cNvSpPr/>
          <p:nvPr/>
        </p:nvSpPr>
        <p:spPr>
          <a:xfrm>
            <a:off x="1384120" y="5157192"/>
            <a:ext cx="6801633" cy="151348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$(</a:t>
            </a:r>
            <a:r>
              <a:rPr lang="en-US" altLang="ja-JP" dirty="0" err="1"/>
              <a:t>foreach</a:t>
            </a:r>
            <a:r>
              <a:rPr lang="en-US" altLang="ja-JP" dirty="0"/>
              <a:t> module,$(OPENCV_CAMERA_MODULES),$(</a:t>
            </a:r>
            <a:r>
              <a:rPr lang="en-US" altLang="ja-JP" dirty="0" err="1"/>
              <a:t>eval</a:t>
            </a:r>
            <a:r>
              <a:rPr lang="en-US" altLang="ja-JP" dirty="0"/>
              <a:t> $(call </a:t>
            </a:r>
            <a:r>
              <a:rPr lang="en-US" altLang="ja-JP" dirty="0" err="1"/>
              <a:t>add_opencv_camera_module</a:t>
            </a:r>
            <a:r>
              <a:rPr lang="en-US" altLang="ja-JP" dirty="0"/>
              <a:t>,$(module))))</a:t>
            </a:r>
          </a:p>
        </p:txBody>
      </p:sp>
      <p:sp>
        <p:nvSpPr>
          <p:cNvPr id="6" name="正方形/長方形 6"/>
          <p:cNvSpPr/>
          <p:nvPr/>
        </p:nvSpPr>
        <p:spPr>
          <a:xfrm>
            <a:off x="1403648" y="1816440"/>
            <a:ext cx="6801633" cy="30527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define </a:t>
            </a:r>
            <a:r>
              <a:rPr lang="en-US" altLang="ja-JP" dirty="0" err="1"/>
              <a:t>add_opencv_camera_module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    include $(CLEAR_VARS)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    LOCAL_MODULE:=$1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    LOCAL_SRC_FILES:=../../opencv-2.4.7/platforms/build_android_service/lib/armeabi-v7a/lib$1.</a:t>
            </a:r>
            <a:r>
              <a:rPr lang="en-US" altLang="ja-JP" dirty="0">
                <a:solidFill>
                  <a:srgbClr val="FF0000"/>
                </a:solidFill>
              </a:rPr>
              <a:t>so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    include $(</a:t>
            </a:r>
            <a:r>
              <a:rPr lang="en-US" altLang="ja-JP" dirty="0">
                <a:solidFill>
                  <a:srgbClr val="FF0000"/>
                </a:solidFill>
              </a:rPr>
              <a:t>PREBUILT_SHARED_LIBRARY</a:t>
            </a:r>
            <a:r>
              <a:rPr lang="en-US" altLang="ja-JP" dirty="0"/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 err="1"/>
              <a:t>endef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7430331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dirty="0" smtClean="0"/>
          </a:p>
          <a:p>
            <a:pPr algn="ctr"/>
            <a:r>
              <a:rPr lang="en-US" altLang="ja-JP" sz="3600" dirty="0" smtClean="0"/>
              <a:t>How </a:t>
            </a:r>
            <a:r>
              <a:rPr lang="en-US" altLang="ja-JP" sz="3600" dirty="0" smtClean="0"/>
              <a:t>to Use </a:t>
            </a:r>
            <a:r>
              <a:rPr lang="en-US" altLang="ja-JP" sz="3600" dirty="0" err="1" smtClean="0"/>
              <a:t>NativeActivityGlue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231970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Edit AndroidManifest.xml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Replace “application” Section</a:t>
            </a:r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1628800"/>
            <a:ext cx="6801633" cy="518457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sv-SE" altLang="ja-JP" sz="1800" dirty="0" smtClean="0"/>
              <a:t>&lt;</a:t>
            </a:r>
            <a:r>
              <a:rPr lang="sv-SE" altLang="ja-JP" sz="1800" dirty="0"/>
              <a:t>application android:label="@string/app_name" android:hasCode="false"&gt;</a:t>
            </a:r>
          </a:p>
          <a:p>
            <a:pPr marL="914400" lvl="1" indent="-457200">
              <a:buFont typeface="+mj-lt"/>
              <a:buAutoNum type="arabicPeriod"/>
            </a:pPr>
            <a:endParaRPr lang="sv-SE" altLang="ja-JP" sz="1800" dirty="0"/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 smtClean="0"/>
              <a:t>&lt;</a:t>
            </a:r>
            <a:r>
              <a:rPr lang="sv-SE" altLang="ja-JP" sz="1800" dirty="0"/>
              <a:t>activity android:name="android.app.NativeActivity"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             android:label="@string/app_name"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             android:configChanges="orientation|keyboardHidden"&gt;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         &lt;!-- Tell NativeActivity the name of or .so --&gt;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         &lt;</a:t>
            </a:r>
            <a:r>
              <a:rPr lang="sv-SE" altLang="ja-JP" sz="1800" dirty="0">
                <a:solidFill>
                  <a:srgbClr val="FF0000"/>
                </a:solidFill>
              </a:rPr>
              <a:t>meta-data android:name="android.app.lib_name"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>
                <a:solidFill>
                  <a:srgbClr val="FF0000"/>
                </a:solidFill>
              </a:rPr>
              <a:t>                    android:value</a:t>
            </a:r>
            <a:r>
              <a:rPr lang="sv-SE" altLang="ja-JP" sz="1800" dirty="0" smtClean="0">
                <a:solidFill>
                  <a:srgbClr val="FF0000"/>
                </a:solidFill>
              </a:rPr>
              <a:t>=”SampleNativeActivity</a:t>
            </a:r>
            <a:r>
              <a:rPr lang="sv-SE" altLang="ja-JP" sz="1800" dirty="0">
                <a:solidFill>
                  <a:srgbClr val="FF0000"/>
                </a:solidFill>
              </a:rPr>
              <a:t>"</a:t>
            </a:r>
            <a:r>
              <a:rPr lang="sv-SE" altLang="ja-JP" sz="1800" dirty="0"/>
              <a:t> /&gt;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         &lt;intent-filter&gt;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             &lt;action android:name="android.intent.action.MAIN" /&gt;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             &lt;category android:name="android.intent.category.LAUNCHER" /&gt;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         &lt;/intent-filter&gt;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     &lt;/activity&gt;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 &lt;/application&gt;</a:t>
            </a:r>
          </a:p>
        </p:txBody>
      </p:sp>
    </p:spTree>
    <p:extLst>
      <p:ext uri="{BB962C8B-B14F-4D97-AF65-F5344CB8AC3E}">
        <p14:creationId xmlns:p14="http://schemas.microsoft.com/office/powerpoint/2010/main" val="6747954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CPP Code of </a:t>
            </a:r>
            <a:r>
              <a:rPr lang="en-US" dirty="0" err="1" smtClean="0"/>
              <a:t>Basicary</a:t>
            </a:r>
            <a:r>
              <a:rPr lang="en-US" dirty="0" smtClean="0"/>
              <a:t> Format</a:t>
            </a:r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1124744"/>
            <a:ext cx="6801633" cy="54006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#include &lt;android_native_app_glue.h&gt;</a:t>
            </a:r>
          </a:p>
          <a:p>
            <a:pPr marL="914400" lvl="1" indent="-457200">
              <a:buFont typeface="+mj-lt"/>
              <a:buAutoNum type="arabicPeriod"/>
            </a:pPr>
            <a:endParaRPr lang="sv-SE" altLang="ja-JP" sz="1800" dirty="0"/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void android_main() {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	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	// Init </a:t>
            </a:r>
            <a:r>
              <a:rPr lang="sv-SE" altLang="ja-JP" sz="1800" dirty="0" smtClean="0"/>
              <a:t>Parameters</a:t>
            </a:r>
            <a:endParaRPr lang="sv-SE" altLang="ja-JP" sz="1800" dirty="0"/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	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	// Loop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	while(1) {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		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		//Do your Program Code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		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		//Drawing to Android Display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		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		if(finish == TRUE) {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			// Processing closing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			return;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		}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	}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932811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Show Android Event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jni</a:t>
            </a:r>
            <a:r>
              <a:rPr lang="en-US" dirty="0"/>
              <a:t>/SampleNativeActivity.cpp</a:t>
            </a:r>
          </a:p>
        </p:txBody>
      </p:sp>
      <p:sp>
        <p:nvSpPr>
          <p:cNvPr id="4" name="正方形/長方形 6"/>
          <p:cNvSpPr/>
          <p:nvPr/>
        </p:nvSpPr>
        <p:spPr>
          <a:xfrm>
            <a:off x="1619672" y="2062164"/>
            <a:ext cx="6801633" cy="410314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#include &lt;</a:t>
            </a:r>
            <a:r>
              <a:rPr lang="en-US" sz="1600" b="1" dirty="0" err="1"/>
              <a:t>android_native_app_glue.h</a:t>
            </a:r>
            <a:r>
              <a:rPr lang="en-US" sz="1600" b="1" dirty="0"/>
              <a:t>&gt;</a:t>
            </a:r>
          </a:p>
          <a:p>
            <a:r>
              <a:rPr lang="en-US" sz="1600" b="1" dirty="0"/>
              <a:t>#include &lt;android/</a:t>
            </a:r>
            <a:r>
              <a:rPr lang="en-US" sz="1600" b="1" dirty="0" err="1"/>
              <a:t>log.h</a:t>
            </a:r>
            <a:r>
              <a:rPr lang="en-US" sz="1600" b="1" dirty="0"/>
              <a:t>&gt;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b="1" dirty="0"/>
              <a:t>#define  LOG_TAG    "</a:t>
            </a:r>
            <a:r>
              <a:rPr lang="en-US" sz="1600" b="1" dirty="0" err="1"/>
              <a:t>MyApp:SampleNativeActivity</a:t>
            </a:r>
            <a:r>
              <a:rPr lang="en-US" sz="1600" b="1" dirty="0"/>
              <a:t>"</a:t>
            </a:r>
          </a:p>
          <a:p>
            <a:r>
              <a:rPr lang="en-US" sz="1600" b="1" dirty="0"/>
              <a:t>#define  LOGD(...)  __</a:t>
            </a:r>
            <a:r>
              <a:rPr lang="en-US" sz="1600" b="1" dirty="0" err="1"/>
              <a:t>android_log_print</a:t>
            </a:r>
            <a:r>
              <a:rPr lang="en-US" sz="1600" b="1" dirty="0"/>
              <a:t>(ANDROID_LOG_DEBUG,LOG_TAG,__VA_ARGS__)</a:t>
            </a:r>
          </a:p>
          <a:p>
            <a:r>
              <a:rPr lang="en-US" sz="1600" b="1" dirty="0"/>
              <a:t>#define  LOGI(...)  __</a:t>
            </a:r>
            <a:r>
              <a:rPr lang="en-US" sz="1600" b="1" dirty="0" err="1"/>
              <a:t>android_log_print</a:t>
            </a:r>
            <a:r>
              <a:rPr lang="en-US" sz="1600" b="1" dirty="0"/>
              <a:t>(ANDROID_LOG_INFO,LOG_TAG,__VA_ARGS__)</a:t>
            </a:r>
          </a:p>
          <a:p>
            <a:r>
              <a:rPr lang="en-US" sz="1600" b="1" dirty="0"/>
              <a:t>#define  LOGW(...)  __</a:t>
            </a:r>
            <a:r>
              <a:rPr lang="en-US" sz="1600" b="1" dirty="0" err="1"/>
              <a:t>android_log_print</a:t>
            </a:r>
            <a:r>
              <a:rPr lang="en-US" sz="1600" b="1" dirty="0"/>
              <a:t>(ANDROID_LOG_WARN,LOG_TAG,__VA_ARGS__)</a:t>
            </a:r>
          </a:p>
          <a:p>
            <a:r>
              <a:rPr lang="en-US" sz="1600" b="1" dirty="0"/>
              <a:t>#define  LOGE(...)  __</a:t>
            </a:r>
            <a:r>
              <a:rPr lang="en-US" sz="1600" b="1" dirty="0" err="1"/>
              <a:t>android_log_print</a:t>
            </a:r>
            <a:r>
              <a:rPr lang="en-US" sz="1600" b="1" dirty="0"/>
              <a:t>(ANDROID_LOG_ERROR,LOG_TAG,__VA_ARGS__)</a:t>
            </a:r>
          </a:p>
          <a:p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902409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Show Android Event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jni</a:t>
            </a:r>
            <a:r>
              <a:rPr lang="en-US" dirty="0"/>
              <a:t>/SampleNativeActivity.cpp</a:t>
            </a:r>
          </a:p>
          <a:p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475656" y="1628800"/>
            <a:ext cx="6801633" cy="52292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err="1" smtClean="0"/>
              <a:t>struct</a:t>
            </a:r>
            <a:r>
              <a:rPr lang="en-US" sz="1600" b="1" dirty="0" smtClean="0"/>
              <a:t> </a:t>
            </a:r>
            <a:r>
              <a:rPr lang="en-US" sz="1600" b="1" dirty="0"/>
              <a:t>Engine {</a:t>
            </a:r>
          </a:p>
          <a:p>
            <a:r>
              <a:rPr lang="en-US" sz="1600" b="1" dirty="0" err="1"/>
              <a:t>struct</a:t>
            </a:r>
            <a:r>
              <a:rPr lang="en-US" sz="1600" b="1" dirty="0"/>
              <a:t> </a:t>
            </a:r>
            <a:r>
              <a:rPr lang="en-US" sz="1600" b="1" dirty="0" err="1"/>
              <a:t>android_app</a:t>
            </a:r>
            <a:r>
              <a:rPr lang="en-US" sz="1600" b="1" dirty="0"/>
              <a:t>* app;</a:t>
            </a:r>
          </a:p>
          <a:p>
            <a:r>
              <a:rPr lang="en-US" sz="1600" dirty="0"/>
              <a:t>};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b="1" dirty="0"/>
              <a:t>void </a:t>
            </a:r>
            <a:r>
              <a:rPr lang="en-US" sz="1600" b="1" dirty="0" err="1"/>
              <a:t>android_main</a:t>
            </a:r>
            <a:r>
              <a:rPr lang="en-US" sz="1600" b="1" dirty="0"/>
              <a:t>(</a:t>
            </a:r>
            <a:r>
              <a:rPr lang="en-US" sz="1600" b="1" dirty="0" err="1"/>
              <a:t>android_app</a:t>
            </a:r>
            <a:r>
              <a:rPr lang="en-US" sz="1600" b="1" dirty="0"/>
              <a:t>* app) {</a:t>
            </a:r>
          </a:p>
          <a:p>
            <a:endParaRPr lang="en-US" sz="1600" dirty="0"/>
          </a:p>
          <a:p>
            <a:r>
              <a:rPr lang="en-US" sz="1600" dirty="0"/>
              <a:t>// </a:t>
            </a:r>
            <a:r>
              <a:rPr lang="en-US" sz="1600" u="sng" dirty="0" err="1"/>
              <a:t>Init</a:t>
            </a:r>
            <a:r>
              <a:rPr lang="en-US" sz="1600" u="sng" dirty="0"/>
              <a:t> Parameters</a:t>
            </a:r>
          </a:p>
          <a:p>
            <a:r>
              <a:rPr lang="en-US" sz="1600" b="1" dirty="0" err="1"/>
              <a:t>struct</a:t>
            </a:r>
            <a:r>
              <a:rPr lang="en-US" sz="1600" b="1" dirty="0"/>
              <a:t> Engine </a:t>
            </a:r>
            <a:r>
              <a:rPr lang="en-US" sz="1600" b="1" dirty="0" err="1"/>
              <a:t>engine</a:t>
            </a:r>
            <a:r>
              <a:rPr lang="en-US" sz="1600" b="1" dirty="0"/>
              <a:t>;</a:t>
            </a:r>
          </a:p>
          <a:p>
            <a:endParaRPr lang="en-US" sz="1600" dirty="0"/>
          </a:p>
          <a:p>
            <a:r>
              <a:rPr lang="en-US" sz="1600" dirty="0"/>
              <a:t>// It's magic </a:t>
            </a:r>
            <a:r>
              <a:rPr lang="en-US" sz="1600" u="sng" dirty="0" err="1"/>
              <a:t>func</a:t>
            </a:r>
            <a:r>
              <a:rPr lang="en-US" sz="1600" u="sng" dirty="0"/>
              <a:t> for </a:t>
            </a:r>
            <a:r>
              <a:rPr lang="en-US" sz="1600" u="sng" dirty="0" err="1"/>
              <a:t>NativeActivityGlue</a:t>
            </a:r>
            <a:r>
              <a:rPr lang="en-US" sz="1600" u="sng" dirty="0"/>
              <a:t>.</a:t>
            </a:r>
          </a:p>
          <a:p>
            <a:r>
              <a:rPr lang="en-US" sz="1600" b="1" dirty="0" err="1"/>
              <a:t>app_dummy</a:t>
            </a:r>
            <a:r>
              <a:rPr lang="en-US" sz="1600" b="1" dirty="0"/>
              <a:t>();</a:t>
            </a:r>
          </a:p>
          <a:p>
            <a:endParaRPr lang="en-US" sz="1600" dirty="0"/>
          </a:p>
          <a:p>
            <a:r>
              <a:rPr lang="en-US" sz="1600" dirty="0"/>
              <a:t>// Set </a:t>
            </a:r>
            <a:r>
              <a:rPr lang="en-US" sz="1600" dirty="0" err="1"/>
              <a:t>UserData</a:t>
            </a:r>
            <a:endParaRPr lang="en-US" sz="1600" dirty="0"/>
          </a:p>
          <a:p>
            <a:r>
              <a:rPr lang="en-US" sz="1600" b="1" dirty="0" err="1"/>
              <a:t>memset</a:t>
            </a:r>
            <a:r>
              <a:rPr lang="en-US" sz="1600" b="1" dirty="0"/>
              <a:t>(&amp;engine, 0, </a:t>
            </a:r>
            <a:r>
              <a:rPr lang="en-US" sz="1600" b="1" dirty="0" err="1"/>
              <a:t>sizeof</a:t>
            </a:r>
            <a:r>
              <a:rPr lang="en-US" sz="1600" b="1" dirty="0"/>
              <a:t>(engine));</a:t>
            </a:r>
          </a:p>
          <a:p>
            <a:r>
              <a:rPr lang="en-US" sz="1600" dirty="0"/>
              <a:t>app-&gt;</a:t>
            </a:r>
            <a:r>
              <a:rPr lang="en-US" sz="1600" dirty="0" err="1"/>
              <a:t>userData</a:t>
            </a:r>
            <a:r>
              <a:rPr lang="en-US" sz="1600" dirty="0"/>
              <a:t> = &amp;engine;</a:t>
            </a:r>
          </a:p>
          <a:p>
            <a:endParaRPr lang="en-US" sz="1600" dirty="0"/>
          </a:p>
          <a:p>
            <a:r>
              <a:rPr lang="en-US" sz="1600" dirty="0"/>
              <a:t>app-&gt;</a:t>
            </a:r>
            <a:r>
              <a:rPr lang="en-US" sz="1600" dirty="0" err="1"/>
              <a:t>onAppCmd</a:t>
            </a:r>
            <a:r>
              <a:rPr lang="en-US" sz="1600" dirty="0"/>
              <a:t> = </a:t>
            </a:r>
            <a:r>
              <a:rPr lang="en-US" sz="1600" dirty="0" err="1"/>
              <a:t>engine_handle_cmd</a:t>
            </a:r>
            <a:r>
              <a:rPr lang="en-US" sz="1600" dirty="0"/>
              <a:t>;</a:t>
            </a:r>
          </a:p>
          <a:p>
            <a:r>
              <a:rPr lang="en-US" sz="1600" dirty="0" err="1"/>
              <a:t>engine.app</a:t>
            </a:r>
            <a:r>
              <a:rPr lang="en-US" sz="1600" dirty="0"/>
              <a:t> = app;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627374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Show Android Event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jni</a:t>
            </a:r>
            <a:r>
              <a:rPr lang="en-US" dirty="0"/>
              <a:t>/SampleNativeActivity.cpp</a:t>
            </a:r>
          </a:p>
          <a:p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475656" y="1988840"/>
            <a:ext cx="6801633" cy="475252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/>
          </a:p>
          <a:p>
            <a:r>
              <a:rPr lang="en-US" sz="1600" dirty="0"/>
              <a:t>// Loop</a:t>
            </a:r>
          </a:p>
          <a:p>
            <a:r>
              <a:rPr lang="en-US" sz="1600" b="1" dirty="0"/>
              <a:t>while(1) {</a:t>
            </a:r>
          </a:p>
          <a:p>
            <a:r>
              <a:rPr lang="en-US" sz="1600" dirty="0"/>
              <a:t>        // Read all pending events.</a:t>
            </a:r>
          </a:p>
          <a:p>
            <a:r>
              <a:rPr lang="en-US" sz="1600" dirty="0"/>
              <a:t>        </a:t>
            </a:r>
            <a:r>
              <a:rPr lang="en-US" sz="1600" b="1" dirty="0" err="1"/>
              <a:t>int</a:t>
            </a:r>
            <a:r>
              <a:rPr lang="en-US" sz="1600" b="1" dirty="0"/>
              <a:t> </a:t>
            </a:r>
            <a:r>
              <a:rPr lang="en-US" sz="1600" b="1" dirty="0" err="1"/>
              <a:t>ident</a:t>
            </a:r>
            <a:r>
              <a:rPr lang="en-US" sz="1600" b="1" dirty="0"/>
              <a:t>;</a:t>
            </a:r>
          </a:p>
          <a:p>
            <a:r>
              <a:rPr lang="en-US" sz="1600" dirty="0"/>
              <a:t>        </a:t>
            </a:r>
            <a:r>
              <a:rPr lang="en-US" sz="1600" b="1" dirty="0" err="1"/>
              <a:t>int</a:t>
            </a:r>
            <a:r>
              <a:rPr lang="en-US" sz="1600" b="1" dirty="0"/>
              <a:t> events;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android_poll_source</a:t>
            </a:r>
            <a:r>
              <a:rPr lang="en-US" sz="1600" dirty="0"/>
              <a:t>* source;</a:t>
            </a:r>
          </a:p>
          <a:p>
            <a:endParaRPr lang="en-US" sz="1600" dirty="0"/>
          </a:p>
          <a:p>
            <a:r>
              <a:rPr lang="en-US" sz="1600" dirty="0"/>
              <a:t>        // Process system events</a:t>
            </a:r>
          </a:p>
          <a:p>
            <a:r>
              <a:rPr lang="en-US" sz="1600" dirty="0"/>
              <a:t>        </a:t>
            </a:r>
            <a:r>
              <a:rPr lang="en-US" sz="1600" b="1" dirty="0"/>
              <a:t>while ((</a:t>
            </a:r>
            <a:r>
              <a:rPr lang="en-US" sz="1600" b="1" dirty="0" err="1"/>
              <a:t>ident</a:t>
            </a:r>
            <a:r>
              <a:rPr lang="en-US" sz="1600" b="1" dirty="0"/>
              <a:t>=</a:t>
            </a:r>
            <a:r>
              <a:rPr lang="en-US" sz="1600" b="1" dirty="0" err="1"/>
              <a:t>ALooper_pollAll</a:t>
            </a:r>
            <a:r>
              <a:rPr lang="en-US" sz="1600" b="1" dirty="0"/>
              <a:t>(0, NULL, &amp;events, (void**)&amp;source)) &gt;= 0) {</a:t>
            </a:r>
          </a:p>
          <a:p>
            <a:r>
              <a:rPr lang="en-US" sz="1600" dirty="0"/>
              <a:t>            // Process this event.</a:t>
            </a:r>
          </a:p>
          <a:p>
            <a:r>
              <a:rPr lang="en-US" sz="1600" dirty="0"/>
              <a:t>            </a:t>
            </a:r>
            <a:r>
              <a:rPr lang="en-US" sz="1600" b="1" dirty="0"/>
              <a:t>if (source != NULL) {</a:t>
            </a:r>
          </a:p>
          <a:p>
            <a:r>
              <a:rPr lang="en-US" sz="1600" dirty="0"/>
              <a:t>                source-&gt;process(app, source);</a:t>
            </a:r>
          </a:p>
          <a:p>
            <a:r>
              <a:rPr lang="en-US" sz="1600" dirty="0"/>
              <a:t>            }</a:t>
            </a:r>
          </a:p>
          <a:p>
            <a:r>
              <a:rPr lang="en-US" sz="1600" dirty="0"/>
              <a:t>            //Do your Program Code</a:t>
            </a:r>
          </a:p>
          <a:p>
            <a:r>
              <a:rPr lang="en-US" sz="1600" dirty="0"/>
              <a:t>    //Drawing to </a:t>
            </a:r>
            <a:r>
              <a:rPr lang="en-US" sz="1600" u="sng" dirty="0"/>
              <a:t>Android Display</a:t>
            </a:r>
          </a:p>
          <a:p>
            <a:r>
              <a:rPr lang="en-US" sz="1600" dirty="0"/>
              <a:t>        }</a:t>
            </a:r>
          </a:p>
          <a:p>
            <a:r>
              <a:rPr lang="en-US" sz="1600" dirty="0"/>
              <a:t>}</a:t>
            </a:r>
          </a:p>
          <a:p>
            <a:r>
              <a:rPr lang="en-US" sz="1600" dirty="0"/>
              <a:t>}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178325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Show Android Event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jni</a:t>
            </a:r>
            <a:r>
              <a:rPr lang="en-US" dirty="0"/>
              <a:t>/SampleNativeActivity.cpp</a:t>
            </a:r>
          </a:p>
          <a:p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475656" y="1628800"/>
            <a:ext cx="6801633" cy="54006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smtClean="0"/>
              <a:t>static </a:t>
            </a:r>
            <a:r>
              <a:rPr lang="en-US" sz="1600" b="1" dirty="0"/>
              <a:t>void </a:t>
            </a:r>
            <a:r>
              <a:rPr lang="en-US" sz="1600" b="1" dirty="0" err="1"/>
              <a:t>engine_handle_cmd</a:t>
            </a:r>
            <a:r>
              <a:rPr lang="en-US" sz="1600" b="1" dirty="0"/>
              <a:t>(</a:t>
            </a:r>
            <a:r>
              <a:rPr lang="en-US" sz="1600" b="1" dirty="0" err="1"/>
              <a:t>android_app</a:t>
            </a:r>
            <a:r>
              <a:rPr lang="en-US" sz="1600" b="1" dirty="0"/>
              <a:t>* app, int32_t </a:t>
            </a:r>
            <a:r>
              <a:rPr lang="en-US" sz="1600" b="1" dirty="0" err="1"/>
              <a:t>cmd</a:t>
            </a:r>
            <a:r>
              <a:rPr lang="en-US" sz="1600" b="1" dirty="0"/>
              <a:t>) {</a:t>
            </a:r>
          </a:p>
          <a:p>
            <a:r>
              <a:rPr lang="en-US" sz="1600" dirty="0"/>
              <a:t>    Engine* engine = (Engine*)app-&gt;</a:t>
            </a:r>
            <a:r>
              <a:rPr lang="en-US" sz="1600" dirty="0" err="1"/>
              <a:t>userData</a:t>
            </a:r>
            <a:r>
              <a:rPr lang="en-US" sz="1600" dirty="0"/>
              <a:t>;</a:t>
            </a:r>
          </a:p>
          <a:p>
            <a:r>
              <a:rPr lang="en-US" sz="1600" dirty="0"/>
              <a:t>    </a:t>
            </a:r>
            <a:r>
              <a:rPr lang="en-US" sz="1600" b="1" dirty="0"/>
              <a:t>switch (</a:t>
            </a:r>
            <a:r>
              <a:rPr lang="en-US" sz="1600" b="1" dirty="0" err="1"/>
              <a:t>cmd</a:t>
            </a:r>
            <a:r>
              <a:rPr lang="en-US" sz="1600" b="1" dirty="0"/>
              <a:t>) {</a:t>
            </a:r>
          </a:p>
          <a:p>
            <a:r>
              <a:rPr lang="en-US" sz="1600" dirty="0"/>
              <a:t>        </a:t>
            </a:r>
            <a:r>
              <a:rPr lang="en-US" sz="1600" b="1" dirty="0"/>
              <a:t>case </a:t>
            </a:r>
            <a:r>
              <a:rPr lang="en-US" sz="1600" b="1" i="1" dirty="0"/>
              <a:t>APP_CMD_START:</a:t>
            </a:r>
          </a:p>
          <a:p>
            <a:r>
              <a:rPr lang="en-US" sz="1600" dirty="0"/>
              <a:t>        LOGI("APP_CMD_START");</a:t>
            </a:r>
          </a:p>
          <a:p>
            <a:r>
              <a:rPr lang="en-US" sz="1600" dirty="0"/>
              <a:t>        </a:t>
            </a:r>
            <a:r>
              <a:rPr lang="en-US" sz="1600" b="1" dirty="0"/>
              <a:t>break;</a:t>
            </a:r>
          </a:p>
          <a:p>
            <a:r>
              <a:rPr lang="en-US" sz="1600" dirty="0"/>
              <a:t>        </a:t>
            </a:r>
            <a:r>
              <a:rPr lang="en-US" sz="1600" b="1" dirty="0"/>
              <a:t>case </a:t>
            </a:r>
            <a:r>
              <a:rPr lang="en-US" sz="1600" b="1" i="1" dirty="0"/>
              <a:t>APP_CMD_RESUME:</a:t>
            </a:r>
          </a:p>
          <a:p>
            <a:r>
              <a:rPr lang="en-US" sz="1600" dirty="0"/>
              <a:t>        LOGI("APP_CMD_RESUME");</a:t>
            </a:r>
          </a:p>
          <a:p>
            <a:r>
              <a:rPr lang="en-US" sz="1600" dirty="0"/>
              <a:t>        </a:t>
            </a:r>
            <a:r>
              <a:rPr lang="en-US" sz="1600" b="1" dirty="0"/>
              <a:t>break;</a:t>
            </a:r>
          </a:p>
          <a:p>
            <a:r>
              <a:rPr lang="en-US" sz="1600" dirty="0"/>
              <a:t>        </a:t>
            </a:r>
            <a:r>
              <a:rPr lang="en-US" sz="1600" b="1" dirty="0"/>
              <a:t>case </a:t>
            </a:r>
            <a:r>
              <a:rPr lang="en-US" sz="1600" b="1" i="1" dirty="0"/>
              <a:t>APP_CMD_SAVE_STATE:</a:t>
            </a:r>
          </a:p>
          <a:p>
            <a:r>
              <a:rPr lang="en-US" sz="1600" dirty="0"/>
              <a:t>        LOGI("APP_CMD_SAVE_STATE");</a:t>
            </a:r>
          </a:p>
          <a:p>
            <a:r>
              <a:rPr lang="en-US" sz="1600" dirty="0"/>
              <a:t>        </a:t>
            </a:r>
            <a:r>
              <a:rPr lang="en-US" sz="1600" b="1" dirty="0"/>
              <a:t>break;</a:t>
            </a:r>
          </a:p>
          <a:p>
            <a:r>
              <a:rPr lang="en-US" sz="1600" dirty="0"/>
              <a:t>        </a:t>
            </a:r>
            <a:r>
              <a:rPr lang="en-US" sz="1600" b="1" dirty="0"/>
              <a:t>case </a:t>
            </a:r>
            <a:r>
              <a:rPr lang="en-US" sz="1600" b="1" i="1" dirty="0"/>
              <a:t>APP_CMD_PAUSE:</a:t>
            </a:r>
          </a:p>
          <a:p>
            <a:r>
              <a:rPr lang="en-US" sz="1600" dirty="0"/>
              <a:t>        LOGI("APP_CMD_PAUSE");</a:t>
            </a:r>
          </a:p>
          <a:p>
            <a:r>
              <a:rPr lang="en-US" sz="1600" dirty="0"/>
              <a:t>        </a:t>
            </a:r>
            <a:r>
              <a:rPr lang="en-US" sz="1600" b="1" dirty="0"/>
              <a:t>break;</a:t>
            </a:r>
          </a:p>
          <a:p>
            <a:r>
              <a:rPr lang="en-US" sz="1600" dirty="0"/>
              <a:t>        </a:t>
            </a:r>
            <a:r>
              <a:rPr lang="en-US" sz="1600" b="1" dirty="0"/>
              <a:t>case </a:t>
            </a:r>
            <a:r>
              <a:rPr lang="en-US" sz="1600" b="1" i="1" dirty="0"/>
              <a:t>APP_CMD_STOP:</a:t>
            </a:r>
          </a:p>
          <a:p>
            <a:r>
              <a:rPr lang="en-US" sz="1600" dirty="0"/>
              <a:t>        LOGI("APP_CMD_STOP");</a:t>
            </a:r>
          </a:p>
          <a:p>
            <a:r>
              <a:rPr lang="en-US" sz="1600" dirty="0"/>
              <a:t>        </a:t>
            </a:r>
            <a:r>
              <a:rPr lang="en-US" sz="1600" b="1" dirty="0"/>
              <a:t>break;</a:t>
            </a:r>
          </a:p>
          <a:p>
            <a:r>
              <a:rPr lang="en-US" sz="1600" dirty="0"/>
              <a:t>        </a:t>
            </a:r>
            <a:r>
              <a:rPr lang="en-US" sz="1600" b="1" dirty="0"/>
              <a:t>case </a:t>
            </a:r>
            <a:r>
              <a:rPr lang="en-US" sz="1600" b="1" i="1" dirty="0"/>
              <a:t>APP_CMD_DESTROY:</a:t>
            </a:r>
          </a:p>
          <a:p>
            <a:r>
              <a:rPr lang="en-US" sz="1600" dirty="0"/>
              <a:t>        LOGI("APP_CMD_DESTROY");</a:t>
            </a:r>
          </a:p>
          <a:p>
            <a:r>
              <a:rPr lang="en-US" sz="1600" dirty="0"/>
              <a:t>        </a:t>
            </a:r>
            <a:r>
              <a:rPr lang="en-US" sz="1600" b="1" dirty="0"/>
              <a:t>break</a:t>
            </a:r>
            <a:r>
              <a:rPr lang="en-US" sz="1600" b="1" dirty="0" smtClean="0"/>
              <a:t>;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8642718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Show Android Event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 the Red Lines to Android.mk</a:t>
            </a:r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475656" y="1916832"/>
            <a:ext cx="6801633" cy="338437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LOCAL_PATH := $(call my-</a:t>
            </a:r>
            <a:r>
              <a:rPr lang="en-US" sz="1600" dirty="0" err="1"/>
              <a:t>dir</a:t>
            </a:r>
            <a:r>
              <a:rPr lang="en-US" sz="1600" dirty="0"/>
              <a:t>)</a:t>
            </a:r>
          </a:p>
          <a:p>
            <a:endParaRPr lang="en-US" sz="1600" dirty="0"/>
          </a:p>
          <a:p>
            <a:r>
              <a:rPr lang="en-US" sz="1600" dirty="0"/>
              <a:t>include $(CLEAR_VARS)</a:t>
            </a:r>
          </a:p>
          <a:p>
            <a:endParaRPr lang="en-US" sz="1600" dirty="0"/>
          </a:p>
          <a:p>
            <a:r>
              <a:rPr lang="en-US" sz="1600" dirty="0"/>
              <a:t>LOCAL_MODULE    := </a:t>
            </a:r>
            <a:r>
              <a:rPr lang="en-US" sz="1600" dirty="0" err="1"/>
              <a:t>SampleNativeActivity</a:t>
            </a:r>
            <a:endParaRPr lang="en-US" sz="1600" dirty="0"/>
          </a:p>
          <a:p>
            <a:r>
              <a:rPr lang="en-US" sz="1600" dirty="0"/>
              <a:t>LOCAL_SRC_FILES := SampleNativeActivity.cpp</a:t>
            </a:r>
          </a:p>
          <a:p>
            <a:r>
              <a:rPr lang="en-US" sz="1600" dirty="0">
                <a:solidFill>
                  <a:srgbClr val="FF0000"/>
                </a:solidFill>
              </a:rPr>
              <a:t>LOCAL_LDLIBS    += -</a:t>
            </a:r>
            <a:r>
              <a:rPr lang="en-US" sz="1600" dirty="0" err="1">
                <a:solidFill>
                  <a:srgbClr val="FF0000"/>
                </a:solidFill>
              </a:rPr>
              <a:t>llog</a:t>
            </a:r>
            <a:r>
              <a:rPr lang="en-US" sz="1600" dirty="0">
                <a:solidFill>
                  <a:srgbClr val="FF0000"/>
                </a:solidFill>
              </a:rPr>
              <a:t> -</a:t>
            </a:r>
            <a:r>
              <a:rPr lang="en-US" sz="1600" dirty="0" err="1">
                <a:solidFill>
                  <a:srgbClr val="FF0000"/>
                </a:solidFill>
              </a:rPr>
              <a:t>landroid</a:t>
            </a:r>
            <a:endParaRPr lang="en-US" sz="1600" dirty="0">
              <a:solidFill>
                <a:srgbClr val="FF0000"/>
              </a:solidFill>
            </a:endParaRPr>
          </a:p>
          <a:p>
            <a:r>
              <a:rPr lang="en-US" sz="1600" dirty="0">
                <a:solidFill>
                  <a:srgbClr val="FF0000"/>
                </a:solidFill>
              </a:rPr>
              <a:t>LOCAL_STATIC_LIBRARIES := </a:t>
            </a:r>
            <a:r>
              <a:rPr lang="en-US" sz="1600" dirty="0" err="1">
                <a:solidFill>
                  <a:srgbClr val="FF0000"/>
                </a:solidFill>
              </a:rPr>
              <a:t>android_native_app_glue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</a:p>
          <a:p>
            <a:endParaRPr lang="en-US" sz="1600" dirty="0"/>
          </a:p>
          <a:p>
            <a:r>
              <a:rPr lang="en-US" sz="1600" dirty="0"/>
              <a:t>include $(BUILD_SHARED_LIBRARY)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FF0000"/>
                </a:solidFill>
              </a:rPr>
              <a:t>$(call import-</a:t>
            </a:r>
            <a:r>
              <a:rPr lang="en-US" sz="1600" dirty="0" err="1">
                <a:solidFill>
                  <a:srgbClr val="FF0000"/>
                </a:solidFill>
              </a:rPr>
              <a:t>module,android</a:t>
            </a:r>
            <a:r>
              <a:rPr lang="en-US" sz="1600" dirty="0">
                <a:solidFill>
                  <a:srgbClr val="FF0000"/>
                </a:solidFill>
              </a:rPr>
              <a:t>/</a:t>
            </a:r>
            <a:r>
              <a:rPr lang="en-US" sz="1600" dirty="0" err="1">
                <a:solidFill>
                  <a:srgbClr val="FF0000"/>
                </a:solidFill>
              </a:rPr>
              <a:t>native_app_glue</a:t>
            </a:r>
            <a:r>
              <a:rPr lang="en-US" sz="1600" dirty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262833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31" y="1082622"/>
            <a:ext cx="8769369" cy="5370714"/>
          </a:xfrm>
        </p:spPr>
      </p:pic>
    </p:spTree>
    <p:extLst>
      <p:ext uri="{BB962C8B-B14F-4D97-AF65-F5344CB8AC3E}">
        <p14:creationId xmlns:p14="http://schemas.microsoft.com/office/powerpoint/2010/main" val="6449676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dirty="0" smtClean="0"/>
          </a:p>
          <a:p>
            <a:pPr algn="ctr"/>
            <a:r>
              <a:rPr lang="en-US" altLang="ja-JP" sz="3600" dirty="0" smtClean="0"/>
              <a:t>How </a:t>
            </a:r>
            <a:r>
              <a:rPr lang="en-US" altLang="ja-JP" sz="3600" dirty="0" smtClean="0"/>
              <a:t>to Draw Text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695438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Draw Text?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NDK doesn’t have this function!!!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marL="457200" lvl="1" indent="0" algn="ctr">
              <a:buNone/>
            </a:pPr>
            <a:r>
              <a:rPr lang="en-US" sz="3200" dirty="0" smtClean="0"/>
              <a:t>You CAN USE </a:t>
            </a:r>
            <a:r>
              <a:rPr lang="en-US" sz="3600" dirty="0" smtClean="0">
                <a:solidFill>
                  <a:srgbClr val="FF0000"/>
                </a:solidFill>
              </a:rPr>
              <a:t>Bitmap File </a:t>
            </a:r>
            <a:r>
              <a:rPr lang="en-US" sz="3200" dirty="0" smtClean="0"/>
              <a:t>Only!!!</a:t>
            </a:r>
            <a:endParaRPr lang="en-US" dirty="0" smtClean="0"/>
          </a:p>
          <a:p>
            <a:pPr algn="r"/>
            <a:r>
              <a:rPr lang="en-US" dirty="0"/>
              <a:t>Use Open GL/ES</a:t>
            </a:r>
          </a:p>
          <a:p>
            <a:pPr algn="r"/>
            <a:r>
              <a:rPr lang="en-US" dirty="0" smtClean="0"/>
              <a:t>Use </a:t>
            </a:r>
            <a:r>
              <a:rPr lang="en-US" dirty="0" err="1" smtClean="0"/>
              <a:t>OpenCV</a:t>
            </a:r>
            <a:r>
              <a:rPr lang="en-US" dirty="0" smtClean="0"/>
              <a:t>     .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7156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dirty="0" smtClean="0"/>
          </a:p>
          <a:p>
            <a:pPr algn="ctr"/>
            <a:r>
              <a:rPr lang="en-US" altLang="ja-JP" sz="3600" dirty="0" smtClean="0"/>
              <a:t>How </a:t>
            </a:r>
            <a:r>
              <a:rPr lang="en-US" altLang="ja-JP" sz="3600" dirty="0" smtClean="0"/>
              <a:t>to Draw Text with </a:t>
            </a:r>
            <a:r>
              <a:rPr lang="en-US" altLang="ja-JP" sz="3600" dirty="0" err="1" smtClean="0"/>
              <a:t>OpenCV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476629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Setup </a:t>
            </a:r>
            <a:r>
              <a:rPr lang="en-US" dirty="0" err="1" smtClean="0"/>
              <a:t>OpenCV</a:t>
            </a:r>
            <a:r>
              <a:rPr lang="en-US" dirty="0" smtClean="0"/>
              <a:t> Libs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Libs</a:t>
            </a:r>
          </a:p>
          <a:p>
            <a:pPr lvl="1"/>
            <a:r>
              <a:rPr lang="en-US" dirty="0" err="1" smtClean="0"/>
              <a:t>libs_opencv</a:t>
            </a:r>
            <a:endParaRPr lang="en-US" dirty="0" smtClean="0"/>
          </a:p>
          <a:p>
            <a:r>
              <a:rPr lang="en-US" dirty="0"/>
              <a:t>i</a:t>
            </a:r>
            <a:r>
              <a:rPr lang="en-US" dirty="0" smtClean="0"/>
              <a:t>nclude Files</a:t>
            </a:r>
          </a:p>
          <a:p>
            <a:pPr lvl="1"/>
            <a:r>
              <a:rPr lang="en-US" dirty="0" err="1"/>
              <a:t>j</a:t>
            </a:r>
            <a:r>
              <a:rPr lang="en-US" dirty="0" err="1" smtClean="0"/>
              <a:t>ni</a:t>
            </a:r>
            <a:r>
              <a:rPr lang="en-US" dirty="0" smtClean="0"/>
              <a:t>/include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068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jni/Android.mk </a:t>
            </a:r>
            <a:r>
              <a:rPr lang="en-US" dirty="0" smtClean="0"/>
              <a:t>1/5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After “</a:t>
            </a:r>
            <a:r>
              <a:rPr lang="en-US" dirty="0"/>
              <a:t>LOCAL_PATH := $(call my-</a:t>
            </a:r>
            <a:r>
              <a:rPr lang="en-US" dirty="0" err="1"/>
              <a:t>dir</a:t>
            </a:r>
            <a:r>
              <a:rPr lang="en-US" dirty="0" smtClean="0"/>
              <a:t>)” Line</a:t>
            </a:r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2132856"/>
            <a:ext cx="6801633" cy="280831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include $(CLEAR_VARS)</a:t>
            </a:r>
          </a:p>
          <a:p>
            <a:pPr marL="914400" lvl="1" indent="-457200">
              <a:buFont typeface="+mj-lt"/>
              <a:buAutoNum type="arabicPeriod"/>
            </a:pPr>
            <a:endParaRPr lang="sv-SE" altLang="ja-JP" sz="1800" dirty="0"/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 smtClean="0"/>
              <a:t>OPENCV_MODULES:=</a:t>
            </a:r>
            <a:r>
              <a:rPr lang="en-US" sz="1800" dirty="0" err="1"/>
              <a:t>contrib</a:t>
            </a:r>
            <a:r>
              <a:rPr lang="en-US" sz="1800" dirty="0"/>
              <a:t> legacy ml stitching </a:t>
            </a:r>
            <a:r>
              <a:rPr lang="en-US" sz="1800" dirty="0" err="1"/>
              <a:t>objdetect</a:t>
            </a:r>
            <a:r>
              <a:rPr lang="en-US" sz="1800" dirty="0"/>
              <a:t> </a:t>
            </a:r>
            <a:r>
              <a:rPr lang="en-US" sz="1800" dirty="0" err="1"/>
              <a:t>ts</a:t>
            </a:r>
            <a:r>
              <a:rPr lang="en-US" sz="1800" dirty="0"/>
              <a:t> </a:t>
            </a:r>
            <a:r>
              <a:rPr lang="en-US" sz="1800" dirty="0" err="1"/>
              <a:t>videostab</a:t>
            </a:r>
            <a:r>
              <a:rPr lang="en-US" sz="1800" dirty="0"/>
              <a:t> video photo calib3d features2d </a:t>
            </a:r>
            <a:r>
              <a:rPr lang="en-US" sz="1800" dirty="0" err="1"/>
              <a:t>highgui</a:t>
            </a:r>
            <a:r>
              <a:rPr lang="en-US" sz="1800" dirty="0"/>
              <a:t> </a:t>
            </a:r>
            <a:r>
              <a:rPr lang="en-US" sz="1800" dirty="0" err="1"/>
              <a:t>imgproc</a:t>
            </a:r>
            <a:r>
              <a:rPr lang="en-US" sz="1800" dirty="0"/>
              <a:t> </a:t>
            </a:r>
            <a:r>
              <a:rPr lang="en-US" sz="1800" dirty="0" err="1"/>
              <a:t>flann</a:t>
            </a:r>
            <a:r>
              <a:rPr lang="en-US" sz="1800" dirty="0"/>
              <a:t> </a:t>
            </a:r>
            <a:r>
              <a:rPr lang="en-US" sz="1800" dirty="0" smtClean="0"/>
              <a:t>core</a:t>
            </a:r>
            <a:endParaRPr lang="sv-SE" altLang="ja-JP" sz="1800" dirty="0"/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OPENCV_3RDPARTY_COMPONENTS</a:t>
            </a:r>
            <a:r>
              <a:rPr lang="sv-SE" altLang="ja-JP" sz="1800" dirty="0" smtClean="0"/>
              <a:t>:=tbb libjpeg </a:t>
            </a:r>
            <a:r>
              <a:rPr lang="sv-SE" altLang="ja-JP" sz="1800" dirty="0"/>
              <a:t>libpng libtiff libjasper </a:t>
            </a:r>
            <a:r>
              <a:rPr lang="sv-SE" altLang="ja-JP" sz="1800" dirty="0" smtClean="0"/>
              <a:t>IlmImf</a:t>
            </a:r>
            <a:endParaRPr lang="sv-SE" altLang="ja-JP" sz="1800" dirty="0"/>
          </a:p>
        </p:txBody>
      </p:sp>
    </p:spTree>
    <p:extLst>
      <p:ext uri="{BB962C8B-B14F-4D97-AF65-F5344CB8AC3E}">
        <p14:creationId xmlns:p14="http://schemas.microsoft.com/office/powerpoint/2010/main" val="17014385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jni/Android.mk </a:t>
            </a:r>
            <a:r>
              <a:rPr lang="en-US" dirty="0" smtClean="0"/>
              <a:t>2/5</a:t>
            </a:r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2564904"/>
            <a:ext cx="6801633" cy="40324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define add_opencv_module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 include $(CLEAR_VARS)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 LOCAL_MODULE:=opencv_$1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 LOCAL_SRC_FILES:=../libs_opencv/libopencv_$1.a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 include $(PREBUILT_STATIC_LIBRARY)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endef</a:t>
            </a:r>
          </a:p>
          <a:p>
            <a:pPr marL="914400" lvl="1" indent="-457200">
              <a:buFont typeface="+mj-lt"/>
              <a:buAutoNum type="arabicPeriod"/>
            </a:pPr>
            <a:endParaRPr lang="sv-SE" altLang="ja-JP" sz="1800" dirty="0"/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define add_opencv_3rdparty_component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 include $(CLEAR_VARS)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 LOCAL_MODULE:=$1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 LOCAL_SRC_FILES:=../libs_opencv/lib$1.a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 include $(PREBUILT_STATIC_LIBRARY)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 smtClean="0"/>
              <a:t>endef</a:t>
            </a:r>
            <a:endParaRPr lang="sv-SE" altLang="ja-JP" sz="1800" dirty="0"/>
          </a:p>
        </p:txBody>
      </p:sp>
    </p:spTree>
    <p:extLst>
      <p:ext uri="{BB962C8B-B14F-4D97-AF65-F5344CB8AC3E}">
        <p14:creationId xmlns:p14="http://schemas.microsoft.com/office/powerpoint/2010/main" val="24823190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jni/Android.mk </a:t>
            </a:r>
            <a:r>
              <a:rPr lang="en-US" dirty="0" smtClean="0"/>
              <a:t>3/5</a:t>
            </a:r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2204864"/>
            <a:ext cx="6801633" cy="338437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include $(CLEAR_VARS)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LOCAL_MODULE:=opencv_info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LOCAL_SRC_FILES:=../libs_opencv/libopencv_info.so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include $(PREBUILT_SHARED_LIBRARY)</a:t>
            </a:r>
          </a:p>
          <a:p>
            <a:pPr marL="914400" lvl="1" indent="-457200">
              <a:buFont typeface="+mj-lt"/>
              <a:buAutoNum type="arabicPeriod"/>
            </a:pPr>
            <a:endParaRPr lang="sv-SE" altLang="ja-JP" sz="1800" dirty="0"/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$(foreach module,$(OPENCV_MODULES),$(eval $(call add_opencv_module,$(module))))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$(foreach module,$(OPENCV_3RDPARTY_COMPONENTS),$(eval $(call add_opencv_3rdparty_component,$(module</a:t>
            </a:r>
            <a:r>
              <a:rPr lang="sv-SE" altLang="ja-JP" sz="1800" dirty="0" smtClean="0"/>
              <a:t>))))</a:t>
            </a:r>
            <a:endParaRPr lang="sv-SE" altLang="ja-JP" sz="1800" dirty="0"/>
          </a:p>
        </p:txBody>
      </p:sp>
    </p:spTree>
    <p:extLst>
      <p:ext uri="{BB962C8B-B14F-4D97-AF65-F5344CB8AC3E}">
        <p14:creationId xmlns:p14="http://schemas.microsoft.com/office/powerpoint/2010/main" val="21438605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jni/Android.mk </a:t>
            </a:r>
            <a:r>
              <a:rPr lang="en-US" dirty="0" smtClean="0"/>
              <a:t>4/5</a:t>
            </a:r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2276872"/>
            <a:ext cx="7004304" cy="12241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OPENCV_INCLUDE_DIR:=$(LOCAL_DIR)/include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LOCAL_C_INCLUDES+=$(OPENCV_INCLUDE_DIR</a:t>
            </a:r>
            <a:r>
              <a:rPr lang="sv-SE" altLang="ja-JP" sz="1800" dirty="0" smtClean="0"/>
              <a:t>)</a:t>
            </a:r>
            <a:endParaRPr lang="sv-SE" altLang="ja-JP" sz="1800" dirty="0"/>
          </a:p>
        </p:txBody>
      </p:sp>
    </p:spTree>
    <p:extLst>
      <p:ext uri="{BB962C8B-B14F-4D97-AF65-F5344CB8AC3E}">
        <p14:creationId xmlns:p14="http://schemas.microsoft.com/office/powerpoint/2010/main" val="19704856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jni/Android.mk </a:t>
            </a:r>
            <a:r>
              <a:rPr lang="en-US" dirty="0"/>
              <a:t>5</a:t>
            </a:r>
            <a:r>
              <a:rPr lang="en-US" dirty="0" smtClean="0"/>
              <a:t>/5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 Loading Lib &amp; </a:t>
            </a:r>
            <a:r>
              <a:rPr lang="en-US" dirty="0" err="1" smtClean="0"/>
              <a:t>OpenCV</a:t>
            </a:r>
            <a:r>
              <a:rPr lang="en-US" dirty="0" smtClean="0"/>
              <a:t> Lib</a:t>
            </a:r>
          </a:p>
          <a:p>
            <a:pPr lvl="1"/>
            <a:r>
              <a:rPr lang="en-US" dirty="0" smtClean="0"/>
              <a:t>LOCAL_LDLIBS</a:t>
            </a:r>
          </a:p>
          <a:p>
            <a:pPr lvl="2"/>
            <a:r>
              <a:rPr lang="en-US" dirty="0" smtClean="0"/>
              <a:t>-lm -</a:t>
            </a:r>
            <a:r>
              <a:rPr lang="en-US" dirty="0" err="1" smtClean="0"/>
              <a:t>lc</a:t>
            </a:r>
            <a:r>
              <a:rPr lang="en-US" dirty="0" smtClean="0"/>
              <a:t> </a:t>
            </a:r>
            <a:r>
              <a:rPr lang="en-US" dirty="0"/>
              <a:t>-</a:t>
            </a:r>
            <a:r>
              <a:rPr lang="en-US" dirty="0" err="1"/>
              <a:t>ldl</a:t>
            </a:r>
            <a:r>
              <a:rPr lang="en-US" dirty="0"/>
              <a:t> -</a:t>
            </a:r>
            <a:r>
              <a:rPr lang="en-US" dirty="0" err="1"/>
              <a:t>lz</a:t>
            </a:r>
            <a:endParaRPr lang="en-US" dirty="0"/>
          </a:p>
          <a:p>
            <a:pPr lvl="1"/>
            <a:r>
              <a:rPr lang="en-US" dirty="0" smtClean="0"/>
              <a:t>LOCAL_STATIC_LIBRARIES</a:t>
            </a:r>
          </a:p>
          <a:p>
            <a:pPr lvl="2"/>
            <a:r>
              <a:rPr lang="en-US" dirty="0" smtClean="0"/>
              <a:t>$(</a:t>
            </a:r>
            <a:r>
              <a:rPr lang="en-US" dirty="0" err="1"/>
              <a:t>foreach</a:t>
            </a:r>
            <a:r>
              <a:rPr lang="en-US" dirty="0"/>
              <a:t> mod, $(OPENCV_MODULES), </a:t>
            </a:r>
            <a:r>
              <a:rPr lang="en-US" dirty="0" err="1"/>
              <a:t>opencv</a:t>
            </a:r>
            <a:r>
              <a:rPr lang="en-US" dirty="0"/>
              <a:t>_$(mod)) $(OPENCV_3RDPARTY_COMPONENTS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3861048"/>
            <a:ext cx="6801633" cy="254881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sv-SE" altLang="ja-JP" dirty="0"/>
              <a:t>LOCAL_LDLIBS    += </a:t>
            </a:r>
            <a:r>
              <a:rPr lang="sv-SE" altLang="ja-JP" dirty="0" smtClean="0"/>
              <a:t>-</a:t>
            </a:r>
            <a:r>
              <a:rPr lang="sv-SE" altLang="ja-JP" dirty="0"/>
              <a:t>llog -landroid </a:t>
            </a:r>
            <a:r>
              <a:rPr lang="sv-SE" altLang="ja-JP" dirty="0" smtClean="0">
                <a:solidFill>
                  <a:srgbClr val="FF0000"/>
                </a:solidFill>
              </a:rPr>
              <a:t>–lm -lc </a:t>
            </a:r>
            <a:r>
              <a:rPr lang="sv-SE" altLang="ja-JP" dirty="0">
                <a:solidFill>
                  <a:srgbClr val="FF0000"/>
                </a:solidFill>
              </a:rPr>
              <a:t>-ldl -lz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dirty="0"/>
              <a:t>LOCAL_STATIC_LIBRARIES := android_native_app_glue </a:t>
            </a:r>
            <a:r>
              <a:rPr lang="sv-SE" altLang="ja-JP" dirty="0">
                <a:solidFill>
                  <a:srgbClr val="FF0000"/>
                </a:solidFill>
              </a:rPr>
              <a:t>$(foreach mod, $(OPENCV_MODULES), opencv_$(mod)) $(OPENCV_3RDPARTY_COMPONENTS)</a:t>
            </a:r>
          </a:p>
        </p:txBody>
      </p:sp>
    </p:spTree>
    <p:extLst>
      <p:ext uri="{BB962C8B-B14F-4D97-AF65-F5344CB8AC3E}">
        <p14:creationId xmlns:p14="http://schemas.microsoft.com/office/powerpoint/2010/main" val="20112828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Application.mk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“Application.mk”</a:t>
            </a:r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21996" y="2420888"/>
            <a:ext cx="6801633" cy="172819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sv-SE" altLang="ja-JP" sz="1800" dirty="0" smtClean="0"/>
              <a:t>APP_STL := gnustl_static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 smtClean="0"/>
              <a:t>APP_CPPFLAGS := -frtti -fexceptions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 smtClean="0"/>
              <a:t>APP_ABI := armeabi-v7a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 smtClean="0"/>
              <a:t>APP_PLATFORM := android-15</a:t>
            </a:r>
            <a:endParaRPr lang="sv-SE" altLang="ja-JP" sz="1800" dirty="0"/>
          </a:p>
        </p:txBody>
      </p:sp>
    </p:spTree>
    <p:extLst>
      <p:ext uri="{BB962C8B-B14F-4D97-AF65-F5344CB8AC3E}">
        <p14:creationId xmlns:p14="http://schemas.microsoft.com/office/powerpoint/2010/main" val="12915781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SampleNativeActivity.cpp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Init</a:t>
            </a:r>
            <a:r>
              <a:rPr lang="en-US" dirty="0" smtClean="0"/>
              <a:t> Buffer</a:t>
            </a:r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2060848"/>
            <a:ext cx="6801633" cy="475252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 case APP_CMD_INIT_WINDOW:</a:t>
            </a:r>
          </a:p>
          <a:p>
            <a:r>
              <a:rPr lang="en-US" sz="1800" dirty="0"/>
              <a:t>        LOGI("APP_CMD_INIT_WINDOW");</a:t>
            </a:r>
          </a:p>
          <a:p>
            <a:r>
              <a:rPr lang="en-US" sz="1800" dirty="0"/>
              <a:t>		{</a:t>
            </a:r>
          </a:p>
          <a:p>
            <a:r>
              <a:rPr lang="en-US" sz="1800" dirty="0"/>
              <a:t>            </a:t>
            </a:r>
            <a:r>
              <a:rPr lang="en-US" sz="1800" dirty="0" err="1"/>
              <a:t>int</a:t>
            </a:r>
            <a:r>
              <a:rPr lang="en-US" sz="1800" dirty="0"/>
              <a:t> </a:t>
            </a:r>
            <a:r>
              <a:rPr lang="en-US" sz="1800" dirty="0" err="1"/>
              <a:t>view_width</a:t>
            </a:r>
            <a:r>
              <a:rPr lang="en-US" sz="1800" dirty="0"/>
              <a:t> = </a:t>
            </a:r>
            <a:r>
              <a:rPr lang="en-US" sz="1800" dirty="0" err="1"/>
              <a:t>ANativeWindow_getWidth</a:t>
            </a:r>
            <a:r>
              <a:rPr lang="en-US" sz="1800" dirty="0"/>
              <a:t>(app-&gt;window);</a:t>
            </a:r>
          </a:p>
          <a:p>
            <a:r>
              <a:rPr lang="en-US" sz="1800" dirty="0"/>
              <a:t>            </a:t>
            </a:r>
            <a:r>
              <a:rPr lang="en-US" sz="1800" dirty="0" err="1"/>
              <a:t>int</a:t>
            </a:r>
            <a:r>
              <a:rPr lang="en-US" sz="1800" dirty="0"/>
              <a:t> </a:t>
            </a:r>
            <a:r>
              <a:rPr lang="en-US" sz="1800" dirty="0" err="1"/>
              <a:t>view_height</a:t>
            </a:r>
            <a:r>
              <a:rPr lang="en-US" sz="1800" dirty="0"/>
              <a:t> = </a:t>
            </a:r>
            <a:r>
              <a:rPr lang="en-US" sz="1800" dirty="0" err="1"/>
              <a:t>ANativeWindow_getHeight</a:t>
            </a:r>
            <a:r>
              <a:rPr lang="en-US" sz="1800" dirty="0"/>
              <a:t>(app-&gt;window);</a:t>
            </a:r>
          </a:p>
          <a:p>
            <a:r>
              <a:rPr lang="en-US" sz="1800" dirty="0"/>
              <a:t>            // </a:t>
            </a:r>
            <a:r>
              <a:rPr lang="en-US" sz="1800" dirty="0" err="1"/>
              <a:t>Init</a:t>
            </a:r>
            <a:r>
              <a:rPr lang="en-US" sz="1800" dirty="0"/>
              <a:t> </a:t>
            </a:r>
            <a:r>
              <a:rPr lang="en-US" sz="1800" dirty="0" err="1"/>
              <a:t>Framebuffer</a:t>
            </a:r>
            <a:endParaRPr lang="en-US" sz="1800" dirty="0"/>
          </a:p>
          <a:p>
            <a:r>
              <a:rPr lang="en-US" sz="1800" dirty="0"/>
              <a:t>            if (</a:t>
            </a:r>
            <a:r>
              <a:rPr lang="en-US" sz="1800" dirty="0" err="1"/>
              <a:t>ANativeWindow_setBuffersGeometry</a:t>
            </a:r>
            <a:r>
              <a:rPr lang="en-US" sz="1800" dirty="0"/>
              <a:t>(app-&gt;window, </a:t>
            </a:r>
            <a:r>
              <a:rPr lang="en-US" sz="1800" dirty="0" err="1"/>
              <a:t>view_width</a:t>
            </a:r>
            <a:r>
              <a:rPr lang="en-US" sz="1800" dirty="0"/>
              <a:t>,</a:t>
            </a:r>
          </a:p>
          <a:p>
            <a:r>
              <a:rPr lang="en-US" sz="1800" dirty="0"/>
              <a:t>                </a:t>
            </a:r>
            <a:r>
              <a:rPr lang="en-US" sz="1800" dirty="0" err="1"/>
              <a:t>view_height</a:t>
            </a:r>
            <a:r>
              <a:rPr lang="en-US" sz="1800" dirty="0"/>
              <a:t>, WINDOW_FORMAT_RGBA_8888) &lt; 0) {</a:t>
            </a:r>
          </a:p>
          <a:p>
            <a:r>
              <a:rPr lang="en-US" sz="1800" dirty="0"/>
              <a:t>                LOGE("Cannot set pixel format!");</a:t>
            </a:r>
          </a:p>
          <a:p>
            <a:r>
              <a:rPr lang="en-US" sz="1800" dirty="0"/>
              <a:t>                return;</a:t>
            </a:r>
          </a:p>
          <a:p>
            <a:r>
              <a:rPr lang="en-US" sz="1800" dirty="0"/>
              <a:t>            }</a:t>
            </a:r>
          </a:p>
          <a:p>
            <a:r>
              <a:rPr lang="en-US" sz="1800" dirty="0"/>
              <a:t>            LOGI("cv::Mat initialized at resolution %</a:t>
            </a:r>
            <a:r>
              <a:rPr lang="en-US" sz="1800" dirty="0" err="1"/>
              <a:t>dx%d</a:t>
            </a:r>
            <a:r>
              <a:rPr lang="en-US" sz="1800" dirty="0"/>
              <a:t>", </a:t>
            </a:r>
            <a:r>
              <a:rPr lang="en-US" sz="1800" dirty="0" err="1"/>
              <a:t>view_width</a:t>
            </a:r>
            <a:r>
              <a:rPr lang="en-US" sz="1800" dirty="0"/>
              <a:t>, </a:t>
            </a:r>
            <a:r>
              <a:rPr lang="en-US" sz="1800" dirty="0" err="1"/>
              <a:t>view_height</a:t>
            </a:r>
            <a:r>
              <a:rPr lang="en-US" sz="1800" dirty="0"/>
              <a:t>);</a:t>
            </a:r>
          </a:p>
          <a:p>
            <a:r>
              <a:rPr lang="en-US" sz="1800" dirty="0"/>
              <a:t>		}</a:t>
            </a:r>
          </a:p>
          <a:p>
            <a:r>
              <a:rPr lang="en-US" sz="1800" dirty="0"/>
              <a:t>        break;</a:t>
            </a:r>
          </a:p>
        </p:txBody>
      </p:sp>
    </p:spTree>
    <p:extLst>
      <p:ext uri="{BB962C8B-B14F-4D97-AF65-F5344CB8AC3E}">
        <p14:creationId xmlns:p14="http://schemas.microsoft.com/office/powerpoint/2010/main" val="42425996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SampleNativeActivity.cpp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New Engine</a:t>
            </a:r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21996" y="2852936"/>
            <a:ext cx="6801633" cy="201622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endParaRPr lang="sv-SE" altLang="ja-JP" sz="1800" dirty="0"/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struct Engine {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 smtClean="0"/>
              <a:t>	struct </a:t>
            </a:r>
            <a:r>
              <a:rPr lang="sv-SE" altLang="ja-JP" sz="1800" dirty="0"/>
              <a:t>android_app* app;</a:t>
            </a:r>
          </a:p>
          <a:p>
            <a:pPr marL="914400" lvl="1" indent="-457200">
              <a:buFont typeface="+mj-lt"/>
              <a:buAutoNum type="arabicPeriod"/>
            </a:pPr>
            <a:endParaRPr lang="sv-SE" altLang="ja-JP" sz="1800" dirty="0"/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 smtClean="0"/>
              <a:t>             </a:t>
            </a:r>
            <a:r>
              <a:rPr lang="sv-SE" altLang="ja-JP" sz="1800" dirty="0" smtClean="0">
                <a:solidFill>
                  <a:srgbClr val="FF0000"/>
                </a:solidFill>
              </a:rPr>
              <a:t>int </a:t>
            </a:r>
            <a:r>
              <a:rPr lang="sv-SE" altLang="ja-JP" sz="1800" dirty="0">
                <a:solidFill>
                  <a:srgbClr val="FF0000"/>
                </a:solidFill>
              </a:rPr>
              <a:t>init_window;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};</a:t>
            </a:r>
          </a:p>
          <a:p>
            <a:pPr marL="914400" lvl="1" indent="-457200">
              <a:buFont typeface="+mj-lt"/>
              <a:buAutoNum type="arabicPeriod"/>
            </a:pPr>
            <a:endParaRPr lang="sv-SE" altLang="ja-JP" sz="1800" dirty="0"/>
          </a:p>
        </p:txBody>
      </p:sp>
    </p:spTree>
    <p:extLst>
      <p:ext uri="{BB962C8B-B14F-4D97-AF65-F5344CB8AC3E}">
        <p14:creationId xmlns:p14="http://schemas.microsoft.com/office/powerpoint/2010/main" val="10801248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SampleNativeActivity.cpp</a:t>
            </a:r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188640"/>
            <a:ext cx="7076312" cy="66247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static void engine_draw_frame(struct Engine* engine, const cv::Mat&amp; frame) {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if (engine-&gt;app-&gt;window == NULL) {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// No window.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return;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}</a:t>
            </a:r>
          </a:p>
          <a:p>
            <a:pPr marL="914400" lvl="1" indent="-457200">
              <a:buFont typeface="+mj-lt"/>
              <a:buAutoNum type="arabicPeriod"/>
            </a:pPr>
            <a:endParaRPr lang="sv-SE" altLang="ja-JP" sz="1600" dirty="0"/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ANativeWindow_Buffer buffer;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if (ANativeWindow_lock(engine-&gt;app-&gt;window, &amp;buffer, NULL) &lt; 0) {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LOGW("Unable to lock window buffer");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return;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}</a:t>
            </a:r>
          </a:p>
          <a:p>
            <a:pPr marL="914400" lvl="1" indent="-457200">
              <a:buFont typeface="+mj-lt"/>
              <a:buAutoNum type="arabicPeriod"/>
            </a:pPr>
            <a:endParaRPr lang="sv-SE" altLang="ja-JP" sz="1600" dirty="0"/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{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uint16_t* pixels = (uint16_t*)buffer.bits;</a:t>
            </a:r>
          </a:p>
          <a:p>
            <a:pPr marL="914400" lvl="1" indent="-457200">
              <a:buFont typeface="+mj-lt"/>
              <a:buAutoNum type="arabicPeriod"/>
            </a:pPr>
            <a:endParaRPr lang="sv-SE" altLang="ja-JP" sz="1600" dirty="0"/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for( int y = 0; y &lt; frame.size().height; y ++ ) {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    for( int x = 0; x &lt; frame.size().width; x ++ ) {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        cv::Vec3b bgr = frame.at&lt; cv::Vec3b &gt;( y, x );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        pixels[x] = make565( bgr[2], bgr[1], bgr[0] );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    }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    pixels = (uint16_t*)pixels + buffer.stride;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}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}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ANativeWindow_unlockAndPost(engine-&gt;app-&gt;window);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369822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SampleNativeActivity.cpp</a:t>
            </a:r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403648" y="1700808"/>
            <a:ext cx="7076312" cy="44644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sv-SE" altLang="ja-JP" sz="1600" dirty="0" smtClean="0"/>
              <a:t>// </a:t>
            </a:r>
            <a:r>
              <a:rPr lang="sv-SE" altLang="ja-JP" sz="1600" dirty="0"/>
              <a:t>Loop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 smtClean="0"/>
              <a:t>while(1</a:t>
            </a:r>
            <a:r>
              <a:rPr lang="sv-SE" altLang="ja-JP" sz="1600" dirty="0"/>
              <a:t>) {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// Read all pending events.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int ident;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int events;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android_poll_source* source;</a:t>
            </a:r>
          </a:p>
          <a:p>
            <a:pPr marL="914400" lvl="1" indent="-457200">
              <a:buFont typeface="+mj-lt"/>
              <a:buAutoNum type="arabicPeriod"/>
            </a:pPr>
            <a:endParaRPr lang="sv-SE" altLang="ja-JP" sz="1600" dirty="0"/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// Process system events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while ((ident=ALooper_pollAll(0, NULL, &amp;events, (void**)&amp;source)) &gt;= 0) {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    // Process this event.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    if (source != NULL) {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        source-&gt;process(app, source);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    }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}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 smtClean="0"/>
              <a:t>       }</a:t>
            </a:r>
            <a:endParaRPr lang="sv-SE" altLang="ja-JP" sz="1600" dirty="0"/>
          </a:p>
        </p:txBody>
      </p:sp>
    </p:spTree>
    <p:extLst>
      <p:ext uri="{BB962C8B-B14F-4D97-AF65-F5344CB8AC3E}">
        <p14:creationId xmlns:p14="http://schemas.microsoft.com/office/powerpoint/2010/main" val="6179606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SampleNativeActivity.cpp</a:t>
            </a:r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1484784"/>
            <a:ext cx="7076312" cy="532859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sv-SE" altLang="ja-JP" sz="1600" dirty="0" smtClean="0"/>
              <a:t>       //</a:t>
            </a:r>
            <a:r>
              <a:rPr lang="sv-SE" altLang="ja-JP" sz="1600" dirty="0"/>
              <a:t>Do your Program Code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if (engine.init_window) {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	// Init Mat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    int view_width = ANativeWindow_getWidth(app-&gt;window);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    int view_height = ANativeWindow_getHeight(app-&gt;window);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</a:t>
            </a:r>
            <a:r>
              <a:rPr lang="sv-SE" altLang="ja-JP" sz="1600" dirty="0" smtClean="0"/>
              <a:t>    cv</a:t>
            </a:r>
            <a:r>
              <a:rPr lang="sv-SE" altLang="ja-JP" sz="1600" dirty="0"/>
              <a:t>::Mat img =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 smtClean="0"/>
              <a:t>  </a:t>
            </a:r>
            <a:r>
              <a:rPr lang="sv-SE" altLang="ja-JP" sz="1600" dirty="0"/>
              <a:t>	cv::Mat::zeros(view_width, view_height, CV_8UC3);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</a:t>
            </a:r>
            <a:r>
              <a:rPr lang="sv-SE" altLang="ja-JP" sz="1600" dirty="0" smtClean="0"/>
              <a:t>    char </a:t>
            </a:r>
            <a:r>
              <a:rPr lang="sv-SE" altLang="ja-JP" sz="1600" dirty="0"/>
              <a:t>buffer[256];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 smtClean="0"/>
              <a:t>            sprintf(buffer</a:t>
            </a:r>
            <a:r>
              <a:rPr lang="sv-SE" altLang="ja-JP" sz="1600" dirty="0"/>
              <a:t>, "Show Display Size: %dx%d", img.cols, img.rows);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 smtClean="0"/>
              <a:t>            cv</a:t>
            </a:r>
            <a:r>
              <a:rPr lang="sv-SE" altLang="ja-JP" sz="1600" dirty="0"/>
              <a:t>::putText(img, std::string(buffer), cv::Point(256,128),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 smtClean="0"/>
              <a:t>            cv</a:t>
            </a:r>
            <a:r>
              <a:rPr lang="sv-SE" altLang="ja-JP" sz="1600" dirty="0"/>
              <a:t>::FONT_HERSHEY_COMPLEX_SMALL, </a:t>
            </a:r>
            <a:r>
              <a:rPr lang="sv-SE" altLang="ja-JP" sz="1600" dirty="0" smtClean="0"/>
              <a:t>1,       cv</a:t>
            </a:r>
            <a:r>
              <a:rPr lang="sv-SE" altLang="ja-JP" sz="1600" dirty="0"/>
              <a:t>::Scalar(255,255,255));</a:t>
            </a:r>
          </a:p>
          <a:p>
            <a:pPr marL="914400" lvl="1" indent="-457200">
              <a:buFont typeface="+mj-lt"/>
              <a:buAutoNum type="arabicPeriod"/>
            </a:pPr>
            <a:endParaRPr lang="sv-SE" altLang="ja-JP" sz="1600" dirty="0"/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	//Drawing to Android Display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	engine_draw_frame(&amp;engine, img);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}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 smtClean="0"/>
              <a:t>}</a:t>
            </a:r>
            <a:endParaRPr lang="sv-SE" altLang="ja-JP" sz="1600" dirty="0"/>
          </a:p>
        </p:txBody>
      </p:sp>
    </p:spTree>
    <p:extLst>
      <p:ext uri="{BB962C8B-B14F-4D97-AF65-F5344CB8AC3E}">
        <p14:creationId xmlns:p14="http://schemas.microsoft.com/office/powerpoint/2010/main" val="36149979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dirty="0" smtClean="0"/>
          </a:p>
          <a:p>
            <a:pPr algn="ctr"/>
            <a:r>
              <a:rPr lang="en-US" altLang="ja-JP" sz="3600" dirty="0" smtClean="0"/>
              <a:t>How </a:t>
            </a:r>
            <a:r>
              <a:rPr lang="en-US" altLang="ja-JP" sz="3600" dirty="0" smtClean="0"/>
              <a:t>to Camera with </a:t>
            </a:r>
            <a:r>
              <a:rPr lang="en-US" altLang="ja-JP" sz="3600" dirty="0" err="1" smtClean="0"/>
              <a:t>OpenCV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452431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AndroidManifest.xml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 “Camera” Permissions </a:t>
            </a:r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1988840"/>
            <a:ext cx="6801633" cy="432048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&lt;uses-permission android:name="android.permission.CAMERA"/&gt;</a:t>
            </a:r>
          </a:p>
          <a:p>
            <a:pPr marL="914400" lvl="1" indent="-457200">
              <a:buFont typeface="+mj-lt"/>
              <a:buAutoNum type="arabicPeriod"/>
            </a:pPr>
            <a:endParaRPr lang="sv-SE" altLang="ja-JP" sz="1800" dirty="0"/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&lt;uses-feature android:name="android.hardware.camera" android:required="false"/&gt;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&lt;uses-feature android:name="android.hardware.camera.autofocus" android:required="false"/&gt;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&lt;uses-feature android:name="android.hardware.camera.front" android:required="false"/&gt;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&lt;uses-feature android:name="android.hardware.camera.front.autofocus" android:required="false"/&gt;</a:t>
            </a:r>
          </a:p>
        </p:txBody>
      </p:sp>
    </p:spTree>
    <p:extLst>
      <p:ext uri="{BB962C8B-B14F-4D97-AF65-F5344CB8AC3E}">
        <p14:creationId xmlns:p14="http://schemas.microsoft.com/office/powerpoint/2010/main" val="37778348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jni/Android.mk </a:t>
            </a:r>
            <a:r>
              <a:rPr lang="en-US" dirty="0" smtClean="0"/>
              <a:t>1/5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After “</a:t>
            </a:r>
            <a:r>
              <a:rPr lang="en-US" dirty="0"/>
              <a:t>LOCAL_PATH := $(call my-</a:t>
            </a:r>
            <a:r>
              <a:rPr lang="en-US" dirty="0" err="1"/>
              <a:t>dir</a:t>
            </a:r>
            <a:r>
              <a:rPr lang="en-US" dirty="0" smtClean="0"/>
              <a:t>)” Line</a:t>
            </a:r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2132856"/>
            <a:ext cx="6801633" cy="201622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sv-SE" altLang="ja-JP" sz="1800" dirty="0" smtClean="0"/>
              <a:t>OPENCV_CAMERA_MODULES</a:t>
            </a:r>
            <a:r>
              <a:rPr lang="sv-SE" altLang="ja-JP" sz="1800" dirty="0"/>
              <a:t>:= native_camera_r2.2.0 native_camera_r2.3.3 native_camera_r3.0.1 native_camera_r4.0.0 native_camera_r4.0.3 native_camera_r4.1.1 native_camera_r4.2.0 native_camera_r4.3.0</a:t>
            </a:r>
          </a:p>
        </p:txBody>
      </p:sp>
      <p:sp>
        <p:nvSpPr>
          <p:cNvPr id="5" name="正方形/長方形 6"/>
          <p:cNvSpPr/>
          <p:nvPr/>
        </p:nvSpPr>
        <p:spPr>
          <a:xfrm>
            <a:off x="1373103" y="4437112"/>
            <a:ext cx="6801633" cy="220486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endParaRPr lang="sv-SE" altLang="ja-JP" sz="1800" dirty="0"/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define add_opencv_camera_module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 include $(CLEAR_VARS)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 LOCAL_MODULE:=$1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 LOCAL_SRC_FILES:=../libs_opencv/lib$1.so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 include $(PREBUILT_SHARED_LIBRARY)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endef</a:t>
            </a:r>
          </a:p>
        </p:txBody>
      </p:sp>
    </p:spTree>
    <p:extLst>
      <p:ext uri="{BB962C8B-B14F-4D97-AF65-F5344CB8AC3E}">
        <p14:creationId xmlns:p14="http://schemas.microsoft.com/office/powerpoint/2010/main" val="34523959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jni/Android.mk </a:t>
            </a:r>
            <a:r>
              <a:rPr lang="en-US" dirty="0" smtClean="0"/>
              <a:t>3/5</a:t>
            </a:r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2204864"/>
            <a:ext cx="6801633" cy="309634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sv-SE" altLang="ja-JP" sz="1800" dirty="0" smtClean="0"/>
              <a:t>LOCAL_SRC_FILES</a:t>
            </a:r>
            <a:r>
              <a:rPr lang="sv-SE" altLang="ja-JP" sz="1800" dirty="0"/>
              <a:t>:=../libs_opencv/libopencv_info.so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include $(PREBUILT_SHARED_LIBRARY)</a:t>
            </a:r>
          </a:p>
          <a:p>
            <a:pPr marL="914400" lvl="1" indent="-457200">
              <a:buFont typeface="+mj-lt"/>
              <a:buAutoNum type="arabicPeriod"/>
            </a:pPr>
            <a:endParaRPr lang="sv-SE" altLang="ja-JP" sz="1800" dirty="0"/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$(foreach module,$(OPENCV_MODULES),$(eval $(call add_opencv_module,$(module))))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$(foreach module,$(OPENCV_3RDPARTY_COMPONENTS),$(eval $(call add_opencv_3rdparty_component,$(module))))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>
                <a:solidFill>
                  <a:srgbClr val="FF0000"/>
                </a:solidFill>
              </a:rPr>
              <a:t>$(foreach module,$(OPENCV_CAMERA_MODULES),$(eval $(call add_opencv_camera_module,$(module</a:t>
            </a:r>
            <a:r>
              <a:rPr lang="sv-SE" altLang="ja-JP" sz="1800" dirty="0" smtClean="0">
                <a:solidFill>
                  <a:srgbClr val="FF0000"/>
                </a:solidFill>
              </a:rPr>
              <a:t>))))</a:t>
            </a:r>
            <a:endParaRPr lang="sv-SE" altLang="ja-JP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88643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SampleNativeActivity.cpp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Init</a:t>
            </a:r>
            <a:r>
              <a:rPr lang="en-US" dirty="0"/>
              <a:t> Camera</a:t>
            </a:r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442775" y="116632"/>
            <a:ext cx="6801633" cy="676875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/>
              <a:t> </a:t>
            </a:r>
            <a:r>
              <a:rPr lang="en-US" sz="1600" b="1" dirty="0" smtClean="0"/>
              <a:t>case </a:t>
            </a:r>
            <a:r>
              <a:rPr lang="en-US" sz="1600" b="1" i="1" dirty="0" smtClean="0"/>
              <a:t>APP_CMD_INIT_WINDOW:</a:t>
            </a:r>
          </a:p>
          <a:p>
            <a:r>
              <a:rPr lang="en-US" sz="1600" dirty="0" smtClean="0"/>
              <a:t>        LOGI("APP_CMD_INIT_WINDOW");</a:t>
            </a:r>
          </a:p>
          <a:p>
            <a:r>
              <a:rPr lang="en-US" sz="1600" dirty="0" smtClean="0"/>
              <a:t>            </a:t>
            </a:r>
            <a:r>
              <a:rPr lang="en-US" sz="1600" b="1" dirty="0" smtClean="0"/>
              <a:t>if (app-&gt;window != NULL)</a:t>
            </a:r>
          </a:p>
          <a:p>
            <a:r>
              <a:rPr lang="en-US" sz="1600" dirty="0" smtClean="0"/>
              <a:t>            {</a:t>
            </a:r>
          </a:p>
          <a:p>
            <a:r>
              <a:rPr lang="en-US" sz="1600" dirty="0" smtClean="0"/>
              <a:t>                LOGI("APP_CMD_INIT_WINDOW");</a:t>
            </a:r>
          </a:p>
          <a:p>
            <a:endParaRPr lang="en-US" sz="1600" dirty="0" smtClean="0"/>
          </a:p>
          <a:p>
            <a:r>
              <a:rPr lang="en-US" sz="1600" dirty="0" smtClean="0"/>
              <a:t>                engine-&gt;capture = </a:t>
            </a:r>
            <a:r>
              <a:rPr lang="en-US" sz="1600" b="1" dirty="0" smtClean="0"/>
              <a:t>new cv::</a:t>
            </a:r>
            <a:r>
              <a:rPr lang="en-US" sz="1600" b="1" dirty="0" err="1" smtClean="0"/>
              <a:t>VideoCapture</a:t>
            </a:r>
            <a:r>
              <a:rPr lang="en-US" sz="1600" b="1" dirty="0" smtClean="0"/>
              <a:t>(0);</a:t>
            </a:r>
          </a:p>
          <a:p>
            <a:endParaRPr lang="en-US" sz="1600" dirty="0" smtClean="0"/>
          </a:p>
          <a:p>
            <a:r>
              <a:rPr lang="en-US" sz="1600" dirty="0" smtClean="0"/>
              <a:t>                </a:t>
            </a:r>
            <a:r>
              <a:rPr lang="en-US" sz="1600" b="1" dirty="0" smtClean="0"/>
              <a:t>union {double prop; </a:t>
            </a:r>
            <a:r>
              <a:rPr lang="en-US" sz="1600" b="1" dirty="0" err="1" smtClean="0"/>
              <a:t>const</a:t>
            </a:r>
            <a:r>
              <a:rPr lang="en-US" sz="1600" b="1" dirty="0" smtClean="0"/>
              <a:t> char* name;} u;</a:t>
            </a:r>
          </a:p>
          <a:p>
            <a:r>
              <a:rPr lang="en-US" sz="1600" dirty="0" smtClean="0"/>
              <a:t>                </a:t>
            </a:r>
            <a:r>
              <a:rPr lang="en-US" sz="1600" dirty="0" err="1" smtClean="0"/>
              <a:t>u.prop</a:t>
            </a:r>
            <a:r>
              <a:rPr lang="en-US" sz="1600" dirty="0" smtClean="0"/>
              <a:t> = engine-&gt;capture-&gt;get(</a:t>
            </a:r>
            <a:r>
              <a:rPr lang="en-US" sz="1600" i="1" dirty="0" smtClean="0"/>
              <a:t>CV_CAP_PROP_SUPPORTED_PREVIEW_SIZES_STRING);</a:t>
            </a:r>
          </a:p>
          <a:p>
            <a:endParaRPr lang="en-US" sz="1600" dirty="0" smtClean="0"/>
          </a:p>
          <a:p>
            <a:r>
              <a:rPr lang="en-US" sz="1600" dirty="0" smtClean="0"/>
              <a:t>                </a:t>
            </a:r>
            <a:r>
              <a:rPr lang="en-US" sz="1600" b="1" dirty="0" err="1" smtClean="0"/>
              <a:t>int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view_width</a:t>
            </a:r>
            <a:r>
              <a:rPr lang="en-US" sz="1600" b="1" dirty="0" smtClean="0"/>
              <a:t> = </a:t>
            </a:r>
            <a:r>
              <a:rPr lang="en-US" sz="1600" b="1" dirty="0" err="1" smtClean="0"/>
              <a:t>ANativeWindow_getWidth</a:t>
            </a:r>
            <a:r>
              <a:rPr lang="en-US" sz="1600" b="1" dirty="0" smtClean="0"/>
              <a:t>(app-&gt;window);</a:t>
            </a:r>
          </a:p>
          <a:p>
            <a:r>
              <a:rPr lang="en-US" sz="1600" dirty="0" smtClean="0"/>
              <a:t>                </a:t>
            </a:r>
            <a:r>
              <a:rPr lang="en-US" sz="1600" b="1" dirty="0" err="1" smtClean="0"/>
              <a:t>int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view_height</a:t>
            </a:r>
            <a:r>
              <a:rPr lang="en-US" sz="1600" b="1" dirty="0" smtClean="0"/>
              <a:t> = </a:t>
            </a:r>
            <a:r>
              <a:rPr lang="en-US" sz="1600" b="1" dirty="0" err="1" smtClean="0"/>
              <a:t>ANativeWindow_getHeight</a:t>
            </a:r>
            <a:r>
              <a:rPr lang="en-US" sz="1600" b="1" dirty="0" smtClean="0"/>
              <a:t>(app-&gt;window);</a:t>
            </a:r>
          </a:p>
          <a:p>
            <a:endParaRPr lang="en-US" sz="1600" dirty="0" smtClean="0"/>
          </a:p>
          <a:p>
            <a:r>
              <a:rPr lang="en-US" sz="1600" dirty="0" smtClean="0"/>
              <a:t>                cv::Size </a:t>
            </a:r>
            <a:r>
              <a:rPr lang="en-US" sz="1600" dirty="0" err="1" smtClean="0"/>
              <a:t>camera_resolution</a:t>
            </a:r>
            <a:r>
              <a:rPr lang="en-US" sz="1600" dirty="0" smtClean="0"/>
              <a:t>;</a:t>
            </a:r>
          </a:p>
          <a:p>
            <a:r>
              <a:rPr lang="en-US" sz="1600" dirty="0" smtClean="0"/>
              <a:t>                </a:t>
            </a:r>
            <a:r>
              <a:rPr lang="en-US" sz="1600" b="1" dirty="0" smtClean="0"/>
              <a:t>if (u.name)</a:t>
            </a:r>
          </a:p>
          <a:p>
            <a:r>
              <a:rPr lang="en-US" sz="1600" dirty="0" smtClean="0"/>
              <a:t>                    </a:t>
            </a:r>
            <a:r>
              <a:rPr lang="en-US" sz="1600" dirty="0" err="1" smtClean="0"/>
              <a:t>camera_resolution</a:t>
            </a:r>
            <a:r>
              <a:rPr lang="en-US" sz="1600" dirty="0" smtClean="0"/>
              <a:t> = </a:t>
            </a:r>
            <a:r>
              <a:rPr lang="en-US" sz="1600" dirty="0" err="1" smtClean="0"/>
              <a:t>calc_optimal_camera_resolution</a:t>
            </a:r>
            <a:r>
              <a:rPr lang="en-US" sz="1600" dirty="0" smtClean="0"/>
              <a:t>(u.name, 640, 480);</a:t>
            </a:r>
          </a:p>
          <a:p>
            <a:r>
              <a:rPr lang="en-US" sz="1600" dirty="0" smtClean="0"/>
              <a:t>                </a:t>
            </a:r>
            <a:r>
              <a:rPr lang="en-US" sz="1600" b="1" dirty="0" smtClean="0"/>
              <a:t>else</a:t>
            </a:r>
          </a:p>
          <a:p>
            <a:r>
              <a:rPr lang="en-US" sz="1600" dirty="0" smtClean="0"/>
              <a:t>                {</a:t>
            </a:r>
          </a:p>
          <a:p>
            <a:r>
              <a:rPr lang="en-US" sz="1600" dirty="0" smtClean="0"/>
              <a:t>                    LOGE("Cannot get supported camera </a:t>
            </a:r>
            <a:r>
              <a:rPr lang="en-US" sz="1600" dirty="0" err="1" smtClean="0"/>
              <a:t>camera_resolutions</a:t>
            </a:r>
            <a:r>
              <a:rPr lang="en-US" sz="1600" dirty="0" smtClean="0"/>
              <a:t>");</a:t>
            </a:r>
          </a:p>
          <a:p>
            <a:r>
              <a:rPr lang="en-US" sz="1600" dirty="0" smtClean="0"/>
              <a:t>                    </a:t>
            </a:r>
            <a:r>
              <a:rPr lang="en-US" sz="1600" dirty="0" err="1" smtClean="0"/>
              <a:t>camera_resolution</a:t>
            </a:r>
            <a:r>
              <a:rPr lang="en-US" sz="1600" dirty="0" smtClean="0"/>
              <a:t> = cv::Size(</a:t>
            </a:r>
            <a:r>
              <a:rPr lang="en-US" sz="1600" b="1" dirty="0" err="1" smtClean="0"/>
              <a:t>ANativeWindow_getWidth</a:t>
            </a:r>
            <a:r>
              <a:rPr lang="en-US" sz="1600" b="1" dirty="0" smtClean="0"/>
              <a:t>(app-&gt;window),</a:t>
            </a:r>
          </a:p>
          <a:p>
            <a:r>
              <a:rPr lang="en-US" sz="1600" dirty="0" smtClean="0"/>
              <a:t>                                          </a:t>
            </a:r>
            <a:r>
              <a:rPr lang="en-US" sz="1600" b="1" dirty="0" err="1" smtClean="0"/>
              <a:t>ANativeWindow_getHeight</a:t>
            </a:r>
            <a:r>
              <a:rPr lang="en-US" sz="1600" b="1" dirty="0" smtClean="0"/>
              <a:t>(app-&gt;window));</a:t>
            </a:r>
          </a:p>
          <a:p>
            <a:r>
              <a:rPr lang="en-US" sz="1600" dirty="0" smtClean="0"/>
              <a:t>                }</a:t>
            </a:r>
          </a:p>
          <a:p>
            <a:endParaRPr lang="en-US" sz="1600" dirty="0" smtClean="0"/>
          </a:p>
        </p:txBody>
      </p:sp>
    </p:spTree>
    <p:extLst>
      <p:ext uri="{BB962C8B-B14F-4D97-AF65-F5344CB8AC3E}">
        <p14:creationId xmlns:p14="http://schemas.microsoft.com/office/powerpoint/2010/main" val="24680449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SampleNativeActivity.cpp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Init</a:t>
            </a:r>
            <a:r>
              <a:rPr lang="en-US" dirty="0" smtClean="0"/>
              <a:t> Camera</a:t>
            </a:r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332656"/>
            <a:ext cx="6801633" cy="64807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/>
              <a:t> </a:t>
            </a:r>
          </a:p>
          <a:p>
            <a:r>
              <a:rPr lang="en-US" sz="1600" dirty="0" smtClean="0"/>
              <a:t>                </a:t>
            </a:r>
            <a:r>
              <a:rPr lang="en-US" sz="1600" b="1" dirty="0" smtClean="0"/>
              <a:t>if ((</a:t>
            </a:r>
            <a:r>
              <a:rPr lang="en-US" sz="1600" b="1" dirty="0" err="1" smtClean="0"/>
              <a:t>camera_resolution.width</a:t>
            </a:r>
            <a:r>
              <a:rPr lang="en-US" sz="1600" b="1" dirty="0" smtClean="0"/>
              <a:t> != 0) &amp;&amp; (</a:t>
            </a:r>
            <a:r>
              <a:rPr lang="en-US" sz="1600" b="1" dirty="0" err="1" smtClean="0"/>
              <a:t>camera_resolution.height</a:t>
            </a:r>
            <a:r>
              <a:rPr lang="en-US" sz="1600" b="1" dirty="0" smtClean="0"/>
              <a:t> != 0))</a:t>
            </a:r>
          </a:p>
          <a:p>
            <a:r>
              <a:rPr lang="en-US" sz="1600" dirty="0" smtClean="0"/>
              <a:t>                {</a:t>
            </a:r>
          </a:p>
          <a:p>
            <a:r>
              <a:rPr lang="en-US" sz="1600" dirty="0" smtClean="0"/>
              <a:t>                    engine-&gt;capture-&gt;set(</a:t>
            </a:r>
            <a:r>
              <a:rPr lang="en-US" sz="1600" i="1" dirty="0" smtClean="0"/>
              <a:t>CV_CAP_PROP_FRAME_WIDTH, </a:t>
            </a:r>
            <a:r>
              <a:rPr lang="en-US" sz="1600" i="1" dirty="0" err="1" smtClean="0"/>
              <a:t>camera_resolution.width</a:t>
            </a:r>
            <a:r>
              <a:rPr lang="en-US" sz="1600" i="1" dirty="0" smtClean="0"/>
              <a:t>);</a:t>
            </a:r>
          </a:p>
          <a:p>
            <a:r>
              <a:rPr lang="en-US" sz="1600" dirty="0" smtClean="0"/>
              <a:t>                    engine-&gt;capture-&gt;set(</a:t>
            </a:r>
            <a:r>
              <a:rPr lang="en-US" sz="1600" i="1" dirty="0" smtClean="0"/>
              <a:t>CV_CAP_PROP_FRAME_HEIGHT, </a:t>
            </a:r>
            <a:r>
              <a:rPr lang="en-US" sz="1600" i="1" dirty="0" err="1" smtClean="0"/>
              <a:t>camera_resolution.height</a:t>
            </a:r>
            <a:r>
              <a:rPr lang="en-US" sz="1600" i="1" dirty="0" smtClean="0"/>
              <a:t>);</a:t>
            </a:r>
          </a:p>
          <a:p>
            <a:r>
              <a:rPr lang="en-US" sz="1600" dirty="0" smtClean="0"/>
              <a:t>                }</a:t>
            </a:r>
          </a:p>
          <a:p>
            <a:endParaRPr lang="en-US" sz="1600" dirty="0" smtClean="0"/>
          </a:p>
          <a:p>
            <a:r>
              <a:rPr lang="en-US" sz="1600" dirty="0" smtClean="0"/>
              <a:t>                </a:t>
            </a:r>
            <a:r>
              <a:rPr lang="en-US" sz="1600" b="1" dirty="0" smtClean="0"/>
              <a:t>float scale = </a:t>
            </a:r>
            <a:r>
              <a:rPr lang="en-US" sz="1600" b="1" dirty="0" err="1" smtClean="0"/>
              <a:t>std</a:t>
            </a:r>
            <a:r>
              <a:rPr lang="en-US" sz="1600" b="1" dirty="0" smtClean="0"/>
              <a:t>::min((float)</a:t>
            </a:r>
            <a:r>
              <a:rPr lang="en-US" sz="1600" b="1" dirty="0" err="1" smtClean="0"/>
              <a:t>view_width</a:t>
            </a:r>
            <a:r>
              <a:rPr lang="en-US" sz="1600" b="1" dirty="0" smtClean="0"/>
              <a:t>/</a:t>
            </a:r>
            <a:r>
              <a:rPr lang="en-US" sz="1600" b="1" dirty="0" err="1" smtClean="0"/>
              <a:t>camera_resolution.width</a:t>
            </a:r>
            <a:r>
              <a:rPr lang="en-US" sz="1600" b="1" dirty="0" smtClean="0"/>
              <a:t>,</a:t>
            </a:r>
          </a:p>
          <a:p>
            <a:r>
              <a:rPr lang="en-US" sz="1600" dirty="0" smtClean="0"/>
              <a:t>                                       (</a:t>
            </a:r>
            <a:r>
              <a:rPr lang="en-US" sz="1600" b="1" dirty="0" smtClean="0"/>
              <a:t>float)</a:t>
            </a:r>
            <a:r>
              <a:rPr lang="en-US" sz="1600" b="1" dirty="0" err="1" smtClean="0"/>
              <a:t>view_height</a:t>
            </a:r>
            <a:r>
              <a:rPr lang="en-US" sz="1600" b="1" dirty="0" smtClean="0"/>
              <a:t>/</a:t>
            </a:r>
            <a:r>
              <a:rPr lang="en-US" sz="1600" b="1" dirty="0" err="1" smtClean="0"/>
              <a:t>camera_resolution.height</a:t>
            </a:r>
            <a:r>
              <a:rPr lang="en-US" sz="1600" b="1" dirty="0" smtClean="0"/>
              <a:t>);</a:t>
            </a:r>
          </a:p>
          <a:p>
            <a:endParaRPr lang="en-US" sz="1600" dirty="0" smtClean="0"/>
          </a:p>
          <a:p>
            <a:r>
              <a:rPr lang="en-US" sz="1600" dirty="0" smtClean="0"/>
              <a:t>                </a:t>
            </a:r>
            <a:r>
              <a:rPr lang="en-US" sz="1600" b="1" dirty="0" smtClean="0"/>
              <a:t>if (</a:t>
            </a:r>
            <a:r>
              <a:rPr lang="en-US" sz="1600" b="1" dirty="0" err="1" smtClean="0"/>
              <a:t>ANativeWindow_setBuffersGeometry</a:t>
            </a:r>
            <a:r>
              <a:rPr lang="en-US" sz="1600" b="1" dirty="0" smtClean="0"/>
              <a:t>(app-&gt;window, (</a:t>
            </a:r>
            <a:r>
              <a:rPr lang="en-US" sz="1600" b="1" dirty="0" err="1" smtClean="0"/>
              <a:t>int</a:t>
            </a:r>
            <a:r>
              <a:rPr lang="en-US" sz="1600" b="1" dirty="0" smtClean="0"/>
              <a:t>)(</a:t>
            </a:r>
            <a:r>
              <a:rPr lang="en-US" sz="1600" b="1" dirty="0" err="1" smtClean="0"/>
              <a:t>view_width</a:t>
            </a:r>
            <a:r>
              <a:rPr lang="en-US" sz="1600" b="1" dirty="0" smtClean="0"/>
              <a:t>/scale),</a:t>
            </a:r>
          </a:p>
          <a:p>
            <a:r>
              <a:rPr lang="en-US" sz="1600" dirty="0" smtClean="0"/>
              <a:t>                    </a:t>
            </a:r>
            <a:r>
              <a:rPr lang="en-US" sz="1600" b="1" dirty="0" err="1" smtClean="0"/>
              <a:t>int</a:t>
            </a:r>
            <a:r>
              <a:rPr lang="en-US" sz="1600" b="1" dirty="0" smtClean="0"/>
              <a:t>(</a:t>
            </a:r>
            <a:r>
              <a:rPr lang="en-US" sz="1600" b="1" dirty="0" err="1" smtClean="0"/>
              <a:t>view_height</a:t>
            </a:r>
            <a:r>
              <a:rPr lang="en-US" sz="1600" b="1" dirty="0" smtClean="0"/>
              <a:t>/scale), </a:t>
            </a:r>
            <a:r>
              <a:rPr lang="en-US" sz="1600" b="1" i="1" dirty="0" smtClean="0"/>
              <a:t>WINDOW_FORMAT_RGBA_8888) &lt; 0)</a:t>
            </a:r>
          </a:p>
          <a:p>
            <a:r>
              <a:rPr lang="en-US" sz="1600" dirty="0" smtClean="0"/>
              <a:t>                {</a:t>
            </a:r>
          </a:p>
          <a:p>
            <a:r>
              <a:rPr lang="en-US" sz="1600" dirty="0" smtClean="0"/>
              <a:t>                    LOGE("Cannot set pixel format!");</a:t>
            </a:r>
          </a:p>
          <a:p>
            <a:r>
              <a:rPr lang="en-US" sz="1600" dirty="0" smtClean="0"/>
              <a:t>                    </a:t>
            </a:r>
            <a:r>
              <a:rPr lang="en-US" sz="1600" b="1" dirty="0" smtClean="0"/>
              <a:t>return;</a:t>
            </a:r>
          </a:p>
          <a:p>
            <a:r>
              <a:rPr lang="en-US" sz="1600" dirty="0" smtClean="0"/>
              <a:t>                }</a:t>
            </a:r>
          </a:p>
          <a:p>
            <a:endParaRPr lang="en-US" sz="1600" dirty="0" smtClean="0"/>
          </a:p>
          <a:p>
            <a:r>
              <a:rPr lang="en-US" sz="1600" dirty="0" smtClean="0"/>
              <a:t>                LOGI("Camera initialized at resolution %</a:t>
            </a:r>
            <a:r>
              <a:rPr lang="en-US" sz="1600" u="sng" dirty="0" err="1" smtClean="0"/>
              <a:t>dx%d</a:t>
            </a:r>
            <a:r>
              <a:rPr lang="en-US" sz="1600" u="sng" dirty="0" smtClean="0"/>
              <a:t>", </a:t>
            </a:r>
            <a:r>
              <a:rPr lang="en-US" sz="1600" u="sng" dirty="0" err="1" smtClean="0"/>
              <a:t>camera_resolution.width</a:t>
            </a:r>
            <a:r>
              <a:rPr lang="en-US" sz="1600" u="sng" dirty="0" smtClean="0"/>
              <a:t>, </a:t>
            </a:r>
            <a:r>
              <a:rPr lang="en-US" sz="1600" u="sng" dirty="0" err="1" smtClean="0"/>
              <a:t>camera_resolution.height</a:t>
            </a:r>
            <a:r>
              <a:rPr lang="en-US" sz="1600" u="sng" dirty="0" smtClean="0"/>
              <a:t>);</a:t>
            </a:r>
          </a:p>
          <a:p>
            <a:r>
              <a:rPr lang="en-US" sz="1600" dirty="0" smtClean="0"/>
              <a:t>            }</a:t>
            </a:r>
          </a:p>
          <a:p>
            <a:r>
              <a:rPr lang="en-US" sz="1600" dirty="0" smtClean="0"/>
              <a:t>        </a:t>
            </a:r>
            <a:r>
              <a:rPr lang="en-US" sz="1600" b="1" dirty="0" smtClean="0"/>
              <a:t>break;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7238093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SampleNativeActivity.cpp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New Engine</a:t>
            </a:r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21996" y="2132856"/>
            <a:ext cx="6801633" cy="151216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struct Engine {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 smtClean="0"/>
              <a:t>    struct </a:t>
            </a:r>
            <a:r>
              <a:rPr lang="sv-SE" altLang="ja-JP" sz="1800" dirty="0"/>
              <a:t>android_app* app;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 </a:t>
            </a:r>
            <a:r>
              <a:rPr lang="sv-SE" altLang="ja-JP" sz="1800" dirty="0">
                <a:solidFill>
                  <a:srgbClr val="FF0000"/>
                </a:solidFill>
              </a:rPr>
              <a:t>cv::Ptr&lt;cv::VideoCapture&gt; capture;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313647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SampleNativeActivity.cpp</a:t>
            </a:r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548680"/>
            <a:ext cx="7759880" cy="62646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cv::Mat drawing_frame;</a:t>
            </a:r>
          </a:p>
          <a:p>
            <a:pPr marL="914400" lvl="1" indent="-457200">
              <a:buFont typeface="+mj-lt"/>
              <a:buAutoNum type="arabicPeriod"/>
            </a:pPr>
            <a:endParaRPr lang="sv-SE" altLang="ja-JP" sz="1600" dirty="0"/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// Loop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while(1) {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// Read all pending events.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int ident;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int events;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android_poll_source* source;</a:t>
            </a:r>
          </a:p>
          <a:p>
            <a:pPr marL="914400" lvl="1" indent="-457200">
              <a:buFont typeface="+mj-lt"/>
              <a:buAutoNum type="arabicPeriod"/>
            </a:pPr>
            <a:endParaRPr lang="sv-SE" altLang="ja-JP" sz="1600" dirty="0"/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// Process system events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while ((ident=ALooper_pollAll(0, NULL, &amp;events, (void**)&amp;source)) &gt;= 0) {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    // Process this event.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    if (source != NULL) {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        source-&gt;process(app, source);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    }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}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//Do your Program Code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// Capture frame from camera and draw it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if (!engine.capture.empty()) {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    if (engine.capture-&gt;grab())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        engine.capture-&gt;retrieve(drawing_frame, CV_CAP_ANDROID_COLOR_FRAME_RGBA);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     engine_draw_frame(&amp;engine, drawing_frame);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}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20625392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dirty="0" smtClean="0"/>
          </a:p>
          <a:p>
            <a:pPr algn="ctr"/>
            <a:r>
              <a:rPr lang="en-US" altLang="ja-JP" sz="3600" dirty="0" smtClean="0"/>
              <a:t>How </a:t>
            </a:r>
            <a:r>
              <a:rPr lang="en-US" altLang="ja-JP" sz="3600" dirty="0" smtClean="0"/>
              <a:t>to Use Debugger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704520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Setup Debug Option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445" y="1125538"/>
            <a:ext cx="7061910" cy="5327650"/>
          </a:xfrm>
        </p:spPr>
      </p:pic>
    </p:spTree>
    <p:extLst>
      <p:ext uri="{BB962C8B-B14F-4D97-AF65-F5344CB8AC3E}">
        <p14:creationId xmlns:p14="http://schemas.microsoft.com/office/powerpoint/2010/main" val="167972283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Build as Debug Mode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17"/>
          <a:stretch/>
        </p:blipFill>
        <p:spPr>
          <a:xfrm>
            <a:off x="403906" y="1167654"/>
            <a:ext cx="8740094" cy="5357690"/>
          </a:xfrm>
        </p:spPr>
      </p:pic>
    </p:spTree>
    <p:extLst>
      <p:ext uri="{BB962C8B-B14F-4D97-AF65-F5344CB8AC3E}">
        <p14:creationId xmlns:p14="http://schemas.microsoft.com/office/powerpoint/2010/main" val="87129260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Enjoy Debugging!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31" y="1082622"/>
            <a:ext cx="8769369" cy="5370714"/>
          </a:xfrm>
        </p:spPr>
      </p:pic>
    </p:spTree>
    <p:extLst>
      <p:ext uri="{BB962C8B-B14F-4D97-AF65-F5344CB8AC3E}">
        <p14:creationId xmlns:p14="http://schemas.microsoft.com/office/powerpoint/2010/main" val="295189823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dirty="0" smtClean="0"/>
          </a:p>
          <a:p>
            <a:pPr algn="ctr"/>
            <a:r>
              <a:rPr lang="en-US" altLang="ja-JP" sz="3600" dirty="0" smtClean="0"/>
              <a:t>How </a:t>
            </a:r>
            <a:r>
              <a:rPr lang="en-US" altLang="ja-JP" sz="3600" dirty="0" smtClean="0"/>
              <a:t>to Use Profiler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94083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Android SDK </a:t>
            </a:r>
            <a:r>
              <a:rPr lang="en-US" dirty="0"/>
              <a:t>Tools 8/12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lint</a:t>
            </a:r>
          </a:p>
          <a:p>
            <a:pPr lvl="1"/>
            <a:r>
              <a:rPr lang="en-US" dirty="0" smtClean="0"/>
              <a:t>Optimize Android Applications.</a:t>
            </a:r>
          </a:p>
          <a:p>
            <a:pPr lvl="2"/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lint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Android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Developers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zh-CN" dirty="0" smtClean="0">
              <a:latin typeface="Times New Roman" pitchFamily="18" charset="0"/>
              <a:cs typeface="Times New Roman" pitchFamily="18" charset="0"/>
            </a:endParaRPr>
          </a:p>
          <a:p>
            <a:pPr lvl="3"/>
            <a:r>
              <a:rPr lang="en-US" altLang="zh-CN" u="sng" dirty="0" smtClean="0">
                <a:solidFill>
                  <a:srgbClr val="1155CC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http</a:t>
            </a:r>
            <a:r>
              <a:rPr lang="en-US" altLang="zh-CN" u="sng" dirty="0">
                <a:solidFill>
                  <a:srgbClr val="1155CC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://developer.android.com/tools/help/lint.html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794" y="3015121"/>
            <a:ext cx="7635535" cy="362814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85"/>
          <a:stretch/>
        </p:blipFill>
        <p:spPr>
          <a:xfrm>
            <a:off x="1619672" y="2813053"/>
            <a:ext cx="6826410" cy="404531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81"/>
          <a:stretch/>
        </p:blipFill>
        <p:spPr>
          <a:xfrm>
            <a:off x="1619672" y="2864093"/>
            <a:ext cx="6826410" cy="400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953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 lint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17"/>
          <a:stretch/>
        </p:blipFill>
        <p:spPr>
          <a:xfrm>
            <a:off x="395537" y="1118944"/>
            <a:ext cx="8702088" cy="5334392"/>
          </a:xfrm>
        </p:spPr>
      </p:pic>
    </p:spTree>
    <p:extLst>
      <p:ext uri="{BB962C8B-B14F-4D97-AF65-F5344CB8AC3E}">
        <p14:creationId xmlns:p14="http://schemas.microsoft.com/office/powerpoint/2010/main" val="338968585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Android SDK </a:t>
            </a:r>
            <a:r>
              <a:rPr lang="en-US" dirty="0"/>
              <a:t>Tools 6/12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hprof-conv</a:t>
            </a:r>
            <a:endParaRPr lang="en-US" dirty="0"/>
          </a:p>
          <a:p>
            <a:pPr lvl="1"/>
            <a:r>
              <a:rPr lang="en-US" dirty="0" smtClean="0"/>
              <a:t>Convert Android Original Format Heap Memory Dump to Standard Format. Ex. Eclipse </a:t>
            </a:r>
            <a:r>
              <a:rPr lang="en-US" dirty="0"/>
              <a:t>Memory Analyzer (MAT)</a:t>
            </a:r>
          </a:p>
          <a:p>
            <a:pPr lvl="2"/>
            <a:r>
              <a:rPr lang="en-US" dirty="0"/>
              <a:t>HPROF Converter | Android Developers </a:t>
            </a:r>
          </a:p>
          <a:p>
            <a:pPr lvl="3"/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developer.android.com/tools/help/hprof-conv.html</a:t>
            </a:r>
            <a:endParaRPr lang="en-US" dirty="0" smtClean="0"/>
          </a:p>
          <a:p>
            <a:pPr lvl="3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637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Setup Eclipse </a:t>
            </a:r>
            <a:r>
              <a:rPr lang="en-US" dirty="0"/>
              <a:t>Memory Analyzer (MAT)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17"/>
          <a:stretch/>
        </p:blipFill>
        <p:spPr>
          <a:xfrm>
            <a:off x="467545" y="1124744"/>
            <a:ext cx="8630080" cy="5290251"/>
          </a:xfrm>
        </p:spPr>
      </p:pic>
    </p:spTree>
    <p:extLst>
      <p:ext uri="{BB962C8B-B14F-4D97-AF65-F5344CB8AC3E}">
        <p14:creationId xmlns:p14="http://schemas.microsoft.com/office/powerpoint/2010/main" val="16647698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Eclipse Memory Analyzer (MAT)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379" y="908050"/>
            <a:ext cx="6336868" cy="5949950"/>
          </a:xfrm>
        </p:spPr>
      </p:pic>
    </p:spTree>
    <p:extLst>
      <p:ext uri="{BB962C8B-B14F-4D97-AF65-F5344CB8AC3E}">
        <p14:creationId xmlns:p14="http://schemas.microsoft.com/office/powerpoint/2010/main" val="388419193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Show </a:t>
            </a:r>
            <a:r>
              <a:rPr lang="en-US" dirty="0" err="1" smtClean="0"/>
              <a:t>HeapMemory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31" y="1082622"/>
            <a:ext cx="8769369" cy="5370714"/>
          </a:xfrm>
        </p:spPr>
      </p:pic>
    </p:spTree>
    <p:extLst>
      <p:ext uri="{BB962C8B-B14F-4D97-AF65-F5344CB8AC3E}">
        <p14:creationId xmlns:p14="http://schemas.microsoft.com/office/powerpoint/2010/main" val="215183534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 Memory Leak Code</a:t>
            </a:r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1844824"/>
            <a:ext cx="7076312" cy="244827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char *str = (char *)malloc(10000);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if(engine.counter &lt; 65535) {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    engine.leak[engine.counter] = (int)str;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    LOGW("Leak Memory!!! %d", (int)str);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} else {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    engine.counter = 0;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253393304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But,,,Java</a:t>
            </a:r>
            <a:r>
              <a:rPr lang="en-US" dirty="0" smtClean="0"/>
              <a:t> Heap Only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17"/>
          <a:stretch/>
        </p:blipFill>
        <p:spPr>
          <a:xfrm>
            <a:off x="467544" y="1052736"/>
            <a:ext cx="8678050" cy="5319657"/>
          </a:xfrm>
        </p:spPr>
      </p:pic>
    </p:spTree>
    <p:extLst>
      <p:ext uri="{BB962C8B-B14F-4D97-AF65-F5344CB8AC3E}">
        <p14:creationId xmlns:p14="http://schemas.microsoft.com/office/powerpoint/2010/main" val="61619748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Android SDK </a:t>
            </a:r>
            <a:r>
              <a:rPr lang="en-US" dirty="0"/>
              <a:t>Tools 11/12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Systrace</a:t>
            </a:r>
            <a:endParaRPr lang="en-US" dirty="0"/>
          </a:p>
          <a:p>
            <a:pPr lvl="1"/>
            <a:r>
              <a:rPr lang="en-US" dirty="0" smtClean="0"/>
              <a:t>Profiling </a:t>
            </a:r>
            <a:r>
              <a:rPr lang="en-US" dirty="0"/>
              <a:t>Tool. Use </a:t>
            </a:r>
            <a:r>
              <a:rPr lang="en-US" dirty="0" smtClean="0"/>
              <a:t>with Android Device Monitor.</a:t>
            </a:r>
            <a:endParaRPr lang="en-US" dirty="0"/>
          </a:p>
          <a:p>
            <a:pPr lvl="2"/>
            <a:r>
              <a:rPr lang="en-US" dirty="0"/>
              <a:t>Analyzing Display and Performance with </a:t>
            </a:r>
            <a:r>
              <a:rPr lang="en-US" dirty="0" err="1"/>
              <a:t>Systrace</a:t>
            </a:r>
            <a:r>
              <a:rPr lang="en-US" dirty="0"/>
              <a:t> | Android Developers </a:t>
            </a:r>
          </a:p>
          <a:p>
            <a:pPr lvl="3"/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developer.android.com/tools/debugging/systrace.html</a:t>
            </a:r>
            <a:endParaRPr lang="en-US" dirty="0" smtClean="0"/>
          </a:p>
          <a:p>
            <a:r>
              <a:rPr lang="en-US" dirty="0" err="1"/>
              <a:t>t</a:t>
            </a:r>
            <a:r>
              <a:rPr lang="en-US" dirty="0" err="1" smtClean="0"/>
              <a:t>raceview</a:t>
            </a:r>
            <a:endParaRPr lang="en-US" dirty="0" smtClean="0"/>
          </a:p>
          <a:p>
            <a:pPr lvl="1"/>
            <a:r>
              <a:rPr lang="en-US" dirty="0" smtClean="0"/>
              <a:t>Show Graphical View from </a:t>
            </a:r>
            <a:r>
              <a:rPr lang="en-US" dirty="0" err="1" smtClean="0"/>
              <a:t>Systrace</a:t>
            </a:r>
            <a:r>
              <a:rPr lang="en-US" dirty="0" smtClean="0"/>
              <a:t> Data</a:t>
            </a:r>
            <a:endParaRPr lang="en-US" dirty="0"/>
          </a:p>
          <a:p>
            <a:pPr lvl="2"/>
            <a:r>
              <a:rPr lang="en-US" dirty="0" err="1"/>
              <a:t>Traceview</a:t>
            </a:r>
            <a:r>
              <a:rPr lang="en-US" dirty="0"/>
              <a:t> | Android Developers </a:t>
            </a:r>
            <a:endParaRPr lang="en-US" dirty="0" smtClean="0"/>
          </a:p>
          <a:p>
            <a:pPr lvl="3"/>
            <a:r>
              <a:rPr lang="en-US" dirty="0" smtClean="0">
                <a:hlinkClick r:id="rId3"/>
              </a:rPr>
              <a:t>http</a:t>
            </a:r>
            <a:r>
              <a:rPr lang="en-US" dirty="0">
                <a:hlinkClick r:id="rId3"/>
              </a:rPr>
              <a:t>://</a:t>
            </a:r>
            <a:r>
              <a:rPr lang="en-US" dirty="0" smtClean="0">
                <a:hlinkClick r:id="rId3"/>
              </a:rPr>
              <a:t>developer.android.com/tools/help/traceview.html</a:t>
            </a:r>
            <a:endParaRPr lang="en-US" dirty="0"/>
          </a:p>
          <a:p>
            <a:pPr lvl="2"/>
            <a:r>
              <a:rPr lang="en-US" dirty="0"/>
              <a:t>deprecated</a:t>
            </a:r>
          </a:p>
          <a:p>
            <a:pPr lvl="3"/>
            <a:r>
              <a:rPr lang="en-US" dirty="0"/>
              <a:t>Android Device Monitor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090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Systrace</a:t>
            </a:r>
            <a:r>
              <a:rPr lang="en-US" dirty="0" smtClean="0"/>
              <a:t> &amp; </a:t>
            </a:r>
            <a:r>
              <a:rPr lang="en-US" dirty="0" err="1" smtClean="0"/>
              <a:t>TraceView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17"/>
          <a:stretch/>
        </p:blipFill>
        <p:spPr>
          <a:xfrm>
            <a:off x="521373" y="1268760"/>
            <a:ext cx="8576251" cy="5257254"/>
          </a:xfrm>
        </p:spPr>
      </p:pic>
    </p:spTree>
    <p:extLst>
      <p:ext uri="{BB962C8B-B14F-4D97-AF65-F5344CB8AC3E}">
        <p14:creationId xmlns:p14="http://schemas.microsoft.com/office/powerpoint/2010/main" val="228503043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 from </a:t>
            </a:r>
            <a:r>
              <a:rPr lang="en-US" dirty="0" err="1" smtClean="0"/>
              <a:t>Traceview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887" y="1340768"/>
            <a:ext cx="8588360" cy="4824536"/>
          </a:xfrm>
        </p:spPr>
      </p:pic>
    </p:spTree>
    <p:extLst>
      <p:ext uri="{BB962C8B-B14F-4D97-AF65-F5344CB8AC3E}">
        <p14:creationId xmlns:p14="http://schemas.microsoft.com/office/powerpoint/2010/main" val="213084123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Android SDK </a:t>
            </a:r>
            <a:r>
              <a:rPr lang="en-US" dirty="0"/>
              <a:t>Tools 4/12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dmtracedump</a:t>
            </a:r>
            <a:endParaRPr lang="en-US" dirty="0"/>
          </a:p>
          <a:p>
            <a:pPr lvl="1"/>
            <a:r>
              <a:rPr lang="en-US" dirty="0" smtClean="0"/>
              <a:t>Create Graphical Diagram from </a:t>
            </a:r>
            <a:r>
              <a:rPr lang="en-US" dirty="0" err="1" smtClean="0"/>
              <a:t>SysTrace</a:t>
            </a:r>
            <a:r>
              <a:rPr lang="en-US" dirty="0" smtClean="0"/>
              <a:t> Data</a:t>
            </a:r>
            <a:endParaRPr lang="en-US" dirty="0"/>
          </a:p>
          <a:p>
            <a:pPr lvl="2"/>
            <a:r>
              <a:rPr lang="en-US" dirty="0" err="1"/>
              <a:t>dmtracedump</a:t>
            </a:r>
            <a:r>
              <a:rPr lang="en-US" dirty="0"/>
              <a:t> | Android Developers </a:t>
            </a:r>
          </a:p>
          <a:p>
            <a:pPr lvl="3"/>
            <a:r>
              <a:rPr lang="en-US" dirty="0">
                <a:hlinkClick r:id="rId2"/>
              </a:rPr>
              <a:t>http://developer.android.com/tools/help/dmtracedump.html</a:t>
            </a:r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816" y="3645024"/>
            <a:ext cx="2987824" cy="2470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454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Setup More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Python</a:t>
            </a:r>
          </a:p>
          <a:p>
            <a:pPr lvl="1"/>
            <a:r>
              <a:rPr lang="en-US" dirty="0">
                <a:hlinkClick r:id="rId2"/>
              </a:rPr>
              <a:t>http://www.python.org/</a:t>
            </a:r>
            <a:endParaRPr lang="en-US" dirty="0"/>
          </a:p>
          <a:p>
            <a:r>
              <a:rPr lang="en-US" dirty="0" err="1" smtClean="0"/>
              <a:t>Graphviz</a:t>
            </a:r>
            <a:endParaRPr lang="en-US" dirty="0" smtClean="0"/>
          </a:p>
          <a:p>
            <a:pPr lvl="1"/>
            <a:r>
              <a:rPr lang="en-US" dirty="0">
                <a:hlinkClick r:id="rId3"/>
              </a:rPr>
              <a:t>http://</a:t>
            </a:r>
            <a:r>
              <a:rPr lang="en-US" dirty="0" smtClean="0">
                <a:hlinkClick r:id="rId3"/>
              </a:rPr>
              <a:t>www.graphviz.org</a:t>
            </a:r>
            <a:endParaRPr lang="en-US" dirty="0" smtClean="0"/>
          </a:p>
          <a:p>
            <a:pPr lvl="2"/>
            <a:r>
              <a:rPr lang="en-US" dirty="0" err="1"/>
              <a:t>s</a:t>
            </a:r>
            <a:r>
              <a:rPr lang="en-US" dirty="0" err="1" smtClean="0"/>
              <a:t>udo</a:t>
            </a:r>
            <a:r>
              <a:rPr lang="en-US" dirty="0" smtClean="0"/>
              <a:t> apt-get install </a:t>
            </a:r>
            <a:r>
              <a:rPr lang="en-US" dirty="0" err="1" smtClean="0"/>
              <a:t>graphviz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13474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Use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sdk</a:t>
            </a:r>
            <a:r>
              <a:rPr lang="en-US" dirty="0" smtClean="0"/>
              <a:t>/tools</a:t>
            </a:r>
            <a:endParaRPr lang="en-US" dirty="0"/>
          </a:p>
          <a:p>
            <a:pPr lvl="1"/>
            <a:r>
              <a:rPr lang="en-US" dirty="0" err="1"/>
              <a:t>dmtracedump</a:t>
            </a:r>
            <a:endParaRPr lang="en-US" dirty="0"/>
          </a:p>
          <a:p>
            <a:pPr lvl="2"/>
            <a:r>
              <a:rPr lang="en-US" dirty="0"/>
              <a:t>-g </a:t>
            </a:r>
            <a:r>
              <a:rPr lang="en-US" dirty="0" smtClean="0"/>
              <a:t>[Graph Image Name] [Trace Data]</a:t>
            </a:r>
            <a:endParaRPr lang="en-US" dirty="0"/>
          </a:p>
          <a:p>
            <a:pPr marL="91440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28886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2" y="0"/>
            <a:ext cx="8199883" cy="908050"/>
          </a:xfrm>
        </p:spPr>
        <p:txBody>
          <a:bodyPr/>
          <a:lstStyle/>
          <a:p>
            <a:pPr lvl="1"/>
            <a:r>
              <a:rPr lang="en-US" dirty="0" smtClean="0"/>
              <a:t>sdk/platform-tools/systrace/systrace.py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-540568" y="836712"/>
            <a:ext cx="7694240" cy="5327650"/>
          </a:xfrm>
        </p:spPr>
        <p:txBody>
          <a:bodyPr/>
          <a:lstStyle/>
          <a:p>
            <a:pPr lvl="2"/>
            <a:r>
              <a:rPr lang="en-US" dirty="0" smtClean="0"/>
              <a:t>Options</a:t>
            </a:r>
          </a:p>
          <a:p>
            <a:pPr lvl="3"/>
            <a:r>
              <a:rPr lang="en-US" dirty="0" smtClean="0"/>
              <a:t>--time=[s]</a:t>
            </a:r>
          </a:p>
          <a:p>
            <a:pPr lvl="2"/>
            <a:r>
              <a:rPr lang="en-US" dirty="0" smtClean="0"/>
              <a:t>4.2 and lower</a:t>
            </a:r>
          </a:p>
          <a:p>
            <a:pPr lvl="3"/>
            <a:r>
              <a:rPr lang="en-US" dirty="0"/>
              <a:t>--</a:t>
            </a:r>
            <a:r>
              <a:rPr lang="en-US" dirty="0" err="1"/>
              <a:t>cpu-freq</a:t>
            </a:r>
            <a:endParaRPr lang="en-US" dirty="0"/>
          </a:p>
          <a:p>
            <a:pPr lvl="3"/>
            <a:r>
              <a:rPr lang="en-US" dirty="0"/>
              <a:t>--</a:t>
            </a:r>
            <a:r>
              <a:rPr lang="en-US" dirty="0" err="1"/>
              <a:t>cpu</a:t>
            </a:r>
            <a:r>
              <a:rPr lang="en-US" dirty="0"/>
              <a:t>-idle</a:t>
            </a:r>
          </a:p>
          <a:p>
            <a:pPr lvl="3"/>
            <a:r>
              <a:rPr lang="en-US" dirty="0"/>
              <a:t>--</a:t>
            </a:r>
            <a:r>
              <a:rPr lang="en-US" dirty="0" err="1"/>
              <a:t>cpu</a:t>
            </a:r>
            <a:r>
              <a:rPr lang="en-US" dirty="0"/>
              <a:t>-load</a:t>
            </a:r>
          </a:p>
          <a:p>
            <a:pPr lvl="3"/>
            <a:r>
              <a:rPr lang="en-US" dirty="0"/>
              <a:t>--</a:t>
            </a:r>
            <a:r>
              <a:rPr lang="en-US" dirty="0" smtClean="0"/>
              <a:t>no-</a:t>
            </a:r>
            <a:r>
              <a:rPr lang="en-US" dirty="0" err="1" smtClean="0"/>
              <a:t>cpu</a:t>
            </a:r>
            <a:r>
              <a:rPr lang="en-US" dirty="0" smtClean="0"/>
              <a:t>-</a:t>
            </a:r>
            <a:r>
              <a:rPr lang="en-US" dirty="0" err="1" smtClean="0"/>
              <a:t>sched</a:t>
            </a:r>
            <a:endParaRPr lang="en-US" dirty="0" smtClean="0"/>
          </a:p>
          <a:p>
            <a:pPr lvl="3"/>
            <a:r>
              <a:rPr lang="en-US" dirty="0"/>
              <a:t>--set-tags=&lt;TAGS&gt;</a:t>
            </a:r>
          </a:p>
          <a:p>
            <a:pPr lvl="4"/>
            <a:r>
              <a:rPr lang="en-US" dirty="0" err="1"/>
              <a:t>gfx</a:t>
            </a:r>
            <a:r>
              <a:rPr lang="en-US" dirty="0"/>
              <a:t> - Graphics</a:t>
            </a:r>
          </a:p>
          <a:p>
            <a:pPr lvl="4"/>
            <a:r>
              <a:rPr lang="en-US" dirty="0"/>
              <a:t>input - Input</a:t>
            </a:r>
          </a:p>
          <a:p>
            <a:pPr lvl="4"/>
            <a:r>
              <a:rPr lang="en-US" dirty="0"/>
              <a:t>view - View</a:t>
            </a:r>
          </a:p>
          <a:p>
            <a:pPr lvl="4"/>
            <a:r>
              <a:rPr lang="en-US" dirty="0" err="1"/>
              <a:t>webview</a:t>
            </a:r>
            <a:r>
              <a:rPr lang="en-US" dirty="0"/>
              <a:t> - </a:t>
            </a:r>
            <a:r>
              <a:rPr lang="en-US" dirty="0" err="1"/>
              <a:t>WebView</a:t>
            </a:r>
            <a:endParaRPr lang="en-US" dirty="0"/>
          </a:p>
          <a:p>
            <a:pPr lvl="4"/>
            <a:r>
              <a:rPr lang="en-US" dirty="0" err="1"/>
              <a:t>wm</a:t>
            </a:r>
            <a:r>
              <a:rPr lang="en-US" dirty="0"/>
              <a:t> - Window Manager</a:t>
            </a:r>
          </a:p>
          <a:p>
            <a:pPr lvl="4"/>
            <a:r>
              <a:rPr lang="en-US" dirty="0"/>
              <a:t>am - Activity Manager</a:t>
            </a:r>
          </a:p>
          <a:p>
            <a:pPr lvl="4"/>
            <a:r>
              <a:rPr lang="en-US" dirty="0"/>
              <a:t>sync </a:t>
            </a:r>
            <a:r>
              <a:rPr lang="en-US" dirty="0" smtClean="0"/>
              <a:t>– Synchronization</a:t>
            </a:r>
            <a:endParaRPr lang="en-US" dirty="0"/>
          </a:p>
          <a:p>
            <a:pPr lvl="4"/>
            <a:r>
              <a:rPr lang="en-US" dirty="0"/>
              <a:t>audio - Audio</a:t>
            </a:r>
          </a:p>
          <a:p>
            <a:pPr lvl="4"/>
            <a:r>
              <a:rPr lang="en-US" dirty="0"/>
              <a:t>video - Video</a:t>
            </a:r>
          </a:p>
          <a:p>
            <a:pPr lvl="4"/>
            <a:r>
              <a:rPr lang="en-US" dirty="0"/>
              <a:t>camera - </a:t>
            </a:r>
            <a:r>
              <a:rPr lang="en-US" dirty="0" smtClean="0"/>
              <a:t>Camera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1979712" y="1530350"/>
            <a:ext cx="5688632" cy="5327650"/>
          </a:xfrm>
        </p:spPr>
        <p:txBody>
          <a:bodyPr/>
          <a:lstStyle/>
          <a:p>
            <a:pPr lvl="2"/>
            <a:r>
              <a:rPr lang="en-US" dirty="0"/>
              <a:t>4.3 and Upper</a:t>
            </a:r>
          </a:p>
          <a:p>
            <a:pPr lvl="3"/>
            <a:r>
              <a:rPr lang="en-US" dirty="0"/>
              <a:t>--list-categories</a:t>
            </a:r>
          </a:p>
          <a:p>
            <a:pPr lvl="4"/>
            <a:r>
              <a:rPr lang="en-US" dirty="0" err="1"/>
              <a:t>gfx</a:t>
            </a:r>
            <a:r>
              <a:rPr lang="en-US" dirty="0"/>
              <a:t> - Graphics</a:t>
            </a:r>
          </a:p>
          <a:p>
            <a:pPr lvl="4"/>
            <a:r>
              <a:rPr lang="en-US" dirty="0"/>
              <a:t>input - Input</a:t>
            </a:r>
          </a:p>
          <a:p>
            <a:pPr lvl="4"/>
            <a:r>
              <a:rPr lang="en-US" dirty="0"/>
              <a:t>view - View</a:t>
            </a:r>
          </a:p>
          <a:p>
            <a:pPr lvl="4"/>
            <a:r>
              <a:rPr lang="en-US" dirty="0" err="1"/>
              <a:t>webview</a:t>
            </a:r>
            <a:r>
              <a:rPr lang="en-US" dirty="0"/>
              <a:t> - </a:t>
            </a:r>
            <a:r>
              <a:rPr lang="en-US" dirty="0" err="1"/>
              <a:t>WebView</a:t>
            </a:r>
            <a:endParaRPr lang="en-US" dirty="0"/>
          </a:p>
          <a:p>
            <a:pPr lvl="4"/>
            <a:r>
              <a:rPr lang="en-US" dirty="0" err="1"/>
              <a:t>wm</a:t>
            </a:r>
            <a:r>
              <a:rPr lang="en-US" dirty="0"/>
              <a:t> - Window Manager</a:t>
            </a:r>
          </a:p>
          <a:p>
            <a:pPr lvl="4"/>
            <a:r>
              <a:rPr lang="en-US" dirty="0"/>
              <a:t>am - Activity Manager</a:t>
            </a:r>
          </a:p>
          <a:p>
            <a:pPr lvl="4"/>
            <a:r>
              <a:rPr lang="en-US" dirty="0"/>
              <a:t>audio - Audio</a:t>
            </a:r>
          </a:p>
          <a:p>
            <a:pPr lvl="4"/>
            <a:r>
              <a:rPr lang="en-US" dirty="0"/>
              <a:t>video - Video</a:t>
            </a:r>
          </a:p>
          <a:p>
            <a:pPr lvl="4"/>
            <a:r>
              <a:rPr lang="en-US" dirty="0"/>
              <a:t>camera - Camera</a:t>
            </a:r>
          </a:p>
          <a:p>
            <a:pPr lvl="4"/>
            <a:r>
              <a:rPr lang="en-US" dirty="0" err="1"/>
              <a:t>hal</a:t>
            </a:r>
            <a:r>
              <a:rPr lang="en-US" dirty="0"/>
              <a:t> - Hardware Modules</a:t>
            </a:r>
          </a:p>
          <a:p>
            <a:pPr lvl="4"/>
            <a:r>
              <a:rPr lang="en-US" dirty="0"/>
              <a:t>res - Resource Loading</a:t>
            </a:r>
          </a:p>
          <a:p>
            <a:pPr lvl="4"/>
            <a:r>
              <a:rPr lang="en-US" dirty="0" err="1"/>
              <a:t>dalvik</a:t>
            </a:r>
            <a:r>
              <a:rPr lang="en-US" dirty="0"/>
              <a:t> - </a:t>
            </a:r>
            <a:r>
              <a:rPr lang="en-US" dirty="0" err="1"/>
              <a:t>Dalvik</a:t>
            </a:r>
            <a:r>
              <a:rPr lang="en-US" dirty="0"/>
              <a:t> VM</a:t>
            </a:r>
          </a:p>
          <a:p>
            <a:pPr lvl="4"/>
            <a:r>
              <a:rPr lang="en-US" dirty="0" err="1"/>
              <a:t>rs</a:t>
            </a:r>
            <a:r>
              <a:rPr lang="en-US" dirty="0"/>
              <a:t> - </a:t>
            </a:r>
            <a:r>
              <a:rPr lang="en-US" dirty="0" err="1"/>
              <a:t>RenderScript</a:t>
            </a:r>
            <a:endParaRPr lang="en-US" dirty="0"/>
          </a:p>
          <a:p>
            <a:endParaRPr lang="en-US" dirty="0"/>
          </a:p>
        </p:txBody>
      </p:sp>
      <p:sp>
        <p:nvSpPr>
          <p:cNvPr id="6" name="Content Placeholder 4"/>
          <p:cNvSpPr txBox="1">
            <a:spLocks/>
          </p:cNvSpPr>
          <p:nvPr/>
        </p:nvSpPr>
        <p:spPr bwMode="auto">
          <a:xfrm>
            <a:off x="4572000" y="2142396"/>
            <a:ext cx="5688632" cy="532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Blip>
                <a:blip r:embed="rId2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4"/>
            <a:r>
              <a:rPr lang="en-US" sz="1800" dirty="0" err="1" smtClean="0"/>
              <a:t>sched</a:t>
            </a:r>
            <a:r>
              <a:rPr lang="en-US" sz="1800" dirty="0" smtClean="0"/>
              <a:t> - CPU Scheduling</a:t>
            </a:r>
          </a:p>
          <a:p>
            <a:pPr lvl="4"/>
            <a:r>
              <a:rPr lang="en-US" sz="1800" dirty="0" err="1" smtClean="0"/>
              <a:t>freq</a:t>
            </a:r>
            <a:r>
              <a:rPr lang="en-US" sz="1800" dirty="0" smtClean="0"/>
              <a:t> - CPU Frequency</a:t>
            </a:r>
          </a:p>
          <a:p>
            <a:pPr lvl="4"/>
            <a:r>
              <a:rPr lang="en-US" sz="1800" dirty="0" err="1" smtClean="0"/>
              <a:t>membus</a:t>
            </a:r>
            <a:r>
              <a:rPr lang="en-US" sz="1800" dirty="0" smtClean="0"/>
              <a:t> - Memory Bus </a:t>
            </a:r>
          </a:p>
          <a:p>
            <a:pPr marL="1828800" lvl="4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            Utilization</a:t>
            </a:r>
          </a:p>
          <a:p>
            <a:pPr lvl="4"/>
            <a:r>
              <a:rPr lang="en-US" sz="1800" dirty="0" smtClean="0"/>
              <a:t>idle - CPU Idle</a:t>
            </a:r>
          </a:p>
          <a:p>
            <a:pPr lvl="4"/>
            <a:r>
              <a:rPr lang="en-US" sz="1800" dirty="0" smtClean="0"/>
              <a:t>disk - Disk input and </a:t>
            </a:r>
          </a:p>
          <a:p>
            <a:pPr marL="1828800" lvl="4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      output</a:t>
            </a:r>
          </a:p>
          <a:p>
            <a:pPr lvl="4"/>
            <a:r>
              <a:rPr lang="en-US" sz="1800" dirty="0" smtClean="0"/>
              <a:t>load - CPU Load</a:t>
            </a:r>
          </a:p>
          <a:p>
            <a:pPr lvl="4"/>
            <a:r>
              <a:rPr lang="en-US" sz="1800" dirty="0" smtClean="0"/>
              <a:t>sync - Synchronization </a:t>
            </a:r>
          </a:p>
          <a:p>
            <a:pPr marL="1828800" lvl="4" indent="0">
              <a:buNone/>
            </a:pPr>
            <a:r>
              <a:rPr lang="en-US" sz="1800" dirty="0" smtClean="0"/>
              <a:t>              Manager</a:t>
            </a:r>
          </a:p>
          <a:p>
            <a:pPr lvl="4"/>
            <a:r>
              <a:rPr lang="en-US" sz="1800" dirty="0" err="1" smtClean="0"/>
              <a:t>workq</a:t>
            </a:r>
            <a:r>
              <a:rPr lang="en-US" sz="1800" dirty="0" smtClean="0"/>
              <a:t> - Kernel </a:t>
            </a:r>
          </a:p>
          <a:p>
            <a:pPr marL="1828800" lvl="4" indent="0">
              <a:buNone/>
            </a:pPr>
            <a:r>
              <a:rPr lang="en-US" sz="1800" dirty="0" smtClean="0"/>
              <a:t>                </a:t>
            </a:r>
            <a:r>
              <a:rPr lang="en-US" sz="1800" dirty="0" err="1" smtClean="0"/>
              <a:t>Workqueues</a:t>
            </a:r>
            <a:endParaRPr lang="en-US" sz="18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6996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User on 4.2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./systrace.py</a:t>
            </a:r>
            <a:endParaRPr lang="en-US" dirty="0"/>
          </a:p>
          <a:p>
            <a:pPr lvl="1"/>
            <a:r>
              <a:rPr lang="en-US" dirty="0"/>
              <a:t>--</a:t>
            </a:r>
            <a:r>
              <a:rPr lang="en-US" dirty="0" err="1"/>
              <a:t>cpu-freq</a:t>
            </a:r>
            <a:r>
              <a:rPr lang="en-US" dirty="0"/>
              <a:t> --</a:t>
            </a:r>
            <a:r>
              <a:rPr lang="en-US" dirty="0" err="1"/>
              <a:t>cpu</a:t>
            </a:r>
            <a:r>
              <a:rPr lang="en-US" dirty="0"/>
              <a:t>-idle --</a:t>
            </a:r>
            <a:r>
              <a:rPr lang="en-US" dirty="0" err="1"/>
              <a:t>cpu</a:t>
            </a:r>
            <a:r>
              <a:rPr lang="en-US" dirty="0"/>
              <a:t>-load --no-</a:t>
            </a:r>
            <a:r>
              <a:rPr lang="en-US" dirty="0" err="1"/>
              <a:t>cpu</a:t>
            </a:r>
            <a:r>
              <a:rPr lang="en-US" dirty="0"/>
              <a:t>-</a:t>
            </a:r>
            <a:r>
              <a:rPr lang="en-US" dirty="0" err="1"/>
              <a:t>sched</a:t>
            </a:r>
            <a:r>
              <a:rPr lang="en-US" dirty="0"/>
              <a:t> --</a:t>
            </a:r>
            <a:r>
              <a:rPr lang="en-US" dirty="0" smtClean="0"/>
              <a:t>set-tags=</a:t>
            </a:r>
            <a:r>
              <a:rPr lang="en-US" dirty="0" err="1" smtClean="0"/>
              <a:t>gfx,input,view,webview,wm,am,sync,audio,video,camera</a:t>
            </a:r>
            <a:endParaRPr lang="en-US" dirty="0" smtClean="0"/>
          </a:p>
          <a:p>
            <a:r>
              <a:rPr lang="en-US" dirty="0" err="1" smtClean="0"/>
              <a:t>adb</a:t>
            </a:r>
            <a:r>
              <a:rPr lang="en-US" dirty="0" smtClean="0"/>
              <a:t> </a:t>
            </a:r>
            <a:r>
              <a:rPr lang="en-US" dirty="0"/>
              <a:t>shell stop</a:t>
            </a:r>
          </a:p>
          <a:p>
            <a:r>
              <a:rPr lang="en-US" dirty="0" err="1"/>
              <a:t>adb</a:t>
            </a:r>
            <a:r>
              <a:rPr lang="en-US" dirty="0"/>
              <a:t> shell start</a:t>
            </a:r>
          </a:p>
          <a:p>
            <a:r>
              <a:rPr lang="en-US" dirty="0" smtClean="0"/>
              <a:t>./systrace.py --</a:t>
            </a:r>
            <a:r>
              <a:rPr lang="en-US" dirty="0"/>
              <a:t>time=10 -o mynewtrace.html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85202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If it doesn’t work…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Check these Configuration</a:t>
            </a:r>
            <a:endParaRPr lang="en-US" dirty="0"/>
          </a:p>
          <a:p>
            <a:pPr lvl="1"/>
            <a:r>
              <a:rPr lang="en-US" dirty="0" smtClean="0"/>
              <a:t>kernel </a:t>
            </a:r>
            <a:r>
              <a:rPr lang="en-US" dirty="0" err="1"/>
              <a:t>config</a:t>
            </a:r>
            <a:endParaRPr lang="en-US" dirty="0"/>
          </a:p>
          <a:p>
            <a:pPr lvl="2"/>
            <a:r>
              <a:rPr lang="en-US" dirty="0"/>
              <a:t>Kernel hacking ---&gt; Tracers ---&gt; Scheduling Latency </a:t>
            </a:r>
            <a:r>
              <a:rPr lang="en-US" dirty="0" smtClean="0"/>
              <a:t>Tracer</a:t>
            </a:r>
            <a:endParaRPr lang="en-US" dirty="0"/>
          </a:p>
          <a:p>
            <a:pPr lvl="1"/>
            <a:r>
              <a:rPr lang="en-US" dirty="0" err="1"/>
              <a:t>init.trace.rc</a:t>
            </a:r>
            <a:endParaRPr lang="en-US" dirty="0"/>
          </a:p>
          <a:p>
            <a:pPr lvl="2"/>
            <a:r>
              <a:rPr lang="en-US" dirty="0"/>
              <a:t>mount </a:t>
            </a:r>
            <a:r>
              <a:rPr lang="en-US" dirty="0" err="1"/>
              <a:t>debugfs</a:t>
            </a:r>
            <a:r>
              <a:rPr lang="en-US" dirty="0"/>
              <a:t> /sys/kernel/debug /sys/kernel/debug</a:t>
            </a:r>
          </a:p>
        </p:txBody>
      </p:sp>
    </p:spTree>
    <p:extLst>
      <p:ext uri="{BB962C8B-B14F-4D97-AF65-F5344CB8AC3E}">
        <p14:creationId xmlns:p14="http://schemas.microsoft.com/office/powerpoint/2010/main" val="2318426683"/>
      </p:ext>
    </p:extLst>
  </p:cSld>
  <p:clrMapOvr>
    <a:masterClrMapping/>
  </p:clrMapOvr>
</p:sld>
</file>

<file path=ppt/theme/theme1.xml><?xml version="1.0" encoding="utf-8"?>
<a:theme xmlns:a="http://schemas.openxmlformats.org/drawingml/2006/main" name="siprop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siprop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defRPr>
        </a:defPPr>
      </a:lstStyle>
    </a:lnDef>
  </a:objectDefaults>
  <a:extraClrSchemeLst>
    <a:extraClrScheme>
      <a:clrScheme name="sipro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1942</TotalTime>
  <Words>2806</Words>
  <Application>Microsoft Office PowerPoint</Application>
  <PresentationFormat>On-screen Show (4:3)</PresentationFormat>
  <Paragraphs>766</Paragraphs>
  <Slides>75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0" baseType="lpstr">
      <vt:lpstr>ＭＳ Ｐゴシック</vt:lpstr>
      <vt:lpstr>Arial</vt:lpstr>
      <vt:lpstr>Times</vt:lpstr>
      <vt:lpstr>Times New Roman</vt:lpstr>
      <vt:lpstr>siprop</vt:lpstr>
      <vt:lpstr>How to Make Android Native Application</vt:lpstr>
      <vt:lpstr>Agenda</vt:lpstr>
      <vt:lpstr>PowerPoint Presentation</vt:lpstr>
      <vt:lpstr>Native Application</vt:lpstr>
      <vt:lpstr>Make Android Project</vt:lpstr>
      <vt:lpstr>Setup App Name &amp; Target API</vt:lpstr>
      <vt:lpstr>Enable JNI</vt:lpstr>
      <vt:lpstr>Enable JNI</vt:lpstr>
      <vt:lpstr>SampleNativeActivity.cpp</vt:lpstr>
      <vt:lpstr>Android.mk</vt:lpstr>
      <vt:lpstr>LifeCycle Diagram</vt:lpstr>
      <vt:lpstr>LifeCycle in NativeActivity</vt:lpstr>
      <vt:lpstr>NativeActivity CallBacks</vt:lpstr>
      <vt:lpstr>Problem Point</vt:lpstr>
      <vt:lpstr>NativeActivityGlue CallBacks</vt:lpstr>
      <vt:lpstr>NativeActivityGlue</vt:lpstr>
      <vt:lpstr>Sample of NativeActivityGlue</vt:lpstr>
      <vt:lpstr>Functions that you CAN USE</vt:lpstr>
      <vt:lpstr>Edit jni/Android.mk 8/8</vt:lpstr>
      <vt:lpstr>Edit jni/Android.mk 4/8</vt:lpstr>
      <vt:lpstr>Edit jni/Android.mk 6/8</vt:lpstr>
      <vt:lpstr>PowerPoint Presentation</vt:lpstr>
      <vt:lpstr>Edit AndroidManifest.xml</vt:lpstr>
      <vt:lpstr>CPP Code of Basicary Format</vt:lpstr>
      <vt:lpstr>Show Android Event</vt:lpstr>
      <vt:lpstr>Show Android Event</vt:lpstr>
      <vt:lpstr>Show Android Event</vt:lpstr>
      <vt:lpstr>Show Android Event</vt:lpstr>
      <vt:lpstr>Show Android Event</vt:lpstr>
      <vt:lpstr>PowerPoint Presentation</vt:lpstr>
      <vt:lpstr>PowerPoint Presentation</vt:lpstr>
      <vt:lpstr>How to Draw Text?</vt:lpstr>
      <vt:lpstr>PowerPoint Presentation</vt:lpstr>
      <vt:lpstr>Setup OpenCV Libs</vt:lpstr>
      <vt:lpstr>Edit jni/Android.mk 1/5</vt:lpstr>
      <vt:lpstr>Edit jni/Android.mk 2/5</vt:lpstr>
      <vt:lpstr>Edit jni/Android.mk 3/5</vt:lpstr>
      <vt:lpstr>Edit jni/Android.mk 4/5</vt:lpstr>
      <vt:lpstr>Edit jni/Android.mk 5/5</vt:lpstr>
      <vt:lpstr>Application.mk</vt:lpstr>
      <vt:lpstr>SampleNativeActivity.cpp</vt:lpstr>
      <vt:lpstr>SampleNativeActivity.cpp</vt:lpstr>
      <vt:lpstr>SampleNativeActivity.cpp</vt:lpstr>
      <vt:lpstr>SampleNativeActivity.cpp</vt:lpstr>
      <vt:lpstr>SampleNativeActivity.cpp</vt:lpstr>
      <vt:lpstr>PowerPoint Presentation</vt:lpstr>
      <vt:lpstr>AndroidManifest.xml</vt:lpstr>
      <vt:lpstr>Edit jni/Android.mk 1/5</vt:lpstr>
      <vt:lpstr>Edit jni/Android.mk 3/5</vt:lpstr>
      <vt:lpstr>SampleNativeActivity.cpp</vt:lpstr>
      <vt:lpstr>SampleNativeActivity.cpp</vt:lpstr>
      <vt:lpstr>SampleNativeActivity.cpp</vt:lpstr>
      <vt:lpstr>SampleNativeActivity.cpp</vt:lpstr>
      <vt:lpstr>PowerPoint Presentation</vt:lpstr>
      <vt:lpstr>Setup Debug Option</vt:lpstr>
      <vt:lpstr>Build as Debug Mode</vt:lpstr>
      <vt:lpstr>Enjoy Debugging!</vt:lpstr>
      <vt:lpstr>PowerPoint Presentation</vt:lpstr>
      <vt:lpstr>Android SDK Tools 8/12</vt:lpstr>
      <vt:lpstr>Run lint</vt:lpstr>
      <vt:lpstr>Android SDK Tools 6/12</vt:lpstr>
      <vt:lpstr>Setup Eclipse Memory Analyzer (MAT)</vt:lpstr>
      <vt:lpstr>Setup Eclipse Memory Analyzer (MAT)</vt:lpstr>
      <vt:lpstr>Show HeapMemory</vt:lpstr>
      <vt:lpstr>Add Memory Leak Code</vt:lpstr>
      <vt:lpstr>But,,,Java Heap Only</vt:lpstr>
      <vt:lpstr>Android SDK Tools 11/12</vt:lpstr>
      <vt:lpstr>Systrace &amp; TraceView</vt:lpstr>
      <vt:lpstr>View from Traceview</vt:lpstr>
      <vt:lpstr>Android SDK Tools 4/12</vt:lpstr>
      <vt:lpstr>Setup More Tools</vt:lpstr>
      <vt:lpstr>How to Use</vt:lpstr>
      <vt:lpstr>sdk/platform-tools/systrace/systrace.py</vt:lpstr>
      <vt:lpstr>How to User on 4.2</vt:lpstr>
      <vt:lpstr>If it doesn’t work…</vt:lpstr>
    </vt:vector>
  </TitlesOfParts>
  <Company>self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Noritsuna Imamura</dc:creator>
  <cp:lastModifiedBy>Noritsuna Imamura</cp:lastModifiedBy>
  <cp:revision>516</cp:revision>
  <dcterms:created xsi:type="dcterms:W3CDTF">2013-12-05T12:17:56Z</dcterms:created>
  <dcterms:modified xsi:type="dcterms:W3CDTF">2013-12-18T12:21:07Z</dcterms:modified>
</cp:coreProperties>
</file>