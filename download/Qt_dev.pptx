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93" r:id="rId3"/>
    <p:sldId id="296" r:id="rId4"/>
    <p:sldId id="299" r:id="rId5"/>
    <p:sldId id="295" r:id="rId6"/>
    <p:sldId id="294" r:id="rId7"/>
    <p:sldId id="290" r:id="rId8"/>
    <p:sldId id="291" r:id="rId9"/>
    <p:sldId id="303" r:id="rId10"/>
    <p:sldId id="302" r:id="rId11"/>
    <p:sldId id="292" r:id="rId12"/>
    <p:sldId id="301" r:id="rId13"/>
  </p:sldIdLst>
  <p:sldSz cx="9144000" cy="6858000" type="screen4x3"/>
  <p:notesSz cx="6805613" cy="9939338"/>
  <p:defaultTextStyle>
    <a:defPPr>
      <a:defRPr lang="ja-JP"/>
    </a:defPPr>
    <a:lvl1pPr algn="l" rtl="0" fontAlgn="base">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1pPr>
    <a:lvl2pPr marL="457200" algn="l" rtl="0" fontAlgn="base">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2pPr>
    <a:lvl3pPr marL="914400" algn="l" rtl="0" fontAlgn="base">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3pPr>
    <a:lvl4pPr marL="1371600" algn="l" rtl="0" fontAlgn="base">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4pPr>
    <a:lvl5pPr marL="1828800" algn="l" rtl="0" fontAlgn="base">
      <a:spcBef>
        <a:spcPct val="0"/>
      </a:spcBef>
      <a:spcAft>
        <a:spcPct val="0"/>
      </a:spcAft>
      <a:defRPr kumimoji="1" sz="2400"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400"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80FF"/>
    <a:srgbClr val="FF6FCF"/>
    <a:srgbClr val="E8E8E8"/>
    <a:srgbClr val="FF0000"/>
    <a:srgbClr val="CCFFCC"/>
    <a:srgbClr val="FFFF99"/>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7" autoAdjust="0"/>
    <p:restoredTop sz="90318" autoAdjust="0"/>
  </p:normalViewPr>
  <p:slideViewPr>
    <p:cSldViewPr>
      <p:cViewPr varScale="1">
        <p:scale>
          <a:sx n="119" d="100"/>
          <a:sy n="119" d="100"/>
        </p:scale>
        <p:origin x="87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1026"/>
          <p:cNvSpPr>
            <a:spLocks noGrp="1" noChangeArrowheads="1"/>
          </p:cNvSpPr>
          <p:nvPr>
            <p:ph type="hdr" sz="quarter"/>
          </p:nvPr>
        </p:nvSpPr>
        <p:spPr bwMode="auto">
          <a:xfrm>
            <a:off x="0"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ja-JP"/>
          </a:p>
        </p:txBody>
      </p:sp>
      <p:sp>
        <p:nvSpPr>
          <p:cNvPr id="11267" name="Rectangle 1027"/>
          <p:cNvSpPr>
            <a:spLocks noGrp="1" noChangeArrowheads="1"/>
          </p:cNvSpPr>
          <p:nvPr>
            <p:ph type="dt" idx="1"/>
          </p:nvPr>
        </p:nvSpPr>
        <p:spPr bwMode="auto">
          <a:xfrm>
            <a:off x="3854450" y="0"/>
            <a:ext cx="2949575" cy="496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ja-JP"/>
          </a:p>
        </p:txBody>
      </p:sp>
      <p:sp>
        <p:nvSpPr>
          <p:cNvPr id="11268" name="Rectangle 1028"/>
          <p:cNvSpPr>
            <a:spLocks noGrp="1" noRot="1" noChangeAspect="1" noChangeArrowheads="1" noTextEdit="1"/>
          </p:cNvSpPr>
          <p:nvPr>
            <p:ph type="sldImg" idx="2"/>
          </p:nvPr>
        </p:nvSpPr>
        <p:spPr bwMode="auto">
          <a:xfrm>
            <a:off x="920750" y="746125"/>
            <a:ext cx="4967288" cy="372586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1269" name="Rectangle 1029"/>
          <p:cNvSpPr>
            <a:spLocks noGrp="1" noChangeArrowheads="1"/>
          </p:cNvSpPr>
          <p:nvPr>
            <p:ph type="body" sz="quarter" idx="3"/>
          </p:nvPr>
        </p:nvSpPr>
        <p:spPr bwMode="auto">
          <a:xfrm>
            <a:off x="681038" y="4721225"/>
            <a:ext cx="5443537" cy="4471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1270" name="Rectangle 1030"/>
          <p:cNvSpPr>
            <a:spLocks noGrp="1" noChangeArrowheads="1"/>
          </p:cNvSpPr>
          <p:nvPr>
            <p:ph type="ftr" sz="quarter" idx="4"/>
          </p:nvPr>
        </p:nvSpPr>
        <p:spPr bwMode="auto">
          <a:xfrm>
            <a:off x="0"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endParaRPr lang="en-US" altLang="ja-JP"/>
          </a:p>
        </p:txBody>
      </p:sp>
      <p:sp>
        <p:nvSpPr>
          <p:cNvPr id="11271" name="Rectangle 1031"/>
          <p:cNvSpPr>
            <a:spLocks noGrp="1" noChangeArrowheads="1"/>
          </p:cNvSpPr>
          <p:nvPr>
            <p:ph type="sldNum" sz="quarter" idx="5"/>
          </p:nvPr>
        </p:nvSpPr>
        <p:spPr bwMode="auto">
          <a:xfrm>
            <a:off x="3854450" y="9440863"/>
            <a:ext cx="2949575" cy="496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8F58D74A-EAF7-44C6-A78A-BB351387D3C2}"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1pPr>
    <a:lvl2pPr marL="457200" algn="l" rtl="0" fontAlgn="base">
      <a:spcBef>
        <a:spcPct val="3000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2pPr>
    <a:lvl3pPr marL="914400" algn="l" rtl="0" fontAlgn="base">
      <a:spcBef>
        <a:spcPct val="3000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3pPr>
    <a:lvl4pPr marL="1371600" algn="l" rtl="0" fontAlgn="base">
      <a:spcBef>
        <a:spcPct val="3000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4pPr>
    <a:lvl5pPr marL="1828800" algn="l" rtl="0" fontAlgn="base">
      <a:spcBef>
        <a:spcPct val="30000"/>
      </a:spcBef>
      <a:spcAft>
        <a:spcPct val="0"/>
      </a:spcAft>
      <a:defRPr kumimoji="1" sz="1200"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031"/>
          <p:cNvSpPr>
            <a:spLocks noGrp="1" noChangeArrowheads="1"/>
          </p:cNvSpPr>
          <p:nvPr>
            <p:ph type="sldNum" sz="quarter" idx="5"/>
          </p:nvPr>
        </p:nvSpPr>
        <p:spPr>
          <a:ln/>
        </p:spPr>
        <p:txBody>
          <a:bodyPr/>
          <a:lstStyle/>
          <a:p>
            <a:fld id="{28E18994-DA79-4DA1-8850-F3A33A060366}" type="slidenum">
              <a:rPr lang="en-US" altLang="ja-JP"/>
              <a:pPr/>
              <a:t>1</a:t>
            </a:fld>
            <a:endParaRPr lang="en-US" altLang="ja-JP"/>
          </a:p>
        </p:txBody>
      </p:sp>
      <p:sp>
        <p:nvSpPr>
          <p:cNvPr id="13314" name="Rectangle 2"/>
          <p:cNvSpPr>
            <a:spLocks noGrp="1" noRot="1" noChangeAspect="1" noChangeArrowheads="1" noTextEdit="1"/>
          </p:cNvSpPr>
          <p:nvPr>
            <p:ph type="sldImg"/>
          </p:nvPr>
        </p:nvSpPr>
        <p:spPr>
          <a:ln/>
        </p:spPr>
      </p:sp>
      <p:sp>
        <p:nvSpPr>
          <p:cNvPr id="13315" name="Rectangle 3"/>
          <p:cNvSpPr>
            <a:spLocks noGrp="1" noChangeArrowheads="1"/>
          </p:cNvSpPr>
          <p:nvPr>
            <p:ph type="body" idx="1"/>
          </p:nvPr>
        </p:nvSpPr>
        <p:spPr/>
        <p:txBody>
          <a:bodyPr/>
          <a:lstStyle/>
          <a:p>
            <a:endParaRPr lang="ja-JP" altLang="ja-JP"/>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3" name="Rectangle 3"/>
          <p:cNvSpPr>
            <a:spLocks noGrp="1" noChangeArrowheads="1"/>
          </p:cNvSpPr>
          <p:nvPr>
            <p:ph type="ctrTitle"/>
          </p:nvPr>
        </p:nvSpPr>
        <p:spPr>
          <a:xfrm>
            <a:off x="533400" y="1196975"/>
            <a:ext cx="7772400" cy="1470025"/>
          </a:xfrm>
        </p:spPr>
        <p:txBody>
          <a:bodyPr/>
          <a:lstStyle>
            <a:lvl1pPr>
              <a:defRPr/>
            </a:lvl1pPr>
          </a:lstStyle>
          <a:p>
            <a:pPr lvl="0"/>
            <a:r>
              <a:rPr lang="ja-JP" altLang="en-US" noProof="0"/>
              <a:t>マスター タイトルの書式設定</a:t>
            </a:r>
          </a:p>
        </p:txBody>
      </p:sp>
      <p:sp>
        <p:nvSpPr>
          <p:cNvPr id="10244" name="Rectangle 4"/>
          <p:cNvSpPr>
            <a:spLocks noGrp="1" noChangeArrowheads="1"/>
          </p:cNvSpPr>
          <p:nvPr>
            <p:ph type="subTitle" idx="1"/>
          </p:nvPr>
        </p:nvSpPr>
        <p:spPr>
          <a:xfrm>
            <a:off x="533400" y="2924175"/>
            <a:ext cx="4105275" cy="1752600"/>
          </a:xfrm>
        </p:spPr>
        <p:txBody>
          <a:bodyPr/>
          <a:lstStyle>
            <a:lvl1pPr marL="0" indent="0">
              <a:buFont typeface="Times" panose="02020603050405020304" pitchFamily="18" charset="0"/>
              <a:buNone/>
              <a:defRPr sz="2400"/>
            </a:lvl1pPr>
          </a:lstStyle>
          <a:p>
            <a:pPr lvl="0"/>
            <a:r>
              <a:rPr lang="ja-JP" altLang="en-US" noProof="0"/>
              <a:t>マスター サブタイトルの書式設定</a:t>
            </a:r>
          </a:p>
        </p:txBody>
      </p:sp>
      <p:sp>
        <p:nvSpPr>
          <p:cNvPr id="10245" name="Rectangle 5"/>
          <p:cNvSpPr>
            <a:spLocks noGrp="1" noChangeArrowheads="1"/>
          </p:cNvSpPr>
          <p:nvPr>
            <p:ph type="dt" sz="half" idx="2"/>
          </p:nvPr>
        </p:nvSpPr>
        <p:spPr bwMode="auto">
          <a:xfrm>
            <a:off x="3563938" y="6589713"/>
            <a:ext cx="1090612" cy="26828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900">
                <a:latin typeface="+mn-lt"/>
              </a:defRPr>
            </a:lvl1pPr>
          </a:lstStyle>
          <a:p>
            <a:endParaRPr lang="en-US" altLang="ja-JP"/>
          </a:p>
        </p:txBody>
      </p:sp>
      <p:sp>
        <p:nvSpPr>
          <p:cNvPr id="10246" name="Rectangle 6"/>
          <p:cNvSpPr>
            <a:spLocks noGrp="1" noChangeArrowheads="1"/>
          </p:cNvSpPr>
          <p:nvPr>
            <p:ph type="ftr" sz="quarter" idx="3"/>
          </p:nvPr>
        </p:nvSpPr>
        <p:spPr bwMode="auto">
          <a:xfrm>
            <a:off x="4643438" y="6596063"/>
            <a:ext cx="4033837" cy="2889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000">
                <a:latin typeface="+mn-lt"/>
              </a:defRPr>
            </a:lvl1pPr>
          </a:lstStyle>
          <a:p>
            <a:r>
              <a:rPr lang="en-US" altLang="ja-JP"/>
              <a:t>©SIProp Project, 2006-2008</a:t>
            </a:r>
          </a:p>
        </p:txBody>
      </p:sp>
      <p:sp>
        <p:nvSpPr>
          <p:cNvPr id="10247" name="Rectangle 7"/>
          <p:cNvSpPr>
            <a:spLocks noGrp="1" noChangeArrowheads="1"/>
          </p:cNvSpPr>
          <p:nvPr>
            <p:ph type="sldNum" sz="quarter" idx="4"/>
          </p:nvPr>
        </p:nvSpPr>
        <p:spPr bwMode="auto">
          <a:xfrm>
            <a:off x="8701088" y="6578600"/>
            <a:ext cx="442912" cy="2794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1000">
                <a:latin typeface="+mn-lt"/>
              </a:defRPr>
            </a:lvl1pPr>
          </a:lstStyle>
          <a:p>
            <a:fld id="{176E8207-5532-44D7-850C-17E3892F72CD}" type="slidenum">
              <a:rPr lang="en-US" altLang="ja-JP"/>
              <a:pPr/>
              <a:t>‹#›</a:t>
            </a:fld>
            <a:endParaRPr lang="en-US" altLang="ja-JP"/>
          </a:p>
        </p:txBody>
      </p:sp>
      <p:sp>
        <p:nvSpPr>
          <p:cNvPr id="10249" name="Rectangle 9"/>
          <p:cNvSpPr>
            <a:spLocks noChangeArrowheads="1"/>
          </p:cNvSpPr>
          <p:nvPr/>
        </p:nvSpPr>
        <p:spPr bwMode="auto">
          <a:xfrm>
            <a:off x="0" y="2743200"/>
            <a:ext cx="9144000" cy="71438"/>
          </a:xfrm>
          <a:prstGeom prst="rect">
            <a:avLst/>
          </a:prstGeom>
          <a:gradFill rotWithShape="0">
            <a:gsLst>
              <a:gs pos="0">
                <a:schemeClr val="bg2"/>
              </a:gs>
              <a:gs pos="100000">
                <a:srgbClr val="FFFF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pic>
        <p:nvPicPr>
          <p:cNvPr id="10255" name="Picture 15" descr="siprop-ba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381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256" name="Picture 16" descr="siprop-whit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0" y="2844800"/>
            <a:ext cx="349250" cy="1169988"/>
          </a:xfrm>
          <a:prstGeom prst="rect">
            <a:avLst/>
          </a:prstGeom>
          <a:noFill/>
          <a:extLst>
            <a:ext uri="{909E8E84-426E-40DD-AFC4-6F175D3DCCD1}">
              <a14:hiddenFill xmlns:a14="http://schemas.microsoft.com/office/drawing/2010/main">
                <a:solidFill>
                  <a:srgbClr val="FFFFFF"/>
                </a:solidFill>
              </a14:hiddenFill>
            </a:ext>
          </a:extLst>
        </p:spPr>
      </p:pic>
      <p:pic>
        <p:nvPicPr>
          <p:cNvPr id="10257" name="Picture 17" descr="siprop-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0" y="4343400"/>
            <a:ext cx="3622675" cy="209708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449756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623888" y="1709738"/>
            <a:ext cx="7886700" cy="2852737"/>
          </a:xfrm>
        </p:spPr>
        <p:txBody>
          <a:bodyPr anchor="b"/>
          <a:lstStyle>
            <a:lvl1pPr>
              <a:defRPr sz="6000"/>
            </a:lvl1pPr>
          </a:lstStyle>
          <a:p>
            <a:r>
              <a:rPr lang="ja-JP" altLang="en-US"/>
              <a:t>マスター タイトルの書式設定</a:t>
            </a:r>
          </a:p>
        </p:txBody>
      </p:sp>
      <p:sp>
        <p:nvSpPr>
          <p:cNvPr id="3" name="テキスト プレースホルダー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ja-JP" altLang="en-US"/>
              <a:t>マスター テキストの書式設定</a:t>
            </a:r>
          </a:p>
        </p:txBody>
      </p:sp>
    </p:spTree>
    <p:extLst>
      <p:ext uri="{BB962C8B-B14F-4D97-AF65-F5344CB8AC3E}">
        <p14:creationId xmlns:p14="http://schemas.microsoft.com/office/powerpoint/2010/main" val="243866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838200" y="1125538"/>
            <a:ext cx="3810000" cy="532765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4800600" y="1125538"/>
            <a:ext cx="3810000" cy="532765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32273664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630238" y="365125"/>
            <a:ext cx="7886700" cy="1325563"/>
          </a:xfrm>
        </p:spPr>
        <p:txBody>
          <a:bodyPr/>
          <a:lstStyle/>
          <a:p>
            <a:r>
              <a:rPr lang="ja-JP" altLang="en-US"/>
              <a:t>マスター タイトルの書式設定</a:t>
            </a:r>
          </a:p>
        </p:txBody>
      </p:sp>
      <p:sp>
        <p:nvSpPr>
          <p:cNvPr id="3" name="テキスト プレースホルダー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630238" y="2505075"/>
            <a:ext cx="386873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4629150" y="2505075"/>
            <a:ext cx="38877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11599939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Tree>
    <p:extLst>
      <p:ext uri="{BB962C8B-B14F-4D97-AF65-F5344CB8AC3E}">
        <p14:creationId xmlns:p14="http://schemas.microsoft.com/office/powerpoint/2010/main" val="140538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2746156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630238" y="457200"/>
            <a:ext cx="2949575" cy="1600200"/>
          </a:xfrm>
        </p:spPr>
        <p:txBody>
          <a:bodyPr anchor="b"/>
          <a:lstStyle>
            <a:lvl1pPr>
              <a:defRPr sz="3200"/>
            </a:lvl1pPr>
          </a:lstStyle>
          <a:p>
            <a:r>
              <a:rPr lang="ja-JP" altLang="en-US"/>
              <a:t>マスター タイトルの書式設定</a:t>
            </a:r>
          </a:p>
        </p:txBody>
      </p:sp>
      <p:sp>
        <p:nvSpPr>
          <p:cNvPr id="3" name="コンテンツ プレースホルダー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36213967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630238" y="457200"/>
            <a:ext cx="2949575" cy="1600200"/>
          </a:xfrm>
        </p:spPr>
        <p:txBody>
          <a:bodyPr anchor="b"/>
          <a:lstStyle>
            <a:lvl1pPr>
              <a:defRPr sz="3200"/>
            </a:lvl1pPr>
          </a:lstStyle>
          <a:p>
            <a:r>
              <a:rPr lang="ja-JP" altLang="en-US"/>
              <a:t>マスター タイトルの書式設定</a:t>
            </a:r>
          </a:p>
        </p:txBody>
      </p:sp>
      <p:sp>
        <p:nvSpPr>
          <p:cNvPr id="3" name="図プレースホルダー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図を追加</a:t>
            </a:r>
          </a:p>
        </p:txBody>
      </p:sp>
      <p:sp>
        <p:nvSpPr>
          <p:cNvPr id="4" name="テキスト プレースホルダー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Tree>
    <p:extLst>
      <p:ext uri="{BB962C8B-B14F-4D97-AF65-F5344CB8AC3E}">
        <p14:creationId xmlns:p14="http://schemas.microsoft.com/office/powerpoint/2010/main" val="221668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1373877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67500" y="0"/>
            <a:ext cx="1943100" cy="6453188"/>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836613" y="0"/>
            <a:ext cx="5678487" cy="645318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extLst>
      <p:ext uri="{BB962C8B-B14F-4D97-AF65-F5344CB8AC3E}">
        <p14:creationId xmlns:p14="http://schemas.microsoft.com/office/powerpoint/2010/main" val="23395068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18" Type="http://schemas.openxmlformats.org/officeDocument/2006/relationships/image" Target="../media/image6.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image" Target="../media/image5.png"/><Relationship Id="rId2" Type="http://schemas.openxmlformats.org/officeDocument/2006/relationships/slideLayout" Target="../slideLayouts/slideLayout2.xml"/><Relationship Id="rId16" Type="http://schemas.openxmlformats.org/officeDocument/2006/relationships/image" Target="../media/image4.png"/><Relationship Id="rId20" Type="http://schemas.openxmlformats.org/officeDocument/2006/relationships/image" Target="../media/image8.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19" Type="http://schemas.openxmlformats.org/officeDocument/2006/relationships/image" Target="../media/image7.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2" name="Rectangle 18"/>
          <p:cNvSpPr>
            <a:spLocks noChangeArrowheads="1"/>
          </p:cNvSpPr>
          <p:nvPr/>
        </p:nvSpPr>
        <p:spPr bwMode="auto">
          <a:xfrm>
            <a:off x="0" y="838200"/>
            <a:ext cx="9144000" cy="71438"/>
          </a:xfrm>
          <a:prstGeom prst="rect">
            <a:avLst/>
          </a:prstGeom>
          <a:gradFill rotWithShape="0">
            <a:gsLst>
              <a:gs pos="0">
                <a:schemeClr val="bg2"/>
              </a:gs>
              <a:gs pos="100000">
                <a:srgbClr val="FFFFFF"/>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ja-JP" altLang="en-US"/>
          </a:p>
        </p:txBody>
      </p:sp>
      <p:sp>
        <p:nvSpPr>
          <p:cNvPr id="1026" name="Rectangle 2"/>
          <p:cNvSpPr>
            <a:spLocks noGrp="1" noChangeArrowheads="1"/>
          </p:cNvSpPr>
          <p:nvPr>
            <p:ph type="title"/>
          </p:nvPr>
        </p:nvSpPr>
        <p:spPr bwMode="auto">
          <a:xfrm>
            <a:off x="836613" y="0"/>
            <a:ext cx="7772400" cy="9080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Rectangle 3"/>
          <p:cNvSpPr>
            <a:spLocks noGrp="1" noChangeArrowheads="1"/>
          </p:cNvSpPr>
          <p:nvPr>
            <p:ph type="body" idx="1"/>
          </p:nvPr>
        </p:nvSpPr>
        <p:spPr bwMode="auto">
          <a:xfrm>
            <a:off x="838200" y="1125538"/>
            <a:ext cx="7772400" cy="5327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1035" name="Rectangle 11"/>
          <p:cNvSpPr>
            <a:spLocks noChangeArrowheads="1"/>
          </p:cNvSpPr>
          <p:nvPr/>
        </p:nvSpPr>
        <p:spPr bwMode="auto">
          <a:xfrm>
            <a:off x="3563938" y="6589713"/>
            <a:ext cx="1090612" cy="268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endParaRPr lang="en-US" altLang="ja-JP" sz="900">
              <a:latin typeface="ＭＳ Ｐゴシック" panose="020B0600070205080204" pitchFamily="50" charset="-128"/>
            </a:endParaRPr>
          </a:p>
        </p:txBody>
      </p:sp>
      <p:sp>
        <p:nvSpPr>
          <p:cNvPr id="1036" name="Rectangle 12"/>
          <p:cNvSpPr>
            <a:spLocks noChangeArrowheads="1"/>
          </p:cNvSpPr>
          <p:nvPr/>
        </p:nvSpPr>
        <p:spPr bwMode="auto">
          <a:xfrm>
            <a:off x="4643438" y="6596063"/>
            <a:ext cx="4033837" cy="288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r"/>
            <a:r>
              <a:rPr lang="en-US" altLang="ja-JP" sz="1000">
                <a:latin typeface="ＭＳ Ｐゴシック" panose="020B0600070205080204" pitchFamily="50" charset="-128"/>
              </a:rPr>
              <a:t>©SIProp Project, 2006-2008</a:t>
            </a:r>
          </a:p>
        </p:txBody>
      </p:sp>
      <p:sp>
        <p:nvSpPr>
          <p:cNvPr id="1037" name="Rectangle 13"/>
          <p:cNvSpPr>
            <a:spLocks noChangeArrowheads="1"/>
          </p:cNvSpPr>
          <p:nvPr/>
        </p:nvSpPr>
        <p:spPr bwMode="auto">
          <a:xfrm>
            <a:off x="8701088" y="6578600"/>
            <a:ext cx="442912" cy="279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p>
            <a:pPr algn="r"/>
            <a:fld id="{29BA83E5-E1F8-4721-B851-4203BEE23CBB}" type="slidenum">
              <a:rPr lang="en-US" altLang="ja-JP" sz="1000">
                <a:latin typeface="ＭＳ Ｐゴシック" panose="020B0600070205080204" pitchFamily="50" charset="-128"/>
              </a:rPr>
              <a:pPr algn="r"/>
              <a:t>‹#›</a:t>
            </a:fld>
            <a:endParaRPr lang="en-US" altLang="ja-JP" sz="1000">
              <a:latin typeface="ＭＳ Ｐゴシック" panose="020B0600070205080204" pitchFamily="50" charset="-128"/>
            </a:endParaRPr>
          </a:p>
        </p:txBody>
      </p:sp>
      <p:pic>
        <p:nvPicPr>
          <p:cNvPr id="1044" name="Picture 20" descr="siprop-ba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0" y="0"/>
            <a:ext cx="38100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21" descr="siprop-logo"/>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89863" y="0"/>
            <a:ext cx="1354137" cy="784225"/>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2" descr="siprop-whit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1750" y="2844800"/>
            <a:ext cx="349250" cy="1169988"/>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fontAlgn="base" hangingPunct="1">
        <a:spcBef>
          <a:spcPct val="0"/>
        </a:spcBef>
        <a:spcAft>
          <a:spcPct val="0"/>
        </a:spcAft>
        <a:defRPr kumimoji="1" sz="3600" kern="1200">
          <a:solidFill>
            <a:schemeClr val="tx2"/>
          </a:solidFill>
          <a:latin typeface="+mj-lt"/>
          <a:ea typeface="+mj-ea"/>
          <a:cs typeface="+mj-cs"/>
        </a:defRPr>
      </a:lvl1pPr>
      <a:lvl2pPr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2pPr>
      <a:lvl3pPr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3pPr>
      <a:lvl4pPr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4pPr>
      <a:lvl5pPr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5pPr>
      <a:lvl6pPr marL="457200"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6pPr>
      <a:lvl7pPr marL="914400"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7pPr>
      <a:lvl8pPr marL="1371600"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8pPr>
      <a:lvl9pPr marL="1828800" algn="l" rtl="0" eaLnBrk="1" fontAlgn="base" hangingPunct="1">
        <a:spcBef>
          <a:spcPct val="0"/>
        </a:spcBef>
        <a:spcAft>
          <a:spcPct val="0"/>
        </a:spcAft>
        <a:defRPr kumimoji="1" sz="3600">
          <a:solidFill>
            <a:schemeClr val="tx2"/>
          </a:solidFill>
          <a:latin typeface="ＭＳ Ｐゴシック" panose="020B0600070205080204" pitchFamily="50" charset="-128"/>
          <a:ea typeface="ＭＳ Ｐゴシック" panose="020B0600070205080204" pitchFamily="50" charset="-128"/>
        </a:defRPr>
      </a:lvl9pPr>
    </p:titleStyle>
    <p:bodyStyle>
      <a:lvl1pPr marL="342900" indent="-342900" algn="l" rtl="0" eaLnBrk="1" fontAlgn="base" hangingPunct="1">
        <a:spcBef>
          <a:spcPct val="20000"/>
        </a:spcBef>
        <a:spcAft>
          <a:spcPct val="0"/>
        </a:spcAft>
        <a:buFont typeface="Times" panose="02020603050405020304" pitchFamily="18" charset="0"/>
        <a:buBlip>
          <a:blip r:embed="rId16"/>
        </a:buBlip>
        <a:defRPr kumimoji="1" sz="2800" kern="1200">
          <a:solidFill>
            <a:schemeClr val="tx1"/>
          </a:solidFill>
          <a:latin typeface="+mn-lt"/>
          <a:ea typeface="+mn-ea"/>
          <a:cs typeface="+mn-cs"/>
        </a:defRPr>
      </a:lvl1pPr>
      <a:lvl2pPr marL="742950" indent="-285750" algn="l" rtl="0" eaLnBrk="1" fontAlgn="base" hangingPunct="1">
        <a:spcBef>
          <a:spcPct val="20000"/>
        </a:spcBef>
        <a:spcAft>
          <a:spcPct val="0"/>
        </a:spcAft>
        <a:buBlip>
          <a:blip r:embed="rId17"/>
        </a:buBlip>
        <a:defRPr kumimoji="1" sz="2400" kern="1200">
          <a:solidFill>
            <a:schemeClr val="tx1"/>
          </a:solidFill>
          <a:latin typeface="+mn-lt"/>
          <a:ea typeface="+mn-ea"/>
          <a:cs typeface="+mn-cs"/>
        </a:defRPr>
      </a:lvl2pPr>
      <a:lvl3pPr marL="1143000" indent="-228600" algn="l" rtl="0" eaLnBrk="1" fontAlgn="base" hangingPunct="1">
        <a:spcBef>
          <a:spcPct val="20000"/>
        </a:spcBef>
        <a:spcAft>
          <a:spcPct val="0"/>
        </a:spcAft>
        <a:buBlip>
          <a:blip r:embed="rId18"/>
        </a:buBlip>
        <a:defRPr kumimoji="1" sz="2000" kern="1200">
          <a:solidFill>
            <a:schemeClr val="tx1"/>
          </a:solidFill>
          <a:latin typeface="+mn-lt"/>
          <a:ea typeface="+mn-ea"/>
          <a:cs typeface="+mn-cs"/>
        </a:defRPr>
      </a:lvl3pPr>
      <a:lvl4pPr marL="1600200" indent="-228600" algn="l" rtl="0" eaLnBrk="1" fontAlgn="base" hangingPunct="1">
        <a:spcBef>
          <a:spcPct val="20000"/>
        </a:spcBef>
        <a:spcAft>
          <a:spcPct val="0"/>
        </a:spcAft>
        <a:buBlip>
          <a:blip r:embed="rId19"/>
        </a:buBlip>
        <a:defRPr kumimoji="1" kern="1200">
          <a:solidFill>
            <a:schemeClr val="tx1"/>
          </a:solidFill>
          <a:latin typeface="+mn-lt"/>
          <a:ea typeface="+mn-ea"/>
          <a:cs typeface="+mn-cs"/>
        </a:defRPr>
      </a:lvl4pPr>
      <a:lvl5pPr marL="2057400" indent="-228600" algn="l" rtl="0" eaLnBrk="1" fontAlgn="base" hangingPunct="1">
        <a:spcBef>
          <a:spcPct val="20000"/>
        </a:spcBef>
        <a:spcAft>
          <a:spcPct val="0"/>
        </a:spcAft>
        <a:buBlip>
          <a:blip r:embed="rId20"/>
        </a:buBlip>
        <a:defRPr kumimoj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hyperlink" Target="https://sourceforge.net/projects/hamlib/" TargetMode="External"/><Relationship Id="rId2" Type="http://schemas.openxmlformats.org/officeDocument/2006/relationships/hyperlink" Target="https://www.asus.com/jp/Tablets/ASUS-ZenPad-10-Z300CNL/" TargetMode="External"/><Relationship Id="rId1" Type="http://schemas.openxmlformats.org/officeDocument/2006/relationships/slideLayout" Target="../slideLayouts/slideLayout4.xml"/><Relationship Id="rId6" Type="http://schemas.openxmlformats.org/officeDocument/2006/relationships/hyperlink" Target="https://www.crowdsupply.com/lime-micro/limesdr" TargetMode="External"/><Relationship Id="rId5" Type="http://schemas.openxmlformats.org/officeDocument/2006/relationships/hyperlink" Target="https://github.com/pothosware/SoapySDR/wiki" TargetMode="External"/><Relationship Id="rId4" Type="http://schemas.openxmlformats.org/officeDocument/2006/relationships/hyperlink" Target="https://launchpad.net/~myriadrf/+archive/ubuntu/drivers" TargetMode="Externa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p:cNvSpPr>
            <a:spLocks noGrp="1" noChangeArrowheads="1"/>
          </p:cNvSpPr>
          <p:nvPr>
            <p:ph type="ftr" sz="quarter" idx="3"/>
          </p:nvPr>
        </p:nvSpPr>
        <p:spPr/>
        <p:txBody>
          <a:bodyPr/>
          <a:lstStyle/>
          <a:p>
            <a:r>
              <a:rPr lang="en-US" altLang="ja-JP"/>
              <a:t>©SIProp Project, 2006-2008</a:t>
            </a:r>
          </a:p>
        </p:txBody>
      </p:sp>
      <p:sp>
        <p:nvSpPr>
          <p:cNvPr id="6" name="Rectangle 7"/>
          <p:cNvSpPr>
            <a:spLocks noGrp="1" noChangeArrowheads="1"/>
          </p:cNvSpPr>
          <p:nvPr>
            <p:ph type="sldNum" sz="quarter" idx="4"/>
          </p:nvPr>
        </p:nvSpPr>
        <p:spPr/>
        <p:txBody>
          <a:bodyPr/>
          <a:lstStyle/>
          <a:p>
            <a:fld id="{5A9DBB48-0D10-474E-A4BB-263883375AED}" type="slidenum">
              <a:rPr lang="en-US" altLang="ja-JP"/>
              <a:pPr/>
              <a:t>1</a:t>
            </a:fld>
            <a:endParaRPr lang="en-US" altLang="ja-JP"/>
          </a:p>
        </p:txBody>
      </p:sp>
      <p:sp>
        <p:nvSpPr>
          <p:cNvPr id="2053" name="Rectangle 5"/>
          <p:cNvSpPr>
            <a:spLocks noGrp="1" noChangeArrowheads="1"/>
          </p:cNvSpPr>
          <p:nvPr>
            <p:ph type="ctrTitle"/>
          </p:nvPr>
        </p:nvSpPr>
        <p:spPr>
          <a:xfrm>
            <a:off x="533400" y="1352550"/>
            <a:ext cx="7772400" cy="1143000"/>
          </a:xfrm>
        </p:spPr>
        <p:txBody>
          <a:bodyPr/>
          <a:lstStyle/>
          <a:p>
            <a:r>
              <a:rPr lang="ja-JP" altLang="en-US" dirty="0"/>
              <a:t>衛星追尾ソフトウェア開発</a:t>
            </a:r>
            <a:r>
              <a:rPr lang="en-US" altLang="ja-JP" dirty="0"/>
              <a:t> </a:t>
            </a:r>
            <a:endParaRPr lang="ja-JP" altLang="ja-JP" dirty="0"/>
          </a:p>
        </p:txBody>
      </p:sp>
      <p:sp>
        <p:nvSpPr>
          <p:cNvPr id="2054" name="Rectangle 6"/>
          <p:cNvSpPr>
            <a:spLocks noGrp="1" noChangeArrowheads="1"/>
          </p:cNvSpPr>
          <p:nvPr>
            <p:ph type="subTitle" idx="1"/>
          </p:nvPr>
        </p:nvSpPr>
        <p:spPr/>
        <p:txBody>
          <a:bodyPr/>
          <a:lstStyle/>
          <a:p>
            <a:r>
              <a:rPr lang="en-US" altLang="ja-JP" dirty="0"/>
              <a:t>Noritsuna</a:t>
            </a:r>
            <a:r>
              <a:rPr lang="ja-JP" altLang="en-US" dirty="0"/>
              <a:t> </a:t>
            </a:r>
            <a:r>
              <a:rPr lang="en-US" altLang="ja-JP" dirty="0"/>
              <a:t>Imamura</a:t>
            </a:r>
          </a:p>
          <a:p>
            <a:r>
              <a:rPr lang="en-US" altLang="ja-JP" dirty="0"/>
              <a:t>noritsuna@siprop.org</a:t>
            </a:r>
            <a:endParaRPr lang="ja-JP" altLang="ja-JP"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lang="ja-JP" altLang="en-US" dirty="0"/>
              <a:t>構成概要</a:t>
            </a:r>
            <a:endParaRPr kumimoji="1" lang="ja-JP" altLang="en-US" dirty="0"/>
          </a:p>
        </p:txBody>
      </p:sp>
      <p:sp>
        <p:nvSpPr>
          <p:cNvPr id="6" name="コンテンツ プレースホルダー 5"/>
          <p:cNvSpPr>
            <a:spLocks noGrp="1"/>
          </p:cNvSpPr>
          <p:nvPr>
            <p:ph sz="half" idx="1"/>
          </p:nvPr>
        </p:nvSpPr>
        <p:spPr/>
        <p:txBody>
          <a:bodyPr/>
          <a:lstStyle/>
          <a:p>
            <a:r>
              <a:rPr lang="ja-JP" altLang="en-US" sz="2400" dirty="0"/>
              <a:t>マスター地球局（送受信可能）</a:t>
            </a:r>
            <a:endParaRPr kumimoji="1" lang="en-US" altLang="ja-JP" sz="2400" dirty="0"/>
          </a:p>
          <a:p>
            <a:pPr lvl="1"/>
            <a:r>
              <a:rPr lang="ja-JP" altLang="en-US" sz="2000" dirty="0"/>
              <a:t>一般的な衛星無線機設備</a:t>
            </a:r>
            <a:endParaRPr kumimoji="1" lang="en-US" altLang="ja-JP" sz="2000" dirty="0"/>
          </a:p>
          <a:p>
            <a:pPr lvl="2"/>
            <a:r>
              <a:rPr lang="en-US" altLang="ja-JP" sz="1800" dirty="0"/>
              <a:t>Windows</a:t>
            </a:r>
            <a:r>
              <a:rPr lang="ja-JP" altLang="en-US" sz="1800" dirty="0"/>
              <a:t> </a:t>
            </a:r>
            <a:r>
              <a:rPr lang="en-US" altLang="ja-JP" sz="1800" dirty="0"/>
              <a:t>PC</a:t>
            </a:r>
            <a:r>
              <a:rPr lang="ja-JP" altLang="en-US" sz="1800" dirty="0"/>
              <a:t> </a:t>
            </a:r>
            <a:r>
              <a:rPr lang="en-US" altLang="ja-JP" sz="1800" dirty="0"/>
              <a:t>or </a:t>
            </a:r>
            <a:r>
              <a:rPr lang="ja-JP" altLang="en-US" sz="1800" dirty="0"/>
              <a:t>タブレット</a:t>
            </a:r>
            <a:endParaRPr lang="en-US" altLang="ja-JP" sz="1800" dirty="0"/>
          </a:p>
          <a:p>
            <a:pPr lvl="2"/>
            <a:r>
              <a:rPr lang="ja-JP" altLang="en-US" sz="1800" dirty="0"/>
              <a:t>受信用</a:t>
            </a:r>
            <a:r>
              <a:rPr lang="en-US" altLang="ja-JP" sz="1800" dirty="0"/>
              <a:t>SDR</a:t>
            </a:r>
          </a:p>
          <a:p>
            <a:pPr lvl="2"/>
            <a:r>
              <a:rPr kumimoji="1" lang="ja-JP" altLang="en-US" sz="1800" dirty="0"/>
              <a:t>市販のアマチュア無線機</a:t>
            </a:r>
            <a:endParaRPr lang="en-US" altLang="ja-JP" sz="1800" dirty="0"/>
          </a:p>
          <a:p>
            <a:pPr lvl="2"/>
            <a:r>
              <a:rPr lang="ja-JP" altLang="en-US" sz="1800" dirty="0"/>
              <a:t>八木アンテナ＋ローテーター</a:t>
            </a:r>
            <a:endParaRPr lang="en-US" altLang="ja-JP" sz="1800" dirty="0"/>
          </a:p>
          <a:p>
            <a:pPr lvl="1"/>
            <a:r>
              <a:rPr lang="ja-JP" altLang="en-US" sz="2200" dirty="0"/>
              <a:t>衛星追尾ソフトウェア</a:t>
            </a:r>
            <a:endParaRPr lang="en-US" altLang="ja-JP" sz="2200" dirty="0"/>
          </a:p>
          <a:p>
            <a:pPr lvl="2"/>
            <a:r>
              <a:rPr kumimoji="1" lang="ja-JP" altLang="en-US" sz="1800" dirty="0"/>
              <a:t>アマチュア無線機制御</a:t>
            </a:r>
            <a:endParaRPr kumimoji="1" lang="en-US" altLang="ja-JP" sz="1800" dirty="0"/>
          </a:p>
          <a:p>
            <a:pPr lvl="2"/>
            <a:r>
              <a:rPr lang="ja-JP" altLang="en-US" sz="1800" dirty="0"/>
              <a:t>ローテーター制御</a:t>
            </a:r>
            <a:endParaRPr kumimoji="1" lang="en-US" altLang="ja-JP" sz="1800" dirty="0"/>
          </a:p>
          <a:p>
            <a:pPr lvl="2"/>
            <a:r>
              <a:rPr lang="ja-JP" altLang="en-US" sz="1800" dirty="0"/>
              <a:t>コマンド生成・送信</a:t>
            </a:r>
            <a:endParaRPr kumimoji="1" lang="en-US" altLang="ja-JP" sz="1600" dirty="0"/>
          </a:p>
          <a:p>
            <a:r>
              <a:rPr lang="ja-JP" altLang="en-US" sz="2400" dirty="0"/>
              <a:t>スマホ地球局（受信専用）</a:t>
            </a:r>
            <a:endParaRPr lang="en-US" altLang="ja-JP" sz="2400" dirty="0"/>
          </a:p>
          <a:p>
            <a:pPr lvl="1"/>
            <a:r>
              <a:rPr lang="ja-JP" altLang="en-US" sz="2000" dirty="0"/>
              <a:t>簡易無線設備</a:t>
            </a:r>
            <a:endParaRPr lang="en-US" altLang="ja-JP" sz="2000" dirty="0"/>
          </a:p>
          <a:p>
            <a:pPr lvl="2"/>
            <a:r>
              <a:rPr lang="en-US" altLang="ja-JP" sz="1600" dirty="0"/>
              <a:t>Android</a:t>
            </a:r>
            <a:r>
              <a:rPr lang="ja-JP" altLang="en-US" sz="1600" dirty="0"/>
              <a:t> スマホ</a:t>
            </a:r>
            <a:endParaRPr lang="en-US" altLang="ja-JP" sz="1600" dirty="0"/>
          </a:p>
          <a:p>
            <a:pPr lvl="2"/>
            <a:r>
              <a:rPr lang="ja-JP" altLang="en-US" sz="1600" dirty="0"/>
              <a:t>受信用</a:t>
            </a:r>
            <a:r>
              <a:rPr lang="en-US" altLang="ja-JP" sz="1600" dirty="0"/>
              <a:t>SDR</a:t>
            </a:r>
            <a:r>
              <a:rPr lang="ja-JP" altLang="en-US" sz="1600" dirty="0"/>
              <a:t>＋プリアンプ</a:t>
            </a:r>
            <a:endParaRPr lang="en-US" altLang="ja-JP" sz="1600" dirty="0"/>
          </a:p>
          <a:p>
            <a:pPr lvl="2"/>
            <a:r>
              <a:rPr lang="ja-JP" altLang="en-US" sz="1600" dirty="0"/>
              <a:t>簡易八木アンテナ</a:t>
            </a:r>
            <a:endParaRPr lang="en-US" altLang="ja-JP" sz="1600" dirty="0"/>
          </a:p>
        </p:txBody>
      </p:sp>
      <p:sp>
        <p:nvSpPr>
          <p:cNvPr id="2" name="コンテンツ プレースホルダー 1"/>
          <p:cNvSpPr>
            <a:spLocks noGrp="1"/>
          </p:cNvSpPr>
          <p:nvPr>
            <p:ph sz="half" idx="2"/>
          </p:nvPr>
        </p:nvSpPr>
        <p:spPr/>
        <p:txBody>
          <a:bodyPr/>
          <a:lstStyle/>
          <a:p>
            <a:r>
              <a:rPr lang="ja-JP" altLang="en-US" sz="2400" dirty="0"/>
              <a:t>共通機能</a:t>
            </a:r>
            <a:endParaRPr lang="en-US" altLang="ja-JP" sz="2400" dirty="0"/>
          </a:p>
          <a:p>
            <a:pPr lvl="1"/>
            <a:r>
              <a:rPr lang="ja-JP" altLang="en-US" sz="2000" dirty="0"/>
              <a:t>衛星追尾ソフトウェア</a:t>
            </a:r>
            <a:endParaRPr lang="en-US" altLang="ja-JP" sz="2000" dirty="0"/>
          </a:p>
          <a:p>
            <a:pPr lvl="2"/>
            <a:r>
              <a:rPr lang="ja-JP" altLang="en-US" sz="1800" dirty="0"/>
              <a:t>パケットデコーダー</a:t>
            </a:r>
            <a:endParaRPr lang="en-US" altLang="ja-JP" sz="1800" dirty="0"/>
          </a:p>
          <a:p>
            <a:pPr lvl="3"/>
            <a:r>
              <a:rPr lang="en-US" altLang="ja-JP" sz="1600" dirty="0"/>
              <a:t>LDPC</a:t>
            </a:r>
          </a:p>
          <a:p>
            <a:pPr lvl="3"/>
            <a:r>
              <a:rPr lang="en-US" altLang="ja-JP" sz="1600" dirty="0"/>
              <a:t>DTN</a:t>
            </a:r>
            <a:r>
              <a:rPr lang="ja-JP" altLang="en-US" sz="1600" dirty="0"/>
              <a:t>プロトコル</a:t>
            </a:r>
            <a:endParaRPr lang="en-US" altLang="ja-JP" sz="1600" dirty="0"/>
          </a:p>
          <a:p>
            <a:pPr lvl="2"/>
            <a:r>
              <a:rPr lang="en-US" altLang="ja-JP" sz="1800" dirty="0"/>
              <a:t>SDR</a:t>
            </a:r>
            <a:r>
              <a:rPr lang="ja-JP" altLang="en-US" sz="1800" dirty="0"/>
              <a:t>制御</a:t>
            </a:r>
            <a:endParaRPr lang="en-US" altLang="ja-JP" sz="1800" dirty="0"/>
          </a:p>
          <a:p>
            <a:pPr lvl="3"/>
            <a:r>
              <a:rPr lang="ja-JP" altLang="en-US" sz="1600" dirty="0"/>
              <a:t>ドップラーシフト</a:t>
            </a:r>
            <a:endParaRPr lang="en-US" altLang="ja-JP" sz="1600" dirty="0"/>
          </a:p>
          <a:p>
            <a:r>
              <a:rPr lang="ja-JP" altLang="en-US" sz="2400" dirty="0"/>
              <a:t>分散協調ネットワーク</a:t>
            </a:r>
            <a:endParaRPr lang="en-US" altLang="ja-JP" sz="2400" dirty="0"/>
          </a:p>
          <a:p>
            <a:pPr lvl="1"/>
            <a:r>
              <a:rPr lang="ja-JP" altLang="en-US" sz="2000" dirty="0"/>
              <a:t>衛星</a:t>
            </a:r>
            <a:endParaRPr lang="en-US" altLang="ja-JP" sz="2000" dirty="0"/>
          </a:p>
          <a:p>
            <a:pPr lvl="2"/>
            <a:r>
              <a:rPr lang="en-US" altLang="ja-JP" sz="1600" dirty="0"/>
              <a:t>DTN</a:t>
            </a:r>
            <a:r>
              <a:rPr lang="ja-JP" altLang="en-US" sz="1600" dirty="0"/>
              <a:t>プロトコル</a:t>
            </a:r>
            <a:endParaRPr lang="en-US" altLang="ja-JP" sz="1600" dirty="0"/>
          </a:p>
          <a:p>
            <a:pPr lvl="1"/>
            <a:r>
              <a:rPr lang="ja-JP" altLang="en-US" sz="2000" dirty="0"/>
              <a:t>コントロールサーバ</a:t>
            </a:r>
            <a:endParaRPr lang="en-US" altLang="ja-JP" sz="2000" dirty="0"/>
          </a:p>
          <a:p>
            <a:pPr lvl="2"/>
            <a:r>
              <a:rPr lang="ja-JP" altLang="en-US" sz="1800" dirty="0"/>
              <a:t>データのマージ</a:t>
            </a:r>
            <a:endParaRPr lang="en-US" altLang="ja-JP" sz="1800" dirty="0"/>
          </a:p>
          <a:p>
            <a:pPr lvl="2"/>
            <a:r>
              <a:rPr lang="ja-JP" altLang="en-US" sz="1800" dirty="0"/>
              <a:t>衛星情報管理</a:t>
            </a:r>
            <a:endParaRPr lang="en-US" altLang="ja-JP" sz="1800" dirty="0"/>
          </a:p>
          <a:p>
            <a:pPr lvl="1"/>
            <a:r>
              <a:rPr lang="ja-JP" altLang="en-US" sz="2000" dirty="0"/>
              <a:t>地球局</a:t>
            </a:r>
            <a:r>
              <a:rPr lang="en-US" altLang="ja-JP" sz="2000" dirty="0"/>
              <a:t>(</a:t>
            </a:r>
            <a:r>
              <a:rPr lang="ja-JP" altLang="en-US" sz="2000" dirty="0"/>
              <a:t>クライアント</a:t>
            </a:r>
            <a:r>
              <a:rPr lang="en-US" altLang="ja-JP" sz="2000" dirty="0"/>
              <a:t>)</a:t>
            </a:r>
          </a:p>
          <a:p>
            <a:pPr lvl="2"/>
            <a:r>
              <a:rPr lang="ja-JP" altLang="en-US" sz="1600" dirty="0"/>
              <a:t>データのサーバへの送信</a:t>
            </a:r>
            <a:endParaRPr lang="en-US" altLang="ja-JP" sz="1600" dirty="0"/>
          </a:p>
          <a:p>
            <a:pPr lvl="2"/>
            <a:r>
              <a:rPr lang="ja-JP" altLang="en-US" sz="1600" dirty="0"/>
              <a:t>衛星情報の取得</a:t>
            </a:r>
            <a:endParaRPr lang="en-US" altLang="ja-JP" dirty="0"/>
          </a:p>
        </p:txBody>
      </p:sp>
    </p:spTree>
    <p:extLst>
      <p:ext uri="{BB962C8B-B14F-4D97-AF65-F5344CB8AC3E}">
        <p14:creationId xmlns:p14="http://schemas.microsoft.com/office/powerpoint/2010/main" val="42851955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マスター地球局</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613" y="1611153"/>
            <a:ext cx="7764579" cy="498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正方形/長方形 3"/>
          <p:cNvSpPr/>
          <p:nvPr/>
        </p:nvSpPr>
        <p:spPr>
          <a:xfrm>
            <a:off x="825354" y="3645024"/>
            <a:ext cx="2232248" cy="223224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kumimoji="1" lang="ja-JP" altLang="en-US" dirty="0"/>
              <a:t>受信用</a:t>
            </a:r>
            <a:r>
              <a:rPr kumimoji="1" lang="en-US" altLang="ja-JP" dirty="0"/>
              <a:t>SDR</a:t>
            </a:r>
          </a:p>
          <a:p>
            <a:r>
              <a:rPr lang="ja-JP" altLang="en-US" dirty="0"/>
              <a:t>・</a:t>
            </a:r>
            <a:r>
              <a:rPr lang="en-US" altLang="ja-JP" dirty="0" err="1"/>
              <a:t>LimeSDR</a:t>
            </a:r>
            <a:endParaRPr kumimoji="1" lang="en-US" altLang="ja-JP" dirty="0"/>
          </a:p>
          <a:p>
            <a:endParaRPr kumimoji="1" lang="ja-JP" altLang="en-US" dirty="0"/>
          </a:p>
        </p:txBody>
      </p:sp>
      <p:pic>
        <p:nvPicPr>
          <p:cNvPr id="6" name="コンテンツ プレースホルダー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87624" y="4567187"/>
            <a:ext cx="1440160" cy="1094061"/>
          </a:xfrm>
        </p:spPr>
      </p:pic>
      <p:sp>
        <p:nvSpPr>
          <p:cNvPr id="7" name="正方形/長方形 6"/>
          <p:cNvSpPr/>
          <p:nvPr/>
        </p:nvSpPr>
        <p:spPr>
          <a:xfrm>
            <a:off x="3491880" y="6165304"/>
            <a:ext cx="4256456" cy="21602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t>SDR</a:t>
            </a:r>
            <a:r>
              <a:rPr kumimoji="1" lang="ja-JP" altLang="en-US" sz="1200" dirty="0"/>
              <a:t>ドライバ（ドップラーシフト機能付き）＋パケットデコーダー</a:t>
            </a:r>
          </a:p>
        </p:txBody>
      </p:sp>
    </p:spTree>
    <p:extLst>
      <p:ext uri="{BB962C8B-B14F-4D97-AF65-F5344CB8AC3E}">
        <p14:creationId xmlns:p14="http://schemas.microsoft.com/office/powerpoint/2010/main" val="2723382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パソコン・タブレットモード</a:t>
            </a:r>
          </a:p>
        </p:txBody>
      </p:sp>
      <p:sp>
        <p:nvSpPr>
          <p:cNvPr id="3" name="コンテンツ プレースホルダー 2"/>
          <p:cNvSpPr>
            <a:spLocks noGrp="1"/>
          </p:cNvSpPr>
          <p:nvPr>
            <p:ph idx="1"/>
          </p:nvPr>
        </p:nvSpPr>
        <p:spPr/>
        <p:txBody>
          <a:bodyPr/>
          <a:lstStyle/>
          <a:p>
            <a:r>
              <a:rPr lang="en-US" altLang="ja-JP" dirty="0" err="1"/>
              <a:t>CalSat</a:t>
            </a:r>
            <a:r>
              <a:rPr lang="ja-JP" altLang="en-US" dirty="0"/>
              <a:t>準拠でほぼクローンとして作成する</a:t>
            </a:r>
            <a:endParaRPr kumimoji="1" lang="ja-JP" altLang="en-US" dirty="0"/>
          </a:p>
        </p:txBody>
      </p:sp>
      <p:pic>
        <p:nvPicPr>
          <p:cNvPr id="4" name="図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19672" y="2204864"/>
            <a:ext cx="6372200" cy="4580018"/>
          </a:xfrm>
          <a:prstGeom prst="rect">
            <a:avLst/>
          </a:prstGeom>
        </p:spPr>
      </p:pic>
    </p:spTree>
    <p:extLst>
      <p:ext uri="{BB962C8B-B14F-4D97-AF65-F5344CB8AC3E}">
        <p14:creationId xmlns:p14="http://schemas.microsoft.com/office/powerpoint/2010/main" val="2816984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スマホ地球局（受信専用）</a:t>
            </a:r>
          </a:p>
        </p:txBody>
      </p:sp>
      <p:pic>
        <p:nvPicPr>
          <p:cNvPr id="7" name="コンテンツ プレースホルダー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923928" y="908720"/>
            <a:ext cx="6096000" cy="4572000"/>
          </a:xfrm>
        </p:spPr>
      </p:pic>
      <p:pic>
        <p:nvPicPr>
          <p:cNvPr id="5"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flipH="1">
            <a:off x="6948264" y="5261715"/>
            <a:ext cx="1907704" cy="16236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 name="図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8" y="1005221"/>
            <a:ext cx="3918340" cy="5883256"/>
          </a:xfrm>
          <a:prstGeom prst="rect">
            <a:avLst/>
          </a:prstGeom>
        </p:spPr>
      </p:pic>
    </p:spTree>
    <p:extLst>
      <p:ext uri="{BB962C8B-B14F-4D97-AF65-F5344CB8AC3E}">
        <p14:creationId xmlns:p14="http://schemas.microsoft.com/office/powerpoint/2010/main" val="1585714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分散協調ネットワーク</a:t>
            </a:r>
          </a:p>
        </p:txBody>
      </p:sp>
      <p:sp>
        <p:nvSpPr>
          <p:cNvPr id="3" name="コンテンツ プレースホルダー 2"/>
          <p:cNvSpPr>
            <a:spLocks noGrp="1"/>
          </p:cNvSpPr>
          <p:nvPr>
            <p:ph idx="1"/>
          </p:nvPr>
        </p:nvSpPr>
        <p:spPr/>
        <p:txBody>
          <a:bodyPr/>
          <a:lstStyle/>
          <a:p>
            <a:endParaRPr kumimoji="1" lang="ja-JP" altLang="en-US"/>
          </a:p>
        </p:txBody>
      </p:sp>
      <p:pic>
        <p:nvPicPr>
          <p:cNvPr id="4" name="図 3"/>
          <p:cNvPicPr>
            <a:picLocks noChangeAspect="1"/>
          </p:cNvPicPr>
          <p:nvPr/>
        </p:nvPicPr>
        <p:blipFill>
          <a:blip r:embed="rId2"/>
          <a:stretch>
            <a:fillRect/>
          </a:stretch>
        </p:blipFill>
        <p:spPr>
          <a:xfrm>
            <a:off x="-36512" y="908720"/>
            <a:ext cx="9144000" cy="5946617"/>
          </a:xfrm>
          <a:prstGeom prst="rect">
            <a:avLst/>
          </a:prstGeom>
        </p:spPr>
      </p:pic>
    </p:spTree>
    <p:extLst>
      <p:ext uri="{BB962C8B-B14F-4D97-AF65-F5344CB8AC3E}">
        <p14:creationId xmlns:p14="http://schemas.microsoft.com/office/powerpoint/2010/main" val="1201326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衛星追尾ソフトウェア機能</a:t>
            </a:r>
          </a:p>
        </p:txBody>
      </p:sp>
      <p:sp>
        <p:nvSpPr>
          <p:cNvPr id="3" name="コンテンツ プレースホルダー 2"/>
          <p:cNvSpPr>
            <a:spLocks noGrp="1"/>
          </p:cNvSpPr>
          <p:nvPr>
            <p:ph sz="half" idx="1"/>
          </p:nvPr>
        </p:nvSpPr>
        <p:spPr/>
        <p:txBody>
          <a:bodyPr/>
          <a:lstStyle/>
          <a:p>
            <a:r>
              <a:rPr lang="en-US" altLang="ja-JP" dirty="0"/>
              <a:t>BBM(</a:t>
            </a:r>
            <a:r>
              <a:rPr lang="ja-JP" altLang="en-US" dirty="0"/>
              <a:t>受信機能</a:t>
            </a:r>
            <a:r>
              <a:rPr lang="en-US" altLang="ja-JP" dirty="0"/>
              <a:t>)</a:t>
            </a:r>
            <a:endParaRPr kumimoji="1" lang="en-US" altLang="ja-JP" dirty="0"/>
          </a:p>
          <a:p>
            <a:pPr lvl="1"/>
            <a:r>
              <a:rPr lang="ja-JP" altLang="en-US" dirty="0"/>
              <a:t>衛星追尾ソフトウェア</a:t>
            </a:r>
            <a:endParaRPr lang="en-US" altLang="ja-JP" dirty="0"/>
          </a:p>
          <a:p>
            <a:pPr lvl="2"/>
            <a:r>
              <a:rPr lang="ja-JP" altLang="en-US" dirty="0"/>
              <a:t>よくある軌道計算</a:t>
            </a:r>
            <a:endParaRPr lang="en-US" altLang="ja-JP" dirty="0"/>
          </a:p>
          <a:p>
            <a:pPr lvl="2"/>
            <a:r>
              <a:rPr lang="ja-JP" altLang="en-US" dirty="0"/>
              <a:t>衛星選択・軌道表示</a:t>
            </a:r>
            <a:endParaRPr lang="en-US" altLang="ja-JP" dirty="0"/>
          </a:p>
          <a:p>
            <a:pPr lvl="3"/>
            <a:r>
              <a:rPr lang="ja-JP" altLang="en-US" dirty="0"/>
              <a:t>スマホモード</a:t>
            </a:r>
            <a:endParaRPr lang="en-US" altLang="ja-JP" dirty="0"/>
          </a:p>
          <a:p>
            <a:pPr lvl="3"/>
            <a:r>
              <a:rPr lang="ja-JP" altLang="en-US" dirty="0"/>
              <a:t>デスクトップモード</a:t>
            </a:r>
            <a:endParaRPr lang="en-US" altLang="ja-JP" dirty="0"/>
          </a:p>
          <a:p>
            <a:pPr lvl="2"/>
            <a:r>
              <a:rPr lang="en-US" altLang="ja-JP" dirty="0"/>
              <a:t>Win/Android</a:t>
            </a:r>
          </a:p>
          <a:p>
            <a:pPr lvl="1"/>
            <a:r>
              <a:rPr lang="ja-JP" altLang="en-US" dirty="0"/>
              <a:t>データ受信</a:t>
            </a:r>
            <a:endParaRPr lang="en-US" altLang="ja-JP" dirty="0"/>
          </a:p>
          <a:p>
            <a:pPr lvl="2"/>
            <a:r>
              <a:rPr lang="ja-JP" altLang="en-US" dirty="0"/>
              <a:t>受信データ指示</a:t>
            </a:r>
            <a:endParaRPr lang="en-US" altLang="ja-JP" dirty="0"/>
          </a:p>
          <a:p>
            <a:pPr lvl="2"/>
            <a:r>
              <a:rPr lang="ja-JP" altLang="en-US" dirty="0"/>
              <a:t>受信データ表示</a:t>
            </a:r>
            <a:endParaRPr lang="en-US" altLang="ja-JP" dirty="0"/>
          </a:p>
          <a:p>
            <a:pPr lvl="1"/>
            <a:r>
              <a:rPr lang="ja-JP" altLang="en-US" dirty="0"/>
              <a:t>無線機制御</a:t>
            </a:r>
            <a:endParaRPr lang="en-US" altLang="ja-JP" dirty="0"/>
          </a:p>
          <a:p>
            <a:pPr lvl="2"/>
            <a:r>
              <a:rPr lang="en-US" altLang="ja-JP" dirty="0"/>
              <a:t>SDR</a:t>
            </a:r>
          </a:p>
          <a:p>
            <a:pPr lvl="2"/>
            <a:r>
              <a:rPr lang="ja-JP" altLang="en-US" dirty="0"/>
              <a:t>ドップラーシフト</a:t>
            </a:r>
            <a:endParaRPr lang="en-US" altLang="ja-JP" dirty="0"/>
          </a:p>
          <a:p>
            <a:pPr lvl="2"/>
            <a:r>
              <a:rPr lang="ja-JP" altLang="en-US" dirty="0"/>
              <a:t>周波数帯設定</a:t>
            </a:r>
            <a:endParaRPr lang="en-US" altLang="ja-JP" dirty="0"/>
          </a:p>
        </p:txBody>
      </p:sp>
      <p:sp>
        <p:nvSpPr>
          <p:cNvPr id="4" name="コンテンツ プレースホルダー 3"/>
          <p:cNvSpPr>
            <a:spLocks noGrp="1"/>
          </p:cNvSpPr>
          <p:nvPr>
            <p:ph sz="half" idx="2"/>
          </p:nvPr>
        </p:nvSpPr>
        <p:spPr/>
        <p:txBody>
          <a:bodyPr/>
          <a:lstStyle/>
          <a:p>
            <a:r>
              <a:rPr lang="en-US" altLang="ja-JP" dirty="0"/>
              <a:t>EM</a:t>
            </a:r>
            <a:r>
              <a:rPr lang="ja-JP" altLang="en-US" dirty="0"/>
              <a:t>（フル機能）</a:t>
            </a:r>
            <a:endParaRPr lang="en-US" altLang="ja-JP" dirty="0"/>
          </a:p>
          <a:p>
            <a:pPr lvl="1"/>
            <a:r>
              <a:rPr lang="ja-JP" altLang="en-US" dirty="0"/>
              <a:t>衛星追尾ソフトウェア</a:t>
            </a:r>
            <a:endParaRPr lang="en-US" altLang="ja-JP" dirty="0"/>
          </a:p>
          <a:p>
            <a:pPr lvl="2"/>
            <a:r>
              <a:rPr lang="ja-JP" altLang="en-US" dirty="0"/>
              <a:t>衛星へのコマンド送信</a:t>
            </a:r>
            <a:endParaRPr lang="en-US" altLang="ja-JP" dirty="0"/>
          </a:p>
          <a:p>
            <a:pPr lvl="1"/>
            <a:r>
              <a:rPr lang="ja-JP" altLang="en-US" dirty="0"/>
              <a:t>衛星追尾装置連携</a:t>
            </a:r>
            <a:endParaRPr lang="en-US" altLang="ja-JP" dirty="0"/>
          </a:p>
          <a:p>
            <a:pPr lvl="2"/>
            <a:r>
              <a:rPr lang="en-US" altLang="ja-JP" dirty="0"/>
              <a:t>PICNIC</a:t>
            </a:r>
          </a:p>
          <a:p>
            <a:pPr lvl="2"/>
            <a:r>
              <a:rPr lang="en-US" altLang="ja-JP" dirty="0"/>
              <a:t>RAC825</a:t>
            </a:r>
          </a:p>
          <a:p>
            <a:pPr lvl="1"/>
            <a:r>
              <a:rPr lang="ja-JP" altLang="en-US" dirty="0"/>
              <a:t>分散協調ネットワーク</a:t>
            </a:r>
            <a:endParaRPr lang="en-US" altLang="ja-JP" dirty="0"/>
          </a:p>
          <a:p>
            <a:pPr lvl="2"/>
            <a:r>
              <a:rPr lang="ja-JP" altLang="en-US" dirty="0"/>
              <a:t>データのマージ</a:t>
            </a:r>
            <a:endParaRPr lang="en-US" altLang="ja-JP" dirty="0"/>
          </a:p>
          <a:p>
            <a:pPr lvl="2"/>
            <a:r>
              <a:rPr lang="ja-JP" altLang="en-US" dirty="0"/>
              <a:t>衛星情報管理</a:t>
            </a:r>
            <a:endParaRPr lang="en-US" altLang="ja-JP" dirty="0"/>
          </a:p>
          <a:p>
            <a:pPr lvl="3"/>
            <a:r>
              <a:rPr lang="ja-JP" altLang="en-US" dirty="0"/>
              <a:t>軌道情報</a:t>
            </a:r>
            <a:endParaRPr lang="en-US" altLang="ja-JP" dirty="0"/>
          </a:p>
          <a:p>
            <a:pPr lvl="3"/>
            <a:r>
              <a:rPr lang="ja-JP" altLang="en-US" dirty="0"/>
              <a:t>ターゲットデータ一覧</a:t>
            </a:r>
            <a:endParaRPr lang="en-US" altLang="ja-JP" dirty="0"/>
          </a:p>
          <a:p>
            <a:pPr lvl="3"/>
            <a:r>
              <a:rPr lang="ja-JP" altLang="en-US" dirty="0"/>
              <a:t>コマンド一覧</a:t>
            </a:r>
            <a:endParaRPr lang="en-US" altLang="ja-JP" dirty="0"/>
          </a:p>
          <a:p>
            <a:pPr lvl="2"/>
            <a:endParaRPr lang="en-US" altLang="ja-JP" dirty="0"/>
          </a:p>
        </p:txBody>
      </p:sp>
    </p:spTree>
    <p:extLst>
      <p:ext uri="{BB962C8B-B14F-4D97-AF65-F5344CB8AC3E}">
        <p14:creationId xmlns:p14="http://schemas.microsoft.com/office/powerpoint/2010/main" val="41930969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ターゲット</a:t>
            </a:r>
          </a:p>
        </p:txBody>
      </p:sp>
      <p:sp>
        <p:nvSpPr>
          <p:cNvPr id="3" name="コンテンツ プレースホルダー 2"/>
          <p:cNvSpPr>
            <a:spLocks noGrp="1"/>
          </p:cNvSpPr>
          <p:nvPr>
            <p:ph sz="half" idx="1"/>
          </p:nvPr>
        </p:nvSpPr>
        <p:spPr/>
        <p:txBody>
          <a:bodyPr/>
          <a:lstStyle/>
          <a:p>
            <a:r>
              <a:rPr kumimoji="1" lang="ja-JP" altLang="en-US" dirty="0"/>
              <a:t>ターゲットデバイス</a:t>
            </a:r>
            <a:endParaRPr kumimoji="1" lang="en-US" altLang="ja-JP" dirty="0"/>
          </a:p>
          <a:p>
            <a:pPr lvl="1"/>
            <a:r>
              <a:rPr lang="en-US" altLang="ja-JP" dirty="0"/>
              <a:t>Windows10</a:t>
            </a:r>
          </a:p>
          <a:p>
            <a:pPr lvl="2"/>
            <a:r>
              <a:rPr lang="en-US" altLang="ja-JP" dirty="0"/>
              <a:t>Creator</a:t>
            </a:r>
            <a:r>
              <a:rPr lang="ja-JP" altLang="en-US" dirty="0"/>
              <a:t> </a:t>
            </a:r>
            <a:r>
              <a:rPr lang="en-US" altLang="ja-JP" dirty="0"/>
              <a:t>Edition</a:t>
            </a:r>
          </a:p>
          <a:p>
            <a:pPr lvl="1"/>
            <a:r>
              <a:rPr kumimoji="1" lang="en-US" altLang="ja-JP" dirty="0"/>
              <a:t>Android</a:t>
            </a:r>
          </a:p>
          <a:p>
            <a:pPr lvl="2"/>
            <a:r>
              <a:rPr lang="en-US" altLang="ja-JP" dirty="0"/>
              <a:t>Galaxy S8 plus</a:t>
            </a:r>
          </a:p>
          <a:p>
            <a:pPr lvl="2"/>
            <a:r>
              <a:rPr kumimoji="1" lang="en-US" altLang="ja-JP" dirty="0"/>
              <a:t>Asus </a:t>
            </a:r>
            <a:r>
              <a:rPr kumimoji="1" lang="en-US" altLang="ja-JP" dirty="0" err="1"/>
              <a:t>ZenPad</a:t>
            </a:r>
            <a:r>
              <a:rPr kumimoji="1" lang="en-US" altLang="ja-JP" dirty="0"/>
              <a:t> 10 </a:t>
            </a:r>
            <a:r>
              <a:rPr lang="en-US" altLang="ja-JP" dirty="0"/>
              <a:t>Z300CNL</a:t>
            </a:r>
          </a:p>
          <a:p>
            <a:pPr lvl="3"/>
            <a:r>
              <a:rPr lang="en-US" altLang="ja-JP" dirty="0">
                <a:hlinkClick r:id="rId2"/>
              </a:rPr>
              <a:t>https://www.asus.com/jp/Tablets/ASUS-ZenPad-10-Z300CNL/</a:t>
            </a:r>
            <a:endParaRPr lang="en-US" altLang="ja-JP" dirty="0"/>
          </a:p>
          <a:p>
            <a:pPr lvl="3"/>
            <a:endParaRPr kumimoji="1" lang="ja-JP" altLang="en-US" dirty="0"/>
          </a:p>
        </p:txBody>
      </p:sp>
      <p:sp>
        <p:nvSpPr>
          <p:cNvPr id="4" name="コンテンツ プレースホルダー 3"/>
          <p:cNvSpPr>
            <a:spLocks noGrp="1"/>
          </p:cNvSpPr>
          <p:nvPr>
            <p:ph sz="half" idx="2"/>
          </p:nvPr>
        </p:nvSpPr>
        <p:spPr/>
        <p:txBody>
          <a:bodyPr/>
          <a:lstStyle/>
          <a:p>
            <a:r>
              <a:rPr kumimoji="1" lang="ja-JP" altLang="en-US" sz="2400" dirty="0"/>
              <a:t>備考</a:t>
            </a:r>
            <a:endParaRPr kumimoji="1" lang="en-US" altLang="ja-JP" sz="2400" dirty="0"/>
          </a:p>
          <a:p>
            <a:pPr lvl="1"/>
            <a:r>
              <a:rPr lang="ja-JP" altLang="en-US" sz="2000" dirty="0"/>
              <a:t>無線機制御</a:t>
            </a:r>
            <a:endParaRPr lang="en-US" altLang="ja-JP" sz="2000" dirty="0"/>
          </a:p>
          <a:p>
            <a:pPr lvl="2"/>
            <a:r>
              <a:rPr lang="en-US" altLang="ja-JP" sz="1800" dirty="0"/>
              <a:t>Rig Ctrl: </a:t>
            </a:r>
            <a:r>
              <a:rPr lang="en-US" altLang="ja-JP" sz="1800" dirty="0" err="1"/>
              <a:t>Hamlib</a:t>
            </a:r>
            <a:endParaRPr lang="en-US" altLang="ja-JP" sz="1800" dirty="0"/>
          </a:p>
          <a:p>
            <a:pPr lvl="3"/>
            <a:r>
              <a:rPr lang="en-US" altLang="ja-JP" sz="1600" dirty="0">
                <a:hlinkClick r:id="rId3"/>
              </a:rPr>
              <a:t>https://sourceforge.net/projects/hamlib/</a:t>
            </a:r>
            <a:endParaRPr kumimoji="1" lang="en-US" altLang="ja-JP" sz="1600" dirty="0"/>
          </a:p>
          <a:p>
            <a:pPr lvl="2"/>
            <a:r>
              <a:rPr lang="en-US" altLang="ja-JP" sz="1800" dirty="0"/>
              <a:t>SDR </a:t>
            </a:r>
            <a:r>
              <a:rPr lang="en-US" altLang="ja-JP" sz="1800" dirty="0" err="1"/>
              <a:t>Drv</a:t>
            </a:r>
            <a:r>
              <a:rPr lang="en-US" altLang="ja-JP" sz="1800" dirty="0"/>
              <a:t>: </a:t>
            </a:r>
            <a:r>
              <a:rPr lang="en-US" altLang="ja-JP" sz="1800" dirty="0" err="1"/>
              <a:t>MyriadRF</a:t>
            </a:r>
            <a:endParaRPr lang="en-US" altLang="ja-JP" sz="1800" dirty="0"/>
          </a:p>
          <a:p>
            <a:pPr lvl="3"/>
            <a:r>
              <a:rPr lang="en-US" altLang="ja-JP" sz="1600" dirty="0">
                <a:hlinkClick r:id="rId4"/>
              </a:rPr>
              <a:t>https://launchpad.net/~myriadrf/+archive/ubuntu/drivers</a:t>
            </a:r>
            <a:endParaRPr lang="en-US" altLang="ja-JP" sz="1600" dirty="0"/>
          </a:p>
          <a:p>
            <a:pPr lvl="2"/>
            <a:r>
              <a:rPr lang="en-US" altLang="ja-JP" sz="1800" dirty="0"/>
              <a:t>SDR </a:t>
            </a:r>
            <a:r>
              <a:rPr lang="en-US" altLang="ja-JP" sz="1800" dirty="0" err="1"/>
              <a:t>Drv</a:t>
            </a:r>
            <a:r>
              <a:rPr lang="en-US" altLang="ja-JP" sz="1800" dirty="0"/>
              <a:t>: </a:t>
            </a:r>
            <a:r>
              <a:rPr lang="en-US" altLang="ja-JP" sz="1800" dirty="0" err="1"/>
              <a:t>SoapySDR</a:t>
            </a:r>
            <a:endParaRPr lang="en-US" altLang="ja-JP" sz="1800" dirty="0"/>
          </a:p>
          <a:p>
            <a:pPr lvl="3"/>
            <a:r>
              <a:rPr lang="en-US" altLang="ja-JP" sz="1600" dirty="0">
                <a:hlinkClick r:id="rId5"/>
              </a:rPr>
              <a:t>https://github.com/pothosware/SoapySDR/wiki</a:t>
            </a:r>
            <a:endParaRPr lang="en-US" altLang="ja-JP" sz="1600" dirty="0"/>
          </a:p>
          <a:p>
            <a:pPr lvl="1"/>
            <a:r>
              <a:rPr kumimoji="1" lang="en-US" altLang="ja-JP" sz="2000" dirty="0"/>
              <a:t>SDR</a:t>
            </a:r>
          </a:p>
          <a:p>
            <a:pPr lvl="2"/>
            <a:r>
              <a:rPr lang="en-US" altLang="ja-JP" sz="1800" dirty="0" err="1"/>
              <a:t>LimeSDR</a:t>
            </a:r>
            <a:endParaRPr lang="en-US" altLang="ja-JP" sz="1800" dirty="0"/>
          </a:p>
          <a:p>
            <a:pPr lvl="3"/>
            <a:r>
              <a:rPr lang="en-US" altLang="ja-JP" sz="1600" dirty="0">
                <a:hlinkClick r:id="rId6"/>
              </a:rPr>
              <a:t>https://www.crowdsupply.com/lime-micro/limesdr</a:t>
            </a:r>
            <a:endParaRPr lang="en-US" altLang="ja-JP" sz="1600" dirty="0"/>
          </a:p>
        </p:txBody>
      </p:sp>
    </p:spTree>
    <p:extLst>
      <p:ext uri="{BB962C8B-B14F-4D97-AF65-F5344CB8AC3E}">
        <p14:creationId xmlns:p14="http://schemas.microsoft.com/office/powerpoint/2010/main" val="1054753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分散協調ネットワーク・構成</a:t>
            </a:r>
          </a:p>
        </p:txBody>
      </p:sp>
      <p:sp>
        <p:nvSpPr>
          <p:cNvPr id="3" name="コンテンツ プレースホルダー 2"/>
          <p:cNvSpPr>
            <a:spLocks noGrp="1"/>
          </p:cNvSpPr>
          <p:nvPr>
            <p:ph sz="half" idx="1"/>
          </p:nvPr>
        </p:nvSpPr>
        <p:spPr/>
        <p:txBody>
          <a:bodyPr/>
          <a:lstStyle/>
          <a:p>
            <a:r>
              <a:rPr lang="ja-JP" altLang="en-US" sz="2400" dirty="0"/>
              <a:t>各機能</a:t>
            </a:r>
            <a:endParaRPr kumimoji="1" lang="en-US" altLang="ja-JP" sz="2400" dirty="0"/>
          </a:p>
          <a:p>
            <a:pPr lvl="1"/>
            <a:r>
              <a:rPr lang="ja-JP" altLang="en-US" sz="2000" dirty="0"/>
              <a:t>衛星</a:t>
            </a:r>
            <a:endParaRPr lang="en-US" altLang="ja-JP" sz="2000" dirty="0"/>
          </a:p>
          <a:p>
            <a:pPr lvl="2"/>
            <a:r>
              <a:rPr lang="ja-JP" altLang="en-US" sz="1800" dirty="0"/>
              <a:t>通信対象の衛星</a:t>
            </a:r>
          </a:p>
          <a:p>
            <a:pPr lvl="1"/>
            <a:r>
              <a:rPr kumimoji="1" lang="ja-JP" altLang="en-US" sz="2000" dirty="0"/>
              <a:t>マスター地球局</a:t>
            </a:r>
            <a:endParaRPr kumimoji="1" lang="en-US" altLang="ja-JP" sz="2000" dirty="0"/>
          </a:p>
          <a:p>
            <a:pPr lvl="2"/>
            <a:r>
              <a:rPr lang="ja-JP" altLang="en-US" sz="1800" dirty="0"/>
              <a:t>コントロールサーバへ衛星情報を登録</a:t>
            </a:r>
            <a:endParaRPr lang="en-US" altLang="ja-JP" sz="1800" dirty="0"/>
          </a:p>
          <a:p>
            <a:pPr lvl="2"/>
            <a:r>
              <a:rPr lang="ja-JP" altLang="en-US" sz="1800" dirty="0"/>
              <a:t>衛星へのコマンド送信</a:t>
            </a:r>
            <a:endParaRPr lang="en-US" altLang="ja-JP" sz="1800" dirty="0"/>
          </a:p>
          <a:p>
            <a:pPr lvl="2"/>
            <a:r>
              <a:rPr kumimoji="1" lang="ja-JP" altLang="en-US" sz="1800" dirty="0"/>
              <a:t>衛星からのデータ受信</a:t>
            </a:r>
            <a:endParaRPr kumimoji="1" lang="en-US" altLang="ja-JP" sz="1800" dirty="0"/>
          </a:p>
          <a:p>
            <a:pPr lvl="1"/>
            <a:r>
              <a:rPr lang="ja-JP" altLang="en-US" sz="2000" dirty="0"/>
              <a:t>スマホ地球局</a:t>
            </a:r>
            <a:endParaRPr lang="en-US" altLang="ja-JP" sz="2000" dirty="0"/>
          </a:p>
          <a:p>
            <a:pPr lvl="2"/>
            <a:r>
              <a:rPr lang="ja-JP" altLang="en-US" sz="1800" dirty="0"/>
              <a:t>コントロールサーバから衛星情報取得</a:t>
            </a:r>
            <a:endParaRPr lang="en-US" altLang="ja-JP" sz="1800" dirty="0"/>
          </a:p>
          <a:p>
            <a:pPr lvl="2"/>
            <a:r>
              <a:rPr lang="ja-JP" altLang="en-US" sz="1800" dirty="0"/>
              <a:t>衛星からのデータ受信</a:t>
            </a:r>
            <a:endParaRPr lang="en-US" altLang="ja-JP" sz="1800" dirty="0"/>
          </a:p>
          <a:p>
            <a:pPr lvl="1"/>
            <a:r>
              <a:rPr lang="ja-JP" altLang="en-US" sz="2000" dirty="0"/>
              <a:t>コントロールサーバ</a:t>
            </a:r>
            <a:endParaRPr lang="en-US" altLang="ja-JP" sz="2000" dirty="0"/>
          </a:p>
          <a:p>
            <a:pPr lvl="2"/>
            <a:r>
              <a:rPr lang="ja-JP" altLang="en-US" sz="1800" dirty="0"/>
              <a:t>各地球局が受信したデータのマージ</a:t>
            </a:r>
            <a:endParaRPr lang="en-US" altLang="ja-JP" sz="1800" dirty="0"/>
          </a:p>
          <a:p>
            <a:pPr lvl="2"/>
            <a:r>
              <a:rPr lang="ja-JP" altLang="en-US" sz="1800" dirty="0"/>
              <a:t>衛星情報の管理</a:t>
            </a:r>
            <a:endParaRPr lang="en-US" altLang="ja-JP" sz="1800" dirty="0"/>
          </a:p>
          <a:p>
            <a:pPr lvl="2"/>
            <a:endParaRPr lang="en-US" altLang="ja-JP" sz="1800" dirty="0"/>
          </a:p>
        </p:txBody>
      </p:sp>
      <p:pic>
        <p:nvPicPr>
          <p:cNvPr id="5" name="図 4"/>
          <p:cNvPicPr>
            <a:picLocks noChangeAspect="1"/>
          </p:cNvPicPr>
          <p:nvPr/>
        </p:nvPicPr>
        <p:blipFill>
          <a:blip r:embed="rId2"/>
          <a:stretch>
            <a:fillRect/>
          </a:stretch>
        </p:blipFill>
        <p:spPr>
          <a:xfrm>
            <a:off x="4682876" y="1438851"/>
            <a:ext cx="4497635" cy="4222397"/>
          </a:xfrm>
          <a:prstGeom prst="rect">
            <a:avLst/>
          </a:prstGeom>
        </p:spPr>
      </p:pic>
    </p:spTree>
    <p:extLst>
      <p:ext uri="{BB962C8B-B14F-4D97-AF65-F5344CB8AC3E}">
        <p14:creationId xmlns:p14="http://schemas.microsoft.com/office/powerpoint/2010/main" val="4021986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p:cNvSpPr>
            <a:spLocks noGrp="1"/>
          </p:cNvSpPr>
          <p:nvPr>
            <p:ph type="title"/>
          </p:nvPr>
        </p:nvSpPr>
        <p:spPr/>
        <p:txBody>
          <a:bodyPr/>
          <a:lstStyle/>
          <a:p>
            <a:r>
              <a:rPr kumimoji="1" lang="ja-JP" altLang="en-US" dirty="0"/>
              <a:t>分散協調ネットワーク・動作概要</a:t>
            </a:r>
          </a:p>
        </p:txBody>
      </p:sp>
      <p:sp>
        <p:nvSpPr>
          <p:cNvPr id="6" name="コンテンツ プレースホルダー 5"/>
          <p:cNvSpPr>
            <a:spLocks noGrp="1"/>
          </p:cNvSpPr>
          <p:nvPr>
            <p:ph idx="1"/>
          </p:nvPr>
        </p:nvSpPr>
        <p:spPr/>
        <p:txBody>
          <a:bodyPr/>
          <a:lstStyle/>
          <a:p>
            <a:r>
              <a:rPr lang="ja-JP" altLang="en-US" sz="2000" dirty="0"/>
              <a:t>準備　</a:t>
            </a:r>
            <a:endParaRPr lang="en-US" altLang="ja-JP" sz="2000" dirty="0"/>
          </a:p>
          <a:p>
            <a:pPr lvl="1"/>
            <a:r>
              <a:rPr lang="ja-JP" altLang="en-US" sz="1600" dirty="0"/>
              <a:t>自地上局や協力地上局、協力アマチュア無線家は、無線機や</a:t>
            </a:r>
            <a:r>
              <a:rPr lang="en-US" altLang="ja-JP" sz="1600" dirty="0"/>
              <a:t>SDR</a:t>
            </a:r>
            <a:r>
              <a:rPr lang="ja-JP" altLang="en-US" sz="1600" dirty="0" err="1"/>
              <a:t>、</a:t>
            </a:r>
            <a:r>
              <a:rPr lang="ja-JP" altLang="en-US" sz="1600" dirty="0"/>
              <a:t>専用ソフトウェアをセットアップし、コントロールサーバへ自局の位置情報やステータスを登録する。</a:t>
            </a:r>
          </a:p>
          <a:p>
            <a:pPr lvl="1"/>
            <a:r>
              <a:rPr lang="ja-JP" altLang="en-US" sz="1600" dirty="0"/>
              <a:t>自</a:t>
            </a:r>
            <a:r>
              <a:rPr lang="en-US" altLang="ja-JP" sz="1600" dirty="0"/>
              <a:t>CubeSat</a:t>
            </a:r>
            <a:r>
              <a:rPr lang="ja-JP" altLang="en-US" sz="1600" dirty="0"/>
              <a:t>から、ダウンロード可能なデータの一覧やステータスを取得する。</a:t>
            </a:r>
          </a:p>
          <a:p>
            <a:r>
              <a:rPr lang="ja-JP" altLang="en-US" sz="2000" dirty="0"/>
              <a:t>動作</a:t>
            </a:r>
            <a:endParaRPr lang="en-US" altLang="ja-JP" sz="2000" dirty="0"/>
          </a:p>
          <a:p>
            <a:pPr marL="800100" lvl="1" indent="-342900">
              <a:buFont typeface="+mj-lt"/>
              <a:buAutoNum type="arabicPeriod"/>
            </a:pPr>
            <a:r>
              <a:rPr lang="ja-JP" altLang="en-US" sz="1600" dirty="0"/>
              <a:t>データ要求者より、ダウンロードしたい</a:t>
            </a:r>
            <a:r>
              <a:rPr lang="en-US" altLang="ja-JP" sz="1600" dirty="0"/>
              <a:t>CubeSat</a:t>
            </a:r>
            <a:r>
              <a:rPr lang="ja-JP" altLang="en-US" sz="1600" dirty="0"/>
              <a:t>とデータを決定し、コントロールサーバに通知する。</a:t>
            </a:r>
          </a:p>
          <a:p>
            <a:pPr marL="800100" lvl="1" indent="-342900">
              <a:buFont typeface="+mj-lt"/>
              <a:buAutoNum type="arabicPeriod"/>
            </a:pPr>
            <a:r>
              <a:rPr lang="ja-JP" altLang="en-US" sz="1600" dirty="0"/>
              <a:t>コントロールサーバは、</a:t>
            </a:r>
            <a:r>
              <a:rPr lang="en-US" altLang="ja-JP" sz="1600" dirty="0"/>
              <a:t>CubeSat</a:t>
            </a:r>
            <a:r>
              <a:rPr lang="ja-JP" altLang="en-US" sz="1600" dirty="0"/>
              <a:t>の軌道情報より通信可能地上局やアマチュア無線家をピックアップする。</a:t>
            </a:r>
          </a:p>
          <a:p>
            <a:pPr marL="800100" lvl="1" indent="-342900">
              <a:buFont typeface="+mj-lt"/>
              <a:buAutoNum type="arabicPeriod"/>
            </a:pPr>
            <a:r>
              <a:rPr lang="ja-JP" altLang="en-US" sz="1600" dirty="0"/>
              <a:t>コントロールサーバは、地上局やアマチュア無線家をダウンロード状態へ推移させる。</a:t>
            </a:r>
          </a:p>
          <a:p>
            <a:pPr marL="800100" lvl="1" indent="-342900">
              <a:buFont typeface="+mj-lt"/>
              <a:buAutoNum type="arabicPeriod"/>
            </a:pPr>
            <a:r>
              <a:rPr lang="ja-JP" altLang="en-US" sz="1600" dirty="0"/>
              <a:t>コントロールサーバは、地上局に</a:t>
            </a:r>
            <a:r>
              <a:rPr lang="en-US" altLang="ja-JP" sz="1600" dirty="0"/>
              <a:t>CubeSat</a:t>
            </a:r>
            <a:r>
              <a:rPr lang="ja-JP" altLang="en-US" sz="1600" dirty="0"/>
              <a:t>向けのコマンドを通知する。</a:t>
            </a:r>
          </a:p>
          <a:p>
            <a:pPr marL="800100" lvl="1" indent="-342900">
              <a:buFont typeface="+mj-lt"/>
              <a:buAutoNum type="arabicPeriod"/>
            </a:pPr>
            <a:r>
              <a:rPr lang="ja-JP" altLang="en-US" sz="1600" dirty="0"/>
              <a:t>コマンドを受け取った</a:t>
            </a:r>
            <a:r>
              <a:rPr lang="en-US" altLang="ja-JP" sz="1600" dirty="0"/>
              <a:t>CubeSat</a:t>
            </a:r>
            <a:r>
              <a:rPr lang="ja-JP" altLang="en-US" sz="1600" dirty="0"/>
              <a:t>が「シーケンス番号付き」データ送信を開始する。</a:t>
            </a:r>
          </a:p>
          <a:p>
            <a:pPr marL="800100" lvl="1" indent="-342900">
              <a:buFont typeface="+mj-lt"/>
              <a:buAutoNum type="arabicPeriod"/>
            </a:pPr>
            <a:r>
              <a:rPr lang="ja-JP" altLang="en-US" sz="1600" dirty="0"/>
              <a:t>コントロールサーバは、地上局やアマチュア無線家がダウンロードしたデータを受信する。</a:t>
            </a:r>
          </a:p>
          <a:p>
            <a:pPr lvl="2">
              <a:buFont typeface="+mj-lt"/>
              <a:buAutoNum type="arabicPeriod"/>
            </a:pPr>
            <a:r>
              <a:rPr lang="ja-JP" altLang="en-US" sz="1000" dirty="0"/>
              <a:t>データがそろっていれば受信完了コマンドを地上局を経由し、</a:t>
            </a:r>
            <a:r>
              <a:rPr lang="en-US" altLang="ja-JP" sz="1000" dirty="0"/>
              <a:t>CubeSat</a:t>
            </a:r>
            <a:r>
              <a:rPr lang="ja-JP" altLang="en-US" sz="1000" dirty="0"/>
              <a:t>へ通知する。</a:t>
            </a:r>
          </a:p>
          <a:p>
            <a:pPr lvl="2">
              <a:buFont typeface="+mj-lt"/>
              <a:buAutoNum type="arabicPeriod"/>
            </a:pPr>
            <a:r>
              <a:rPr lang="ja-JP" altLang="en-US" sz="1000" dirty="0"/>
              <a:t>データが断片的であれば、ダウンロード完了した「シーケンス番号」を地上局を経由し、</a:t>
            </a:r>
            <a:r>
              <a:rPr lang="en-US" altLang="ja-JP" sz="1000" dirty="0"/>
              <a:t>CubeSat</a:t>
            </a:r>
            <a:r>
              <a:rPr lang="ja-JP" altLang="en-US" sz="1000" dirty="0"/>
              <a:t>へ通知する。</a:t>
            </a:r>
            <a:r>
              <a:rPr lang="en-US" altLang="ja-JP" sz="1000" dirty="0"/>
              <a:t>CubeSat</a:t>
            </a:r>
            <a:r>
              <a:rPr lang="ja-JP" altLang="en-US" sz="1000" dirty="0"/>
              <a:t>は、このシーケンス番号のデータは送信対象から削除する。</a:t>
            </a:r>
          </a:p>
          <a:p>
            <a:pPr marL="800100" lvl="1" indent="-342900">
              <a:buFont typeface="+mj-lt"/>
              <a:buAutoNum type="arabicPeriod"/>
            </a:pPr>
            <a:r>
              <a:rPr lang="ja-JP" altLang="en-US" sz="1600" dirty="0"/>
              <a:t>コントロールサーバは、データ要求者にダウンロードしたデータを送信する。</a:t>
            </a:r>
          </a:p>
        </p:txBody>
      </p:sp>
    </p:spTree>
    <p:extLst>
      <p:ext uri="{BB962C8B-B14F-4D97-AF65-F5344CB8AC3E}">
        <p14:creationId xmlns:p14="http://schemas.microsoft.com/office/powerpoint/2010/main" val="517585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分散協調ネットワーク</a:t>
            </a:r>
            <a:r>
              <a:rPr lang="ja-JP" altLang="en-US" dirty="0"/>
              <a:t>・設計</a:t>
            </a:r>
            <a:r>
              <a:rPr kumimoji="1" lang="ja-JP" altLang="en-US" dirty="0"/>
              <a:t>（</a:t>
            </a:r>
            <a:r>
              <a:rPr lang="ja-JP" altLang="en-US" dirty="0"/>
              <a:t>検討中</a:t>
            </a:r>
            <a:r>
              <a:rPr lang="en-US" altLang="ja-JP" dirty="0"/>
              <a:t>)</a:t>
            </a:r>
            <a:endParaRPr kumimoji="1" lang="ja-JP" altLang="en-US" dirty="0"/>
          </a:p>
        </p:txBody>
      </p:sp>
      <p:sp>
        <p:nvSpPr>
          <p:cNvPr id="3" name="コンテンツ プレースホルダー 2"/>
          <p:cNvSpPr>
            <a:spLocks noGrp="1"/>
          </p:cNvSpPr>
          <p:nvPr>
            <p:ph sz="half" idx="1"/>
          </p:nvPr>
        </p:nvSpPr>
        <p:spPr/>
        <p:txBody>
          <a:bodyPr/>
          <a:lstStyle/>
          <a:p>
            <a:r>
              <a:rPr lang="ja-JP" altLang="en-US" sz="2400" dirty="0"/>
              <a:t>衛星</a:t>
            </a:r>
            <a:endParaRPr lang="en-US" altLang="ja-JP" sz="2400" dirty="0"/>
          </a:p>
          <a:p>
            <a:pPr lvl="1"/>
            <a:r>
              <a:rPr lang="en-US" altLang="ja-JP" sz="2000" dirty="0"/>
              <a:t>DTN</a:t>
            </a:r>
            <a:r>
              <a:rPr lang="ja-JP" altLang="en-US" sz="2000" dirty="0"/>
              <a:t>プロトコル</a:t>
            </a:r>
            <a:endParaRPr lang="en-US" altLang="ja-JP" sz="2000" dirty="0"/>
          </a:p>
          <a:p>
            <a:pPr lvl="2"/>
            <a:r>
              <a:rPr lang="ja-JP" altLang="en-US" sz="1600" dirty="0"/>
              <a:t>シーケンス番号管理</a:t>
            </a:r>
            <a:endParaRPr lang="en-US" altLang="ja-JP" sz="1600" dirty="0"/>
          </a:p>
          <a:p>
            <a:pPr lvl="2"/>
            <a:r>
              <a:rPr lang="ja-JP" altLang="en-US" sz="1600" dirty="0"/>
              <a:t>予約送信</a:t>
            </a:r>
            <a:endParaRPr lang="en-US" altLang="ja-JP" sz="1600" dirty="0"/>
          </a:p>
          <a:p>
            <a:pPr lvl="2"/>
            <a:r>
              <a:rPr lang="ja-JP" altLang="en-US" sz="1600" dirty="0"/>
              <a:t>暗号化（？）</a:t>
            </a:r>
            <a:endParaRPr lang="en-US" altLang="ja-JP" sz="1600" dirty="0"/>
          </a:p>
          <a:p>
            <a:r>
              <a:rPr lang="ja-JP" altLang="en-US" sz="2400" dirty="0"/>
              <a:t>コントロールサーバ</a:t>
            </a:r>
            <a:endParaRPr lang="en-US" altLang="ja-JP" sz="2400" dirty="0"/>
          </a:p>
          <a:p>
            <a:pPr lvl="1"/>
            <a:r>
              <a:rPr lang="ja-JP" altLang="en-US" sz="2200" dirty="0"/>
              <a:t>データ</a:t>
            </a:r>
            <a:r>
              <a:rPr lang="ja-JP" altLang="en-US" sz="2200"/>
              <a:t>のマージ</a:t>
            </a:r>
            <a:endParaRPr lang="en-US" altLang="ja-JP" sz="1800" dirty="0"/>
          </a:p>
          <a:p>
            <a:pPr lvl="1"/>
            <a:r>
              <a:rPr lang="ja-JP" altLang="en-US" sz="2200" dirty="0"/>
              <a:t>衛星情報管理</a:t>
            </a:r>
            <a:endParaRPr lang="en-US" altLang="ja-JP" sz="2200" dirty="0"/>
          </a:p>
          <a:p>
            <a:pPr lvl="2"/>
            <a:r>
              <a:rPr lang="ja-JP" altLang="en-US" sz="1800" dirty="0"/>
              <a:t>管理衛星の軌道情報</a:t>
            </a:r>
            <a:endParaRPr lang="en-US" altLang="ja-JP" sz="1800" dirty="0"/>
          </a:p>
          <a:p>
            <a:pPr lvl="2"/>
            <a:r>
              <a:rPr lang="ja-JP" altLang="en-US" sz="1800" dirty="0"/>
              <a:t>暗号キー</a:t>
            </a:r>
            <a:endParaRPr lang="en-US" altLang="ja-JP" sz="1800" dirty="0"/>
          </a:p>
        </p:txBody>
      </p:sp>
      <p:sp>
        <p:nvSpPr>
          <p:cNvPr id="4" name="コンテンツ プレースホルダー 3"/>
          <p:cNvSpPr>
            <a:spLocks noGrp="1"/>
          </p:cNvSpPr>
          <p:nvPr>
            <p:ph sz="half" idx="2"/>
          </p:nvPr>
        </p:nvSpPr>
        <p:spPr/>
        <p:txBody>
          <a:bodyPr/>
          <a:lstStyle/>
          <a:p>
            <a:r>
              <a:rPr lang="ja-JP" altLang="en-US" sz="2400" dirty="0"/>
              <a:t>地球局</a:t>
            </a:r>
            <a:r>
              <a:rPr lang="en-US" altLang="ja-JP" sz="2400" dirty="0"/>
              <a:t>(</a:t>
            </a:r>
            <a:r>
              <a:rPr lang="ja-JP" altLang="en-US" sz="2400" dirty="0"/>
              <a:t>クライアント</a:t>
            </a:r>
            <a:r>
              <a:rPr lang="en-US" altLang="ja-JP" sz="2400" dirty="0"/>
              <a:t>)</a:t>
            </a:r>
          </a:p>
          <a:p>
            <a:pPr lvl="1"/>
            <a:r>
              <a:rPr lang="ja-JP" altLang="en-US" sz="2000" dirty="0"/>
              <a:t>データのサーバへの送信</a:t>
            </a:r>
            <a:endParaRPr lang="en-US" altLang="ja-JP" sz="2000" dirty="0"/>
          </a:p>
          <a:p>
            <a:pPr lvl="1"/>
            <a:r>
              <a:rPr lang="ja-JP" altLang="en-US" sz="2000" dirty="0"/>
              <a:t>衛星情報の取得</a:t>
            </a:r>
            <a:endParaRPr lang="en-US" altLang="ja-JP" sz="2000" dirty="0"/>
          </a:p>
          <a:p>
            <a:pPr lvl="2"/>
            <a:r>
              <a:rPr lang="en-US" altLang="ja-JP" dirty="0"/>
              <a:t>GUI</a:t>
            </a:r>
            <a:r>
              <a:rPr lang="ja-JP" altLang="en-US" dirty="0"/>
              <a:t>化</a:t>
            </a:r>
            <a:endParaRPr lang="en-US" altLang="ja-JP" dirty="0"/>
          </a:p>
        </p:txBody>
      </p:sp>
    </p:spTree>
    <p:extLst>
      <p:ext uri="{BB962C8B-B14F-4D97-AF65-F5344CB8AC3E}">
        <p14:creationId xmlns:p14="http://schemas.microsoft.com/office/powerpoint/2010/main" val="6357505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a:t>担当</a:t>
            </a:r>
          </a:p>
        </p:txBody>
      </p:sp>
      <p:sp>
        <p:nvSpPr>
          <p:cNvPr id="3" name="コンテンツ プレースホルダー 2"/>
          <p:cNvSpPr>
            <a:spLocks noGrp="1"/>
          </p:cNvSpPr>
          <p:nvPr>
            <p:ph sz="half" idx="1"/>
          </p:nvPr>
        </p:nvSpPr>
        <p:spPr/>
        <p:txBody>
          <a:bodyPr/>
          <a:lstStyle/>
          <a:p>
            <a:r>
              <a:rPr kumimoji="1" lang="en-US" altLang="ja-JP" dirty="0" err="1"/>
              <a:t>CalSat</a:t>
            </a:r>
            <a:r>
              <a:rPr kumimoji="1" lang="ja-JP" altLang="en-US" dirty="0"/>
              <a:t>互換機能</a:t>
            </a:r>
            <a:endParaRPr kumimoji="1" lang="en-US" altLang="ja-JP" dirty="0"/>
          </a:p>
          <a:p>
            <a:pPr lvl="1"/>
            <a:r>
              <a:rPr kumimoji="1" lang="ja-JP" altLang="en-US" dirty="0"/>
              <a:t>折戸</a:t>
            </a:r>
            <a:endParaRPr kumimoji="1" lang="en-US" altLang="ja-JP" dirty="0"/>
          </a:p>
          <a:p>
            <a:pPr lvl="2"/>
            <a:r>
              <a:rPr lang="en-US" altLang="ja-JP" dirty="0"/>
              <a:t>GUI</a:t>
            </a:r>
            <a:endParaRPr kumimoji="1" lang="en-US" altLang="ja-JP" dirty="0"/>
          </a:p>
          <a:p>
            <a:pPr lvl="1"/>
            <a:r>
              <a:rPr kumimoji="1" lang="ja-JP" altLang="en-US" dirty="0"/>
              <a:t>石田</a:t>
            </a:r>
            <a:endParaRPr kumimoji="1" lang="en-US" altLang="ja-JP" dirty="0"/>
          </a:p>
          <a:p>
            <a:pPr lvl="2"/>
            <a:r>
              <a:rPr kumimoji="1" lang="ja-JP" altLang="en-US" dirty="0"/>
              <a:t>軌道計算</a:t>
            </a:r>
            <a:endParaRPr kumimoji="1" lang="en-US" altLang="ja-JP" dirty="0"/>
          </a:p>
          <a:p>
            <a:pPr lvl="2"/>
            <a:r>
              <a:rPr lang="ja-JP" altLang="en-US" dirty="0"/>
              <a:t>衛星情報管理</a:t>
            </a:r>
            <a:endParaRPr lang="en-US" altLang="ja-JP" dirty="0"/>
          </a:p>
          <a:p>
            <a:pPr lvl="1"/>
            <a:r>
              <a:rPr lang="ja-JP" altLang="en-US" dirty="0"/>
              <a:t>今村</a:t>
            </a:r>
            <a:endParaRPr lang="en-US" altLang="ja-JP" dirty="0"/>
          </a:p>
          <a:p>
            <a:pPr lvl="2"/>
            <a:r>
              <a:rPr lang="ja-JP" altLang="en-US" dirty="0"/>
              <a:t>追尾装置制御</a:t>
            </a:r>
            <a:endParaRPr lang="en-US" altLang="ja-JP" dirty="0"/>
          </a:p>
        </p:txBody>
      </p:sp>
      <p:sp>
        <p:nvSpPr>
          <p:cNvPr id="4" name="コンテンツ プレースホルダー 3"/>
          <p:cNvSpPr>
            <a:spLocks noGrp="1"/>
          </p:cNvSpPr>
          <p:nvPr>
            <p:ph sz="half" idx="2"/>
          </p:nvPr>
        </p:nvSpPr>
        <p:spPr/>
        <p:txBody>
          <a:bodyPr/>
          <a:lstStyle/>
          <a:p>
            <a:r>
              <a:rPr lang="en-US" altLang="ja-JP" dirty="0"/>
              <a:t>SDR</a:t>
            </a:r>
            <a:r>
              <a:rPr lang="ja-JP" altLang="en-US" dirty="0"/>
              <a:t>制御</a:t>
            </a:r>
            <a:endParaRPr lang="en-US" altLang="ja-JP" dirty="0"/>
          </a:p>
          <a:p>
            <a:pPr lvl="1"/>
            <a:r>
              <a:rPr lang="ja-JP" altLang="en-US" dirty="0"/>
              <a:t>松本</a:t>
            </a:r>
            <a:endParaRPr lang="en-US" altLang="ja-JP" dirty="0"/>
          </a:p>
          <a:p>
            <a:pPr lvl="2"/>
            <a:r>
              <a:rPr lang="ja-JP" altLang="en-US" dirty="0"/>
              <a:t>ドップラーシフト制御</a:t>
            </a:r>
            <a:endParaRPr lang="en-US" altLang="ja-JP" dirty="0"/>
          </a:p>
          <a:p>
            <a:pPr lvl="2"/>
            <a:r>
              <a:rPr lang="ja-JP" altLang="en-US" dirty="0"/>
              <a:t>ドライバ・制御ソフト</a:t>
            </a:r>
            <a:endParaRPr lang="en-US" altLang="ja-JP" dirty="0"/>
          </a:p>
          <a:p>
            <a:r>
              <a:rPr lang="ja-JP" altLang="en-US" dirty="0"/>
              <a:t>分散協調ネットワーク</a:t>
            </a:r>
            <a:endParaRPr lang="en-US" altLang="ja-JP" dirty="0"/>
          </a:p>
          <a:p>
            <a:pPr lvl="1"/>
            <a:r>
              <a:rPr lang="ja-JP" altLang="en-US" dirty="0"/>
              <a:t>今村</a:t>
            </a:r>
            <a:endParaRPr lang="en-US" altLang="ja-JP" dirty="0"/>
          </a:p>
          <a:p>
            <a:pPr lvl="2"/>
            <a:r>
              <a:rPr lang="ja-JP" altLang="en-US" dirty="0"/>
              <a:t>データ管理</a:t>
            </a:r>
            <a:endParaRPr lang="en-US" altLang="ja-JP" dirty="0"/>
          </a:p>
          <a:p>
            <a:pPr lvl="2"/>
            <a:r>
              <a:rPr lang="ja-JP" altLang="en-US" dirty="0"/>
              <a:t>衛星情報管理</a:t>
            </a:r>
            <a:endParaRPr lang="en-US" altLang="ja-JP" dirty="0"/>
          </a:p>
          <a:p>
            <a:pPr lvl="3"/>
            <a:r>
              <a:rPr lang="ja-JP" altLang="en-US" dirty="0"/>
              <a:t>コントロールサーバ</a:t>
            </a:r>
            <a:endParaRPr lang="en-US" altLang="ja-JP" dirty="0"/>
          </a:p>
          <a:p>
            <a:pPr lvl="3"/>
            <a:r>
              <a:rPr lang="ja-JP" altLang="en-US" dirty="0"/>
              <a:t>地球局</a:t>
            </a:r>
            <a:endParaRPr lang="en-US" altLang="ja-JP" dirty="0"/>
          </a:p>
          <a:p>
            <a:pPr lvl="3"/>
            <a:r>
              <a:rPr lang="ja-JP" altLang="en-US" dirty="0"/>
              <a:t>衛星</a:t>
            </a:r>
          </a:p>
          <a:p>
            <a:endParaRPr kumimoji="1" lang="ja-JP" altLang="en-US" dirty="0"/>
          </a:p>
        </p:txBody>
      </p:sp>
    </p:spTree>
    <p:extLst>
      <p:ext uri="{BB962C8B-B14F-4D97-AF65-F5344CB8AC3E}">
        <p14:creationId xmlns:p14="http://schemas.microsoft.com/office/powerpoint/2010/main" val="3756610502"/>
      </p:ext>
    </p:extLst>
  </p:cSld>
  <p:clrMapOvr>
    <a:masterClrMapping/>
  </p:clrMapOvr>
</p:sld>
</file>

<file path=ppt/theme/theme1.xml><?xml version="1.0" encoding="utf-8"?>
<a:theme xmlns:a="http://schemas.openxmlformats.org/drawingml/2006/main" name="siprop">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siprop">
      <a:majorFont>
        <a:latin typeface="ＭＳ Ｐゴシック"/>
        <a:ea typeface="ＭＳ Ｐゴシック"/>
        <a:cs typeface=""/>
      </a:majorFont>
      <a:minorFont>
        <a:latin typeface="ＭＳ Ｐゴシック"/>
        <a:ea typeface="ＭＳ Ｐゴシック"/>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siprop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iprop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iprop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iprop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iprop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iprop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iprop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iprop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iprop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iprop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iprop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iprop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SIProp</Template>
  <TotalTime>2013</TotalTime>
  <Words>457</Words>
  <Application>Microsoft Office PowerPoint</Application>
  <PresentationFormat>画面に合わせる (4:3)</PresentationFormat>
  <Paragraphs>155</Paragraphs>
  <Slides>12</Slides>
  <Notes>1</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12</vt:i4>
      </vt:variant>
    </vt:vector>
  </HeadingPairs>
  <TitlesOfParts>
    <vt:vector size="16" baseType="lpstr">
      <vt:lpstr>ＭＳ Ｐゴシック</vt:lpstr>
      <vt:lpstr>Arial</vt:lpstr>
      <vt:lpstr>Times</vt:lpstr>
      <vt:lpstr>siprop</vt:lpstr>
      <vt:lpstr>衛星追尾ソフトウェア開発 </vt:lpstr>
      <vt:lpstr>構成概要</vt:lpstr>
      <vt:lpstr>マスター地球局</vt:lpstr>
      <vt:lpstr>パソコン・タブレットモード</vt:lpstr>
      <vt:lpstr>スマホ地球局（受信専用）</vt:lpstr>
      <vt:lpstr>分散協調ネットワーク</vt:lpstr>
      <vt:lpstr>衛星追尾ソフトウェア機能</vt:lpstr>
      <vt:lpstr>ターゲット</vt:lpstr>
      <vt:lpstr>分散協調ネットワーク・構成</vt:lpstr>
      <vt:lpstr>分散協調ネットワーク・動作概要</vt:lpstr>
      <vt:lpstr>分散協調ネットワーク・設計（検討中)</vt:lpstr>
      <vt:lpstr>担当</vt:lpstr>
    </vt:vector>
  </TitlesOfParts>
  <Company>self</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Noritsuna Imamura</dc:creator>
  <cp:lastModifiedBy>Noritsuna Imamura</cp:lastModifiedBy>
  <cp:revision>209</cp:revision>
  <dcterms:created xsi:type="dcterms:W3CDTF">2017-01-21T05:20:13Z</dcterms:created>
  <dcterms:modified xsi:type="dcterms:W3CDTF">2017-05-21T01:57:31Z</dcterms:modified>
</cp:coreProperties>
</file>