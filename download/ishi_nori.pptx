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M PLUS 1p"/>
      <p:regular r:id="rId30"/>
      <p:bold r:id="rId31"/>
    </p:embeddedFont>
    <p:embeddedFont>
      <p:font typeface="Righteous"/>
      <p:regular r:id="rId32"/>
    </p:embeddedFont>
    <p:embeddedFont>
      <p:font typeface="Oswald"/>
      <p:regular r:id="rId33"/>
      <p:bold r:id="rId34"/>
    </p:embeddedFont>
    <p:embeddedFont>
      <p:font typeface="Barlow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PLUS1p-bold.fntdata"/><Relationship Id="rId30" Type="http://schemas.openxmlformats.org/officeDocument/2006/relationships/font" Target="fonts/MPLUS1p-regular.fntdata"/><Relationship Id="rId11" Type="http://schemas.openxmlformats.org/officeDocument/2006/relationships/slide" Target="slides/slide4.xml"/><Relationship Id="rId33" Type="http://schemas.openxmlformats.org/officeDocument/2006/relationships/font" Target="fonts/Oswald-regular.fntdata"/><Relationship Id="rId10" Type="http://schemas.openxmlformats.org/officeDocument/2006/relationships/slide" Target="slides/slide3.xml"/><Relationship Id="rId32" Type="http://schemas.openxmlformats.org/officeDocument/2006/relationships/font" Target="fonts/Righteous-regular.fntdata"/><Relationship Id="rId13" Type="http://schemas.openxmlformats.org/officeDocument/2006/relationships/slide" Target="slides/slide6.xml"/><Relationship Id="rId35" Type="http://schemas.openxmlformats.org/officeDocument/2006/relationships/font" Target="fonts/BarlowSemiBold-regular.fntdata"/><Relationship Id="rId12" Type="http://schemas.openxmlformats.org/officeDocument/2006/relationships/slide" Target="slides/slide5.xml"/><Relationship Id="rId34" Type="http://schemas.openxmlformats.org/officeDocument/2006/relationships/font" Target="fonts/Oswald-bold.fntdata"/><Relationship Id="rId15" Type="http://schemas.openxmlformats.org/officeDocument/2006/relationships/slide" Target="slides/slide8.xml"/><Relationship Id="rId37" Type="http://schemas.openxmlformats.org/officeDocument/2006/relationships/font" Target="fonts/BarlowSemiBold-italic.fntdata"/><Relationship Id="rId14" Type="http://schemas.openxmlformats.org/officeDocument/2006/relationships/slide" Target="slides/slide7.xml"/><Relationship Id="rId36" Type="http://schemas.openxmlformats.org/officeDocument/2006/relationships/font" Target="fonts/BarlowSemiBold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BarlowSemiBold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3ce41167b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3ce41167b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3ce41167b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3ce41167b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ce41167b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ce41167b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ce41167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3ce4116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3ce41167b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3ce41167b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3ce41167b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3ce41167b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3ce41167b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3ce41167b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3ce41167b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3ce41167b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3ce41167b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3ce41167b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3ce41167b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3ce41167b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3ce41167b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3ce41167b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3ce41167b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3ce41167b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3ce41167b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3ce41167b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3ce41167b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3ce41167b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3ce41167b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3ce41167b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3ce41167b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3ce41167b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3ce41167b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3ce41167b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3ce41167b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3ce41167b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3ce41167b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3ce41167b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f26f8b209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f26f8b209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f26f8b20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f26f8b20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f26f8b20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f26f8b20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Relationship Id="rId3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">
  <p:cSld name="CUSTOM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000"/>
            </a:lvl1pPr>
            <a:lvl2pPr lvl="1" rtl="0">
              <a:buNone/>
              <a:defRPr sz="1000"/>
            </a:lvl2pPr>
            <a:lvl3pPr lvl="2" rtl="0">
              <a:buNone/>
              <a:defRPr sz="1000"/>
            </a:lvl3pPr>
            <a:lvl4pPr lvl="3" rtl="0">
              <a:buNone/>
              <a:defRPr sz="1000"/>
            </a:lvl4pPr>
            <a:lvl5pPr lvl="4" rtl="0">
              <a:buNone/>
              <a:defRPr sz="1000"/>
            </a:lvl5pPr>
            <a:lvl6pPr lvl="5" rtl="0">
              <a:buNone/>
              <a:defRPr sz="1000"/>
            </a:lvl6pPr>
            <a:lvl7pPr lvl="6" rtl="0">
              <a:buNone/>
              <a:defRPr sz="1000"/>
            </a:lvl7pPr>
            <a:lvl8pPr lvl="7" rtl="0">
              <a:buNone/>
              <a:defRPr sz="1000"/>
            </a:lvl8pPr>
            <a:lvl9pPr lvl="8" rtl="0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474800" y="1655875"/>
            <a:ext cx="82734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iryo"/>
              <a:buNone/>
              <a:defRPr b="1" i="0" sz="3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3600"/>
              <a:buFont typeface="Meiryo"/>
              <a:buNone/>
              <a:defRPr sz="3600"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39627"/>
            <a:ext cx="6858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iryo"/>
              <a:buNone/>
              <a:defRPr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iryo"/>
              <a:buNone/>
              <a:defRPr i="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i="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iryo"/>
              <a:buNone/>
              <a:defRPr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iryo"/>
              <a:buNone/>
              <a:defRPr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iryo"/>
              <a:buNone/>
              <a:defRPr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iryo"/>
              <a:buNone/>
              <a:defRPr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iryo"/>
              <a:buNone/>
              <a:defRPr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iryo"/>
              <a:buNone/>
              <a:defRPr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311250" y="71425"/>
            <a:ext cx="63261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28638" y="150195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indent="0"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indent="0"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indent="0"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indent="0"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indent="0"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indent="0"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indent="0"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311250" y="71425"/>
            <a:ext cx="63261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ctrTitle"/>
          </p:nvPr>
        </p:nvSpPr>
        <p:spPr>
          <a:xfrm>
            <a:off x="474800" y="1655875"/>
            <a:ext cx="82734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 PLUS 1p"/>
              <a:buNone/>
              <a:defRPr b="1" i="0" sz="36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3600"/>
              <a:buFont typeface="M PLUS 1p"/>
              <a:buNone/>
              <a:defRPr b="1" sz="3600"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idx="1" type="subTitle"/>
          </p:nvPr>
        </p:nvSpPr>
        <p:spPr>
          <a:xfrm>
            <a:off x="1143000" y="2739627"/>
            <a:ext cx="6858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None/>
              <a:defRPr i="0" sz="18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None/>
              <a:defRPr i="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 PLUS 1p"/>
              <a:buNone/>
              <a:defRPr i="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None/>
              <a:defRPr i="0" sz="18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None/>
              <a:defRPr i="0" sz="18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None/>
              <a:defRPr i="0" sz="18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None/>
              <a:defRPr i="0" sz="18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None/>
              <a:defRPr i="0" sz="18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None/>
              <a:defRPr i="0" sz="18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4" name="Google Shape;94;p22"/>
          <p:cNvSpPr txBox="1"/>
          <p:nvPr/>
        </p:nvSpPr>
        <p:spPr>
          <a:xfrm>
            <a:off x="2722950" y="3983900"/>
            <a:ext cx="369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1p"/>
                <a:ea typeface="M PLUS 1p"/>
                <a:cs typeface="M PLUS 1p"/>
                <a:sym typeface="M PLUS 1p"/>
              </a:rPr>
              <a:t>Our Stars 株式会社</a:t>
            </a:r>
            <a:endParaRPr>
              <a:latin typeface="M PLUS 1p"/>
              <a:ea typeface="M PLUS 1p"/>
              <a:cs typeface="M PLUS 1p"/>
              <a:sym typeface="M PLUS 1p"/>
            </a:endParaRPr>
          </a:p>
        </p:txBody>
      </p:sp>
      <p:cxnSp>
        <p:nvCxnSpPr>
          <p:cNvPr id="95" name="Google Shape;95;p22"/>
          <p:cNvCxnSpPr/>
          <p:nvPr/>
        </p:nvCxnSpPr>
        <p:spPr>
          <a:xfrm>
            <a:off x="7119950" y="0"/>
            <a:ext cx="2028900" cy="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22"/>
          <p:cNvCxnSpPr/>
          <p:nvPr/>
        </p:nvCxnSpPr>
        <p:spPr>
          <a:xfrm rot="10800000">
            <a:off x="9144000" y="4950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cxnSp>
        <p:nvCxnSpPr>
          <p:cNvPr id="101" name="Google Shape;101;p23"/>
          <p:cNvCxnSpPr/>
          <p:nvPr/>
        </p:nvCxnSpPr>
        <p:spPr>
          <a:xfrm>
            <a:off x="7119950" y="0"/>
            <a:ext cx="2028900" cy="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23"/>
          <p:cNvCxnSpPr/>
          <p:nvPr/>
        </p:nvCxnSpPr>
        <p:spPr>
          <a:xfrm rot="10800000">
            <a:off x="9144000" y="4950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title"/>
          </p:nvPr>
        </p:nvSpPr>
        <p:spPr>
          <a:xfrm>
            <a:off x="628638" y="150195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 PLUS 1p"/>
              <a:buNone/>
              <a:defRPr i="0" sz="3000" u="none" cap="none" strike="noStrike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indent="0"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indent="0"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indent="0"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indent="0"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indent="0"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indent="0"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indent="0"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indent="0"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rtl="0" algn="r">
              <a:buNone/>
              <a:defRPr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106" name="Google Shape;106;p24"/>
          <p:cNvCxnSpPr/>
          <p:nvPr/>
        </p:nvCxnSpPr>
        <p:spPr>
          <a:xfrm>
            <a:off x="7119950" y="0"/>
            <a:ext cx="2028900" cy="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24"/>
          <p:cNvCxnSpPr/>
          <p:nvPr/>
        </p:nvCxnSpPr>
        <p:spPr>
          <a:xfrm rot="10800000">
            <a:off x="9144000" y="4950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0" name="Google Shape;110;p25"/>
          <p:cNvSpPr txBox="1"/>
          <p:nvPr>
            <p:ph type="title"/>
          </p:nvPr>
        </p:nvSpPr>
        <p:spPr>
          <a:xfrm>
            <a:off x="311250" y="71425"/>
            <a:ext cx="63261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cxnSp>
        <p:nvCxnSpPr>
          <p:cNvPr id="111" name="Google Shape;111;p25"/>
          <p:cNvCxnSpPr/>
          <p:nvPr/>
        </p:nvCxnSpPr>
        <p:spPr>
          <a:xfrm>
            <a:off x="7119950" y="0"/>
            <a:ext cx="2028900" cy="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5"/>
          <p:cNvCxnSpPr/>
          <p:nvPr/>
        </p:nvCxnSpPr>
        <p:spPr>
          <a:xfrm rot="10800000">
            <a:off x="9144000" y="4950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 1 1 2">
  <p:cSld name="TITLE_2_1_1_2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9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/>
          <p:cNvPicPr preferRelativeResize="0"/>
          <p:nvPr/>
        </p:nvPicPr>
        <p:blipFill rotWithShape="1">
          <a:blip r:embed="rId3">
            <a:alphaModFix amt="30000"/>
          </a:blip>
          <a:srcRect b="54423" l="0" r="0" t="0"/>
          <a:stretch/>
        </p:blipFill>
        <p:spPr>
          <a:xfrm>
            <a:off x="100409" y="4958120"/>
            <a:ext cx="640993" cy="100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360">
          <p15:clr>
            <a:srgbClr val="FA7B17"/>
          </p15:clr>
        </p15:guide>
        <p15:guide id="3" orient="horz" pos="1800">
          <p15:clr>
            <a:srgbClr val="FA7B17"/>
          </p15:clr>
        </p15:guide>
        <p15:guide id="4" orient="horz" pos="2970">
          <p15:clr>
            <a:srgbClr val="FA7B17"/>
          </p15:clr>
        </p15:guide>
        <p15:guide id="5" pos="180">
          <p15:clr>
            <a:srgbClr val="FA7B17"/>
          </p15:clr>
        </p15:guide>
        <p15:guide id="6" pos="360">
          <p15:clr>
            <a:srgbClr val="FA7B17"/>
          </p15:clr>
        </p15:guide>
        <p15:guide id="7" pos="5400">
          <p15:clr>
            <a:srgbClr val="FA7B17"/>
          </p15:clr>
        </p15:guide>
        <p15:guide id="8" pos="5580">
          <p15:clr>
            <a:srgbClr val="FA7B17"/>
          </p15:clr>
        </p15:guide>
        <p15:guide id="9" pos="2835">
          <p15:clr>
            <a:srgbClr val="FA7B17"/>
          </p15:clr>
        </p15:guide>
        <p15:guide id="10" pos="2925">
          <p15:clr>
            <a:srgbClr val="FA7B17"/>
          </p15:clr>
        </p15:guide>
        <p15:guide id="11" orient="horz" pos="540">
          <p15:clr>
            <a:srgbClr val="FA7B17"/>
          </p15:clr>
        </p15:guide>
        <p15:guide id="12" orient="horz" pos="2790">
          <p15:clr>
            <a:srgbClr val="FA7B17"/>
          </p15:clr>
        </p15:guide>
        <p15:guide id="13" orient="horz" pos="720">
          <p15:clr>
            <a:srgbClr val="FA7B17"/>
          </p15:clr>
        </p15:guide>
        <p15:guide id="14" pos="2970">
          <p15:clr>
            <a:srgbClr val="FA7B17"/>
          </p15:clr>
        </p15:guide>
        <p15:guide id="15" pos="2790">
          <p15:clr>
            <a:srgbClr val="FA7B17"/>
          </p15:clr>
        </p15:guide>
        <p15:guide id="16" pos="540">
          <p15:clr>
            <a:srgbClr val="FA7B17"/>
          </p15:clr>
        </p15:guide>
        <p15:guide id="17" pos="5220">
          <p15:clr>
            <a:srgbClr val="FA7B17"/>
          </p15:clr>
        </p15:guide>
        <p15:guide id="18" pos="270">
          <p15:clr>
            <a:srgbClr val="FA7B17"/>
          </p15:clr>
        </p15:guide>
        <p15:guide id="19" pos="5490">
          <p15:clr>
            <a:srgbClr val="FA7B17"/>
          </p15:clr>
        </p15:guide>
        <p15:guide id="20" orient="horz" pos="2700">
          <p15:clr>
            <a:srgbClr val="FA7B17"/>
          </p15:clr>
        </p15:guide>
        <p15:guide id="21" orient="horz" pos="2520">
          <p15:clr>
            <a:srgbClr val="FA7B17"/>
          </p15:clr>
        </p15:guide>
        <p15:guide id="22" orient="horz" pos="900">
          <p15:clr>
            <a:srgbClr val="FA7B17"/>
          </p15:clr>
        </p15:guide>
        <p15:guide id="23" orient="horz" pos="1080">
          <p15:clr>
            <a:srgbClr val="FA7B17"/>
          </p15:clr>
        </p15:guide>
        <p15:guide id="24" orient="horz" pos="1260">
          <p15:clr>
            <a:srgbClr val="FA7B17"/>
          </p15:clr>
        </p15:guide>
        <p15:guide id="25" orient="horz" pos="2160">
          <p15:clr>
            <a:srgbClr val="FA7B17"/>
          </p15:clr>
        </p15:guide>
        <p15:guide id="26" orient="horz" pos="2340">
          <p15:clr>
            <a:srgbClr val="FA7B17"/>
          </p15:clr>
        </p15:guide>
        <p15:guide id="27" pos="1890">
          <p15:clr>
            <a:srgbClr val="FA7B17"/>
          </p15:clr>
        </p15:guide>
        <p15:guide id="28" pos="2070">
          <p15:clr>
            <a:srgbClr val="FA7B17"/>
          </p15:clr>
        </p15:guide>
        <p15:guide id="29" pos="3690">
          <p15:clr>
            <a:srgbClr val="FA7B17"/>
          </p15:clr>
        </p15:guide>
        <p15:guide id="30" pos="387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7225150" y="-14775"/>
            <a:ext cx="1927200" cy="4320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Meiryo"/>
              <a:buChar char="●"/>
              <a:defRPr sz="1800">
                <a:latin typeface="Meiryo"/>
                <a:ea typeface="Meiryo"/>
                <a:cs typeface="Meiryo"/>
                <a:sym typeface="Meiry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Meiryo"/>
              <a:buChar char="○"/>
              <a:defRPr sz="1600"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eiryo"/>
              <a:buChar char="■"/>
              <a:defRPr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eiryo"/>
              <a:buChar char="●"/>
              <a:defRPr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eiryo"/>
              <a:buChar char="○"/>
              <a:defRPr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eiryo"/>
              <a:buChar char="■"/>
              <a:defRPr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eiryo"/>
              <a:buChar char="●"/>
              <a:defRPr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eiryo"/>
              <a:buChar char="○"/>
              <a:defRPr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eiryo"/>
              <a:buChar char="■"/>
              <a:defRPr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311250" y="71425"/>
            <a:ext cx="54360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Meiryo"/>
              <a:buNone/>
              <a:defRPr b="1" sz="2400"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7559750" y="-58838"/>
            <a:ext cx="1639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3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rPr>
              <a:t>Our Stars</a:t>
            </a:r>
            <a:endParaRPr sz="2300">
              <a:solidFill>
                <a:srgbClr val="FFFFFF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7207818" y="322982"/>
            <a:ext cx="187800" cy="8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7045317" y="-3175"/>
            <a:ext cx="392400" cy="432000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7150644" y="102152"/>
            <a:ext cx="392400" cy="432000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7255970" y="207478"/>
            <a:ext cx="392400" cy="432000"/>
          </a:xfrm>
          <a:prstGeom prst="star4">
            <a:avLst>
              <a:gd fmla="val 12500" name="adj"/>
            </a:avLst>
          </a:prstGeom>
          <a:solidFill>
            <a:srgbClr val="FFFFFF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rtl="0" algn="r">
              <a:buNone/>
              <a:defRPr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M PLUS 1p"/>
              <a:buChar char="●"/>
              <a:defRPr sz="1800">
                <a:latin typeface="M PLUS 1p"/>
                <a:ea typeface="M PLUS 1p"/>
                <a:cs typeface="M PLUS 1p"/>
                <a:sym typeface="M PLUS 1p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M PLUS 1p"/>
              <a:buChar char="○"/>
              <a:defRPr sz="1600">
                <a:latin typeface="M PLUS 1p"/>
                <a:ea typeface="M PLUS 1p"/>
                <a:cs typeface="M PLUS 1p"/>
                <a:sym typeface="M PLUS 1p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Char char="■"/>
              <a:defRPr>
                <a:latin typeface="M PLUS 1p"/>
                <a:ea typeface="M PLUS 1p"/>
                <a:cs typeface="M PLUS 1p"/>
                <a:sym typeface="M PLUS 1p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Char char="●"/>
              <a:defRPr>
                <a:latin typeface="M PLUS 1p"/>
                <a:ea typeface="M PLUS 1p"/>
                <a:cs typeface="M PLUS 1p"/>
                <a:sym typeface="M PLUS 1p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Char char="○"/>
              <a:defRPr>
                <a:latin typeface="M PLUS 1p"/>
                <a:ea typeface="M PLUS 1p"/>
                <a:cs typeface="M PLUS 1p"/>
                <a:sym typeface="M PLUS 1p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Char char="■"/>
              <a:defRPr>
                <a:latin typeface="M PLUS 1p"/>
                <a:ea typeface="M PLUS 1p"/>
                <a:cs typeface="M PLUS 1p"/>
                <a:sym typeface="M PLUS 1p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Char char="●"/>
              <a:defRPr>
                <a:latin typeface="M PLUS 1p"/>
                <a:ea typeface="M PLUS 1p"/>
                <a:cs typeface="M PLUS 1p"/>
                <a:sym typeface="M PLUS 1p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Char char="○"/>
              <a:defRPr>
                <a:latin typeface="M PLUS 1p"/>
                <a:ea typeface="M PLUS 1p"/>
                <a:cs typeface="M PLUS 1p"/>
                <a:sym typeface="M PLUS 1p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Char char="■"/>
              <a:defRPr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311250" y="71425"/>
            <a:ext cx="66120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  <p:sp>
        <p:nvSpPr>
          <p:cNvPr id="87" name="Google Shape;87;p21"/>
          <p:cNvSpPr/>
          <p:nvPr/>
        </p:nvSpPr>
        <p:spPr>
          <a:xfrm>
            <a:off x="7207818" y="322982"/>
            <a:ext cx="187800" cy="8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7119950" y="0"/>
            <a:ext cx="2028900" cy="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21"/>
          <p:cNvCxnSpPr/>
          <p:nvPr/>
        </p:nvCxnSpPr>
        <p:spPr>
          <a:xfrm rot="10800000">
            <a:off x="9144000" y="4950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00B1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  <p:sldLayoutId id="2147483667" r:id="rId3"/>
    <p:sldLayoutId id="2147483668" r:id="rId4"/>
    <p:sldLayoutId id="2147483669" r:id="rId5"/>
    <p:sldLayoutId id="214748367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iscord.gg/RwAWF5mZSR" TargetMode="External"/><Relationship Id="rId4" Type="http://schemas.openxmlformats.org/officeDocument/2006/relationships/hyperlink" Target="https://ishikai.connpass.com/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scs.ieee.org/about/solid-state-circuits-directions/sscs-pico-program" TargetMode="External"/><Relationship Id="rId4" Type="http://schemas.openxmlformats.org/officeDocument/2006/relationships/hyperlink" Target="https://www.vlsisymposium.or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vlsisymposium.org/" TargetMode="External"/><Relationship Id="rId4" Type="http://schemas.openxmlformats.org/officeDocument/2006/relationships/hyperlink" Target="https://sscs.ieee.org/about/solid-state-circuits-directions/sscs-pico-progra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slideshare.net/noritsuna/ss-8327777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slideshare.net/noritsuna/ss-832777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idx="1" type="subTitle"/>
          </p:nvPr>
        </p:nvSpPr>
        <p:spPr>
          <a:xfrm>
            <a:off x="1143000" y="2739627"/>
            <a:ext cx="6858000" cy="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ja"/>
              <a:t>会の立ち上げのご挨拶＆立ち上げ趣旨の説明</a:t>
            </a:r>
            <a:endParaRPr/>
          </a:p>
        </p:txBody>
      </p:sp>
      <p:sp>
        <p:nvSpPr>
          <p:cNvPr id="121" name="Google Shape;121;p27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2" name="Google Shape;122;p27"/>
          <p:cNvSpPr txBox="1"/>
          <p:nvPr/>
        </p:nvSpPr>
        <p:spPr>
          <a:xfrm>
            <a:off x="3387575" y="3981000"/>
            <a:ext cx="23649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 PLUS 1p"/>
                <a:ea typeface="M PLUS 1p"/>
                <a:cs typeface="M PLUS 1p"/>
                <a:sym typeface="M PLUS 1p"/>
              </a:rPr>
              <a:t>今村謙之</a:t>
            </a:r>
            <a:endParaRPr b="1"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1p"/>
                <a:ea typeface="M PLUS 1p"/>
                <a:cs typeface="M PLUS 1p"/>
                <a:sym typeface="M PLUS 1p"/>
              </a:rPr>
              <a:t>Noritsuna Imamura</a:t>
            </a:r>
            <a:endParaRPr>
              <a:latin typeface="M PLUS 1p"/>
              <a:ea typeface="M PLUS 1p"/>
              <a:cs typeface="M PLUS 1p"/>
              <a:sym typeface="M PLUS 1p"/>
            </a:endParaRPr>
          </a:p>
        </p:txBody>
      </p:sp>
      <p:pic>
        <p:nvPicPr>
          <p:cNvPr id="123" name="Google Shape;1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713" y="1345347"/>
            <a:ext cx="5750574" cy="13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idx="1" type="body"/>
          </p:nvPr>
        </p:nvSpPr>
        <p:spPr>
          <a:xfrm>
            <a:off x="311250" y="762000"/>
            <a:ext cx="42609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ja" sz="2600"/>
              <a:t>WiFi情報</a:t>
            </a:r>
            <a:endParaRPr sz="26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ja" sz="2400"/>
              <a:t>SSID: xxx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ja" sz="2400"/>
              <a:t>Password: xxx</a:t>
            </a:r>
            <a:endParaRPr sz="2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ja" sz="2600"/>
              <a:t>電源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ja" sz="2600"/>
              <a:t>電源タップがあるので、申し付けください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ja" sz="2600"/>
              <a:t>席の場所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ja" sz="2600"/>
              <a:t>自由です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ja" sz="2600"/>
              <a:t>出入り自由です</a:t>
            </a:r>
            <a:endParaRPr sz="2600"/>
          </a:p>
        </p:txBody>
      </p:sp>
      <p:sp>
        <p:nvSpPr>
          <p:cNvPr id="129" name="Google Shape;129;p28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会場の注意事項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4807050" y="762000"/>
            <a:ext cx="42609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ja" sz="2600">
                <a:solidFill>
                  <a:schemeClr val="dk1"/>
                </a:solidFill>
              </a:rPr>
              <a:t>録画について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ja" sz="2600">
                <a:solidFill>
                  <a:schemeClr val="dk1"/>
                </a:solidFill>
              </a:rPr>
              <a:t>録画しております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ja" sz="2600">
                <a:solidFill>
                  <a:schemeClr val="dk1"/>
                </a:solidFill>
              </a:rPr>
              <a:t>顔出しNGの方は各自で対応をお願いします</a:t>
            </a:r>
            <a:endParaRPr sz="2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ja" sz="2600">
                <a:solidFill>
                  <a:schemeClr val="dk1"/>
                </a:solidFill>
              </a:rPr>
              <a:t>おやつ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ja" sz="2600">
                <a:solidFill>
                  <a:schemeClr val="dk1"/>
                </a:solidFill>
              </a:rPr>
              <a:t>自分でサーブしてね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311250" y="2935950"/>
            <a:ext cx="8460300" cy="20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ja" sz="2200"/>
              <a:t>懇親会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ja" sz="2000"/>
              <a:t>時間：19時～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ja" sz="2000"/>
              <a:t>会場：まだ決定していません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ja" sz="2000"/>
              <a:t>募集時期：</a:t>
            </a:r>
            <a:r>
              <a:rPr b="1" lang="ja" sz="2000"/>
              <a:t>16時くらい</a:t>
            </a:r>
            <a:r>
              <a:rPr lang="ja" sz="2000"/>
              <a:t>に募集をかけます</a:t>
            </a:r>
            <a:endParaRPr sz="2000"/>
          </a:p>
        </p:txBody>
      </p:sp>
      <p:sp>
        <p:nvSpPr>
          <p:cNvPr id="136" name="Google Shape;136;p29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スケジュール</a:t>
            </a:r>
            <a:endParaRPr/>
          </a:p>
        </p:txBody>
      </p:sp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5" y="723798"/>
            <a:ext cx="8514376" cy="2052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311250" y="228600"/>
            <a:ext cx="8460300" cy="42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/>
              <a:t>ISHI会とは？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/>
              <a:t>Inter-linked Society on Homemade IC Kai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250" y="71425"/>
            <a:ext cx="65553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ISHI会グランドデザイン</a:t>
            </a:r>
            <a:endParaRPr/>
          </a:p>
        </p:txBody>
      </p:sp>
      <p:sp>
        <p:nvSpPr>
          <p:cNvPr id="148" name="Google Shape;148;p31"/>
          <p:cNvSpPr/>
          <p:nvPr/>
        </p:nvSpPr>
        <p:spPr>
          <a:xfrm>
            <a:off x="239375" y="516325"/>
            <a:ext cx="8605200" cy="4627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/>
              <a:t>「みんなの経験をチップに！」</a:t>
            </a:r>
            <a:endParaRPr b="1" sz="2400"/>
          </a:p>
        </p:txBody>
      </p:sp>
      <p:sp>
        <p:nvSpPr>
          <p:cNvPr id="149" name="Google Shape;149;p31"/>
          <p:cNvSpPr/>
          <p:nvPr/>
        </p:nvSpPr>
        <p:spPr>
          <a:xfrm>
            <a:off x="4620525" y="1460500"/>
            <a:ext cx="4156800" cy="1311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/>
              <a:t>他業界の現状（限界感）</a:t>
            </a:r>
            <a:endParaRPr b="1"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高速・小型・省電力の要求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汎用チップ＋ソフトでは限界</a:t>
            </a:r>
            <a:endParaRPr/>
          </a:p>
        </p:txBody>
      </p:sp>
      <p:sp>
        <p:nvSpPr>
          <p:cNvPr id="150" name="Google Shape;150;p31"/>
          <p:cNvSpPr/>
          <p:nvPr/>
        </p:nvSpPr>
        <p:spPr>
          <a:xfrm>
            <a:off x="392900" y="4271825"/>
            <a:ext cx="8384400" cy="6972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ISHI会の意義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他（多）分野の知識の統合により、今までになかった研究・開発への期待</a:t>
            </a:r>
            <a:endParaRPr/>
          </a:p>
        </p:txBody>
      </p:sp>
      <p:sp>
        <p:nvSpPr>
          <p:cNvPr id="151" name="Google Shape;151;p31"/>
          <p:cNvSpPr/>
          <p:nvPr/>
        </p:nvSpPr>
        <p:spPr>
          <a:xfrm>
            <a:off x="392900" y="1460500"/>
            <a:ext cx="4156800" cy="1311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/>
              <a:t>ASIC(LSI)業界の現状（閉塞感）</a:t>
            </a:r>
            <a:endParaRPr b="1"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NDAでなにもしゃべれない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ja">
                <a:solidFill>
                  <a:schemeClr val="dk1"/>
                </a:solidFill>
              </a:rPr>
              <a:t>最先端は札束の応酬</a:t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ja">
                <a:solidFill>
                  <a:schemeClr val="dk1"/>
                </a:solidFill>
              </a:rPr>
              <a:t>若者が入ってこない</a:t>
            </a:r>
            <a:endParaRPr/>
          </a:p>
        </p:txBody>
      </p:sp>
      <p:sp>
        <p:nvSpPr>
          <p:cNvPr id="152" name="Google Shape;152;p31"/>
          <p:cNvSpPr/>
          <p:nvPr/>
        </p:nvSpPr>
        <p:spPr>
          <a:xfrm>
            <a:off x="3694375" y="3872725"/>
            <a:ext cx="1770600" cy="445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53" name="Google Shape;153;p31"/>
          <p:cNvSpPr/>
          <p:nvPr/>
        </p:nvSpPr>
        <p:spPr>
          <a:xfrm>
            <a:off x="392900" y="2984500"/>
            <a:ext cx="8384400" cy="107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/>
              <a:t>コミュニティーの意義</a:t>
            </a:r>
            <a:endParaRPr b="1"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>
                <a:solidFill>
                  <a:schemeClr val="dk1"/>
                </a:solidFill>
              </a:rPr>
              <a:t>成果の再利用が可能。Do It With Others(それ、みんなでやってみよう)の精神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日本の利点：地理的に物理的に集まりやすく、勉強会や合宿をやりやすい</a:t>
            </a:r>
            <a:endParaRPr/>
          </a:p>
        </p:txBody>
      </p:sp>
      <p:sp>
        <p:nvSpPr>
          <p:cNvPr id="154" name="Google Shape;154;p31"/>
          <p:cNvSpPr/>
          <p:nvPr/>
        </p:nvSpPr>
        <p:spPr>
          <a:xfrm>
            <a:off x="7373400" y="748875"/>
            <a:ext cx="1770600" cy="697200"/>
          </a:xfrm>
          <a:prstGeom prst="wedgeRoundRectCallout">
            <a:avLst>
              <a:gd fmla="val -56279" name="adj1"/>
              <a:gd fmla="val 86883" name="adj2"/>
              <a:gd fmla="val 0" name="adj3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ASIC(LSI)化したいけど情報がない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1"/>
          <p:cNvSpPr/>
          <p:nvPr/>
        </p:nvSpPr>
        <p:spPr>
          <a:xfrm>
            <a:off x="2682175" y="2549850"/>
            <a:ext cx="3713256" cy="830682"/>
          </a:xfrm>
          <a:prstGeom prst="irregularSeal1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5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OpenMPWの登場！</a:t>
            </a:r>
            <a:endParaRPr b="1" sz="15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1"/>
          <p:cNvSpPr/>
          <p:nvPr/>
        </p:nvSpPr>
        <p:spPr>
          <a:xfrm>
            <a:off x="10100" y="579925"/>
            <a:ext cx="2079000" cy="830700"/>
          </a:xfrm>
          <a:prstGeom prst="wedgeRoundRectCallout">
            <a:avLst>
              <a:gd fmla="val 31443" name="adj1"/>
              <a:gd fmla="val 70934" name="adj2"/>
              <a:gd fmla="val 0" name="adj3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</a:rPr>
              <a:t>新規分野を開拓したいけどどうすればよいのかわからない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57" name="Google Shape;157;p31"/>
          <p:cNvSpPr/>
          <p:nvPr/>
        </p:nvSpPr>
        <p:spPr>
          <a:xfrm>
            <a:off x="5890250" y="2490500"/>
            <a:ext cx="2963400" cy="445200"/>
          </a:xfrm>
          <a:prstGeom prst="cloudCallout">
            <a:avLst>
              <a:gd fmla="val -68358" name="adj1"/>
              <a:gd fmla="val 56643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すべてがオープン！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311250" y="762000"/>
            <a:ext cx="42609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利点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すごい人しか来ない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コミュニティーに来るような人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自信のある人なので、技術力が高い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技術力は無くとも、好奇心が高い（ポテンシャル高）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横のつながり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中小ベンチャー系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ja">
                <a:solidFill>
                  <a:schemeClr val="dk1"/>
                </a:solidFill>
              </a:rPr>
              <a:t>かなり優秀な技術者である場合が多い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大企業系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影響力が高く、いろいろなコラボに繋がることが多い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人の成果を使える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Do It With Othersの精神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論文のモノづくり版</a:t>
            </a:r>
            <a:endParaRPr/>
          </a:p>
        </p:txBody>
      </p:sp>
      <p:sp>
        <p:nvSpPr>
          <p:cNvPr id="163" name="Google Shape;163;p32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コミュニティー運営の利点と欠点</a:t>
            </a:r>
            <a:endParaRPr/>
          </a:p>
        </p:txBody>
      </p:sp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4572150" y="762000"/>
            <a:ext cx="44958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欠点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成功するかしないか博打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基本、死屍累々である・・・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成功しないコミュニティー</a:t>
            </a:r>
            <a:r>
              <a:rPr b="1" lang="ja"/>
              <a:t>が</a:t>
            </a:r>
            <a:r>
              <a:rPr lang="ja"/>
              <a:t>多い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アンコントロール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企業のように給料という縛りがあるわけでもなく、大学のように業績を上げないといけないという縛りもない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みんな好きなように動く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時間が無限に吸われる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業務時間外に活動する人が多いため、24時間常に情報をやり取りすることになったりする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311250" y="762000"/>
            <a:ext cx="48684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VLSI.jp・クレイジーピエロ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日本初のOpenMPW攻略者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我々のリーダー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本日、お休み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滋賀県立大学・土谷先生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アナログ系ASIC,LSIの専門家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ハンズオンセミナー担当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Google・Proppy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OpenMPWの中の人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OpenMPWに関する講演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OurStars社・今村謙之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コミュニティー立ち上げ経験者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超小型衛星用の統合チップを作りたい人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裏方仕事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170" name="Google Shape;170;p33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本日の運営</a:t>
            </a:r>
            <a:r>
              <a:rPr lang="ja"/>
              <a:t>メンバー</a:t>
            </a:r>
            <a:endParaRPr/>
          </a:p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4654650" y="762000"/>
            <a:ext cx="45519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@jun1okamura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ハンズオンセミナーのアシスタント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@Yamada3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名刺のデザイナー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本日はリモート参加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311250" y="228600"/>
            <a:ext cx="8460300" cy="42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/>
              <a:t>現在の状況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 sz="2000"/>
              <a:t>Discord上で活動中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ja" sz="1800" u="sng">
                <a:solidFill>
                  <a:schemeClr val="hlink"/>
                </a:solidFill>
                <a:hlinkClick r:id="rId3"/>
              </a:rPr>
              <a:t>https://discord.gg/RwAWF5mZSR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 sz="2000"/>
              <a:t>イベント告知（勉強会など）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ja" sz="1800"/>
              <a:t>connpass</a:t>
            </a:r>
            <a:endParaRPr sz="18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ja" sz="1600" u="sng">
                <a:solidFill>
                  <a:schemeClr val="hlink"/>
                </a:solidFill>
                <a:hlinkClick r:id="rId4"/>
              </a:rPr>
              <a:t>https://ishikai.connpass.com/</a:t>
            </a:r>
            <a:endParaRPr sz="16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t/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ja" sz="1800"/>
              <a:t>第一回ハンズオンセミナー（立ち上げイベント）</a:t>
            </a:r>
            <a:endParaRPr sz="18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ja" sz="1600"/>
              <a:t>日時：5/7(日)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ja" sz="1600"/>
              <a:t>開始時間：13:00～18:00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ja" sz="1600"/>
              <a:t>場所：技研ベース＆オンライン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182" name="Google Shape;182;p35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活動場所</a:t>
            </a:r>
            <a:endParaRPr/>
          </a:p>
        </p:txBody>
      </p:sp>
      <p:pic>
        <p:nvPicPr>
          <p:cNvPr id="183" name="Google Shape;18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6750" y="2092900"/>
            <a:ext cx="3069650" cy="30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0750" y="71425"/>
            <a:ext cx="2579105" cy="21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"/>
              <a:t>メンバー探し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ja"/>
              <a:t>open-source-silicon.devワークスペースjapan-regionチャンネルで呼びかける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ja">
                <a:solidFill>
                  <a:schemeClr val="dk1"/>
                </a:solidFill>
              </a:rPr>
              <a:t>アポ先を回る（2023/03～06）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ja">
                <a:solidFill>
                  <a:schemeClr val="dk1"/>
                </a:solidFill>
              </a:rPr>
              <a:t>参加イベント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ja" sz="1800" u="sng">
                <a:solidFill>
                  <a:schemeClr val="hlink"/>
                </a:solidFill>
                <a:hlinkClick r:id="rId3"/>
              </a:rPr>
              <a:t>SSCS PICO Chipathon</a:t>
            </a:r>
            <a:r>
              <a:rPr lang="ja" sz="1800">
                <a:solidFill>
                  <a:schemeClr val="dk1"/>
                </a:solidFill>
              </a:rPr>
              <a:t> (半年コースの息の長いイベント)</a:t>
            </a:r>
            <a:endParaRPr sz="18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ja" sz="1600">
                <a:solidFill>
                  <a:schemeClr val="dk1"/>
                </a:solidFill>
              </a:rPr>
              <a:t>Team Japanを結成の呼びかけ</a:t>
            </a:r>
            <a:endParaRPr sz="16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ja" sz="1800" u="sng">
                <a:solidFill>
                  <a:schemeClr val="hlink"/>
                </a:solidFill>
                <a:hlinkClick r:id="rId4"/>
              </a:rPr>
              <a:t>VLSI Circuits Symposium</a:t>
            </a:r>
            <a:r>
              <a:rPr lang="ja" sz="1800">
                <a:solidFill>
                  <a:schemeClr val="dk1"/>
                </a:solidFill>
              </a:rPr>
              <a:t> （2023/06）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</a:pPr>
            <a:r>
              <a:rPr lang="ja" sz="1600">
                <a:solidFill>
                  <a:schemeClr val="dk1"/>
                </a:solidFill>
              </a:rPr>
              <a:t>IEEE SSCS Kansai Chapterの開催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ja" sz="1600">
                <a:solidFill>
                  <a:schemeClr val="dk1"/>
                </a:solidFill>
              </a:rPr>
              <a:t>OpenMPW利用の動き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ja">
                <a:solidFill>
                  <a:schemeClr val="dk1"/>
                </a:solidFill>
              </a:rPr>
              <a:t>滋賀県立大学＋OurStars社：超小型衛星用の統合チップ(アナログの特性解析・測定用回路)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ja">
                <a:solidFill>
                  <a:schemeClr val="dk1"/>
                </a:solidFill>
              </a:rPr>
              <a:t>Kernel/VM探検隊＋AXE社：ROS2のチップ化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36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すでに動き始めているもの 1/2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ja" sz="1900">
                <a:solidFill>
                  <a:schemeClr val="dk1"/>
                </a:solidFill>
              </a:rPr>
              <a:t>ハンズオンイベント</a:t>
            </a:r>
            <a:endParaRPr sz="19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ja" sz="1700">
                <a:solidFill>
                  <a:schemeClr val="dk1"/>
                </a:solidFill>
              </a:rPr>
              <a:t>ぶち上げハンズオン（</a:t>
            </a:r>
            <a:r>
              <a:rPr lang="ja" sz="1700">
                <a:solidFill>
                  <a:schemeClr val="dk1"/>
                </a:solidFill>
              </a:rPr>
              <a:t>本日のイベント</a:t>
            </a:r>
            <a:r>
              <a:rPr lang="ja" sz="1700">
                <a:solidFill>
                  <a:schemeClr val="dk1"/>
                </a:solidFill>
              </a:rPr>
              <a:t>）</a:t>
            </a:r>
            <a:endParaRPr sz="17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ja" sz="1500">
                <a:solidFill>
                  <a:schemeClr val="dk1"/>
                </a:solidFill>
              </a:rPr>
              <a:t>初心者向けの講演会＋ハンズオンセミナー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ja" sz="1500">
                <a:solidFill>
                  <a:schemeClr val="dk1"/>
                </a:solidFill>
              </a:rPr>
              <a:t>初心者向けの講演会</a:t>
            </a:r>
            <a:endParaRPr sz="1500">
              <a:solidFill>
                <a:schemeClr val="dk1"/>
              </a:solidFill>
            </a:endParaRPr>
          </a:p>
          <a:p>
            <a:pPr indent="-32385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ja" sz="1500">
                <a:solidFill>
                  <a:schemeClr val="dk1"/>
                </a:solidFill>
              </a:rPr>
              <a:t>会の立ち上げのあいさつ</a:t>
            </a:r>
            <a:endParaRPr sz="1500">
              <a:solidFill>
                <a:schemeClr val="dk1"/>
              </a:solidFill>
            </a:endParaRPr>
          </a:p>
          <a:p>
            <a:pPr indent="-32385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ja" sz="1500">
                <a:solidFill>
                  <a:schemeClr val="dk1"/>
                </a:solidFill>
              </a:rPr>
              <a:t>Google社OpenMPW担当Johanさん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ja" sz="1500">
                <a:solidFill>
                  <a:schemeClr val="dk1"/>
                </a:solidFill>
              </a:rPr>
              <a:t>ハンズオンセミナー</a:t>
            </a:r>
            <a:endParaRPr sz="1500">
              <a:solidFill>
                <a:schemeClr val="dk1"/>
              </a:solidFill>
            </a:endParaRPr>
          </a:p>
          <a:p>
            <a:pPr indent="-32385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ja" sz="1500">
                <a:solidFill>
                  <a:schemeClr val="dk1"/>
                </a:solidFill>
              </a:rPr>
              <a:t>土谷先生によるSiliwizセミナー</a:t>
            </a:r>
            <a:endParaRPr sz="1500">
              <a:solidFill>
                <a:schemeClr val="dk1"/>
              </a:solidFill>
            </a:endParaRPr>
          </a:p>
          <a:p>
            <a:pPr indent="-32385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ja" sz="1500">
                <a:solidFill>
                  <a:schemeClr val="dk1"/>
                </a:solidFill>
              </a:rPr>
              <a:t>NOR回路デザイン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ja" sz="1900">
                <a:solidFill>
                  <a:schemeClr val="dk1"/>
                </a:solidFill>
              </a:rPr>
              <a:t>展示会への出展</a:t>
            </a:r>
            <a:endParaRPr sz="19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ja" sz="1700">
                <a:solidFill>
                  <a:schemeClr val="dk1"/>
                </a:solidFill>
              </a:rPr>
              <a:t>Maker Faire Tokyo 2023</a:t>
            </a:r>
            <a:endParaRPr sz="17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ja" sz="1500">
                <a:solidFill>
                  <a:schemeClr val="dk1"/>
                </a:solidFill>
              </a:rPr>
              <a:t>募集が</a:t>
            </a:r>
            <a:r>
              <a:rPr b="1" lang="ja" sz="1500">
                <a:solidFill>
                  <a:schemeClr val="dk1"/>
                </a:solidFill>
              </a:rPr>
              <a:t>来週から</a:t>
            </a: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ja" sz="1500">
                <a:solidFill>
                  <a:schemeClr val="dk1"/>
                </a:solidFill>
              </a:rPr>
              <a:t>展示会は10月14，15日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6" name="Google Shape;196;p37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すでに動き始めているもの 2/2</a:t>
            </a:r>
            <a:endParaRPr/>
          </a:p>
        </p:txBody>
      </p:sp>
      <p:pic>
        <p:nvPicPr>
          <p:cNvPr id="197" name="Google Shape;1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450" y="377575"/>
            <a:ext cx="3512975" cy="28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6250" y="2847991"/>
            <a:ext cx="3467750" cy="2295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ja" sz="1900">
                <a:solidFill>
                  <a:schemeClr val="dk1"/>
                </a:solidFill>
              </a:rPr>
              <a:t>勉強会・講演会などのイベント</a:t>
            </a:r>
            <a:endParaRPr sz="19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ja" sz="1700">
                <a:solidFill>
                  <a:schemeClr val="dk1"/>
                </a:solidFill>
              </a:rPr>
              <a:t>定例勉強会＆もくもく会</a:t>
            </a:r>
            <a:endParaRPr sz="17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ja" sz="1500">
                <a:solidFill>
                  <a:schemeClr val="dk1"/>
                </a:solidFill>
              </a:rPr>
              <a:t>初心者向けやマニアックな勉強会を定期開催する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ja" sz="1500">
                <a:solidFill>
                  <a:schemeClr val="dk1"/>
                </a:solidFill>
              </a:rPr>
              <a:t>内容はビデオ撮影して、YouTube等へ投稿</a:t>
            </a:r>
            <a:endParaRPr sz="15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ja" sz="1700">
                <a:solidFill>
                  <a:schemeClr val="dk1"/>
                </a:solidFill>
              </a:rPr>
              <a:t>OpenMPW発の大型イベント</a:t>
            </a:r>
            <a:endParaRPr sz="17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ja" sz="1500">
                <a:solidFill>
                  <a:schemeClr val="dk1"/>
                </a:solidFill>
              </a:rPr>
              <a:t>大きな箱を借りて、ぶち上げるやつ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ja" sz="1500">
                <a:solidFill>
                  <a:schemeClr val="dk1"/>
                </a:solidFill>
              </a:rPr>
              <a:t>昔なら認知度を上げる意味があった。今での日本人は好き系イベント。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ja" sz="1900">
                <a:solidFill>
                  <a:schemeClr val="dk1"/>
                </a:solidFill>
              </a:rPr>
              <a:t>展示会への出展</a:t>
            </a:r>
            <a:endParaRPr sz="19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ja" sz="1700"/>
              <a:t>ほかはまだ</a:t>
            </a:r>
            <a:endParaRPr sz="17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ja" sz="1900"/>
              <a:t>執筆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ja" sz="1700"/>
              <a:t>トラ技やInterfaceあたりに記事を投稿</a:t>
            </a:r>
            <a:endParaRPr sz="17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romanLcPeriod"/>
            </a:pPr>
            <a:r>
              <a:rPr lang="ja" sz="1500"/>
              <a:t>業界の人の目に留まる可能性があるので、一本は特集記事を上梓したい</a:t>
            </a:r>
            <a:endParaRPr sz="15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ja" sz="1700"/>
              <a:t>技術書典やコミケで同人誌を頒布</a:t>
            </a:r>
            <a:endParaRPr sz="17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romanLcPeriod"/>
            </a:pPr>
            <a:r>
              <a:rPr lang="ja" sz="1500"/>
              <a:t>マニアな人が多いので、人集めによさそう</a:t>
            </a:r>
            <a:endParaRPr sz="1500"/>
          </a:p>
        </p:txBody>
      </p:sp>
      <p:sp>
        <p:nvSpPr>
          <p:cNvPr id="204" name="Google Shape;204;p38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やっていきたいもの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Maker Faire Tokyo 2023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募集開始：来週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内容：応募する内容のディスカッション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イベント日程：10月14～15日</a:t>
            </a:r>
            <a:endParaRPr sz="19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次回のイベント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イベント日程：6月3週目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内容：もくもく会</a:t>
            </a:r>
            <a:endParaRPr sz="19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ja" sz="1800"/>
              <a:t>報告会</a:t>
            </a:r>
            <a:endParaRPr/>
          </a:p>
          <a:p>
            <a: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ja" sz="1800" u="sng">
                <a:solidFill>
                  <a:schemeClr val="hlink"/>
                </a:solidFill>
                <a:hlinkClick r:id="rId3"/>
              </a:rPr>
              <a:t>VLSI Circuits Symposium</a:t>
            </a:r>
            <a:r>
              <a:rPr lang="ja" sz="1800">
                <a:solidFill>
                  <a:schemeClr val="dk1"/>
                </a:solidFill>
              </a:rPr>
              <a:t> （2023/06）</a:t>
            </a:r>
            <a:endParaRPr sz="1800">
              <a:solidFill>
                <a:schemeClr val="dk1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ja" sz="1800">
                <a:solidFill>
                  <a:schemeClr val="dk1"/>
                </a:solidFill>
              </a:rPr>
              <a:t>作戦会議</a:t>
            </a:r>
            <a:endParaRPr sz="1800">
              <a:solidFill>
                <a:schemeClr val="dk1"/>
              </a:solidFill>
            </a:endParaRPr>
          </a:p>
          <a:p>
            <a: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ja" sz="1800" u="sng">
                <a:solidFill>
                  <a:schemeClr val="hlink"/>
                </a:solidFill>
                <a:hlinkClick r:id="rId4"/>
              </a:rPr>
              <a:t>SSCS PICO Chipathon</a:t>
            </a:r>
            <a:r>
              <a:rPr lang="ja" sz="1800">
                <a:solidFill>
                  <a:schemeClr val="dk1"/>
                </a:solidFill>
              </a:rPr>
              <a:t> (半年コースの息の長いイベント)</a:t>
            </a:r>
            <a:endParaRPr sz="1800">
              <a:solidFill>
                <a:schemeClr val="dk1"/>
              </a:solidFill>
            </a:endParaRPr>
          </a:p>
          <a:p>
            <a:pPr indent="-3302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ja" sz="1600">
                <a:solidFill>
                  <a:schemeClr val="dk1"/>
                </a:solidFill>
              </a:rPr>
              <a:t>Team Japanを結成！</a:t>
            </a:r>
            <a:endParaRPr/>
          </a:p>
        </p:txBody>
      </p:sp>
      <p:sp>
        <p:nvSpPr>
          <p:cNvPr id="210" name="Google Shape;210;p39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今後の予定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>
            <p:ph idx="1" type="body"/>
          </p:nvPr>
        </p:nvSpPr>
        <p:spPr>
          <a:xfrm>
            <a:off x="311250" y="228600"/>
            <a:ext cx="8460300" cy="42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/>
              <a:t>私（今村謙之）について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原点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2006年立ち上げ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メンバー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3人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超小規模コミュニティー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主な活動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勉強会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仲間・伝手集め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オープンへの理解</a:t>
            </a:r>
            <a:endParaRPr sz="1900"/>
          </a:p>
        </p:txBody>
      </p:sp>
      <p:sp>
        <p:nvSpPr>
          <p:cNvPr id="221" name="Google Shape;221;p41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経験談：SIProp：自コミュニティー</a:t>
            </a:r>
            <a:endParaRPr/>
          </a:p>
        </p:txBody>
      </p:sp>
      <p:pic>
        <p:nvPicPr>
          <p:cNvPr id="222" name="Google Shape;2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075" y="916800"/>
            <a:ext cx="5420989" cy="42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49" y="3913450"/>
            <a:ext cx="5720000" cy="15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idx="1" type="body"/>
          </p:nvPr>
        </p:nvSpPr>
        <p:spPr>
          <a:xfrm>
            <a:off x="311250" y="762000"/>
            <a:ext cx="48534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立ち上げ経緯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 u="sng">
                <a:solidFill>
                  <a:schemeClr val="hlink"/>
                </a:solidFill>
                <a:hlinkClick r:id="rId3"/>
              </a:rPr>
              <a:t>覆面座談会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2008年始動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二人からスタート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事務局長として活動</a:t>
            </a:r>
            <a:endParaRPr sz="19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内容（2010年時点）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ja" sz="2100">
                <a:solidFill>
                  <a:schemeClr val="dk1"/>
                </a:solidFill>
              </a:rPr>
              <a:t>日本一の技術系コミュニティー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メンバー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コア(運営)：33人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コミュ：3万人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分科会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地方支部：10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WG：9</a:t>
            </a:r>
            <a:endParaRPr sz="2100"/>
          </a:p>
        </p:txBody>
      </p:sp>
      <p:sp>
        <p:nvSpPr>
          <p:cNvPr id="229" name="Google Shape;229;p42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経験談：日本Androidの会：一番の成功例</a:t>
            </a:r>
            <a:endParaRPr/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4016375" y="685800"/>
            <a:ext cx="50517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ja" sz="2100"/>
              <a:t>コアメンバー集め</a:t>
            </a:r>
            <a:endParaRPr sz="21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ja" sz="1900">
                <a:solidFill>
                  <a:schemeClr val="dk1"/>
                </a:solidFill>
              </a:rPr>
              <a:t>この人たちの能力でコミュニティーのランクが決まる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ja" sz="2100"/>
              <a:t>主催イベント</a:t>
            </a:r>
            <a:endParaRPr sz="21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勉強会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ハンズオンなど</a:t>
            </a:r>
            <a:endParaRPr sz="1900"/>
          </a:p>
          <a:p>
            <a:pPr indent="-349250" lvl="4" marL="22860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コアメンバーハンティングの場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カンファレンス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スポンサー付けて、デカい箱でぶち上げる</a:t>
            </a:r>
            <a:endParaRPr sz="1900"/>
          </a:p>
          <a:p>
            <a:pPr indent="-349250" lvl="4" marL="22860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知名度アップの場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ja" sz="1900">
                <a:solidFill>
                  <a:schemeClr val="dk1"/>
                </a:solidFill>
              </a:rPr>
              <a:t>執筆</a:t>
            </a:r>
            <a:endParaRPr sz="1900">
              <a:solidFill>
                <a:schemeClr val="dk1"/>
              </a:solidFill>
            </a:endParaRPr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ja" sz="1900">
                <a:solidFill>
                  <a:schemeClr val="dk1"/>
                </a:solidFill>
              </a:rPr>
              <a:t>雑誌や書籍</a:t>
            </a:r>
            <a:endParaRPr sz="1900">
              <a:solidFill>
                <a:schemeClr val="dk1"/>
              </a:solidFill>
            </a:endParaRPr>
          </a:p>
          <a:p>
            <a:pPr indent="-34925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ja" sz="1900">
                <a:solidFill>
                  <a:schemeClr val="dk1"/>
                </a:solidFill>
              </a:rPr>
              <a:t>技術者ホイホイ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/>
        </p:nvSpPr>
        <p:spPr>
          <a:xfrm>
            <a:off x="285750" y="1440835"/>
            <a:ext cx="8572500" cy="3273900"/>
          </a:xfrm>
          <a:prstGeom prst="rect">
            <a:avLst/>
          </a:prstGeom>
          <a:solidFill>
            <a:srgbClr val="000000">
              <a:alpha val="41180"/>
            </a:srgbClr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857270" y="3100292"/>
            <a:ext cx="1969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75" lIns="72575" spcFirstLastPara="1" rIns="72575" wrap="square" tIns="72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遅延が大きい・回線が細い</a:t>
            </a:r>
            <a:endParaRPr sz="5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衛星が壊れたら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性能は維持できない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14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約2年前から契約が必要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（ロケット調達コスト高）</a:t>
            </a:r>
            <a:endParaRPr sz="7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37" name="Google Shape;237;p43"/>
          <p:cNvSpPr txBox="1"/>
          <p:nvPr/>
        </p:nvSpPr>
        <p:spPr>
          <a:xfrm>
            <a:off x="3200717" y="3049248"/>
            <a:ext cx="1969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75" lIns="72575" spcFirstLastPara="1" rIns="72575" wrap="square" tIns="72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低遅延・回線が太い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しかし、地上局アンテナが必要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衛星が壊れたら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性能は維持できない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約2年前から契約が必要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（ロケット調達コスト高）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pic>
        <p:nvPicPr>
          <p:cNvPr id="238" name="Google Shape;23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5861" y="2139978"/>
            <a:ext cx="1284865" cy="105509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3"/>
          <p:cNvSpPr txBox="1"/>
          <p:nvPr/>
        </p:nvSpPr>
        <p:spPr>
          <a:xfrm>
            <a:off x="5544284" y="1855549"/>
            <a:ext cx="30282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超小型衛星</a:t>
            </a:r>
            <a:endParaRPr b="1"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コンステレーション &amp; フォーメーションフライト</a:t>
            </a:r>
            <a:endParaRPr b="1"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（Our Stars）</a:t>
            </a:r>
            <a:endParaRPr b="1" sz="7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857270" y="1855113"/>
            <a:ext cx="19698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575" spcFirstLastPara="1" rIns="72575" wrap="square" tIns="8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大型衛星</a:t>
            </a:r>
            <a:endParaRPr b="1"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（人工衛星きずな など）</a:t>
            </a:r>
            <a:endParaRPr sz="7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1" name="Google Shape;241;p43"/>
          <p:cNvSpPr txBox="1"/>
          <p:nvPr/>
        </p:nvSpPr>
        <p:spPr>
          <a:xfrm>
            <a:off x="3200717" y="1855113"/>
            <a:ext cx="19698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575" spcFirstLastPara="1" rIns="72575" wrap="square" tIns="8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小型衛星 コンステレーション</a:t>
            </a:r>
            <a:endParaRPr b="1"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（Space XのStarlinkなど）</a:t>
            </a:r>
            <a:endParaRPr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857250" y="1571625"/>
            <a:ext cx="1969800" cy="28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衛星通信 1.0</a:t>
            </a:r>
            <a:endParaRPr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3" name="Google Shape;243;p43"/>
          <p:cNvSpPr txBox="1"/>
          <p:nvPr/>
        </p:nvSpPr>
        <p:spPr>
          <a:xfrm>
            <a:off x="5544185" y="1571625"/>
            <a:ext cx="3028200" cy="285600"/>
          </a:xfrm>
          <a:prstGeom prst="rect">
            <a:avLst/>
          </a:prstGeom>
          <a:gradFill>
            <a:gsLst>
              <a:gs pos="0">
                <a:srgbClr val="42C6FF"/>
              </a:gs>
              <a:gs pos="100000">
                <a:srgbClr val="0076D8"/>
              </a:gs>
            </a:gsLst>
            <a:lin ang="7200017" scaled="0"/>
          </a:gradFill>
          <a:ln>
            <a:noFill/>
          </a:ln>
        </p:spPr>
        <p:txBody>
          <a:bodyPr anchorCtr="0" anchor="t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衛星通信3.0</a:t>
            </a:r>
            <a:endParaRPr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4" name="Google Shape;244;p43"/>
          <p:cNvSpPr txBox="1"/>
          <p:nvPr/>
        </p:nvSpPr>
        <p:spPr>
          <a:xfrm>
            <a:off x="3200718" y="1571625"/>
            <a:ext cx="1969800" cy="28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衛星通信 2.0</a:t>
            </a:r>
            <a:endParaRPr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5" name="Google Shape;245;p43"/>
          <p:cNvSpPr txBox="1"/>
          <p:nvPr/>
        </p:nvSpPr>
        <p:spPr>
          <a:xfrm>
            <a:off x="285790" y="571500"/>
            <a:ext cx="8572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Our Starsが進める衛星通信 3.0 は、</a:t>
            </a:r>
            <a:r>
              <a:rPr lang="ja" sz="10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「コンステレーション」＋</a:t>
            </a:r>
            <a:r>
              <a:rPr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「フォーメーションフライト」 によって</a:t>
            </a:r>
            <a:endParaRPr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大型衛星をはるかに超える優れた性能を実現する技術</a:t>
            </a:r>
            <a:endParaRPr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6" name="Google Shape;246;p43"/>
          <p:cNvSpPr txBox="1"/>
          <p:nvPr/>
        </p:nvSpPr>
        <p:spPr>
          <a:xfrm>
            <a:off x="2165727" y="0"/>
            <a:ext cx="4812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今回のターゲット： ” </a:t>
            </a:r>
            <a:r>
              <a:rPr b="1" lang="ja" sz="17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衛星通信 3.0</a:t>
            </a:r>
            <a:r>
              <a:rPr b="1" lang="ja" sz="1700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 ”</a:t>
            </a:r>
            <a:endParaRPr b="1" sz="17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7" name="Google Shape;247;p43"/>
          <p:cNvSpPr txBox="1"/>
          <p:nvPr/>
        </p:nvSpPr>
        <p:spPr>
          <a:xfrm>
            <a:off x="571500" y="3049766"/>
            <a:ext cx="28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575" lIns="0" spcFirstLastPara="1" rIns="0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chemeClr val="accent6"/>
                </a:solidFill>
                <a:latin typeface="M PLUS 1p"/>
                <a:ea typeface="M PLUS 1p"/>
                <a:cs typeface="M PLUS 1p"/>
                <a:sym typeface="M PLUS 1p"/>
              </a:rPr>
              <a:t>品質</a:t>
            </a:r>
            <a:endParaRPr b="1" sz="700">
              <a:solidFill>
                <a:schemeClr val="accent6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chemeClr val="accent6"/>
                </a:solidFill>
                <a:latin typeface="M PLUS 1p"/>
                <a:ea typeface="M PLUS 1p"/>
                <a:cs typeface="M PLUS 1p"/>
                <a:sym typeface="M PLUS 1p"/>
              </a:rPr>
              <a:t>性能</a:t>
            </a:r>
            <a:endParaRPr b="1" sz="700">
              <a:solidFill>
                <a:schemeClr val="accent6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8" name="Google Shape;248;p43"/>
          <p:cNvSpPr txBox="1"/>
          <p:nvPr/>
        </p:nvSpPr>
        <p:spPr>
          <a:xfrm>
            <a:off x="571523" y="3972544"/>
            <a:ext cx="28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575" lIns="0" spcFirstLastPara="1" rIns="0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chemeClr val="accent6"/>
                </a:solidFill>
                <a:latin typeface="M PLUS 1p"/>
                <a:ea typeface="M PLUS 1p"/>
                <a:cs typeface="M PLUS 1p"/>
                <a:sym typeface="M PLUS 1p"/>
              </a:rPr>
              <a:t>時間</a:t>
            </a:r>
            <a:endParaRPr b="1" sz="700">
              <a:solidFill>
                <a:schemeClr val="accent6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49" name="Google Shape;249;p43"/>
          <p:cNvSpPr/>
          <p:nvPr/>
        </p:nvSpPr>
        <p:spPr>
          <a:xfrm rot="5400000">
            <a:off x="5248255" y="1640989"/>
            <a:ext cx="218100" cy="147000"/>
          </a:xfrm>
          <a:prstGeom prst="triangl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9">
            <a:off x="1484983" y="2280410"/>
            <a:ext cx="714343" cy="71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3"/>
          <p:cNvSpPr txBox="1"/>
          <p:nvPr/>
        </p:nvSpPr>
        <p:spPr>
          <a:xfrm>
            <a:off x="571523" y="3506736"/>
            <a:ext cx="28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575" lIns="0" spcFirstLastPara="1" rIns="0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chemeClr val="accent6"/>
                </a:solidFill>
                <a:latin typeface="M PLUS 1p"/>
                <a:ea typeface="M PLUS 1p"/>
                <a:cs typeface="M PLUS 1p"/>
                <a:sym typeface="M PLUS 1p"/>
              </a:rPr>
              <a:t>保守性</a:t>
            </a:r>
            <a:endParaRPr b="1" sz="700">
              <a:solidFill>
                <a:schemeClr val="accent6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52" name="Google Shape;252;p43"/>
          <p:cNvSpPr/>
          <p:nvPr/>
        </p:nvSpPr>
        <p:spPr>
          <a:xfrm rot="5400000">
            <a:off x="2904778" y="1640989"/>
            <a:ext cx="218100" cy="147000"/>
          </a:xfrm>
          <a:prstGeom prst="triangle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3"/>
          <p:cNvSpPr txBox="1"/>
          <p:nvPr>
            <p:ph idx="4294967295" type="sldNum"/>
          </p:nvPr>
        </p:nvSpPr>
        <p:spPr>
          <a:xfrm>
            <a:off x="4297680" y="4857748"/>
            <a:ext cx="548700" cy="28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1" lang="ja" sz="7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i="1" sz="700">
              <a:solidFill>
                <a:schemeClr val="accent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4" name="Google Shape;25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2691" y="2300391"/>
            <a:ext cx="705822" cy="7143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43"/>
          <p:cNvGrpSpPr/>
          <p:nvPr/>
        </p:nvGrpSpPr>
        <p:grpSpPr>
          <a:xfrm>
            <a:off x="571536" y="3482891"/>
            <a:ext cx="8001504" cy="517670"/>
            <a:chOff x="720000" y="4181425"/>
            <a:chExt cx="10080000" cy="498575"/>
          </a:xfrm>
        </p:grpSpPr>
        <p:cxnSp>
          <p:nvCxnSpPr>
            <p:cNvPr id="256" name="Google Shape;256;p43"/>
            <p:cNvCxnSpPr/>
            <p:nvPr/>
          </p:nvCxnSpPr>
          <p:spPr>
            <a:xfrm rot="10800000">
              <a:off x="720000" y="4181425"/>
              <a:ext cx="10080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43"/>
            <p:cNvCxnSpPr/>
            <p:nvPr/>
          </p:nvCxnSpPr>
          <p:spPr>
            <a:xfrm rot="10800000">
              <a:off x="720000" y="4680000"/>
              <a:ext cx="10080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8" name="Google Shape;258;p43"/>
          <p:cNvSpPr txBox="1"/>
          <p:nvPr/>
        </p:nvSpPr>
        <p:spPr>
          <a:xfrm>
            <a:off x="5544284" y="3222546"/>
            <a:ext cx="30282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72575" lIns="0" spcFirstLastPara="1" rIns="0" wrap="square" tIns="72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ja" sz="10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低遅延・回線が太い</a:t>
            </a:r>
            <a:endParaRPr b="1" sz="10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ja" sz="10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地上局アンテナが不要</a:t>
            </a:r>
            <a:endParaRPr b="1" sz="10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ja" sz="10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いくつかの衛星が壊れても全体の性能は維持</a:t>
            </a:r>
            <a:endParaRPr b="1" sz="10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（長寿命）</a:t>
            </a:r>
            <a:endParaRPr b="1" sz="7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ja" sz="10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短期間での打上げが可能</a:t>
            </a:r>
            <a:endParaRPr b="1" sz="1000">
              <a:solidFill>
                <a:schemeClr val="accent2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ja" sz="700">
                <a:solidFill>
                  <a:schemeClr val="accent2"/>
                </a:solidFill>
                <a:latin typeface="M PLUS 1p"/>
                <a:ea typeface="M PLUS 1p"/>
                <a:cs typeface="M PLUS 1p"/>
                <a:sym typeface="M PLUS 1p"/>
              </a:rPr>
              <a:t>（ロケットをグループで内製）</a:t>
            </a:r>
            <a:endParaRPr b="1" sz="700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59" name="Google Shape;259;p43"/>
          <p:cNvSpPr txBox="1"/>
          <p:nvPr/>
        </p:nvSpPr>
        <p:spPr>
          <a:xfrm>
            <a:off x="0" y="0"/>
            <a:ext cx="23814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75" lIns="72575" spcFirstLastPara="1" rIns="72575" wrap="square" tIns="72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7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rPr>
              <a:t> 05  N E X T   S T E P</a:t>
            </a:r>
            <a:endParaRPr i="1" sz="700">
              <a:solidFill>
                <a:schemeClr val="accent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idx="12" type="sldNum"/>
          </p:nvPr>
        </p:nvSpPr>
        <p:spPr>
          <a:xfrm>
            <a:off x="8556784" y="47141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65" name="Google Shape;265;p44"/>
          <p:cNvSpPr txBox="1"/>
          <p:nvPr>
            <p:ph type="title"/>
          </p:nvPr>
        </p:nvSpPr>
        <p:spPr>
          <a:xfrm>
            <a:off x="387450" y="348350"/>
            <a:ext cx="82719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rgbClr val="F3F3F3"/>
              </a:solidFill>
              <a:highlight>
                <a:srgbClr val="434343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>
                <a:solidFill>
                  <a:srgbClr val="000000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コンステレーションとフォーメーションフライトの違い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66" name="Google Shape;26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186" y="2118713"/>
            <a:ext cx="7111364" cy="186493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4"/>
          <p:cNvSpPr txBox="1"/>
          <p:nvPr/>
        </p:nvSpPr>
        <p:spPr>
          <a:xfrm>
            <a:off x="1147975" y="1233775"/>
            <a:ext cx="1920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u="sng">
                <a:latin typeface="Meiryo"/>
                <a:ea typeface="Meiryo"/>
                <a:cs typeface="Meiryo"/>
                <a:sym typeface="Meiryo"/>
              </a:rPr>
              <a:t>コンステレーション</a:t>
            </a:r>
            <a:endParaRPr b="1" u="sng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8" name="Google Shape;268;p44"/>
          <p:cNvSpPr txBox="1"/>
          <p:nvPr/>
        </p:nvSpPr>
        <p:spPr>
          <a:xfrm>
            <a:off x="3347325" y="1233775"/>
            <a:ext cx="3009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u="sng">
                <a:latin typeface="Meiryo"/>
                <a:ea typeface="Meiryo"/>
                <a:cs typeface="Meiryo"/>
                <a:sym typeface="Meiryo"/>
              </a:rPr>
              <a:t>フォーメーションフライト</a:t>
            </a:r>
            <a:endParaRPr b="1" u="sng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9" name="Google Shape;269;p44"/>
          <p:cNvSpPr txBox="1"/>
          <p:nvPr/>
        </p:nvSpPr>
        <p:spPr>
          <a:xfrm>
            <a:off x="6183475" y="1233775"/>
            <a:ext cx="23733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u="sng">
                <a:latin typeface="Meiryo"/>
                <a:ea typeface="Meiryo"/>
                <a:cs typeface="Meiryo"/>
                <a:sym typeface="Meiryo"/>
              </a:rPr>
              <a:t>フォーメーションフライト</a:t>
            </a:r>
            <a:endParaRPr b="1" u="sng"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＆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u="sng">
                <a:latin typeface="Meiryo"/>
                <a:ea typeface="Meiryo"/>
                <a:cs typeface="Meiryo"/>
                <a:sym typeface="Meiryo"/>
              </a:rPr>
              <a:t>コンステレーション</a:t>
            </a:r>
            <a:endParaRPr b="1" u="sng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0" name="Google Shape;270;p44"/>
          <p:cNvSpPr txBox="1"/>
          <p:nvPr/>
        </p:nvSpPr>
        <p:spPr>
          <a:xfrm>
            <a:off x="454125" y="3923250"/>
            <a:ext cx="3649200" cy="20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《</a:t>
            </a:r>
            <a:r>
              <a:rPr b="1" lang="ja" sz="1000">
                <a:solidFill>
                  <a:schemeClr val="dk1"/>
                </a:solidFill>
              </a:rPr>
              <a:t>コンステレーション》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ja" sz="1000">
                <a:solidFill>
                  <a:schemeClr val="dk1"/>
                </a:solidFill>
              </a:rPr>
              <a:t>衛星間の距離が100㎞以上離れる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ja" sz="1000">
                <a:solidFill>
                  <a:schemeClr val="dk1"/>
                </a:solidFill>
              </a:rPr>
              <a:t>それぞれの衛星は、「守備範囲を分担」し、補完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ja" sz="1000">
                <a:solidFill>
                  <a:schemeClr val="dk1"/>
                </a:solidFill>
              </a:rPr>
              <a:t>1つ1つの衛星の性能は、上がらない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271" name="Google Shape;271;p44"/>
          <p:cNvSpPr txBox="1"/>
          <p:nvPr/>
        </p:nvSpPr>
        <p:spPr>
          <a:xfrm>
            <a:off x="4626575" y="3966225"/>
            <a:ext cx="4430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1"/>
                </a:solidFill>
              </a:rPr>
              <a:t>《フォーメーションフライト》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ja" sz="1000">
                <a:solidFill>
                  <a:schemeClr val="dk1"/>
                </a:solidFill>
              </a:rPr>
              <a:t>100m以下の距離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ja" sz="1000">
                <a:solidFill>
                  <a:schemeClr val="dk1"/>
                </a:solidFill>
              </a:rPr>
              <a:t>複数の衛星が協力することで、大型衛星以上の性能を目指す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ja" sz="1000">
                <a:solidFill>
                  <a:schemeClr val="dk1"/>
                </a:solidFill>
              </a:rPr>
              <a:t>幾つかの衛星が壊れても、全体としての機能喪失にはならない</a:t>
            </a:r>
            <a:endParaRPr b="1"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/>
          <p:nvPr/>
        </p:nvSpPr>
        <p:spPr>
          <a:xfrm>
            <a:off x="132125" y="890650"/>
            <a:ext cx="8880900" cy="40413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 PLUS 1p"/>
              <a:buChar char="●"/>
            </a:pPr>
            <a:r>
              <a:rPr lang="ja" sz="20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ワンコイン（500円）超小型衛星用の統合ワンチップの設計・製造</a:t>
            </a:r>
            <a:endParaRPr sz="20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 PLUS 1p"/>
              <a:buChar char="○"/>
            </a:pPr>
            <a:r>
              <a:rPr lang="ja" sz="20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複数の衛星を連携させて、一つの機能とする形が主流になった</a:t>
            </a:r>
            <a:endParaRPr sz="20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 PLUS 1p"/>
              <a:buChar char="○"/>
            </a:pPr>
            <a:r>
              <a:rPr lang="ja" sz="20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5センチ立方サイズ以下が一つの主流になりつつある</a:t>
            </a:r>
            <a:endParaRPr sz="20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 PLUS 1p"/>
              <a:buChar char="○"/>
            </a:pPr>
            <a:r>
              <a:t/>
            </a:r>
            <a:endParaRPr sz="20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77" name="Google Shape;277;p45"/>
          <p:cNvSpPr txBox="1"/>
          <p:nvPr>
            <p:ph type="title"/>
          </p:nvPr>
        </p:nvSpPr>
        <p:spPr>
          <a:xfrm>
            <a:off x="311250" y="71425"/>
            <a:ext cx="66687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私たち（OurStars社）がやりたいこと</a:t>
            </a:r>
            <a:endParaRPr/>
          </a:p>
        </p:txBody>
      </p:sp>
      <p:sp>
        <p:nvSpPr>
          <p:cNvPr id="278" name="Google Shape;278;p45"/>
          <p:cNvSpPr/>
          <p:nvPr/>
        </p:nvSpPr>
        <p:spPr>
          <a:xfrm>
            <a:off x="208325" y="2237750"/>
            <a:ext cx="2861100" cy="2481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Char char="●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DirectSampling無線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Ka,Ku,Vバンド動作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PA/LNA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Filter(受動部品)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 PLUS 1p"/>
              <a:buChar char="■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RFスイッチ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変調器・復調器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フェーズドアレイアンテナ制御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79" name="Google Shape;279;p45"/>
          <p:cNvSpPr/>
          <p:nvPr/>
        </p:nvSpPr>
        <p:spPr>
          <a:xfrm>
            <a:off x="3126200" y="2237750"/>
            <a:ext cx="2861100" cy="248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Char char="●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衛星バス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C&amp;DH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電力制御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姿勢制御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熱制御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フォーメーションフライト制御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280" name="Google Shape;280;p45"/>
          <p:cNvSpPr/>
          <p:nvPr/>
        </p:nvSpPr>
        <p:spPr>
          <a:xfrm>
            <a:off x="6075725" y="2237750"/>
            <a:ext cx="2861100" cy="2481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 PLUS 1p"/>
              <a:buChar char="●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宇宙対応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放射線対応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■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スタンダードセル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■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レイヤー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○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熱設計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 PLUS 1p"/>
              <a:buChar char="■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放熱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1p"/>
              <a:buChar char="■"/>
            </a:pPr>
            <a:r>
              <a:rPr lang="ja" sz="16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rPr>
              <a:t>熱耐性設計</a:t>
            </a:r>
            <a:endParaRPr sz="1600">
              <a:solidFill>
                <a:schemeClr val="dk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idx="1" type="body"/>
          </p:nvPr>
        </p:nvSpPr>
        <p:spPr>
          <a:xfrm>
            <a:off x="311250" y="762000"/>
            <a:ext cx="42609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利点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すごい人しか来ない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コミュニティーに来るような人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自信のある人なので、技術力が高い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技術力は無くとも、好奇心が高い（ポテンシャル高）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横のつながり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中小ベンチャー系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ja">
                <a:solidFill>
                  <a:schemeClr val="dk1"/>
                </a:solidFill>
              </a:rPr>
              <a:t>かなり優秀な技術者である場合が多い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大企業径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影響力が高く、いろいろなコラボに繋がることが多い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人の成果を使える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Do It With Othersの精神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論文のモノづくり版</a:t>
            </a:r>
            <a:endParaRPr/>
          </a:p>
        </p:txBody>
      </p:sp>
      <p:sp>
        <p:nvSpPr>
          <p:cNvPr id="286" name="Google Shape;286;p46"/>
          <p:cNvSpPr txBox="1"/>
          <p:nvPr>
            <p:ph type="title"/>
          </p:nvPr>
        </p:nvSpPr>
        <p:spPr>
          <a:xfrm>
            <a:off x="311250" y="71425"/>
            <a:ext cx="63261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コミュニティー運営の利点と欠点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4572150" y="762000"/>
            <a:ext cx="44958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欠点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成功するかしないか博打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基本、死屍累々である・・・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成功しないコミュニティー</a:t>
            </a:r>
            <a:r>
              <a:rPr b="1" lang="ja"/>
              <a:t>が</a:t>
            </a:r>
            <a:r>
              <a:rPr lang="ja"/>
              <a:t>多い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アンコントロール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企業のように給料という縛りがあるわけでもなく、大学のように業績を上げないといけないという縛りもない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みんな好きなように動く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ja"/>
              <a:t>時間が無限に吸われる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業務時間外に活動する人が多いため、24時間常に情報をやり取りすることになったりする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311250" y="762000"/>
            <a:ext cx="84603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原点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2006年立ち上げ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メンバー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3人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超小規模コミュニティー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主な活動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勉強会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仲間・伝手集め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オープンへの理解</a:t>
            </a:r>
            <a:endParaRPr sz="1900"/>
          </a:p>
        </p:txBody>
      </p:sp>
      <p:sp>
        <p:nvSpPr>
          <p:cNvPr id="293" name="Google Shape;293;p47"/>
          <p:cNvSpPr txBox="1"/>
          <p:nvPr>
            <p:ph type="title"/>
          </p:nvPr>
        </p:nvSpPr>
        <p:spPr>
          <a:xfrm>
            <a:off x="311250" y="71425"/>
            <a:ext cx="63261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経験談：</a:t>
            </a:r>
            <a:r>
              <a:rPr lang="ja"/>
              <a:t>SIProp：自</a:t>
            </a:r>
            <a:r>
              <a:rPr lang="ja"/>
              <a:t>コミュニティー</a:t>
            </a:r>
            <a:endParaRPr/>
          </a:p>
        </p:txBody>
      </p:sp>
      <p:pic>
        <p:nvPicPr>
          <p:cNvPr id="294" name="Google Shape;2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075" y="916800"/>
            <a:ext cx="5420989" cy="42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49" y="3913450"/>
            <a:ext cx="5720000" cy="15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idx="1" type="body"/>
          </p:nvPr>
        </p:nvSpPr>
        <p:spPr>
          <a:xfrm>
            <a:off x="311250" y="762000"/>
            <a:ext cx="48534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立ち上げ経緯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 u="sng">
                <a:solidFill>
                  <a:schemeClr val="hlink"/>
                </a:solidFill>
                <a:hlinkClick r:id="rId3"/>
              </a:rPr>
              <a:t>覆面座談会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2008年始動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二人からスタート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事務局長として活動</a:t>
            </a:r>
            <a:endParaRPr sz="19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内容（2010年時点）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ja" sz="2100">
                <a:solidFill>
                  <a:schemeClr val="dk1"/>
                </a:solidFill>
              </a:rPr>
              <a:t>日本一の技術系コミュニティー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メンバー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コア(運営)：33人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コミュ：3万人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分科会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地方支部：10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WG：9</a:t>
            </a:r>
            <a:endParaRPr sz="2100"/>
          </a:p>
        </p:txBody>
      </p:sp>
      <p:sp>
        <p:nvSpPr>
          <p:cNvPr id="301" name="Google Shape;301;p48"/>
          <p:cNvSpPr txBox="1"/>
          <p:nvPr>
            <p:ph type="title"/>
          </p:nvPr>
        </p:nvSpPr>
        <p:spPr>
          <a:xfrm>
            <a:off x="311250" y="71425"/>
            <a:ext cx="63261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経験談：日本Androidの会：一番の成功例</a:t>
            </a:r>
            <a:endParaRPr/>
          </a:p>
        </p:txBody>
      </p:sp>
      <p:sp>
        <p:nvSpPr>
          <p:cNvPr id="302" name="Google Shape;302;p48"/>
          <p:cNvSpPr txBox="1"/>
          <p:nvPr>
            <p:ph idx="1" type="body"/>
          </p:nvPr>
        </p:nvSpPr>
        <p:spPr>
          <a:xfrm>
            <a:off x="4016375" y="685800"/>
            <a:ext cx="50517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ja" sz="2100"/>
              <a:t>コア</a:t>
            </a:r>
            <a:r>
              <a:rPr lang="ja" sz="2100"/>
              <a:t>メンバー集め</a:t>
            </a:r>
            <a:endParaRPr sz="21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ja" sz="1900">
                <a:solidFill>
                  <a:schemeClr val="dk1"/>
                </a:solidFill>
              </a:rPr>
              <a:t>この人たちの能力でコミュニティーのランクが決まる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ja" sz="2100"/>
              <a:t>主催</a:t>
            </a:r>
            <a:r>
              <a:rPr lang="ja" sz="2100"/>
              <a:t>イベント</a:t>
            </a:r>
            <a:endParaRPr sz="21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勉強会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ハンズオンなど</a:t>
            </a:r>
            <a:endParaRPr sz="1900"/>
          </a:p>
          <a:p>
            <a:pPr indent="-349250" lvl="4" marL="22860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コアメンバーハンティングの場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ja" sz="1900"/>
              <a:t>カンファレンス</a:t>
            </a:r>
            <a:endParaRPr sz="1900"/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スポンサー付けて、デカい箱でぶち上げる</a:t>
            </a:r>
            <a:endParaRPr sz="1900"/>
          </a:p>
          <a:p>
            <a:pPr indent="-349250" lvl="4" marL="22860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ja" sz="1900"/>
              <a:t>知名度アップの場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ja" sz="1900">
                <a:solidFill>
                  <a:schemeClr val="dk1"/>
                </a:solidFill>
              </a:rPr>
              <a:t>執筆</a:t>
            </a:r>
            <a:endParaRPr sz="1900">
              <a:solidFill>
                <a:schemeClr val="dk1"/>
              </a:solidFill>
            </a:endParaRPr>
          </a:p>
          <a:p>
            <a:pPr indent="-3492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ja" sz="1900">
                <a:solidFill>
                  <a:schemeClr val="dk1"/>
                </a:solidFill>
              </a:rPr>
              <a:t>雑誌や書籍</a:t>
            </a:r>
            <a:endParaRPr sz="1900">
              <a:solidFill>
                <a:schemeClr val="dk1"/>
              </a:solidFill>
            </a:endParaRPr>
          </a:p>
          <a:p>
            <a:pPr indent="-34925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ja" sz="1900">
                <a:solidFill>
                  <a:schemeClr val="dk1"/>
                </a:solidFill>
              </a:rPr>
              <a:t>技術者ホイホイ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ur Starsスライド2020">
  <a:themeElements>
    <a:clrScheme name="IST">
      <a:dk1>
        <a:srgbClr val="000000"/>
      </a:dk1>
      <a:lt1>
        <a:srgbClr val="FFFFFF"/>
      </a:lt1>
      <a:dk2>
        <a:srgbClr val="C6C5C6"/>
      </a:dk2>
      <a:lt2>
        <a:srgbClr val="727171"/>
      </a:lt2>
      <a:accent1>
        <a:srgbClr val="4A86E8"/>
      </a:accent1>
      <a:accent2>
        <a:srgbClr val="C9DAF8"/>
      </a:accent2>
      <a:accent3>
        <a:srgbClr val="6D9EEB"/>
      </a:accent3>
      <a:accent4>
        <a:srgbClr val="F1C232"/>
      </a:accent4>
      <a:accent5>
        <a:srgbClr val="FFF2CC"/>
      </a:accent5>
      <a:accent6>
        <a:srgbClr val="FFE59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ur Starsスライド2020">
  <a:themeElements>
    <a:clrScheme name="IST">
      <a:dk1>
        <a:srgbClr val="000000"/>
      </a:dk1>
      <a:lt1>
        <a:srgbClr val="FFFFFF"/>
      </a:lt1>
      <a:dk2>
        <a:srgbClr val="C6C5C6"/>
      </a:dk2>
      <a:lt2>
        <a:srgbClr val="727171"/>
      </a:lt2>
      <a:accent1>
        <a:srgbClr val="4A86E8"/>
      </a:accent1>
      <a:accent2>
        <a:srgbClr val="C9DAF8"/>
      </a:accent2>
      <a:accent3>
        <a:srgbClr val="6D9EEB"/>
      </a:accent3>
      <a:accent4>
        <a:srgbClr val="F1C232"/>
      </a:accent4>
      <a:accent5>
        <a:srgbClr val="FFF2CC"/>
      </a:accent5>
      <a:accent6>
        <a:srgbClr val="FFE59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