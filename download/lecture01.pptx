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76" r:id="rId11"/>
    <p:sldId id="404" r:id="rId12"/>
    <p:sldId id="335" r:id="rId13"/>
    <p:sldId id="343" r:id="rId14"/>
    <p:sldId id="287" r:id="rId15"/>
    <p:sldId id="290" r:id="rId16"/>
    <p:sldId id="291" r:id="rId17"/>
    <p:sldId id="331" r:id="rId18"/>
    <p:sldId id="294" r:id="rId19"/>
    <p:sldId id="330" r:id="rId20"/>
    <p:sldId id="296" r:id="rId21"/>
    <p:sldId id="297" r:id="rId22"/>
    <p:sldId id="298" r:id="rId23"/>
    <p:sldId id="299" r:id="rId24"/>
    <p:sldId id="300" r:id="rId25"/>
    <p:sldId id="329" r:id="rId26"/>
    <p:sldId id="302" r:id="rId27"/>
    <p:sldId id="303" r:id="rId28"/>
    <p:sldId id="304" r:id="rId29"/>
    <p:sldId id="328" r:id="rId30"/>
    <p:sldId id="306" r:id="rId31"/>
    <p:sldId id="307" r:id="rId32"/>
    <p:sldId id="308" r:id="rId33"/>
    <p:sldId id="309" r:id="rId34"/>
    <p:sldId id="327" r:id="rId35"/>
    <p:sldId id="311" r:id="rId36"/>
    <p:sldId id="312" r:id="rId37"/>
    <p:sldId id="314" r:id="rId38"/>
    <p:sldId id="315" r:id="rId39"/>
    <p:sldId id="326" r:id="rId40"/>
    <p:sldId id="319" r:id="rId41"/>
    <p:sldId id="320" r:id="rId42"/>
    <p:sldId id="322" r:id="rId43"/>
    <p:sldId id="325" r:id="rId44"/>
    <p:sldId id="324" r:id="rId45"/>
    <p:sldId id="354" r:id="rId46"/>
    <p:sldId id="355" r:id="rId47"/>
    <p:sldId id="288" r:id="rId48"/>
    <p:sldId id="356" r:id="rId49"/>
    <p:sldId id="357" r:id="rId50"/>
    <p:sldId id="358" r:id="rId51"/>
    <p:sldId id="359" r:id="rId52"/>
    <p:sldId id="360" r:id="rId53"/>
    <p:sldId id="361" r:id="rId54"/>
    <p:sldId id="369" r:id="rId55"/>
    <p:sldId id="363" r:id="rId56"/>
    <p:sldId id="364" r:id="rId57"/>
    <p:sldId id="365" r:id="rId58"/>
    <p:sldId id="366" r:id="rId59"/>
    <p:sldId id="368" r:id="rId60"/>
    <p:sldId id="371" r:id="rId61"/>
    <p:sldId id="378" r:id="rId62"/>
    <p:sldId id="379" r:id="rId63"/>
    <p:sldId id="380" r:id="rId64"/>
    <p:sldId id="381" r:id="rId65"/>
    <p:sldId id="382" r:id="rId66"/>
    <p:sldId id="383" r:id="rId67"/>
    <p:sldId id="384" r:id="rId68"/>
    <p:sldId id="385" r:id="rId69"/>
    <p:sldId id="386" r:id="rId70"/>
    <p:sldId id="387" r:id="rId71"/>
    <p:sldId id="388" r:id="rId72"/>
    <p:sldId id="374" r:id="rId73"/>
    <p:sldId id="375" r:id="rId74"/>
    <p:sldId id="372" r:id="rId75"/>
    <p:sldId id="393" r:id="rId76"/>
    <p:sldId id="285" r:id="rId77"/>
    <p:sldId id="394" r:id="rId78"/>
    <p:sldId id="395" r:id="rId79"/>
    <p:sldId id="396" r:id="rId80"/>
    <p:sldId id="398" r:id="rId81"/>
    <p:sldId id="399" r:id="rId82"/>
    <p:sldId id="397" r:id="rId83"/>
    <p:sldId id="400" r:id="rId84"/>
    <p:sldId id="401" r:id="rId85"/>
    <p:sldId id="392" r:id="rId86"/>
    <p:sldId id="402" r:id="rId87"/>
    <p:sldId id="405" r:id="rId88"/>
    <p:sldId id="377" r:id="rId89"/>
    <p:sldId id="406" r:id="rId90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FF"/>
    <a:srgbClr val="5BA125"/>
    <a:srgbClr val="A52E2C"/>
    <a:srgbClr val="2860A9"/>
    <a:srgbClr val="294280"/>
    <a:srgbClr val="FF6FCF"/>
    <a:srgbClr val="E8E8E8"/>
    <a:srgbClr val="FF0000"/>
    <a:srgbClr val="CC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14" autoAdjust="0"/>
    <p:restoredTop sz="90318" autoAdjust="0"/>
  </p:normalViewPr>
  <p:slideViewPr>
    <p:cSldViewPr>
      <p:cViewPr varScale="1">
        <p:scale>
          <a:sx n="78" d="100"/>
          <a:sy n="78" d="100"/>
        </p:scale>
        <p:origin x="87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6339D93-E723-4289-8737-CC91745C6D7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930133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1C7E66-0ACB-4892-BDE6-55850F58C80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1752786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9B54F5-9DF7-4FFF-A5F2-A6DB0EEA753D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という形で進める</a:t>
            </a:r>
          </a:p>
        </p:txBody>
      </p:sp>
    </p:spTree>
    <p:extLst>
      <p:ext uri="{BB962C8B-B14F-4D97-AF65-F5344CB8AC3E}">
        <p14:creationId xmlns:p14="http://schemas.microsoft.com/office/powerpoint/2010/main" val="3278703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73391" eaLnBrk="0" hangingPunct="0"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09264" indent="-272568" defTabSz="873391" eaLnBrk="0" hangingPunct="0"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091739" indent="-218348" defTabSz="873391" eaLnBrk="0" hangingPunct="0"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528435" indent="-218348" defTabSz="873391" eaLnBrk="0" hangingPunct="0"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965130" indent="-218348" defTabSz="873391" eaLnBrk="0" hangingPunct="0"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387172" indent="-218348" defTabSz="873391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809213" indent="-218348" defTabSz="873391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231254" indent="-218348" defTabSz="873391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653296" indent="-218348" defTabSz="873391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B1232BE-B592-4C62-B163-16BB32E41703}" type="slidenum">
              <a:rPr lang="en-US" altLang="ja-JP" sz="1100"/>
              <a:pPr eaLnBrk="1" hangingPunct="1"/>
              <a:t>5</a:t>
            </a:fld>
            <a:endParaRPr lang="en-US" altLang="ja-JP" sz="11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ja-JP" smtClean="0">
                <a:ea typeface="ＭＳ Ｐゴシック" charset="-128"/>
              </a:rPr>
              <a:t>2006</a:t>
            </a:r>
            <a:r>
              <a:rPr lang="ja-JP" altLang="en-US" smtClean="0">
                <a:ea typeface="ＭＳ Ｐゴシック" charset="-128"/>
              </a:rPr>
              <a:t>年スタート。およそ、</a:t>
            </a:r>
            <a:r>
              <a:rPr lang="en-US" altLang="ja-JP" smtClean="0">
                <a:ea typeface="ＭＳ Ｐゴシック" charset="-128"/>
              </a:rPr>
              <a:t>2</a:t>
            </a:r>
            <a:r>
              <a:rPr lang="ja-JP" altLang="en-US" smtClean="0">
                <a:ea typeface="ＭＳ Ｐゴシック" charset="-128"/>
              </a:rPr>
              <a:t>年ほどの活動。</a:t>
            </a:r>
          </a:p>
        </p:txBody>
      </p:sp>
    </p:spTree>
    <p:extLst>
      <p:ext uri="{BB962C8B-B14F-4D97-AF65-F5344CB8AC3E}">
        <p14:creationId xmlns:p14="http://schemas.microsoft.com/office/powerpoint/2010/main" val="872525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9B54F5-9DF7-4FFF-A5F2-A6DB0EEA753D}" type="slidenum">
              <a:rPr lang="en-US" altLang="ja-JP"/>
              <a:pPr/>
              <a:t>11</a:t>
            </a:fld>
            <a:endParaRPr lang="en-US" altLang="ja-JP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という形で進める</a:t>
            </a:r>
          </a:p>
        </p:txBody>
      </p:sp>
    </p:spTree>
    <p:extLst>
      <p:ext uri="{BB962C8B-B14F-4D97-AF65-F5344CB8AC3E}">
        <p14:creationId xmlns:p14="http://schemas.microsoft.com/office/powerpoint/2010/main" val="2439854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339D93-E723-4289-8737-CC91745C6D7F}" type="slidenum">
              <a:rPr lang="en-US" altLang="ja-JP" smtClean="0"/>
              <a:pPr/>
              <a:t>45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06272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339D93-E723-4289-8737-CC91745C6D7F}" type="slidenum">
              <a:rPr lang="en-US" altLang="ja-JP" smtClean="0"/>
              <a:pPr/>
              <a:t>56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54892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 smtClean="0"/>
              <a:t>マスター タイトルの書式設定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itchFamily="-96" charset="0"/>
              <a:buNone/>
              <a:defRPr sz="2400"/>
            </a:lvl1pPr>
          </a:lstStyle>
          <a:p>
            <a:pPr lvl="0"/>
            <a:r>
              <a:rPr lang="ja-JP" altLang="en-US" noProof="0" smtClean="0"/>
              <a:t>マスター サブタイトルの書式設定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2B5AB04A-8E10-4B4E-AB9D-0F9F5A0AC7C7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50191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7278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9858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1801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8264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93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3908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486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753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7494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itchFamily="-96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itchFamily="-96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91583272-8E3A-4A3C-8048-978CEC63E130}" type="slidenum">
              <a:rPr lang="en-US" altLang="ja-JP" sz="1000">
                <a:latin typeface="ＭＳ Ｐゴシック" pitchFamily="-96" charset="-128"/>
              </a:rPr>
              <a:pPr algn="r"/>
              <a:t>‹#›</a:t>
            </a:fld>
            <a:endParaRPr lang="en-US" altLang="ja-JP" sz="1000">
              <a:latin typeface="ＭＳ Ｐゴシック" pitchFamily="-96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itchFamily="-96" charset="0"/>
        <a:buBlip>
          <a:blip r:embed="rId16"/>
        </a:buBlip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pa.go.jp/english/humandev/third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luciola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www.oesf.biz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tools.oesf.biz/android-4.0.1_r1.0/search?q=SIProp" TargetMode="External"/><Relationship Id="rId2" Type="http://schemas.openxmlformats.org/officeDocument/2006/relationships/hyperlink" Target="http://en.sourceforge.jp/projects/nyartoolkit-and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prop.org/ja/2.0/index.php?product/AutoChasingTurtle" TargetMode="External"/><Relationship Id="rId2" Type="http://schemas.openxmlformats.org/officeDocument/2006/relationships/hyperlink" Target="http://code.google.com/p/feelsketch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rtner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Android_Froyo" TargetMode="External"/><Relationship Id="rId13" Type="http://schemas.openxmlformats.org/officeDocument/2006/relationships/hyperlink" Target="http://developer.android.com/about/dashboards/index.html" TargetMode="External"/><Relationship Id="rId3" Type="http://schemas.openxmlformats.org/officeDocument/2006/relationships/hyperlink" Target="http://en.wikipedia.org/wiki/KitKat_(operating_system)" TargetMode="External"/><Relationship Id="rId7" Type="http://schemas.openxmlformats.org/officeDocument/2006/relationships/hyperlink" Target="http://en.wikipedia.org/wiki/Android_2.3" TargetMode="External"/><Relationship Id="rId12" Type="http://schemas.openxmlformats.org/officeDocument/2006/relationships/hyperlink" Target="http://en.wikipedia.org/wiki/Cupcake_(operating_system)" TargetMode="External"/><Relationship Id="rId2" Type="http://schemas.openxmlformats.org/officeDocument/2006/relationships/hyperlink" Target="http://en.wikipedia.org/wiki/Application_programming_interfa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Honeycomb_(operating_system)" TargetMode="External"/><Relationship Id="rId11" Type="http://schemas.openxmlformats.org/officeDocument/2006/relationships/hyperlink" Target="http://en.wikipedia.org/wiki/Donut_(operating_system)" TargetMode="External"/><Relationship Id="rId5" Type="http://schemas.openxmlformats.org/officeDocument/2006/relationships/hyperlink" Target="http://en.wikipedia.org/wiki/Ice_Cream_Sandwich_(operating_system)" TargetMode="External"/><Relationship Id="rId10" Type="http://schemas.openxmlformats.org/officeDocument/2006/relationships/hyperlink" Target="http://en.wikipedia.org/wiki/%C3%89clair_(operating_system)" TargetMode="External"/><Relationship Id="rId4" Type="http://schemas.openxmlformats.org/officeDocument/2006/relationships/hyperlink" Target="http://en.wikipedia.org/wiki/Jelly_Bean_(operating_system)" TargetMode="External"/><Relationship Id="rId9" Type="http://schemas.openxmlformats.org/officeDocument/2006/relationships/hyperlink" Target="http://en.wikipedia.org/wiki/Android_version_history#Android_2.0.2C_2.1_Eclair" TargetMode="External"/><Relationship Id="rId1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android.com/tools/help/index.html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tools/help/android.html" TargetMode="External"/><Relationship Id="rId2" Type="http://schemas.openxmlformats.org/officeDocument/2006/relationships/hyperlink" Target="http://developer.android.com/reference/android/media/JetPlay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nt.apache.org/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android.com/tools/debugging/ddms.html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tools/help/draw9patch.html" TargetMode="External"/><Relationship Id="rId2" Type="http://schemas.openxmlformats.org/officeDocument/2006/relationships/hyperlink" Target="http://developer.android.com/tools/help/dmtracedump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tools/help/etc1tool.html" TargetMode="External"/><Relationship Id="rId2" Type="http://schemas.openxmlformats.org/officeDocument/2006/relationships/hyperlink" Target="http://developer.android.com/tools/help/emulator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hyperlink" Target="http://developer.android.com/tools/help/hierarchy-viewer.html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tools/help/layoutopt.html" TargetMode="External"/><Relationship Id="rId2" Type="http://schemas.openxmlformats.org/officeDocument/2006/relationships/hyperlink" Target="http://developer.android.com/tools/help/hprof-conv.html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google/play/expansion-files.html" TargetMode="External"/><Relationship Id="rId2" Type="http://schemas.openxmlformats.org/officeDocument/2006/relationships/hyperlink" Target="http://developer.android.com/tools/help/jobb.html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://developer.android.com/tools/help/lin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android.com/tools/help/mksdcard.html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tools/help/monkeyrunner_concepts.html" TargetMode="External"/><Relationship Id="rId2" Type="http://schemas.openxmlformats.org/officeDocument/2006/relationships/hyperlink" Target="http://developer.android.com/tools/help/monkey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eveloper.android.com/tools/help/proguard.html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tools/debugging/systrace.html" TargetMode="External"/><Relationship Id="rId2" Type="http://schemas.openxmlformats.org/officeDocument/2006/relationships/hyperlink" Target="http://www.sqlit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eveloper.android.com/tools/help/traceview.html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tools/help/zipalign.html" TargetMode="External"/><Relationship Id="rId2" Type="http://schemas.openxmlformats.org/officeDocument/2006/relationships/hyperlink" Target="http://developer.android.com/tools/testing/testing_ui.html#uianalysi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://tools.oesf.biz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://sourceforge.net/projects/opencvlibrary/files/opencv-android/2.4.7/OpenCV-2.4.7-android-sdk.zip/download" TargetMode="External"/><Relationship Id="rId2" Type="http://schemas.openxmlformats.org/officeDocument/2006/relationships/hyperlink" Target="http://opencv.org/platforms/android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eveloper.android.com/tools/sdk/ndk/index.html" TargetMode="External"/><Relationship Id="rId5" Type="http://schemas.openxmlformats.org/officeDocument/2006/relationships/hyperlink" Target="http://developer.android.com/sdk/index.html" TargetMode="External"/><Relationship Id="rId4" Type="http://schemas.openxmlformats.org/officeDocument/2006/relationships/hyperlink" Target="http://www.oracle.com/technetwork/java/javase/downloads/java-archive-downloads-javase6-419409.html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://developer.android.com/sdk/installing/studio.html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hyperlink" Target="https://play.google.com/store/apps/details?id=org.opencv.engine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1881937-72D1-4BCA-84BD-F4F3C6592779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en-US" altLang="ja-JP" dirty="0" smtClean="0"/>
              <a:t>About Android</a:t>
            </a:r>
            <a:endParaRPr lang="ja-JP" altLang="ja-JP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 err="1" smtClean="0"/>
              <a:t>Noritsuna</a:t>
            </a:r>
            <a:r>
              <a:rPr lang="en-US" altLang="ja-JP" dirty="0" smtClean="0"/>
              <a:t> Imamura</a:t>
            </a:r>
          </a:p>
          <a:p>
            <a:r>
              <a:rPr lang="en-US" altLang="ja-JP" dirty="0" smtClean="0"/>
              <a:t>noritsuna@sirop.org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Agenda</a:t>
            </a:r>
            <a:endParaRPr lang="ja-JP" altLang="ja-JP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 smtClean="0"/>
              <a:t>About </a:t>
            </a:r>
            <a:r>
              <a:rPr lang="en-US" altLang="ja-JP" dirty="0" smtClean="0"/>
              <a:t>me</a:t>
            </a:r>
          </a:p>
          <a:p>
            <a:pPr lvl="1"/>
            <a:r>
              <a:rPr lang="en-US" altLang="ja-JP" dirty="0" smtClean="0"/>
              <a:t>My works</a:t>
            </a:r>
            <a:endParaRPr lang="en-US" altLang="ja-JP" dirty="0" smtClean="0"/>
          </a:p>
          <a:p>
            <a:r>
              <a:rPr lang="en-US" altLang="ja-JP" dirty="0" smtClean="0"/>
              <a:t>About </a:t>
            </a:r>
            <a:r>
              <a:rPr lang="en-US" altLang="ja-JP" dirty="0" smtClean="0"/>
              <a:t>Android</a:t>
            </a:r>
          </a:p>
          <a:p>
            <a:pPr lvl="1"/>
            <a:r>
              <a:rPr lang="en-US" altLang="ja-JP" dirty="0" smtClean="0"/>
              <a:t>Outline of Android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History of Android</a:t>
            </a:r>
          </a:p>
          <a:p>
            <a:pPr lvl="1"/>
            <a:r>
              <a:rPr lang="en-US" altLang="ja-JP" dirty="0" smtClean="0"/>
              <a:t>Structure of Android</a:t>
            </a:r>
          </a:p>
          <a:p>
            <a:pPr lvl="1"/>
            <a:r>
              <a:rPr lang="en-US" altLang="ja-JP" dirty="0" smtClean="0"/>
              <a:t>Development Tips of Android</a:t>
            </a:r>
          </a:p>
          <a:p>
            <a:r>
              <a:rPr lang="en-US" altLang="ja-JP" dirty="0" smtClean="0"/>
              <a:t>Hands On</a:t>
            </a:r>
          </a:p>
          <a:p>
            <a:pPr lvl="1"/>
            <a:r>
              <a:rPr lang="en-US" altLang="ja-JP" dirty="0" smtClean="0"/>
              <a:t>Setup Android Environment for </a:t>
            </a:r>
            <a:r>
              <a:rPr lang="en-US" altLang="ja-JP" dirty="0" err="1" smtClean="0"/>
              <a:t>OpenCV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What’s Android App?</a:t>
            </a:r>
            <a:endParaRPr lang="en-US" altLang="ja-JP" dirty="0" smtClean="0"/>
          </a:p>
          <a:p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SIP engineer</a:t>
            </a:r>
          </a:p>
          <a:p>
            <a:pPr lvl="1"/>
            <a:r>
              <a:rPr lang="en-US" altLang="ja-JP" dirty="0" smtClean="0"/>
              <a:t>IPv6 based IP Phone as chief developer</a:t>
            </a:r>
          </a:p>
          <a:p>
            <a:r>
              <a:rPr kumimoji="1" lang="en-US" altLang="ja-JP" dirty="0" err="1" smtClean="0"/>
              <a:t>SIProp</a:t>
            </a:r>
            <a:r>
              <a:rPr kumimoji="1" lang="en-US" altLang="ja-JP" dirty="0" smtClean="0"/>
              <a:t> project</a:t>
            </a:r>
          </a:p>
          <a:p>
            <a:pPr lvl="1"/>
            <a:r>
              <a:rPr lang="en-US" altLang="ja-JP" dirty="0" smtClean="0"/>
              <a:t>HITOH project as project owner</a:t>
            </a:r>
          </a:p>
          <a:p>
            <a:r>
              <a:rPr lang="en-US" altLang="ja-JP" dirty="0"/>
              <a:t>HOTARU project</a:t>
            </a:r>
          </a:p>
          <a:p>
            <a:pPr lvl="1"/>
            <a:r>
              <a:rPr lang="en-US" altLang="ja-JP" dirty="0"/>
              <a:t>IPv6 based IMS/SIP OSS project as main designer</a:t>
            </a:r>
          </a:p>
          <a:p>
            <a:r>
              <a:rPr kumimoji="1" lang="en-US" altLang="ja-JP" dirty="0" smtClean="0"/>
              <a:t>Japan Android Group</a:t>
            </a:r>
          </a:p>
          <a:p>
            <a:pPr lvl="1"/>
            <a:r>
              <a:rPr lang="en-US" altLang="ja-JP" dirty="0" smtClean="0"/>
              <a:t>One of most famous community in Japan as Start up member</a:t>
            </a:r>
            <a:endParaRPr lang="en-US" altLang="ja-JP" dirty="0"/>
          </a:p>
          <a:p>
            <a:r>
              <a:rPr kumimoji="1" lang="en-US" altLang="ja-JP" dirty="0" smtClean="0"/>
              <a:t>OESF</a:t>
            </a:r>
          </a:p>
          <a:p>
            <a:pPr lvl="1"/>
            <a:r>
              <a:rPr lang="en-US" altLang="ja-JP" dirty="0" smtClean="0"/>
              <a:t>Non-profit company for Android as Start up &amp; Board member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2481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SIP&amp;IPv6 engineer: 2002-2004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/>
              <a:t>「</a:t>
            </a:r>
            <a:r>
              <a:rPr lang="en-US" altLang="ja-JP" b="1" dirty="0" err="1"/>
              <a:t>FreeBit</a:t>
            </a:r>
            <a:r>
              <a:rPr lang="en-US" altLang="ja-JP" b="1" dirty="0"/>
              <a:t> </a:t>
            </a:r>
            <a:r>
              <a:rPr lang="en-US" altLang="ja-JP" b="1" dirty="0" err="1"/>
              <a:t>OfficeOne</a:t>
            </a:r>
            <a:r>
              <a:rPr lang="en-US" altLang="ja-JP" b="1" dirty="0"/>
              <a:t> IP </a:t>
            </a:r>
            <a:r>
              <a:rPr lang="en-US" altLang="ja-JP" b="1" dirty="0" smtClean="0"/>
              <a:t>business phone</a:t>
            </a:r>
            <a:r>
              <a:rPr lang="ja-JP" altLang="en-US" b="1" dirty="0" smtClean="0"/>
              <a:t>」</a:t>
            </a:r>
            <a:endParaRPr lang="en-US" altLang="ja-JP" b="1" dirty="0" smtClean="0"/>
          </a:p>
          <a:p>
            <a:pPr lvl="1"/>
            <a:r>
              <a:rPr lang="en-US" altLang="ja-JP" b="1" dirty="0" smtClean="0"/>
              <a:t>This is a IPv6&amp;SIP based company phone.</a:t>
            </a:r>
          </a:p>
          <a:p>
            <a:pPr lvl="1"/>
            <a:r>
              <a:rPr lang="en-US" altLang="ja-JP" b="1" dirty="0" smtClean="0"/>
              <a:t>I made a SIP proxy server, SIP router &amp; SIP hard phone.</a:t>
            </a:r>
            <a:endParaRPr lang="en-US" altLang="ja-JP" b="1" dirty="0"/>
          </a:p>
          <a:p>
            <a:pPr lvl="1"/>
            <a:endParaRPr lang="en-US" altLang="ja-JP" b="1" dirty="0" smtClean="0"/>
          </a:p>
          <a:p>
            <a:pPr lvl="1"/>
            <a:endParaRPr lang="en-US" altLang="ja-JP" b="1" dirty="0"/>
          </a:p>
          <a:p>
            <a:endParaRPr lang="en-US" altLang="ja-JP" b="1" dirty="0" smtClean="0"/>
          </a:p>
          <a:p>
            <a:pPr lvl="1"/>
            <a:endParaRPr lang="ja-JP" altLang="en-US" b="1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416" y="3284984"/>
            <a:ext cx="3004952" cy="1527519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416" y="5013176"/>
            <a:ext cx="3048000" cy="1651000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192244"/>
            <a:ext cx="3817677" cy="34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06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SIProp</a:t>
            </a:r>
            <a:r>
              <a:rPr lang="en-US" altLang="ja-JP" dirty="0"/>
              <a:t> </a:t>
            </a:r>
            <a:r>
              <a:rPr lang="en-US" altLang="ja-JP" dirty="0" smtClean="0"/>
              <a:t>project in MITOH </a:t>
            </a:r>
            <a:r>
              <a:rPr lang="en-US" altLang="ja-JP" dirty="0"/>
              <a:t>: 2006-2007</a:t>
            </a:r>
            <a:endParaRPr lang="ja-JP" altLang="en-US" dirty="0" smtClean="0"/>
          </a:p>
        </p:txBody>
      </p:sp>
      <p:sp>
        <p:nvSpPr>
          <p:cNvPr id="5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982272" cy="5327650"/>
          </a:xfrm>
        </p:spPr>
        <p:txBody>
          <a:bodyPr/>
          <a:lstStyle/>
          <a:p>
            <a:r>
              <a:rPr lang="en-US" altLang="ja-JP" b="1" dirty="0" smtClean="0"/>
              <a:t>B2BUA solution for connecting M2M.</a:t>
            </a:r>
            <a:endParaRPr lang="en-US" altLang="ja-JP" b="1" dirty="0"/>
          </a:p>
          <a:p>
            <a:endParaRPr lang="en-US" altLang="ja-JP" b="1" dirty="0" smtClean="0"/>
          </a:p>
          <a:p>
            <a:pPr lvl="1"/>
            <a:endParaRPr lang="en-US" altLang="ja-JP" b="1" dirty="0" smtClean="0"/>
          </a:p>
          <a:p>
            <a:pPr lvl="1"/>
            <a:endParaRPr lang="en-US" altLang="ja-JP" b="1" dirty="0"/>
          </a:p>
          <a:p>
            <a:pPr lvl="1"/>
            <a:endParaRPr lang="en-US" altLang="ja-JP" sz="1400" b="1" dirty="0" smtClean="0"/>
          </a:p>
          <a:p>
            <a:pPr lvl="1"/>
            <a:endParaRPr lang="en-US" altLang="ja-JP" b="1" dirty="0"/>
          </a:p>
          <a:p>
            <a:pPr lvl="1"/>
            <a:r>
              <a:rPr lang="en-US" altLang="ja-JP" b="1" dirty="0" smtClean="0"/>
              <a:t>This project is supported by MITOH program.</a:t>
            </a:r>
          </a:p>
          <a:p>
            <a:pPr lvl="2"/>
            <a:r>
              <a:rPr lang="en-US" altLang="ja-JP" b="1" dirty="0"/>
              <a:t>IPA:INFORMATION-TECHNOLOGY PROMOTION AGENCY, JAPAN </a:t>
            </a:r>
            <a:r>
              <a:rPr lang="en-US" altLang="ja-JP" b="1" dirty="0" smtClean="0"/>
              <a:t>is </a:t>
            </a:r>
            <a:r>
              <a:rPr lang="en-US" altLang="ja-JP" b="1" dirty="0"/>
              <a:t>established an incorporated Administrative Agency.</a:t>
            </a:r>
          </a:p>
          <a:p>
            <a:pPr lvl="2"/>
            <a:endParaRPr lang="en-US" altLang="ja-JP" b="1" dirty="0" smtClean="0"/>
          </a:p>
          <a:p>
            <a:pPr lvl="1"/>
            <a:endParaRPr lang="en-US" altLang="ja-JP" b="1" dirty="0" smtClean="0"/>
          </a:p>
          <a:p>
            <a:pPr lvl="1"/>
            <a:endParaRPr lang="ja-JP" altLang="en-US" b="1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1619672" y="4869160"/>
            <a:ext cx="6640329" cy="190384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IPA undertakes the Exploratory IT Human Resources Project (The MITOH Program) for actively identifying and developing outstanding persons with creativity who can play key roles in creating next-generation IT </a:t>
            </a:r>
            <a:r>
              <a:rPr lang="en-US" altLang="ja-JP" sz="2000" dirty="0" smtClean="0"/>
              <a:t>markets.</a:t>
            </a:r>
          </a:p>
          <a:p>
            <a:pPr algn="ctr"/>
            <a:endParaRPr lang="en-US" altLang="ja-JP" sz="2000" dirty="0"/>
          </a:p>
          <a:p>
            <a:pPr algn="r"/>
            <a:r>
              <a:rPr lang="en-US" altLang="ja-JP" sz="1600" dirty="0">
                <a:hlinkClick r:id="rId3"/>
              </a:rPr>
              <a:t>http://www.ipa.go.jp/english/humandev/third.html</a:t>
            </a:r>
            <a:endParaRPr lang="en-US" altLang="ja-JP" sz="1600" dirty="0"/>
          </a:p>
        </p:txBody>
      </p:sp>
      <p:pic>
        <p:nvPicPr>
          <p:cNvPr id="9" name="Picture 4" descr="20070806-Mito_OB-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54" y="1628800"/>
            <a:ext cx="82931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01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IPv6 based IMS/SIP open source project</a:t>
            </a:r>
          </a:p>
          <a:p>
            <a:pPr lvl="1"/>
            <a:r>
              <a:rPr lang="en-US" altLang="ja-JP" dirty="0" smtClean="0"/>
              <a:t>Knowledge sharing by real-IMS implementation </a:t>
            </a:r>
            <a:endParaRPr kumimoji="1" lang="en-US" altLang="ja-JP" dirty="0" smtClean="0"/>
          </a:p>
          <a:p>
            <a:pPr lvl="1"/>
            <a:r>
              <a:rPr lang="en-US" altLang="ja-JP" dirty="0" smtClean="0">
                <a:hlinkClick r:id="rId2"/>
              </a:rPr>
              <a:t>http://www.luciola.net/</a:t>
            </a:r>
            <a:endParaRPr lang="en-US" altLang="ja-JP" dirty="0" smtClean="0"/>
          </a:p>
          <a:p>
            <a:pPr lvl="1"/>
            <a:endParaRPr lang="en-US" altLang="ja-JP" dirty="0" smtClean="0"/>
          </a:p>
          <a:p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248" y="2348880"/>
            <a:ext cx="3060752" cy="102520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HOTARU project : 2007-2008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429434"/>
            <a:ext cx="1323488" cy="864096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15" y="3212976"/>
            <a:ext cx="7659169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8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Japan Android Group : 2008-2010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Prof.Maruyama</a:t>
            </a:r>
            <a:r>
              <a:rPr lang="en-US" altLang="ja-JP" dirty="0"/>
              <a:t> &amp; I </a:t>
            </a:r>
            <a:r>
              <a:rPr lang="en-US" altLang="ja-JP" dirty="0" smtClean="0"/>
              <a:t>started up </a:t>
            </a:r>
            <a:r>
              <a:rPr lang="en-US" altLang="ja-JP" dirty="0"/>
              <a:t>this community.</a:t>
            </a:r>
            <a:endParaRPr lang="ja-JP" altLang="en-US" dirty="0"/>
          </a:p>
          <a:p>
            <a:pPr lvl="1"/>
            <a:r>
              <a:rPr lang="en-US" altLang="ja-JP" dirty="0" smtClean="0"/>
              <a:t>At Apr/2008</a:t>
            </a:r>
          </a:p>
          <a:p>
            <a:endParaRPr lang="en-US" altLang="ja-JP" sz="2000" dirty="0" smtClean="0"/>
          </a:p>
          <a:p>
            <a:r>
              <a:rPr lang="en-US" altLang="ja-JP" dirty="0" smtClean="0"/>
              <a:t>Detail</a:t>
            </a:r>
            <a:endParaRPr lang="en-US" altLang="ja-JP" dirty="0"/>
          </a:p>
          <a:p>
            <a:pPr lvl="1"/>
            <a:r>
              <a:rPr lang="en-US" altLang="ja-JP" dirty="0" smtClean="0"/>
              <a:t>One of most </a:t>
            </a:r>
            <a:r>
              <a:rPr lang="en-US" altLang="ja-JP" dirty="0"/>
              <a:t>famous Community in </a:t>
            </a:r>
            <a:r>
              <a:rPr lang="en-US" altLang="ja-JP" dirty="0" smtClean="0"/>
              <a:t>Japan</a:t>
            </a:r>
          </a:p>
          <a:p>
            <a:pPr lvl="1"/>
            <a:r>
              <a:rPr lang="en-US" altLang="ja-JP" dirty="0" smtClean="0"/>
              <a:t>URL: http://www.android-group.jp/</a:t>
            </a:r>
            <a:endParaRPr lang="en-US" altLang="ja-JP" dirty="0"/>
          </a:p>
          <a:p>
            <a:pPr lvl="1"/>
            <a:r>
              <a:rPr lang="en-US" altLang="ja-JP" dirty="0"/>
              <a:t>Since: </a:t>
            </a:r>
            <a:r>
              <a:rPr lang="en-US" altLang="ja-JP" dirty="0" smtClean="0"/>
              <a:t>Sep/2008</a:t>
            </a:r>
            <a:endParaRPr lang="en-US" altLang="ja-JP" dirty="0"/>
          </a:p>
          <a:p>
            <a:pPr lvl="1"/>
            <a:r>
              <a:rPr lang="en-US" altLang="ja-JP" dirty="0"/>
              <a:t>Members: over 20,000</a:t>
            </a:r>
          </a:p>
          <a:p>
            <a:pPr lvl="1"/>
            <a:r>
              <a:rPr lang="en-US" altLang="ja-JP" dirty="0"/>
              <a:t>Branch: over 20</a:t>
            </a:r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861048"/>
            <a:ext cx="4329648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7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OESF : 2009-present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Mr.Miura</a:t>
            </a:r>
            <a:r>
              <a:rPr lang="en-US" altLang="ja-JP" dirty="0" smtClean="0"/>
              <a:t>(chairman) </a:t>
            </a:r>
            <a:r>
              <a:rPr lang="en-US" altLang="ja-JP" dirty="0"/>
              <a:t>&amp; I started up this </a:t>
            </a:r>
            <a:r>
              <a:rPr lang="en-US" altLang="ja-JP" dirty="0" smtClean="0"/>
              <a:t>non-profit </a:t>
            </a:r>
            <a:r>
              <a:rPr lang="en-US" altLang="ja-JP" dirty="0" err="1" smtClean="0"/>
              <a:t>campany</a:t>
            </a:r>
            <a:r>
              <a:rPr lang="en-US" altLang="ja-JP" dirty="0" smtClean="0"/>
              <a:t>.</a:t>
            </a:r>
          </a:p>
          <a:p>
            <a:pPr lvl="1"/>
            <a:r>
              <a:rPr kumimoji="1" lang="en-US" altLang="ja-JP" dirty="0" smtClean="0"/>
              <a:t>I’m working in ITRI now. And we are making a testing framework &amp; certification center for Android.</a:t>
            </a:r>
          </a:p>
          <a:p>
            <a:endParaRPr kumimoji="1" lang="en-US" altLang="ja-JP" dirty="0" smtClean="0"/>
          </a:p>
          <a:p>
            <a:r>
              <a:rPr lang="en-US" altLang="ja-JP" dirty="0" smtClean="0"/>
              <a:t>Detail</a:t>
            </a:r>
            <a:endParaRPr lang="en-US" altLang="ja-JP" dirty="0"/>
          </a:p>
          <a:p>
            <a:pPr lvl="1"/>
            <a:r>
              <a:rPr kumimoji="1" lang="en-US" altLang="ja-JP" sz="2000" dirty="0" smtClean="0"/>
              <a:t>Non-profit company for Embedded Android.</a:t>
            </a:r>
          </a:p>
          <a:p>
            <a:pPr lvl="1"/>
            <a:r>
              <a:rPr lang="en-US" altLang="ja-JP" sz="2000" dirty="0" smtClean="0"/>
              <a:t>URL: </a:t>
            </a:r>
            <a:r>
              <a:rPr lang="en-US" altLang="ja-JP" sz="2000" dirty="0" smtClean="0">
                <a:hlinkClick r:id="rId2"/>
              </a:rPr>
              <a:t>http://www.oesf.biz/</a:t>
            </a:r>
            <a:endParaRPr lang="en-US" altLang="ja-JP" sz="2000" dirty="0" smtClean="0"/>
          </a:p>
          <a:p>
            <a:pPr lvl="1"/>
            <a:r>
              <a:rPr kumimoji="1" lang="en-US" altLang="ja-JP" sz="2000" dirty="0" smtClean="0"/>
              <a:t>Since: Feb/2009</a:t>
            </a:r>
          </a:p>
          <a:p>
            <a:pPr lvl="1"/>
            <a:r>
              <a:rPr lang="en-US" altLang="ja-JP" sz="2000" dirty="0" smtClean="0"/>
              <a:t>Members: over 120 companies</a:t>
            </a:r>
          </a:p>
          <a:p>
            <a:pPr lvl="1"/>
            <a:r>
              <a:rPr kumimoji="1" lang="en-US" altLang="ja-JP" sz="2000" dirty="0" smtClean="0"/>
              <a:t>Branch: 6(in Asia countries)</a:t>
            </a:r>
          </a:p>
          <a:p>
            <a:pPr lvl="1"/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4581128"/>
            <a:ext cx="3867408" cy="215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2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Android’s tools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NyARToolkit</a:t>
            </a:r>
            <a:r>
              <a:rPr kumimoji="1" lang="en-US" altLang="ja-JP" dirty="0" smtClean="0"/>
              <a:t> for </a:t>
            </a:r>
            <a:r>
              <a:rPr lang="en-US" altLang="ja-JP" dirty="0"/>
              <a:t>Android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I made a first program for this OSS community</a:t>
            </a:r>
            <a:endParaRPr kumimoji="1" lang="en-US" altLang="ja-JP" dirty="0" smtClean="0"/>
          </a:p>
          <a:p>
            <a:pPr lvl="2"/>
            <a:r>
              <a:rPr lang="en-US" altLang="ja-JP" dirty="0" smtClean="0">
                <a:hlinkClick r:id="rId2"/>
              </a:rPr>
              <a:t>http</a:t>
            </a:r>
            <a:r>
              <a:rPr lang="en-US" altLang="ja-JP" dirty="0">
                <a:hlinkClick r:id="rId2"/>
              </a:rPr>
              <a:t>://en.sourceforge.jp/projects/nyartoolkit-and/</a:t>
            </a:r>
            <a:endParaRPr kumimoji="1" lang="en-US" altLang="ja-JP" dirty="0" smtClean="0"/>
          </a:p>
          <a:p>
            <a:r>
              <a:rPr lang="en-US" altLang="ja-JP" dirty="0" err="1"/>
              <a:t>OpenCV</a:t>
            </a:r>
            <a:r>
              <a:rPr lang="en-US" altLang="ja-JP" dirty="0"/>
              <a:t> for Android NDK</a:t>
            </a:r>
          </a:p>
          <a:p>
            <a:pPr lvl="1"/>
            <a:r>
              <a:rPr lang="en-US" altLang="ja-JP" dirty="0"/>
              <a:t>This program is included in Android 4.0.1 </a:t>
            </a:r>
            <a:r>
              <a:rPr lang="en-US" altLang="ja-JP" dirty="0" smtClean="0"/>
              <a:t>.</a:t>
            </a:r>
          </a:p>
          <a:p>
            <a:pPr lvl="2"/>
            <a:r>
              <a:rPr lang="en-US" altLang="ja-JP" dirty="0">
                <a:hlinkClick r:id="rId3"/>
              </a:rPr>
              <a:t>http://</a:t>
            </a:r>
            <a:r>
              <a:rPr lang="en-US" altLang="ja-JP" dirty="0" smtClean="0">
                <a:hlinkClick r:id="rId3"/>
              </a:rPr>
              <a:t>tools.oesf.biz/android-4.0.1_r1.0/search?q=SIProp</a:t>
            </a:r>
            <a:endParaRPr lang="en-US" altLang="ja-JP" dirty="0" smtClean="0"/>
          </a:p>
          <a:p>
            <a:endParaRPr lang="ja-JP" altLang="en-US" dirty="0"/>
          </a:p>
          <a:p>
            <a:pPr lvl="2"/>
            <a:endParaRPr lang="en-US" altLang="ja-JP" dirty="0" smtClean="0"/>
          </a:p>
          <a:p>
            <a:pPr lvl="1"/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3829320"/>
            <a:ext cx="3520235" cy="2927967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97"/>
          <a:stretch/>
        </p:blipFill>
        <p:spPr>
          <a:xfrm>
            <a:off x="1547664" y="3812688"/>
            <a:ext cx="2812834" cy="296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3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Other Products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Feel sketch</a:t>
            </a:r>
          </a:p>
          <a:p>
            <a:pPr lvl="1"/>
            <a:r>
              <a:rPr lang="en-US" altLang="ja-JP" dirty="0" smtClean="0"/>
              <a:t>AR solution </a:t>
            </a:r>
            <a:endParaRPr kumimoji="1" lang="en-US" altLang="ja-JP" dirty="0" smtClean="0"/>
          </a:p>
          <a:p>
            <a:pPr lvl="2"/>
            <a:r>
              <a:rPr lang="en-US" altLang="ja-JP" dirty="0"/>
              <a:t>w</a:t>
            </a:r>
            <a:r>
              <a:rPr lang="en-US" altLang="ja-JP" dirty="0" smtClean="0"/>
              <a:t>ith porting </a:t>
            </a:r>
            <a:r>
              <a:rPr lang="en-US" altLang="ja-JP" dirty="0" err="1" smtClean="0"/>
              <a:t>OpenCV</a:t>
            </a:r>
            <a:r>
              <a:rPr lang="en-US" altLang="ja-JP" dirty="0" smtClean="0"/>
              <a:t> to Android</a:t>
            </a:r>
          </a:p>
          <a:p>
            <a:pPr lvl="2"/>
            <a:r>
              <a:rPr lang="en-US" altLang="ja-JP" dirty="0">
                <a:hlinkClick r:id="rId2"/>
              </a:rPr>
              <a:t>http://code.google.com/p/feelsketch</a:t>
            </a:r>
            <a:r>
              <a:rPr lang="en-US" altLang="ja-JP" dirty="0" smtClean="0">
                <a:hlinkClick r:id="rId2"/>
              </a:rPr>
              <a:t>/</a:t>
            </a:r>
            <a:endParaRPr lang="en-US" altLang="ja-JP" dirty="0"/>
          </a:p>
          <a:p>
            <a:r>
              <a:rPr kumimoji="1" lang="en-US" altLang="ja-JP" dirty="0" smtClean="0"/>
              <a:t>Auto Chasing Turtle</a:t>
            </a:r>
          </a:p>
          <a:p>
            <a:pPr lvl="1"/>
            <a:r>
              <a:rPr kumimoji="1" lang="en-US" altLang="ja-JP" dirty="0" smtClean="0"/>
              <a:t>Face detecting Robot</a:t>
            </a:r>
          </a:p>
          <a:p>
            <a:pPr lvl="2"/>
            <a:r>
              <a:rPr lang="en-US" altLang="ja-JP" dirty="0"/>
              <a:t>w</a:t>
            </a:r>
            <a:r>
              <a:rPr lang="en-US" altLang="ja-JP" dirty="0" smtClean="0"/>
              <a:t>ith porting Kinect to Android &amp; controlling Robot</a:t>
            </a:r>
          </a:p>
          <a:p>
            <a:pPr lvl="2"/>
            <a:r>
              <a:rPr lang="en-US" altLang="ja-JP" dirty="0">
                <a:hlinkClick r:id="rId3"/>
              </a:rPr>
              <a:t>http://www.siprop.org/ja/2.0/index.php?product%2FAutoChasingTurtle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88640"/>
            <a:ext cx="2298171" cy="344725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827253"/>
            <a:ext cx="3347864" cy="1883174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709" y="4543722"/>
            <a:ext cx="3851920" cy="216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Agenda</a:t>
            </a:r>
            <a:endParaRPr lang="ja-JP" altLang="ja-JP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 smtClean="0">
                <a:solidFill>
                  <a:schemeClr val="bg1">
                    <a:lumMod val="85000"/>
                  </a:schemeClr>
                </a:solidFill>
              </a:rPr>
              <a:t>About </a:t>
            </a:r>
            <a:r>
              <a:rPr lang="en-US" altLang="ja-JP" dirty="0" smtClean="0">
                <a:solidFill>
                  <a:schemeClr val="bg1">
                    <a:lumMod val="85000"/>
                  </a:schemeClr>
                </a:solidFill>
              </a:rPr>
              <a:t>me</a:t>
            </a:r>
          </a:p>
          <a:p>
            <a:pPr lvl="1"/>
            <a:r>
              <a:rPr lang="en-US" altLang="ja-JP" dirty="0" smtClean="0">
                <a:solidFill>
                  <a:schemeClr val="bg1">
                    <a:lumMod val="85000"/>
                  </a:schemeClr>
                </a:solidFill>
              </a:rPr>
              <a:t>My works</a:t>
            </a:r>
            <a:endParaRPr lang="en-US" altLang="ja-JP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ja-JP" dirty="0" smtClean="0"/>
              <a:t>About </a:t>
            </a:r>
            <a:r>
              <a:rPr lang="en-US" altLang="ja-JP" dirty="0" smtClean="0"/>
              <a:t>Android</a:t>
            </a:r>
          </a:p>
          <a:p>
            <a:pPr lvl="1"/>
            <a:r>
              <a:rPr lang="en-US" altLang="ja-JP" dirty="0" smtClean="0"/>
              <a:t>Outline of Android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History of Android</a:t>
            </a:r>
          </a:p>
          <a:p>
            <a:pPr lvl="1"/>
            <a:r>
              <a:rPr lang="en-US" altLang="ja-JP" dirty="0" smtClean="0"/>
              <a:t>Structure of Android</a:t>
            </a:r>
          </a:p>
          <a:p>
            <a:pPr lvl="1"/>
            <a:r>
              <a:rPr lang="en-US" altLang="ja-JP" dirty="0" smtClean="0"/>
              <a:t>Development Tips of Android</a:t>
            </a:r>
          </a:p>
          <a:p>
            <a:r>
              <a:rPr lang="en-US" altLang="ja-JP" dirty="0" smtClean="0"/>
              <a:t>Hands On</a:t>
            </a:r>
          </a:p>
          <a:p>
            <a:pPr lvl="1"/>
            <a:r>
              <a:rPr lang="en-US" altLang="ja-JP" dirty="0" smtClean="0"/>
              <a:t>Setup Android Environment for </a:t>
            </a:r>
            <a:r>
              <a:rPr lang="en-US" altLang="ja-JP" dirty="0" err="1" smtClean="0"/>
              <a:t>OpenCV</a:t>
            </a:r>
            <a:endParaRPr lang="en-US" altLang="ja-JP" dirty="0" smtClean="0"/>
          </a:p>
          <a:p>
            <a:pPr lvl="1"/>
            <a:r>
              <a:rPr lang="en-US" altLang="ja-JP" dirty="0"/>
              <a:t>What’s Android App?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283595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pPr algn="ctr"/>
            <a:r>
              <a:rPr lang="en-US" altLang="ja-JP" sz="4800" dirty="0" smtClean="0"/>
              <a:t>Outline of Android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32317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Android?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I don’t explain the following things:</a:t>
            </a:r>
          </a:p>
          <a:p>
            <a:pPr lvl="1"/>
            <a:r>
              <a:rPr lang="en-US" altLang="ja-JP" dirty="0" smtClean="0"/>
              <a:t>About Android</a:t>
            </a:r>
          </a:p>
          <a:p>
            <a:pPr lvl="2"/>
            <a:r>
              <a:rPr lang="ja-JP" altLang="en-US" dirty="0" smtClean="0"/>
              <a:t> </a:t>
            </a:r>
            <a:r>
              <a:rPr lang="en-US" altLang="ja-JP" dirty="0" smtClean="0"/>
              <a:t>As OS </a:t>
            </a:r>
            <a:r>
              <a:rPr lang="en-US" altLang="ja-JP" dirty="0"/>
              <a:t>for </a:t>
            </a:r>
            <a:r>
              <a:rPr lang="en-US" altLang="ja-JP" dirty="0" err="1"/>
              <a:t>SmartPhone</a:t>
            </a:r>
            <a:r>
              <a:rPr lang="en-US" altLang="ja-JP" dirty="0"/>
              <a:t> &amp; Tablet PC.</a:t>
            </a:r>
          </a:p>
          <a:p>
            <a:pPr lvl="1"/>
            <a:r>
              <a:rPr lang="en-US" dirty="0" smtClean="0"/>
              <a:t>Basically Android for Development</a:t>
            </a:r>
          </a:p>
          <a:p>
            <a:pPr lvl="2"/>
            <a:r>
              <a:rPr lang="en-US" dirty="0" smtClean="0"/>
              <a:t>Activity, Intent, Service</a:t>
            </a:r>
          </a:p>
          <a:p>
            <a:pPr lvl="2"/>
            <a:endParaRPr lang="en-US" dirty="0"/>
          </a:p>
          <a:p>
            <a:r>
              <a:rPr lang="en-US" dirty="0"/>
              <a:t>I explain </a:t>
            </a:r>
            <a:r>
              <a:rPr lang="en-US" altLang="ja-JP" dirty="0"/>
              <a:t>knowledge</a:t>
            </a:r>
            <a:r>
              <a:rPr lang="en-US" dirty="0"/>
              <a:t> that </a:t>
            </a:r>
            <a:r>
              <a:rPr lang="en-US" dirty="0">
                <a:solidFill>
                  <a:srgbClr val="FF0000"/>
                </a:solidFill>
              </a:rPr>
              <a:t>Standard Android Developers don’t know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/>
          </a:p>
          <a:p>
            <a:pPr lvl="1"/>
            <a:r>
              <a:rPr lang="en-US" dirty="0"/>
              <a:t>Made by Google…?</a:t>
            </a:r>
          </a:p>
          <a:p>
            <a:pPr lvl="1"/>
            <a:r>
              <a:rPr lang="en-US" dirty="0"/>
              <a:t>When is Release Android SDKs &amp; Devices?</a:t>
            </a:r>
          </a:p>
          <a:p>
            <a:pPr lvl="1"/>
            <a:r>
              <a:rPr lang="en-US" dirty="0"/>
              <a:t>How Many Versions?</a:t>
            </a:r>
          </a:p>
          <a:p>
            <a:pPr lvl="1"/>
            <a:r>
              <a:rPr lang="en-US" dirty="0"/>
              <a:t>What’s Functions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What’s Called Android?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-34255"/>
            <a:ext cx="95250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5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pPr algn="ctr"/>
            <a:r>
              <a:rPr lang="en-US" altLang="ja-JP" sz="4800" dirty="0" smtClean="0"/>
              <a:t>History of Android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38086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1207" y="3910227"/>
            <a:ext cx="4061587" cy="2237131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403648" y="1966314"/>
            <a:ext cx="6703758" cy="129009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  <a:tabLst>
                <a:tab pos="108598" algn="l"/>
              </a:tabLst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2003.10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 smtClean="0">
                <a:latin typeface="Times New Roman" pitchFamily="18" charset="0"/>
                <a:cs typeface="Times New Roman" pitchFamily="18" charset="0"/>
              </a:rPr>
              <a:t>Startup </a:t>
            </a:r>
            <a:r>
              <a:rPr lang="en-US" altLang="zh-CN" sz="3929" dirty="0" smtClean="0">
                <a:latin typeface="メイリオ" pitchFamily="18" charset="0"/>
                <a:cs typeface="メイリオ" pitchFamily="18" charset="0"/>
              </a:rPr>
              <a:t>Android </a:t>
            </a:r>
            <a:r>
              <a:rPr lang="en-US" altLang="zh-CN" sz="3929" dirty="0" err="1" smtClean="0">
                <a:latin typeface="メイリオ" pitchFamily="18" charset="0"/>
                <a:cs typeface="メイリオ" pitchFamily="18" charset="0"/>
              </a:rPr>
              <a:t>inc.</a:t>
            </a:r>
            <a:endParaRPr lang="en-US" altLang="zh-CN" sz="3929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5131"/>
              </a:lnSpc>
              <a:tabLst>
                <a:tab pos="108598" algn="l"/>
              </a:tabLst>
            </a:pPr>
            <a:r>
              <a:rPr lang="en-US" altLang="zh-CN" sz="3932" dirty="0" smtClean="0">
                <a:latin typeface="メイリオ" pitchFamily="18" charset="0"/>
                <a:cs typeface="メイリオ" pitchFamily="18" charset="0"/>
              </a:rPr>
              <a:t>2005.08</a:t>
            </a:r>
            <a:r>
              <a:rPr lang="en-US" altLang="zh-CN" sz="393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 smtClean="0">
                <a:latin typeface="メイリオ" pitchFamily="18" charset="0"/>
                <a:cs typeface="メイリオ" pitchFamily="18" charset="0"/>
              </a:rPr>
              <a:t>Google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 </a:t>
            </a:r>
            <a:r>
              <a:rPr lang="en-US" altLang="zh-CN" sz="3932" dirty="0" smtClean="0">
                <a:latin typeface="メイリオ" pitchFamily="18" charset="0"/>
                <a:cs typeface="メイリオ" pitchFamily="18" charset="0"/>
              </a:rPr>
              <a:t>Acquired</a:t>
            </a:r>
            <a:endParaRPr lang="en-US" altLang="zh-CN" sz="3932" dirty="0">
              <a:latin typeface="メイリオ" pitchFamily="18" charset="0"/>
              <a:cs typeface="メイリオ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0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076" y="3845068"/>
            <a:ext cx="3974708" cy="2215411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5216" y="3855928"/>
            <a:ext cx="3931268" cy="2193691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970720" y="1844824"/>
            <a:ext cx="7788992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2007.11.05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 smtClean="0">
                <a:latin typeface="メイリオ" pitchFamily="18" charset="0"/>
                <a:cs typeface="メイリオ" pitchFamily="18" charset="0"/>
              </a:rPr>
              <a:t>Android Announced</a:t>
            </a:r>
            <a:endParaRPr lang="en-US" altLang="zh-CN" sz="3929" dirty="0">
              <a:latin typeface="メイリオ" pitchFamily="18" charset="0"/>
              <a:cs typeface="メイリオ" pitchFamily="18" charset="0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1475656" y="2532340"/>
            <a:ext cx="7128792" cy="636072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2007.11.06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 smtClean="0">
                <a:latin typeface="メイリオ" pitchFamily="18" charset="0"/>
                <a:cs typeface="メイリオ" pitchFamily="18" charset="0"/>
              </a:rPr>
              <a:t>OHA </a:t>
            </a:r>
            <a:r>
              <a:rPr lang="en-US" altLang="zh-CN" sz="4000" dirty="0"/>
              <a:t>O</a:t>
            </a:r>
            <a:r>
              <a:rPr lang="en-US" altLang="ja-JP" sz="4000" dirty="0" smtClean="0"/>
              <a:t>rganized</a:t>
            </a:r>
            <a:endParaRPr lang="en-US" altLang="zh-CN" sz="3932" dirty="0">
              <a:latin typeface="メイリオ" pitchFamily="18" charset="0"/>
              <a:cs typeface="メイリオ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78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" y="231858"/>
            <a:ext cx="9104930" cy="6437502"/>
          </a:xfrm>
        </p:spPr>
      </p:pic>
    </p:spTree>
    <p:extLst>
      <p:ext uri="{BB962C8B-B14F-4D97-AF65-F5344CB8AC3E}">
        <p14:creationId xmlns:p14="http://schemas.microsoft.com/office/powerpoint/2010/main" val="311725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32162" y="3747330"/>
            <a:ext cx="3279677" cy="2334869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835316" y="1835995"/>
            <a:ext cx="5718425" cy="50783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591"/>
              </a:lnSpc>
            </a:pPr>
            <a:r>
              <a:rPr lang="en-US" altLang="zh-CN" sz="3078" dirty="0">
                <a:latin typeface="メイリオ" pitchFamily="18" charset="0"/>
                <a:cs typeface="メイリオ" pitchFamily="18" charset="0"/>
              </a:rPr>
              <a:t>2008.09.23</a:t>
            </a:r>
            <a:r>
              <a:rPr lang="en-US" altLang="zh-CN" sz="307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78" dirty="0">
                <a:latin typeface="メイリオ" pitchFamily="18" charset="0"/>
                <a:cs typeface="メイリオ" pitchFamily="18" charset="0"/>
              </a:rPr>
              <a:t>1.0</a:t>
            </a:r>
            <a:r>
              <a:rPr lang="en-US" altLang="zh-CN" sz="307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78" dirty="0" smtClean="0">
                <a:latin typeface="メイリオ" pitchFamily="18" charset="0"/>
                <a:cs typeface="メイリオ" pitchFamily="18" charset="0"/>
              </a:rPr>
              <a:t>SDK Released</a:t>
            </a:r>
            <a:endParaRPr lang="en-US" altLang="zh-CN" sz="3078" dirty="0">
              <a:latin typeface="メイリオ" pitchFamily="18" charset="0"/>
              <a:cs typeface="メイリオ" pitchFamily="18" charset="0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2867003" y="2346408"/>
            <a:ext cx="3390415" cy="50783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591"/>
              </a:lnSpc>
            </a:pPr>
            <a:r>
              <a:rPr lang="en-US" altLang="zh-CN" sz="3078" dirty="0">
                <a:latin typeface="メイリオ" pitchFamily="18" charset="0"/>
                <a:cs typeface="メイリオ" pitchFamily="18" charset="0"/>
              </a:rPr>
              <a:t>2008.10.21</a:t>
            </a:r>
            <a:r>
              <a:rPr lang="en-US" altLang="zh-CN" sz="307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78" dirty="0">
                <a:latin typeface="メイリオ" pitchFamily="18" charset="0"/>
                <a:cs typeface="メイリオ" pitchFamily="18" charset="0"/>
              </a:rPr>
              <a:t>AOSP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3127640" y="2867682"/>
            <a:ext cx="2869375" cy="50783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591"/>
              </a:lnSpc>
            </a:pPr>
            <a:r>
              <a:rPr lang="en-US" altLang="zh-CN" sz="3078" dirty="0">
                <a:latin typeface="メイリオ" pitchFamily="18" charset="0"/>
                <a:cs typeface="メイリオ" pitchFamily="18" charset="0"/>
              </a:rPr>
              <a:t>2008.10.22</a:t>
            </a:r>
            <a:r>
              <a:rPr lang="en-US" altLang="zh-CN" sz="307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78" dirty="0">
                <a:latin typeface="メイリオ" pitchFamily="18" charset="0"/>
                <a:cs typeface="メイリオ" pitchFamily="18" charset="0"/>
              </a:rPr>
              <a:t>G1</a:t>
            </a:r>
          </a:p>
        </p:txBody>
      </p:sp>
    </p:spTree>
    <p:extLst>
      <p:ext uri="{BB962C8B-B14F-4D97-AF65-F5344CB8AC3E}">
        <p14:creationId xmlns:p14="http://schemas.microsoft.com/office/powerpoint/2010/main" val="177135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08235"/>
            <a:ext cx="9036496" cy="6389117"/>
          </a:xfrm>
        </p:spPr>
      </p:pic>
    </p:spTree>
    <p:extLst>
      <p:ext uri="{BB962C8B-B14F-4D97-AF65-F5344CB8AC3E}">
        <p14:creationId xmlns:p14="http://schemas.microsoft.com/office/powerpoint/2010/main" val="68290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/>
          <a:srcRect b="25919"/>
          <a:stretch/>
        </p:blipFill>
        <p:spPr bwMode="auto">
          <a:xfrm>
            <a:off x="3203658" y="3649591"/>
            <a:ext cx="2747544" cy="208366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770157" y="1944593"/>
            <a:ext cx="5530360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2009.04.29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HTC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Magic</a:t>
            </a:r>
          </a:p>
        </p:txBody>
      </p:sp>
    </p:spTree>
    <p:extLst>
      <p:ext uri="{BB962C8B-B14F-4D97-AF65-F5344CB8AC3E}">
        <p14:creationId xmlns:p14="http://schemas.microsoft.com/office/powerpoint/2010/main" val="41902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936" y="2129211"/>
            <a:ext cx="879648" cy="966527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552960" y="2270389"/>
            <a:ext cx="5974777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2009.04.30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1.5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Cupcake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2843808" y="3171756"/>
            <a:ext cx="5766792" cy="3281431"/>
          </a:xfrm>
        </p:spPr>
        <p:txBody>
          <a:bodyPr/>
          <a:lstStyle/>
          <a:p>
            <a:r>
              <a:rPr lang="en-US" dirty="0"/>
              <a:t>New Software Keyboard with Auto </a:t>
            </a:r>
            <a:r>
              <a:rPr lang="en-US" dirty="0" err="1"/>
              <a:t>Complate</a:t>
            </a:r>
            <a:endParaRPr lang="en-US" dirty="0"/>
          </a:p>
          <a:p>
            <a:r>
              <a:rPr lang="en-US" dirty="0"/>
              <a:t>Support Bluetooth A2DP</a:t>
            </a:r>
          </a:p>
          <a:p>
            <a:r>
              <a:rPr lang="en-US" dirty="0"/>
              <a:t>New Desktop &amp; Widget</a:t>
            </a:r>
          </a:p>
          <a:p>
            <a:r>
              <a:rPr lang="en-US" dirty="0"/>
              <a:t>Support Animation</a:t>
            </a:r>
          </a:p>
          <a:p>
            <a:r>
              <a:rPr lang="en-US" dirty="0"/>
              <a:t>Linux: 2.6.27</a:t>
            </a:r>
          </a:p>
        </p:txBody>
      </p:sp>
    </p:spTree>
    <p:extLst>
      <p:ext uri="{BB962C8B-B14F-4D97-AF65-F5344CB8AC3E}">
        <p14:creationId xmlns:p14="http://schemas.microsoft.com/office/powerpoint/2010/main" val="5747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9777" y="2183510"/>
            <a:ext cx="1031686" cy="988247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846176" y="2270389"/>
            <a:ext cx="5397311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2009.09.15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1.6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Donut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3808" y="3171756"/>
            <a:ext cx="6300192" cy="3281431"/>
          </a:xfrm>
        </p:spPr>
        <p:txBody>
          <a:bodyPr/>
          <a:lstStyle/>
          <a:p>
            <a:r>
              <a:rPr lang="en-US" sz="2400" dirty="0"/>
              <a:t>Available new Android Market</a:t>
            </a:r>
          </a:p>
          <a:p>
            <a:r>
              <a:rPr lang="en-US" sz="2400" dirty="0"/>
              <a:t>Available Voice Search &amp; Quick Search</a:t>
            </a:r>
          </a:p>
          <a:p>
            <a:r>
              <a:rPr lang="en-US" sz="2400" dirty="0"/>
              <a:t>Available User Accessibility</a:t>
            </a:r>
          </a:p>
          <a:p>
            <a:r>
              <a:rPr lang="en-US" sz="2400" dirty="0"/>
              <a:t>Available </a:t>
            </a:r>
            <a:r>
              <a:rPr lang="en-US" sz="2400" dirty="0" smtClean="0"/>
              <a:t>User Data Password</a:t>
            </a:r>
            <a:endParaRPr lang="en-US" sz="2400" dirty="0"/>
          </a:p>
          <a:p>
            <a:r>
              <a:rPr lang="en-US" sz="2400" dirty="0"/>
              <a:t>Support CDMA/EVDO, IEEE802.1x, VPN</a:t>
            </a:r>
          </a:p>
          <a:p>
            <a:r>
              <a:rPr lang="en-US" sz="2400" dirty="0"/>
              <a:t>Support Gesture, Text Speech Engine</a:t>
            </a:r>
          </a:p>
          <a:p>
            <a:r>
              <a:rPr lang="en-US" sz="2400" dirty="0"/>
              <a:t>Support WVGA</a:t>
            </a:r>
          </a:p>
          <a:p>
            <a:r>
              <a:rPr lang="en-US" sz="2400" dirty="0"/>
              <a:t>Linux: 2.6.29</a:t>
            </a:r>
          </a:p>
        </p:txBody>
      </p:sp>
    </p:spTree>
    <p:extLst>
      <p:ext uri="{BB962C8B-B14F-4D97-AF65-F5344CB8AC3E}">
        <p14:creationId xmlns:p14="http://schemas.microsoft.com/office/powerpoint/2010/main" val="47049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318" y="2205230"/>
            <a:ext cx="1162005" cy="92308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22195" y="1814275"/>
            <a:ext cx="5230599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2009.10.26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2.0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Eclair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3073340" y="2476727"/>
            <a:ext cx="2979983" cy="4565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164"/>
              </a:lnSpc>
            </a:pP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2009.12.03</a:t>
            </a:r>
            <a:r>
              <a:rPr lang="en-US" altLang="zh-CN" sz="274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2.0.1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3247098" y="2932841"/>
            <a:ext cx="2638543" cy="4565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164"/>
              </a:lnSpc>
            </a:pP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2009.01.02</a:t>
            </a:r>
            <a:r>
              <a:rPr lang="en-US" altLang="zh-CN" sz="27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2.1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2843808" y="3315921"/>
            <a:ext cx="5766792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kern="0" dirty="0"/>
              <a:t>Optimized </a:t>
            </a:r>
            <a:r>
              <a:rPr lang="en-US" sz="2400" kern="0" dirty="0" err="1"/>
              <a:t>Hardwares</a:t>
            </a:r>
            <a:endParaRPr lang="en-US" sz="2400" kern="0" dirty="0"/>
          </a:p>
          <a:p>
            <a:r>
              <a:rPr lang="en-US" sz="2400" kern="0" dirty="0"/>
              <a:t>Available Multi Touch</a:t>
            </a:r>
          </a:p>
          <a:p>
            <a:r>
              <a:rPr lang="en-US" sz="2400" kern="0" dirty="0"/>
              <a:t>Available Live Wallpaper</a:t>
            </a:r>
          </a:p>
          <a:p>
            <a:r>
              <a:rPr lang="en-US" sz="2400" kern="0" dirty="0"/>
              <a:t>Support any Screen size &amp; Resolution</a:t>
            </a:r>
          </a:p>
          <a:p>
            <a:r>
              <a:rPr lang="en-US" sz="2400" kern="0" dirty="0"/>
              <a:t>Support HTML5</a:t>
            </a:r>
          </a:p>
          <a:p>
            <a:r>
              <a:rPr lang="en-US" sz="2400" kern="0" dirty="0"/>
              <a:t>Support Camera's Flash &amp; Digital Zoom</a:t>
            </a:r>
          </a:p>
          <a:p>
            <a:r>
              <a:rPr lang="en-US" sz="2400" kern="0" dirty="0"/>
              <a:t>Support Bluetooth 2.1</a:t>
            </a:r>
          </a:p>
          <a:p>
            <a:r>
              <a:rPr lang="en-US" sz="2400" kern="0" dirty="0"/>
              <a:t>Linux: 2.6.29</a:t>
            </a:r>
          </a:p>
        </p:txBody>
      </p:sp>
    </p:spTree>
    <p:extLst>
      <p:ext uri="{BB962C8B-B14F-4D97-AF65-F5344CB8AC3E}">
        <p14:creationId xmlns:p14="http://schemas.microsoft.com/office/powerpoint/2010/main" val="354364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08304" y="1271282"/>
            <a:ext cx="1379202" cy="2725824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33924"/>
              </p:ext>
            </p:extLst>
          </p:nvPr>
        </p:nvGraphicFramePr>
        <p:xfrm>
          <a:off x="467544" y="1150520"/>
          <a:ext cx="6300129" cy="5020610"/>
        </p:xfrm>
        <a:graphic>
          <a:graphicData uri="http://schemas.openxmlformats.org/drawingml/2006/table">
            <a:tbl>
              <a:tblPr/>
              <a:tblGrid>
                <a:gridCol w="2512754"/>
                <a:gridCol w="3787375"/>
              </a:tblGrid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NexusOne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Google(HTC)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2010.01.05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Android2.1Eclair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39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3.7inchi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800x480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AMOLED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59.8x119.0x11.5mm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130g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Rear：5MPw/Flash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44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QualcommSnapdragon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QSD82501GHz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512M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512M＋SD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318327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12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739065" y="293895"/>
            <a:ext cx="2104743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One</a:t>
            </a:r>
          </a:p>
        </p:txBody>
      </p:sp>
    </p:spTree>
    <p:extLst>
      <p:ext uri="{BB962C8B-B14F-4D97-AF65-F5344CB8AC3E}">
        <p14:creationId xmlns:p14="http://schemas.microsoft.com/office/powerpoint/2010/main" val="69769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" y="159850"/>
            <a:ext cx="9104930" cy="6437502"/>
          </a:xfrm>
        </p:spPr>
      </p:pic>
    </p:spTree>
    <p:extLst>
      <p:ext uri="{BB962C8B-B14F-4D97-AF65-F5344CB8AC3E}">
        <p14:creationId xmlns:p14="http://schemas.microsoft.com/office/powerpoint/2010/main" val="83186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42332"/>
            <a:ext cx="1390062" cy="106426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00475" y="2270389"/>
            <a:ext cx="5280548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2010.05.20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2.2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Froyo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 bwMode="auto">
          <a:xfrm>
            <a:off x="2843808" y="3171756"/>
            <a:ext cx="6300192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kern="0" dirty="0"/>
              <a:t>Available JIT Compiler in </a:t>
            </a:r>
            <a:r>
              <a:rPr lang="en-US" sz="2400" kern="0" dirty="0" err="1"/>
              <a:t>Dalvik</a:t>
            </a:r>
            <a:r>
              <a:rPr lang="en-US" sz="2400" kern="0" dirty="0"/>
              <a:t> VM</a:t>
            </a:r>
          </a:p>
          <a:p>
            <a:r>
              <a:rPr lang="en-US" sz="2400" kern="0" dirty="0"/>
              <a:t>Available V8 JavaScript Engine</a:t>
            </a:r>
          </a:p>
          <a:p>
            <a:r>
              <a:rPr lang="en-US" sz="2400" kern="0" dirty="0"/>
              <a:t>Available Cloud API</a:t>
            </a:r>
          </a:p>
          <a:p>
            <a:r>
              <a:rPr lang="en-US" sz="2400" kern="0" dirty="0"/>
              <a:t>Support Hardware(GPS, </a:t>
            </a:r>
            <a:r>
              <a:rPr lang="en-US" sz="2400" kern="0" dirty="0" err="1"/>
              <a:t>Acerolameter</a:t>
            </a:r>
            <a:r>
              <a:rPr lang="en-US" sz="2400" kern="0" dirty="0"/>
              <a:t>, </a:t>
            </a:r>
            <a:r>
              <a:rPr lang="en-US" sz="2400" kern="0" dirty="0" err="1"/>
              <a:t>etc</a:t>
            </a:r>
            <a:r>
              <a:rPr lang="en-US" sz="2400" kern="0" dirty="0"/>
              <a:t>) in Browser</a:t>
            </a:r>
          </a:p>
          <a:p>
            <a:r>
              <a:rPr lang="en-US" sz="2400" kern="0" dirty="0"/>
              <a:t>Support Auto Update from Android Market</a:t>
            </a:r>
          </a:p>
          <a:p>
            <a:r>
              <a:rPr lang="en-US" sz="2400" kern="0" dirty="0"/>
              <a:t>Support Bug Report</a:t>
            </a:r>
          </a:p>
          <a:p>
            <a:r>
              <a:rPr lang="en-US" sz="2400" kern="0" dirty="0"/>
              <a:t>Linux: 2.6.32</a:t>
            </a:r>
          </a:p>
        </p:txBody>
      </p:sp>
    </p:spTree>
    <p:extLst>
      <p:ext uri="{BB962C8B-B14F-4D97-AF65-F5344CB8AC3E}">
        <p14:creationId xmlns:p14="http://schemas.microsoft.com/office/powerpoint/2010/main" val="306685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936" y="2129211"/>
            <a:ext cx="890508" cy="87964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085986" y="2009752"/>
            <a:ext cx="6921767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2010.12.06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2.3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Gingerbread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2888722" y="2672204"/>
            <a:ext cx="3348674" cy="50783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591"/>
              </a:lnSpc>
            </a:pPr>
            <a:r>
              <a:rPr lang="en-US" altLang="zh-CN" sz="3080" dirty="0">
                <a:latin typeface="メイリオ" pitchFamily="18" charset="0"/>
                <a:cs typeface="メイリオ" pitchFamily="18" charset="0"/>
              </a:rPr>
              <a:t>2011.02.09</a:t>
            </a:r>
            <a:r>
              <a:rPr lang="en-US" altLang="zh-CN" sz="30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80" dirty="0">
                <a:latin typeface="メイリオ" pitchFamily="18" charset="0"/>
                <a:cs typeface="メイリオ" pitchFamily="18" charset="0"/>
              </a:rPr>
              <a:t>2.3.3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2843808" y="3315921"/>
            <a:ext cx="6300192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kern="0" dirty="0"/>
              <a:t>Available G sensor, Atmospheric Pressure Sensor, Gyro Scope</a:t>
            </a:r>
          </a:p>
          <a:p>
            <a:r>
              <a:rPr lang="en-US" sz="2400" kern="0" dirty="0"/>
              <a:t>Support Parallel GC (Response Time &gt;3ms)</a:t>
            </a:r>
          </a:p>
          <a:p>
            <a:r>
              <a:rPr lang="en-US" sz="2400" kern="0" dirty="0"/>
              <a:t>Support NFC</a:t>
            </a:r>
          </a:p>
          <a:p>
            <a:r>
              <a:rPr lang="en-US" sz="2400" kern="0" dirty="0"/>
              <a:t>Support Multi Camera(Rear, Front)</a:t>
            </a:r>
          </a:p>
          <a:p>
            <a:r>
              <a:rPr lang="en-US" sz="2400" kern="0" dirty="0"/>
              <a:t>Support SIP</a:t>
            </a:r>
          </a:p>
          <a:p>
            <a:r>
              <a:rPr lang="en-US" sz="2400" kern="0" dirty="0"/>
              <a:t>Support OTG-USB(USB Host)</a:t>
            </a:r>
          </a:p>
          <a:p>
            <a:r>
              <a:rPr lang="en-US" sz="2400" kern="0" dirty="0"/>
              <a:t>Linux: 2.6.35</a:t>
            </a:r>
          </a:p>
        </p:txBody>
      </p:sp>
    </p:spTree>
    <p:extLst>
      <p:ext uri="{BB962C8B-B14F-4D97-AF65-F5344CB8AC3E}">
        <p14:creationId xmlns:p14="http://schemas.microsoft.com/office/powerpoint/2010/main" val="311410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96010" y="1140964"/>
            <a:ext cx="1824456" cy="3160219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353134"/>
              </p:ext>
            </p:extLst>
          </p:nvPr>
        </p:nvGraphicFramePr>
        <p:xfrm>
          <a:off x="467544" y="1080145"/>
          <a:ext cx="6300129" cy="5389412"/>
        </p:xfrm>
        <a:graphic>
          <a:graphicData uri="http://schemas.openxmlformats.org/drawingml/2006/table">
            <a:tbl>
              <a:tblPr/>
              <a:tblGrid>
                <a:gridCol w="2512754"/>
                <a:gridCol w="3787375"/>
              </a:tblGrid>
              <a:tr h="3519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NexusS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Google(Samsung)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2010.12.16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Android2.3Gingerbread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39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4.0inchi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800x480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SuperAMOLED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63.0x123.9x10.88mm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129g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37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Rear：5MPw/Flash</a:t>
                      </a:r>
                    </a:p>
                    <a:p>
                      <a:pPr algn="l"/>
                      <a:r>
                        <a:rPr lang="en-US" altLang="zh-CN" sz="2100" dirty="0" err="1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Front：VGA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670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SamsungHummingbird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1GHz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512M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16G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970242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16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966528" y="293895"/>
            <a:ext cx="1567737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2829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4" y="260648"/>
            <a:ext cx="9042155" cy="6393118"/>
          </a:xfrm>
        </p:spPr>
      </p:pic>
    </p:spTree>
    <p:extLst>
      <p:ext uri="{BB962C8B-B14F-4D97-AF65-F5344CB8AC3E}">
        <p14:creationId xmlns:p14="http://schemas.microsoft.com/office/powerpoint/2010/main" val="79257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2064052"/>
            <a:ext cx="1064266" cy="106426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40285" y="1814275"/>
            <a:ext cx="6810454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2011.02.22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3.0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Honeycomb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3247098" y="2498446"/>
            <a:ext cx="2638543" cy="918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164"/>
              </a:lnSpc>
            </a:pP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2011.05.10</a:t>
            </a:r>
            <a:r>
              <a:rPr lang="en-US" altLang="zh-CN" sz="274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3.1</a:t>
            </a:r>
          </a:p>
          <a:p>
            <a:pPr>
              <a:lnSpc>
                <a:spcPts val="3591"/>
              </a:lnSpc>
            </a:pP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2011.07.15</a:t>
            </a:r>
            <a:r>
              <a:rPr lang="en-US" altLang="zh-CN" sz="27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3.2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2843808" y="3459937"/>
            <a:ext cx="6300192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000" kern="0" dirty="0"/>
              <a:t>This Version is For Tablet (New </a:t>
            </a:r>
            <a:r>
              <a:rPr lang="en-US" sz="2000" kern="0" dirty="0" err="1"/>
              <a:t>UI&amp;Large</a:t>
            </a:r>
            <a:r>
              <a:rPr lang="en-US" sz="2000" kern="0" dirty="0"/>
              <a:t> Resolution)</a:t>
            </a:r>
          </a:p>
          <a:p>
            <a:r>
              <a:rPr lang="en-US" sz="2000" kern="0" dirty="0"/>
              <a:t>Available DRM Framework</a:t>
            </a:r>
          </a:p>
          <a:p>
            <a:r>
              <a:rPr lang="en-US" sz="2000" kern="0" dirty="0"/>
              <a:t>Available ADK(Open Accessory API)</a:t>
            </a:r>
          </a:p>
          <a:p>
            <a:r>
              <a:rPr lang="en-US" sz="2000" kern="0" dirty="0"/>
              <a:t>Support 2D Hardware Rendering</a:t>
            </a:r>
          </a:p>
          <a:p>
            <a:r>
              <a:rPr lang="en-US" sz="2000" kern="0" dirty="0"/>
              <a:t>Support Multi Core CPU(SMP</a:t>
            </a:r>
            <a:r>
              <a:rPr lang="en-US" sz="2000" kern="0" dirty="0" smtClean="0"/>
              <a:t>)</a:t>
            </a:r>
            <a:endParaRPr lang="en-US" sz="2000" kern="0" dirty="0"/>
          </a:p>
          <a:p>
            <a:r>
              <a:rPr lang="en-US" sz="2000" kern="0" dirty="0"/>
              <a:t>Support HID(Mouse, Game Pad, Joy Stick)</a:t>
            </a:r>
          </a:p>
          <a:p>
            <a:r>
              <a:rPr lang="en-US" sz="2000" kern="0" dirty="0"/>
              <a:t>Support Media Transfer Protocol, MTP</a:t>
            </a:r>
          </a:p>
          <a:p>
            <a:r>
              <a:rPr lang="en-US" sz="2000" kern="0" dirty="0"/>
              <a:t>Support Real-time Transport Protocol, RTP</a:t>
            </a:r>
          </a:p>
          <a:p>
            <a:r>
              <a:rPr lang="en-US" sz="2000" kern="0" dirty="0"/>
              <a:t>Linux: 2.6.36</a:t>
            </a:r>
          </a:p>
        </p:txBody>
      </p:sp>
    </p:spTree>
    <p:extLst>
      <p:ext uri="{BB962C8B-B14F-4D97-AF65-F5344CB8AC3E}">
        <p14:creationId xmlns:p14="http://schemas.microsoft.com/office/powerpoint/2010/main" val="42912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47608" y="1340768"/>
            <a:ext cx="2313150" cy="1585539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987302"/>
              </p:ext>
            </p:extLst>
          </p:nvPr>
        </p:nvGraphicFramePr>
        <p:xfrm>
          <a:off x="400403" y="1124744"/>
          <a:ext cx="6300129" cy="5020610"/>
        </p:xfrm>
        <a:graphic>
          <a:graphicData uri="http://schemas.openxmlformats.org/drawingml/2006/table">
            <a:tbl>
              <a:tblPr/>
              <a:tblGrid>
                <a:gridCol w="2512754"/>
                <a:gridCol w="3787375"/>
              </a:tblGrid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XOOM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MOTOROLA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2011.02.24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Android3.0Honeycomb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10.1inchi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1280x800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249.0x168.0x12.8mm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726g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Rear：5MP</a:t>
                      </a: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Front：2MP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45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NVDIATegra21GHz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DualCore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1GB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32GB＋SD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970242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19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966527" y="293895"/>
            <a:ext cx="1224694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XOOM</a:t>
            </a:r>
          </a:p>
        </p:txBody>
      </p:sp>
    </p:spTree>
    <p:extLst>
      <p:ext uri="{BB962C8B-B14F-4D97-AF65-F5344CB8AC3E}">
        <p14:creationId xmlns:p14="http://schemas.microsoft.com/office/powerpoint/2010/main" val="308861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11" y="2645824"/>
            <a:ext cx="999107" cy="74933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49777" y="2009752"/>
            <a:ext cx="8603317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2011.10.19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4.0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IceCreamSandwich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2888722" y="2672204"/>
            <a:ext cx="3348674" cy="50783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591"/>
              </a:lnSpc>
            </a:pPr>
            <a:r>
              <a:rPr lang="en-US" altLang="zh-CN" sz="3080" dirty="0">
                <a:latin typeface="メイリオ" pitchFamily="18" charset="0"/>
                <a:cs typeface="メイリオ" pitchFamily="18" charset="0"/>
              </a:rPr>
              <a:t>2011.12.16</a:t>
            </a:r>
            <a:r>
              <a:rPr lang="en-US" altLang="zh-CN" sz="30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80" dirty="0">
                <a:latin typeface="メイリオ" pitchFamily="18" charset="0"/>
                <a:cs typeface="メイリオ" pitchFamily="18" charset="0"/>
              </a:rPr>
              <a:t>4.0.3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2808312" y="3284984"/>
            <a:ext cx="6300192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kern="0" dirty="0"/>
              <a:t>Merge </a:t>
            </a:r>
            <a:r>
              <a:rPr lang="en-US" sz="2400" kern="0" dirty="0" err="1"/>
              <a:t>SmartPhone</a:t>
            </a:r>
            <a:r>
              <a:rPr lang="en-US" sz="2400" kern="0" dirty="0"/>
              <a:t> &amp; Tablet UI</a:t>
            </a:r>
          </a:p>
          <a:p>
            <a:r>
              <a:rPr lang="en-US" sz="2400" kern="0" dirty="0"/>
              <a:t>Available New Communication </a:t>
            </a:r>
            <a:r>
              <a:rPr lang="en-US" sz="2400" kern="0" dirty="0" err="1"/>
              <a:t>Func</a:t>
            </a:r>
            <a:endParaRPr lang="en-US" sz="2400" kern="0" dirty="0"/>
          </a:p>
          <a:p>
            <a:pPr lvl="1"/>
            <a:r>
              <a:rPr lang="en-US" sz="2000" kern="0" dirty="0"/>
              <a:t>Android Beam(P2P </a:t>
            </a:r>
            <a:r>
              <a:rPr lang="en-US" sz="2000" kern="0" dirty="0" smtClean="0"/>
              <a:t>NFC)</a:t>
            </a:r>
          </a:p>
          <a:p>
            <a:pPr lvl="1"/>
            <a:r>
              <a:rPr lang="en-US" sz="2000" kern="0" dirty="0" err="1" smtClean="0"/>
              <a:t>WiFi</a:t>
            </a:r>
            <a:r>
              <a:rPr lang="en-US" sz="2000" kern="0" dirty="0" smtClean="0"/>
              <a:t> Direct</a:t>
            </a:r>
          </a:p>
          <a:p>
            <a:pPr lvl="1"/>
            <a:r>
              <a:rPr lang="en-US" sz="2000" kern="0" dirty="0" smtClean="0"/>
              <a:t>Bluetooth </a:t>
            </a:r>
            <a:r>
              <a:rPr lang="en-US" sz="2000" kern="0" dirty="0"/>
              <a:t>Health Device Profile</a:t>
            </a:r>
          </a:p>
          <a:p>
            <a:r>
              <a:rPr lang="en-US" sz="2400" kern="0" dirty="0"/>
              <a:t>Available Recognized Face </a:t>
            </a:r>
            <a:r>
              <a:rPr lang="en-US" sz="2400" kern="0" dirty="0" err="1"/>
              <a:t>Func</a:t>
            </a:r>
            <a:r>
              <a:rPr lang="en-US" sz="2400" kern="0" dirty="0"/>
              <a:t> by </a:t>
            </a:r>
            <a:r>
              <a:rPr lang="en-US" sz="2400" kern="0" dirty="0" err="1"/>
              <a:t>OpenCV</a:t>
            </a:r>
            <a:endParaRPr lang="en-US" sz="2400" kern="0" dirty="0"/>
          </a:p>
          <a:p>
            <a:r>
              <a:rPr lang="en-US" sz="2400" kern="0" dirty="0"/>
              <a:t>Support Stylus Input</a:t>
            </a:r>
          </a:p>
          <a:p>
            <a:r>
              <a:rPr lang="en-US" sz="2400" kern="0" dirty="0"/>
              <a:t>Linux: 3.0</a:t>
            </a:r>
          </a:p>
        </p:txBody>
      </p:sp>
    </p:spTree>
    <p:extLst>
      <p:ext uri="{BB962C8B-B14F-4D97-AF65-F5344CB8AC3E}">
        <p14:creationId xmlns:p14="http://schemas.microsoft.com/office/powerpoint/2010/main" val="27208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7093" y="1260423"/>
            <a:ext cx="2247990" cy="2030793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535422"/>
              </p:ext>
            </p:extLst>
          </p:nvPr>
        </p:nvGraphicFramePr>
        <p:xfrm>
          <a:off x="539552" y="1150520"/>
          <a:ext cx="5880036" cy="5020610"/>
        </p:xfrm>
        <a:graphic>
          <a:graphicData uri="http://schemas.openxmlformats.org/drawingml/2006/table">
            <a:tbl>
              <a:tblPr/>
              <a:tblGrid>
                <a:gridCol w="2345203"/>
                <a:gridCol w="3534833"/>
              </a:tblGrid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GALAXYNEXUS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Google(Samsung)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2011.11.17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Android4.0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4.65inchi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1280x720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68x136x8.8-11.5mm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135g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Rear：5.1M</a:t>
                      </a: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Front：1.3M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45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TI OMAP44601.2GHz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DualCore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1GB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16G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970242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21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966528" y="293895"/>
            <a:ext cx="3068148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GALAXY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NEXUS</a:t>
            </a:r>
          </a:p>
        </p:txBody>
      </p:sp>
    </p:spTree>
    <p:extLst>
      <p:ext uri="{BB962C8B-B14F-4D97-AF65-F5344CB8AC3E}">
        <p14:creationId xmlns:p14="http://schemas.microsoft.com/office/powerpoint/2010/main" val="30320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08235"/>
            <a:ext cx="9036496" cy="6389117"/>
          </a:xfrm>
        </p:spPr>
      </p:pic>
    </p:spTree>
    <p:extLst>
      <p:ext uri="{BB962C8B-B14F-4D97-AF65-F5344CB8AC3E}">
        <p14:creationId xmlns:p14="http://schemas.microsoft.com/office/powerpoint/2010/main" val="220499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6512" y="2205230"/>
            <a:ext cx="912228" cy="91222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368342" y="1814275"/>
            <a:ext cx="6322244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2012.06.27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4.1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Jelly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Bean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3247098" y="2498446"/>
            <a:ext cx="2638543" cy="918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164"/>
              </a:lnSpc>
            </a:pP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2012.11.13</a:t>
            </a:r>
            <a:r>
              <a:rPr lang="en-US" altLang="zh-CN" sz="274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4.2</a:t>
            </a:r>
          </a:p>
          <a:p>
            <a:pPr>
              <a:lnSpc>
                <a:spcPts val="3591"/>
              </a:lnSpc>
            </a:pP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2013.07.24</a:t>
            </a:r>
            <a:r>
              <a:rPr lang="en-US" altLang="zh-CN" sz="27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4.3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5148064" y="3429000"/>
            <a:ext cx="3995936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4.3</a:t>
            </a:r>
          </a:p>
          <a:p>
            <a:pPr lvl="1"/>
            <a:r>
              <a:rPr lang="en-US" sz="2000" kern="0" dirty="0"/>
              <a:t>Support OpenGL/ES 3.0</a:t>
            </a:r>
          </a:p>
          <a:p>
            <a:pPr lvl="1"/>
            <a:r>
              <a:rPr lang="en-US" sz="2000" kern="0" dirty="0"/>
              <a:t>Support Bluetooth LE</a:t>
            </a:r>
          </a:p>
          <a:p>
            <a:pPr lvl="1"/>
            <a:r>
              <a:rPr lang="en-US" sz="2000" kern="0" dirty="0"/>
              <a:t>Support Wi-Fi Location</a:t>
            </a:r>
          </a:p>
          <a:p>
            <a:pPr lvl="1"/>
            <a:r>
              <a:rPr lang="en-US" sz="2000" kern="0" dirty="0"/>
              <a:t>Linux: 3.4.0</a:t>
            </a:r>
          </a:p>
          <a:p>
            <a:pPr lvl="1"/>
            <a:endParaRPr lang="en-US" kern="0" dirty="0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574084" y="3429000"/>
            <a:ext cx="5438076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4.1, 4.2</a:t>
            </a:r>
          </a:p>
          <a:p>
            <a:pPr lvl="1"/>
            <a:r>
              <a:rPr lang="en-US" sz="2000" kern="0" dirty="0"/>
              <a:t>Available USB Audio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smtClean="0"/>
              <a:t>i18n(Internationalization)</a:t>
            </a:r>
            <a:endParaRPr lang="en-US" sz="2000" kern="0" dirty="0"/>
          </a:p>
          <a:p>
            <a:pPr lvl="1"/>
            <a:r>
              <a:rPr lang="en-US" sz="2000" kern="0" dirty="0"/>
              <a:t>Support Vibration for Input Device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err="1"/>
              <a:t>Miracast</a:t>
            </a:r>
            <a:endParaRPr lang="en-US" sz="2000" kern="0" dirty="0"/>
          </a:p>
          <a:p>
            <a:pPr lvl="1"/>
            <a:r>
              <a:rPr lang="en-US" sz="2000" kern="0" dirty="0"/>
              <a:t>Support Writing Vertically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err="1"/>
              <a:t>RenderScript</a:t>
            </a:r>
            <a:endParaRPr lang="en-US" sz="2000" kern="0" dirty="0"/>
          </a:p>
          <a:p>
            <a:pPr lvl="1"/>
            <a:r>
              <a:rPr lang="en-US" sz="2000" kern="0" dirty="0" smtClean="0"/>
              <a:t>Change </a:t>
            </a:r>
            <a:r>
              <a:rPr lang="en-US" sz="2000" kern="0" dirty="0"/>
              <a:t>Android Market to Google Play</a:t>
            </a:r>
          </a:p>
          <a:p>
            <a:pPr lvl="1"/>
            <a:r>
              <a:rPr lang="en-US" sz="2000" kern="0" dirty="0"/>
              <a:t>Linux: 3.1.10</a:t>
            </a:r>
          </a:p>
        </p:txBody>
      </p:sp>
    </p:spTree>
    <p:extLst>
      <p:ext uri="{BB962C8B-B14F-4D97-AF65-F5344CB8AC3E}">
        <p14:creationId xmlns:p14="http://schemas.microsoft.com/office/powerpoint/2010/main" val="39003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91487" y="1151824"/>
            <a:ext cx="1476941" cy="2345729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9771"/>
              </p:ext>
            </p:extLst>
          </p:nvPr>
        </p:nvGraphicFramePr>
        <p:xfrm>
          <a:off x="539551" y="1150520"/>
          <a:ext cx="6408713" cy="5020610"/>
        </p:xfrm>
        <a:graphic>
          <a:graphicData uri="http://schemas.openxmlformats.org/drawingml/2006/table">
            <a:tbl>
              <a:tblPr/>
              <a:tblGrid>
                <a:gridCol w="2556061"/>
                <a:gridCol w="3852652"/>
              </a:tblGrid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Nexus7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Google(ASUS)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2012.07.13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Android4.1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7inchi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1280x800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120x198.5x10.45mm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340g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Front：1.2M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10165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NVIDIA Tegra3T3QL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1.2GHz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QuadCore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1GB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8G/16G/32G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970242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24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966528" y="293895"/>
            <a:ext cx="1562928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8366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6296" y="1260422"/>
            <a:ext cx="1303183" cy="2443468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1605"/>
              </p:ext>
            </p:extLst>
          </p:nvPr>
        </p:nvGraphicFramePr>
        <p:xfrm>
          <a:off x="539552" y="1150520"/>
          <a:ext cx="6480720" cy="5020610"/>
        </p:xfrm>
        <a:graphic>
          <a:graphicData uri="http://schemas.openxmlformats.org/drawingml/2006/table">
            <a:tbl>
              <a:tblPr/>
              <a:tblGrid>
                <a:gridCol w="2584780"/>
                <a:gridCol w="3895940"/>
              </a:tblGrid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Nexus4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Google(LG)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2012.11.13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Android4.2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4.7inchi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1280x768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59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68.7x133.9x9.1mm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139g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Rear：8M</a:t>
                      </a: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Front：1.3M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45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Qualcomm SnapdragonS4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1.5GHzQuadCore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2GB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8G/16G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970242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26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966528" y="293895"/>
            <a:ext cx="1562928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4808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7093" y="1184404"/>
            <a:ext cx="2486907" cy="1715857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085137"/>
              </p:ext>
            </p:extLst>
          </p:nvPr>
        </p:nvGraphicFramePr>
        <p:xfrm>
          <a:off x="467544" y="1150520"/>
          <a:ext cx="5952044" cy="5020610"/>
        </p:xfrm>
        <a:graphic>
          <a:graphicData uri="http://schemas.openxmlformats.org/drawingml/2006/table">
            <a:tbl>
              <a:tblPr/>
              <a:tblGrid>
                <a:gridCol w="2373923"/>
                <a:gridCol w="3578121"/>
              </a:tblGrid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Nexus10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Google(Samsung)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2012.11.13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Android4.2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10.055inchi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2560x1600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263.9x177.6x8.9mm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603g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Rear：5M</a:t>
                      </a: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Front：1.9M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45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Samsung Exynos5250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1.7GHzDualCore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2GB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16G/32G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970242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27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966528" y="293895"/>
            <a:ext cx="1814599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6089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4" y="231858"/>
            <a:ext cx="9003085" cy="6365494"/>
          </a:xfrm>
        </p:spPr>
      </p:pic>
    </p:spTree>
    <p:extLst>
      <p:ext uri="{BB962C8B-B14F-4D97-AF65-F5344CB8AC3E}">
        <p14:creationId xmlns:p14="http://schemas.microsoft.com/office/powerpoint/2010/main" val="149856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96010" y="1325582"/>
            <a:ext cx="1976494" cy="1726717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530866"/>
              </p:ext>
            </p:extLst>
          </p:nvPr>
        </p:nvGraphicFramePr>
        <p:xfrm>
          <a:off x="467544" y="1150520"/>
          <a:ext cx="6048672" cy="5340650"/>
        </p:xfrm>
        <a:graphic>
          <a:graphicData uri="http://schemas.openxmlformats.org/drawingml/2006/table">
            <a:tbl>
              <a:tblPr/>
              <a:tblGrid>
                <a:gridCol w="2412462"/>
                <a:gridCol w="3636210"/>
              </a:tblGrid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Nexus7(2013)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Google(ASUS)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2013.07.30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Android4.3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7inchi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1920x1200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114x200x8.65mm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290g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Rear：5M</a:t>
                      </a: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Front：1.2M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10165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Qualcomm SnapdragonS4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ProAPQ80641.5GHz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QuadCore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2GB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16G/32G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970242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31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966527" y="293895"/>
            <a:ext cx="3026470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7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(2013)</a:t>
            </a:r>
          </a:p>
        </p:txBody>
      </p:sp>
    </p:spTree>
    <p:extLst>
      <p:ext uri="{BB962C8B-B14F-4D97-AF65-F5344CB8AC3E}">
        <p14:creationId xmlns:p14="http://schemas.microsoft.com/office/powerpoint/2010/main" val="184972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0658" y="2074912"/>
            <a:ext cx="1064266" cy="106426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857036" y="2270389"/>
            <a:ext cx="5361917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2013.10.31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4.4</a:t>
            </a:r>
            <a:r>
              <a:rPr lang="en-US" altLang="zh-CN" sz="393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32" dirty="0">
                <a:latin typeface="メイリオ" pitchFamily="18" charset="0"/>
                <a:cs typeface="メイリオ" pitchFamily="18" charset="0"/>
              </a:rPr>
              <a:t>KitKat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 bwMode="auto">
          <a:xfrm>
            <a:off x="2843808" y="2996952"/>
            <a:ext cx="6120680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kern="0" dirty="0"/>
              <a:t>Available Printing Framework</a:t>
            </a:r>
          </a:p>
          <a:p>
            <a:r>
              <a:rPr lang="en-US" sz="2400" kern="0" dirty="0"/>
              <a:t>Support Poor Device(512MB DRAM)</a:t>
            </a:r>
          </a:p>
          <a:p>
            <a:r>
              <a:rPr lang="en-US" sz="2400" kern="0" dirty="0"/>
              <a:t>Support Host Card Emulation in NFC</a:t>
            </a:r>
          </a:p>
          <a:p>
            <a:r>
              <a:rPr lang="en-US" sz="2400" kern="0" dirty="0"/>
              <a:t>Support Batch Processing for Hardware Sensors</a:t>
            </a:r>
          </a:p>
          <a:p>
            <a:r>
              <a:rPr lang="en-US" sz="2400" kern="0" dirty="0"/>
              <a:t>Support Full Screen Mode</a:t>
            </a:r>
          </a:p>
          <a:p>
            <a:r>
              <a:rPr lang="en-US" sz="2400" kern="0" dirty="0"/>
              <a:t>Support C++ API for </a:t>
            </a:r>
            <a:r>
              <a:rPr lang="en-US" sz="2400" kern="0" dirty="0" err="1"/>
              <a:t>RenderScript</a:t>
            </a:r>
            <a:endParaRPr lang="en-US" sz="2400" kern="0" dirty="0"/>
          </a:p>
          <a:p>
            <a:r>
              <a:rPr lang="en-US" sz="2400" kern="0" dirty="0"/>
              <a:t>Change </a:t>
            </a:r>
            <a:r>
              <a:rPr lang="en-US" sz="2400" kern="0" dirty="0" err="1"/>
              <a:t>WebView</a:t>
            </a:r>
            <a:r>
              <a:rPr lang="en-US" sz="2400" kern="0" dirty="0"/>
              <a:t> to Chromium 30 base</a:t>
            </a:r>
          </a:p>
          <a:p>
            <a:r>
              <a:rPr lang="en-US" sz="2400" kern="0" dirty="0"/>
              <a:t>Linux: 3.4.0</a:t>
            </a:r>
          </a:p>
        </p:txBody>
      </p:sp>
    </p:spTree>
    <p:extLst>
      <p:ext uri="{BB962C8B-B14F-4D97-AF65-F5344CB8AC3E}">
        <p14:creationId xmlns:p14="http://schemas.microsoft.com/office/powerpoint/2010/main" val="300939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00085" y="1075805"/>
            <a:ext cx="1324903" cy="2584646"/>
          </a:xfrm>
          <a:prstGeom prst="rect">
            <a:avLst/>
          </a:prstGeom>
          <a:noFill/>
        </p:spPr>
      </p:pic>
      <p:graphicFrame>
        <p:nvGraphicFramePr>
          <p:cNvPr id="8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86702"/>
              </p:ext>
            </p:extLst>
          </p:nvPr>
        </p:nvGraphicFramePr>
        <p:xfrm>
          <a:off x="467544" y="1150520"/>
          <a:ext cx="6264696" cy="5020610"/>
        </p:xfrm>
        <a:graphic>
          <a:graphicData uri="http://schemas.openxmlformats.org/drawingml/2006/table">
            <a:tbl>
              <a:tblPr/>
              <a:tblGrid>
                <a:gridCol w="2498622"/>
                <a:gridCol w="3766074"/>
              </a:tblGrid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Name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mpd="sng">
                      <a:solidFill>
                        <a:srgbClr val="669900"/>
                      </a:solidFill>
                      <a:prstDash val="soli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mpd="sng">
                      <a:solidFill>
                        <a:srgbClr val="669900"/>
                      </a:solidFill>
                      <a:prstDash val="soli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Nexus5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mpd="sng">
                      <a:solidFill>
                        <a:srgbClr val="669900"/>
                      </a:solidFill>
                      <a:prstDash val="soli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Vendor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Google(LG)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Release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Date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2013.10.31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OS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Android4.4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12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Screen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4.95inchi</a:t>
                      </a:r>
                      <a:r>
                        <a:rPr lang="en-US" altLang="zh-CN" sz="2100" baseline="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 </a:t>
                      </a:r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1920x1080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Size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69.17x137.84x8.59mm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Weight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130g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Camera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Rear：8M</a:t>
                      </a: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Front：1.2M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7045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CPU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Qualcomm Snapdragon800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2.3GHzQuadCore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RAM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2GB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  <a:tr h="390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Storage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0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mpd="sng">
                      <a:solidFill>
                        <a:srgbClr val="669900"/>
                      </a:solidFill>
                      <a:prstDash val="solid"/>
                    </a:lnB>
                    <a:solidFill>
                      <a:srgbClr val="005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dirty="0" smtClean="0">
                          <a:solidFill>
                            <a:srgbClr val="FFFFFF"/>
                          </a:solidFill>
                          <a:latin typeface="メイリオ" pitchFamily="18" charset="0"/>
                          <a:cs typeface="メイリオ" pitchFamily="18" charset="0"/>
                        </a:rPr>
                        <a:t>16G/32G</a:t>
                      </a:r>
                      <a:endParaRPr lang="zh-CN" altLang="en-US" sz="2100" dirty="0" smtClean="0">
                        <a:solidFill>
                          <a:srgbClr val="FFFFFF"/>
                        </a:solidFill>
                        <a:latin typeface="メイリオ" pitchFamily="18" charset="0"/>
                        <a:cs typeface="メイリオ" pitchFamily="18" charset="0"/>
                      </a:endParaRPr>
                    </a:p>
                  </a:txBody>
                  <a:tcPr marL="78191" marR="78191" marT="39095" marB="39095">
                    <a:lnL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" cap="flat" cmpd="sng" algn="ctr">
                      <a:solidFill>
                        <a:srgbClr val="66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00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970242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solidFill>
                  <a:srgbClr val="FFFFFF"/>
                </a:solidFill>
                <a:latin typeface="メイリオ" pitchFamily="18" charset="0"/>
                <a:cs typeface="メイリオ" pitchFamily="18" charset="0"/>
              </a:rPr>
              <a:t>34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966528" y="293895"/>
            <a:ext cx="1562928" cy="5206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77"/>
              </a:lnSpc>
            </a:pP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3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160" dirty="0">
                <a:latin typeface="メイリオ" pitchFamily="18" charset="0"/>
                <a:cs typeface="メイリオ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8245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3" y="188640"/>
            <a:ext cx="9064211" cy="6408712"/>
          </a:xfrm>
        </p:spPr>
      </p:pic>
    </p:spTree>
    <p:extLst>
      <p:ext uri="{BB962C8B-B14F-4D97-AF65-F5344CB8AC3E}">
        <p14:creationId xmlns:p14="http://schemas.microsoft.com/office/powerpoint/2010/main" val="96718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77046" y="6473155"/>
            <a:ext cx="163506" cy="20005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97"/>
              </a:lnSpc>
            </a:pPr>
            <a:r>
              <a:rPr lang="en-US" altLang="zh-CN" sz="1026" dirty="0">
                <a:latin typeface="メイリオ" pitchFamily="18" charset="0"/>
                <a:cs typeface="メイリオ" pitchFamily="18" charset="0"/>
              </a:rPr>
              <a:t>36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613141" y="1314722"/>
            <a:ext cx="878446" cy="417550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68"/>
              </a:lnSpc>
            </a:pP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2003.10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2005.08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2007.11.05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2007.11.06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2008.02.13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2008.03.03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2008.08.13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2008.09.23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2008.10.21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2008.10.22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2009.02.09</a:t>
            </a: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2009.04.29</a:t>
            </a: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2009.04.30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2009.09.15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2009.10.26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2009.11.06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2009.12.03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2009.01.02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2010.01.05</a:t>
            </a:r>
          </a:p>
          <a:p>
            <a:pPr>
              <a:lnSpc>
                <a:spcPts val="1368"/>
              </a:lnSpc>
            </a:pPr>
            <a:r>
              <a:rPr lang="en-US" altLang="zh-CN" sz="1202" dirty="0" smtClean="0">
                <a:latin typeface="メイリオ" pitchFamily="18" charset="0"/>
                <a:cs typeface="メイリオ" pitchFamily="18" charset="0"/>
              </a:rPr>
              <a:t>2010.05.20</a:t>
            </a:r>
            <a:endParaRPr lang="en-US" altLang="zh-CN" sz="1202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2010.12.06</a:t>
            </a: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2010.12.16</a:t>
            </a:r>
          </a:p>
          <a:p>
            <a:pPr>
              <a:lnSpc>
                <a:spcPts val="1368"/>
              </a:lnSpc>
            </a:pP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1536230" y="1314722"/>
            <a:ext cx="1873205" cy="417550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68"/>
              </a:lnSpc>
            </a:pPr>
            <a:r>
              <a:rPr lang="en-US" altLang="zh-CN" sz="1202" dirty="0" smtClean="0">
                <a:latin typeface="メイリオ" pitchFamily="18" charset="0"/>
                <a:cs typeface="メイリオ" pitchFamily="18" charset="0"/>
              </a:rPr>
              <a:t>Startup Android </a:t>
            </a:r>
            <a:r>
              <a:rPr lang="en-US" altLang="zh-CN" sz="1202" dirty="0" err="1" smtClean="0">
                <a:latin typeface="メイリオ" pitchFamily="18" charset="0"/>
                <a:cs typeface="メイリオ" pitchFamily="18" charset="0"/>
              </a:rPr>
              <a:t>inc.</a:t>
            </a:r>
            <a:endParaRPr lang="en-US" altLang="zh-CN" sz="1202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Google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 acquired</a:t>
            </a: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Android Released</a:t>
            </a: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OHA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 </a:t>
            </a: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Organized</a:t>
            </a: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m5-rc14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m5-rc15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0.9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1.0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AOSP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OSS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T-Mobile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G1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1.1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HTC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Magic</a:t>
            </a: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1.5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Cupcake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1.6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Donut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2.0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Eclair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Motorola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Droid/Milestone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2.0.1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2.1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One</a:t>
            </a: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2.2</a:t>
            </a:r>
            <a:r>
              <a:rPr lang="en-US" altLang="zh-CN" sz="12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Froyo</a:t>
            </a: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2.3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Gingerbread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S</a:t>
            </a:r>
          </a:p>
          <a:p>
            <a:pPr>
              <a:lnSpc>
                <a:spcPts val="1368"/>
              </a:lnSpc>
            </a:pP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3632182" y="1314722"/>
            <a:ext cx="2688236" cy="363689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68"/>
              </a:lnSpc>
            </a:pP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2011.02.09</a:t>
            </a:r>
            <a:r>
              <a:rPr lang="en-US" altLang="zh-CN" sz="12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2.3.3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2011.02.22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3.0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Honeycomb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2011.05.10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3.1</a:t>
            </a:r>
            <a:endParaRPr lang="en-US" altLang="zh-CN" sz="1200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2011.07.15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3.2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2011.02.24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MOTOROLA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XOOM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2011.10.19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4.0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IceCreamSandwich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2011.12.16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4.0.3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2011.11.17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GALAXY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NEXUS</a:t>
            </a: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2012.06.27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4.1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Jelly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Bean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2012.06.27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Q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2012.07.13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7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2012.11.13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4.2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2012.11.13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4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2012.11.13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10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2013.03.13</a:t>
            </a:r>
            <a:r>
              <a:rPr lang="en-US" altLang="zh-CN" sz="102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26" dirty="0" err="1" smtClean="0">
                <a:latin typeface="メイリオ" pitchFamily="18" charset="0"/>
                <a:cs typeface="メイリオ" pitchFamily="18" charset="0"/>
              </a:rPr>
              <a:t>Sundar</a:t>
            </a:r>
            <a:r>
              <a:rPr lang="en-US" altLang="zh-CN" sz="102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26" dirty="0" err="1" smtClean="0">
                <a:latin typeface="メイリオ" pitchFamily="18" charset="0"/>
                <a:cs typeface="メイリオ" pitchFamily="18" charset="0"/>
              </a:rPr>
              <a:t>Pichai</a:t>
            </a:r>
            <a:r>
              <a:rPr lang="en-US" altLang="zh-CN" sz="1026" dirty="0" smtClean="0">
                <a:latin typeface="メイリオ" pitchFamily="18" charset="0"/>
                <a:cs typeface="メイリオ" pitchFamily="18" charset="0"/>
              </a:rPr>
              <a:t> CEO</a:t>
            </a:r>
            <a:endParaRPr lang="en-US" altLang="zh-CN" sz="1026" dirty="0">
              <a:latin typeface="メイリオ" pitchFamily="18" charset="0"/>
              <a:cs typeface="メイリオ" pitchFamily="18" charset="0"/>
            </a:endParaRP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2013.07.24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4.3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2013.07.26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7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(2013)</a:t>
            </a:r>
          </a:p>
          <a:p>
            <a:pPr>
              <a:lnSpc>
                <a:spcPts val="1368"/>
              </a:lnSpc>
            </a:pPr>
            <a:r>
              <a:rPr lang="en-US" altLang="zh-CN" sz="1200" dirty="0" smtClean="0">
                <a:latin typeface="メイリオ" pitchFamily="18" charset="0"/>
                <a:cs typeface="メイリオ" pitchFamily="18" charset="0"/>
              </a:rPr>
              <a:t>                †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KeyLimePie</a:t>
            </a:r>
          </a:p>
          <a:p>
            <a:pPr>
              <a:lnSpc>
                <a:spcPts val="1368"/>
              </a:lnSpc>
            </a:pP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2013.10.31</a:t>
            </a:r>
            <a:r>
              <a:rPr lang="en-US" altLang="zh-CN" sz="12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4.4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2013.11.01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Nexus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5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6651222" y="1260423"/>
            <a:ext cx="878446" cy="273921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68"/>
              </a:lnSpc>
            </a:pP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2007.06.29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2008.07.11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2009.06.19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2010.04.03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2010.06.24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2011.03.11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2011.10.14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2012.03.16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2012.09.21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2012.11.02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2012.11.02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2013.09.20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2013.09.20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2013.10.22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2013.11.12</a:t>
            </a:r>
          </a:p>
        </p:txBody>
      </p:sp>
      <p:sp>
        <p:nvSpPr>
          <p:cNvPr id="14" name="TextBox 1"/>
          <p:cNvSpPr txBox="1"/>
          <p:nvPr/>
        </p:nvSpPr>
        <p:spPr>
          <a:xfrm>
            <a:off x="7574310" y="1260423"/>
            <a:ext cx="1176412" cy="273921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68"/>
              </a:lnSpc>
            </a:pPr>
            <a:r>
              <a:rPr lang="en-US" altLang="zh-CN" sz="1202" dirty="0">
                <a:latin typeface="メイリオ" pitchFamily="18" charset="0"/>
                <a:cs typeface="メイリオ" pitchFamily="18" charset="0"/>
              </a:rPr>
              <a:t>iPhone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iPhone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3G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iPhone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3GS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iPad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iPhone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4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iPad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2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iPhone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4S→4s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iPad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(3rd)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iPhone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5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iPad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(4th)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iPad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mini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iPhone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5s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iPhone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5c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iPad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Air</a:t>
            </a:r>
          </a:p>
          <a:p>
            <a:pPr>
              <a:lnSpc>
                <a:spcPts val="1368"/>
              </a:lnSpc>
            </a:pP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iPad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mini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メイリオ" pitchFamily="18" charset="0"/>
                <a:cs typeface="メイリオ" pitchFamily="18" charset="0"/>
              </a:rPr>
              <a:t>Retina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16024" y="-27384"/>
            <a:ext cx="7772400" cy="90805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Appendix -Date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99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World Share of </a:t>
            </a:r>
            <a:r>
              <a:rPr lang="en-US" dirty="0" err="1" smtClean="0"/>
              <a:t>SmartPhone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395536" y="1125535"/>
          <a:ext cx="8748468" cy="5413249"/>
        </p:xfrm>
        <a:graphic>
          <a:graphicData uri="http://schemas.openxmlformats.org/drawingml/2006/table">
            <a:tbl>
              <a:tblPr/>
              <a:tblGrid>
                <a:gridCol w="972052"/>
                <a:gridCol w="1116185"/>
                <a:gridCol w="936104"/>
                <a:gridCol w="936104"/>
                <a:gridCol w="936104"/>
                <a:gridCol w="1008112"/>
                <a:gridCol w="899703"/>
                <a:gridCol w="972052"/>
                <a:gridCol w="972052"/>
              </a:tblGrid>
              <a:tr h="184622">
                <a:tc>
                  <a:txBody>
                    <a:bodyPr/>
                    <a:lstStyle/>
                    <a:p>
                      <a:pPr algn="ctr"/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Total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Android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iOS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Symbian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RIM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Bada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Microsoft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Others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2009Q2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40,971,800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1.8%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13.0%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51.0%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19.0%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9.3%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5.8%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2009Q3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41,093,300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3.5%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17.1%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44.6%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20.7%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7.9%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6.2%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2009Q4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effectLst/>
                        </a:rPr>
                        <a:t>N/A</a:t>
                      </a:r>
                      <a:endParaRPr 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effectLst/>
                        </a:rPr>
                        <a:t>N/A</a:t>
                      </a:r>
                      <a:endParaRPr 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effectLst/>
                        </a:rPr>
                        <a:t>N/A</a:t>
                      </a:r>
                      <a:endParaRPr 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effectLst/>
                        </a:rPr>
                        <a:t>N/A</a:t>
                      </a:r>
                      <a:endParaRPr 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effectLst/>
                        </a:rPr>
                        <a:t>N/A</a:t>
                      </a:r>
                      <a:endParaRPr 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effectLst/>
                        </a:rPr>
                        <a:t>N/A</a:t>
                      </a:r>
                      <a:endParaRPr 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effectLst/>
                        </a:rPr>
                        <a:t>N/A</a:t>
                      </a:r>
                      <a:endParaRPr 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2010Q1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54,505,500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9.6%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15.3%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44.2%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19.7%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6.8%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4.4%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2010Q2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62,058,100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17.2%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14.1%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40.9%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18.7%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0.9%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4.9%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3.2%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2010Q3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81,132,600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25.3%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16.6%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36.3%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15.4%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1.1%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2.5%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2010Q4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101,150,300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30.5%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15.8%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32.3%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14.6%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3.4%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1.5%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2011Q1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99,775,000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36.4%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16.9%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27.7%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13.0%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2.6%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1.5%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2011Q2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107,740,400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43.4%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18.2%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22.1%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11.7%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2011Q3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115,185,400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52.5%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15.0%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16.9%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11.0%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2.2%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1.5%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0.9%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2011Q4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149,041,800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50.9%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23.8%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11.7%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8.8%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2.1%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0.8%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2012Q1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144,391,700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56.1%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22.9%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8.6%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6.9%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0.9%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2012Q2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153,686,100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64.1%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18.8%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5.2%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0.6%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2012Q3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169,178,600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72.4%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13.9%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2.6%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5.3%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2.4%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0.4%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286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b="1" dirty="0" smtClean="0">
                          <a:effectLst/>
                        </a:rPr>
                        <a:t>2012Q4</a:t>
                      </a:r>
                      <a:endParaRPr lang="ja-JP" altLang="en-US" sz="1600" b="1" dirty="0">
                        <a:effectLst/>
                      </a:endParaRP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207,662,400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69.7%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20.9%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1.2%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3.5%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1.3%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3.0%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0.3%</a:t>
                      </a:r>
                    </a:p>
                  </a:txBody>
                  <a:tcPr marL="26375" marR="26375" marT="13187" marB="1318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0140" y="6488668"/>
            <a:ext cx="528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Source: Gartner (</a:t>
            </a:r>
            <a:r>
              <a:rPr lang="en-US" sz="1800" dirty="0">
                <a:hlinkClick r:id="rId3"/>
              </a:rPr>
              <a:t>http://www.gartner.com/</a:t>
            </a:r>
            <a:r>
              <a:rPr lang="en-US" sz="1800" dirty="0" smtClean="0"/>
              <a:t>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30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Usage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043608" y="935514"/>
          <a:ext cx="7565405" cy="5414585"/>
        </p:xfrm>
        <a:graphic>
          <a:graphicData uri="http://schemas.openxmlformats.org/drawingml/2006/table">
            <a:tbl>
              <a:tblPr/>
              <a:tblGrid>
                <a:gridCol w="1513081"/>
                <a:gridCol w="1513081"/>
                <a:gridCol w="1513081"/>
                <a:gridCol w="1513081"/>
                <a:gridCol w="1513081"/>
              </a:tblGrid>
              <a:tr h="3070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Version</a:t>
                      </a:r>
                    </a:p>
                  </a:txBody>
                  <a:tcPr marL="69190" marR="151354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Code name</a:t>
                      </a:r>
                    </a:p>
                  </a:txBody>
                  <a:tcPr marL="69190" marR="151354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Release date</a:t>
                      </a:r>
                    </a:p>
                  </a:txBody>
                  <a:tcPr marL="69190" marR="151354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strike="noStrike">
                          <a:solidFill>
                            <a:srgbClr val="0B0080"/>
                          </a:solidFill>
                          <a:effectLst/>
                          <a:hlinkClick r:id="rId2" tooltip="Application programming interface"/>
                        </a:rPr>
                        <a:t>API</a:t>
                      </a:r>
                      <a:r>
                        <a:rPr lang="en-US" sz="1400">
                          <a:effectLst/>
                        </a:rPr>
                        <a:t> level</a:t>
                      </a:r>
                    </a:p>
                  </a:txBody>
                  <a:tcPr marL="69190" marR="151354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Distribution</a:t>
                      </a:r>
                    </a:p>
                  </a:txBody>
                  <a:tcPr marL="69190" marR="151354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2123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dirty="0">
                          <a:solidFill>
                            <a:srgbClr val="0B0080"/>
                          </a:solidFill>
                          <a:effectLst/>
                          <a:hlinkClick r:id="rId3" tooltip="KitKat (operating system)"/>
                        </a:rPr>
                        <a:t>4.4</a:t>
                      </a:r>
                      <a:endParaRPr lang="en-US" sz="1400" dirty="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3" tooltip="KitKat (operating system)"/>
                        </a:rPr>
                        <a:t>KitKat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October 31, 2013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19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07051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4" tooltip="Jelly Bean (operating system)"/>
                        </a:rPr>
                        <a:t>4.3.x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4" tooltip="Jelly Bean (operating system)"/>
                        </a:rPr>
                        <a:t>Jelly Bean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July 24, 2013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18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2.3%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38912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4" tooltip="Jelly Bean (operating system)"/>
                        </a:rPr>
                        <a:t>4.2.x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4" tooltip="Jelly Bean (operating system)"/>
                        </a:rPr>
                        <a:t>Jelly Bean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November 13, 2012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17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12.5%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07051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4" tooltip="Jelly Bean (operating system)"/>
                        </a:rPr>
                        <a:t>4.1.x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4" tooltip="Jelly Bean (operating system)"/>
                        </a:rPr>
                        <a:t>Jelly Bean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July 9, 2012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16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37.3%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38912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5" tooltip="Ice Cream Sandwich (operating system)"/>
                        </a:rPr>
                        <a:t>4.0.3–4.0.4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5" tooltip="Ice Cream Sandwich (operating system)"/>
                        </a:rPr>
                        <a:t>Ice Cream Sandwich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December 16, 2011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15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19.8%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07051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6" tooltip="Honeycomb (operating system)"/>
                        </a:rPr>
                        <a:t>3.2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6" tooltip="Honeycomb (operating system)"/>
                        </a:rPr>
                        <a:t>Honeycomb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July 15, 2011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13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0.1%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07051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6" tooltip="Honeycomb (operating system)"/>
                        </a:rPr>
                        <a:t>3.1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6" tooltip="Honeycomb (operating system)"/>
                        </a:rPr>
                        <a:t>Honeycomb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May 10, 2011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12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12123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7" tooltip="Android 2.3"/>
                        </a:rPr>
                        <a:t>2.3.3–2.3.7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7" tooltip="Android 2.3"/>
                        </a:rPr>
                        <a:t>Gingerbread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February 9, 2011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26.3%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12123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7" tooltip="Android 2.3"/>
                        </a:rPr>
                        <a:t>2.3–2.3.2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7" tooltip="Android 2.3"/>
                        </a:rPr>
                        <a:t>Gingerbread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December 6, 2010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07051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8" tooltip="Android Froyo"/>
                        </a:rPr>
                        <a:t>2.2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8" tooltip="Android Froyo"/>
                        </a:rPr>
                        <a:t>Froyo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May 20, 2010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1.7%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12123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9" tooltip="Android version history"/>
                        </a:rPr>
                        <a:t>2.0–2.1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10" tooltip="Éclair (operating system)"/>
                        </a:rPr>
                        <a:t>Eclair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October 26, 2009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38912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11" tooltip="Donut (operating system)"/>
                        </a:rPr>
                        <a:t>1.6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11" tooltip="Donut (operating system)"/>
                        </a:rPr>
                        <a:t>Donut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September 15, 2009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07051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>
                          <a:solidFill>
                            <a:srgbClr val="0B0080"/>
                          </a:solidFill>
                          <a:effectLst/>
                          <a:hlinkClick r:id="rId12" tooltip="Cupcake (operating system)"/>
                        </a:rPr>
                        <a:t>1.5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none" strike="noStrike">
                          <a:solidFill>
                            <a:srgbClr val="0B0080"/>
                          </a:solidFill>
                          <a:effectLst/>
                          <a:hlinkClick r:id="rId12" tooltip="Cupcake (operating system)"/>
                        </a:rPr>
                        <a:t>Cupcake</a:t>
                      </a:r>
                      <a:endParaRPr lang="en-US" sz="1400">
                        <a:effectLst/>
                      </a:endParaRP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April 30, 2009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0%</a:t>
                      </a:r>
                    </a:p>
                  </a:txBody>
                  <a:tcPr marL="69190" marR="69190" marT="34595" marB="3459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7203" y="6309320"/>
            <a:ext cx="8415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November 1, 2013</a:t>
            </a:r>
          </a:p>
          <a:p>
            <a:r>
              <a:rPr lang="en-US" sz="1800" dirty="0" smtClean="0">
                <a:hlinkClick r:id="rId13"/>
              </a:rPr>
              <a:t>http</a:t>
            </a:r>
            <a:r>
              <a:rPr lang="en-US" sz="1800" dirty="0">
                <a:hlinkClick r:id="rId13"/>
              </a:rPr>
              <a:t>://developer.android.com/about/dashboards/index.html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4784"/>
            <a:ext cx="8496944" cy="4248472"/>
          </a:xfrm>
          <a:prstGeom prst="rect">
            <a:avLst/>
          </a:prstGeom>
          <a:solidFill>
            <a:srgbClr val="005800"/>
          </a:solidFill>
        </p:spPr>
      </p:pic>
    </p:spTree>
    <p:extLst>
      <p:ext uri="{BB962C8B-B14F-4D97-AF65-F5344CB8AC3E}">
        <p14:creationId xmlns:p14="http://schemas.microsoft.com/office/powerpoint/2010/main" val="381626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pPr algn="ctr"/>
            <a:r>
              <a:rPr lang="en-US" altLang="ja-JP" sz="4800" dirty="0" smtClean="0"/>
              <a:t>Structure of Android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42047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 Framework has 3 Layer Stack for </a:t>
            </a:r>
            <a:r>
              <a:rPr lang="en-US" dirty="0" err="1"/>
              <a:t>SmartPhone</a:t>
            </a:r>
            <a:r>
              <a:rPr lang="en-US" dirty="0"/>
              <a:t> &amp; Tablet PC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Application Framework Layer (Java)</a:t>
            </a:r>
          </a:p>
          <a:p>
            <a:pPr lvl="1"/>
            <a:r>
              <a:rPr lang="en-US" altLang="ja-JP" dirty="0" smtClean="0"/>
              <a:t>Library Layer (Linux C/C++)</a:t>
            </a:r>
          </a:p>
          <a:p>
            <a:pPr lvl="1"/>
            <a:r>
              <a:rPr lang="en-US" dirty="0" smtClean="0"/>
              <a:t>Kernel/Driver Layer (Linux Kernel C/ASM)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-34255"/>
            <a:ext cx="952500" cy="1114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2267744" y="3410186"/>
            <a:ext cx="5032898" cy="347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0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Framework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APIs</a:t>
            </a:r>
          </a:p>
          <a:p>
            <a:pPr lvl="1"/>
            <a:r>
              <a:rPr lang="en-US" dirty="0"/>
              <a:t>App Components</a:t>
            </a:r>
          </a:p>
          <a:p>
            <a:pPr lvl="1"/>
            <a:r>
              <a:rPr lang="en-US" dirty="0"/>
              <a:t>User Interface</a:t>
            </a:r>
          </a:p>
          <a:p>
            <a:pPr lvl="1"/>
            <a:r>
              <a:rPr lang="en-US" dirty="0"/>
              <a:t>App Resources</a:t>
            </a:r>
          </a:p>
          <a:p>
            <a:pPr lvl="1"/>
            <a:r>
              <a:rPr lang="en-US" dirty="0"/>
              <a:t>Animation and Graphics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Media and Camera</a:t>
            </a:r>
          </a:p>
          <a:p>
            <a:pPr lvl="1"/>
            <a:r>
              <a:rPr lang="en-US" dirty="0"/>
              <a:t>Location and Sensors</a:t>
            </a:r>
          </a:p>
          <a:p>
            <a:pPr lvl="1"/>
            <a:r>
              <a:rPr lang="en-US" dirty="0"/>
              <a:t>Connectivity</a:t>
            </a:r>
          </a:p>
          <a:p>
            <a:pPr lvl="1"/>
            <a:r>
              <a:rPr lang="en-US" dirty="0"/>
              <a:t>Text and Input</a:t>
            </a:r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dirty="0"/>
              <a:t>Data Storage</a:t>
            </a:r>
          </a:p>
          <a:p>
            <a:pPr lvl="1"/>
            <a:r>
              <a:rPr lang="en-US" dirty="0"/>
              <a:t>Administration</a:t>
            </a:r>
          </a:p>
          <a:p>
            <a:pPr lvl="1"/>
            <a:r>
              <a:rPr lang="en-US" dirty="0"/>
              <a:t>Web Apps</a:t>
            </a:r>
          </a:p>
          <a:p>
            <a:pPr lvl="1"/>
            <a:r>
              <a:rPr lang="en-US" dirty="0"/>
              <a:t>Best Practices</a:t>
            </a:r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6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Framework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3" y="888744"/>
            <a:ext cx="5904657" cy="761413"/>
          </a:xfrm>
        </p:spPr>
        <p:txBody>
          <a:bodyPr/>
          <a:lstStyle/>
          <a:p>
            <a:r>
              <a:rPr lang="en-US" dirty="0" smtClean="0"/>
              <a:t>Packages by Android Framework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6613" y="1340768"/>
            <a:ext cx="24482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android.accessibilityservice</a:t>
            </a:r>
            <a:endParaRPr lang="en-US" sz="1100" dirty="0"/>
          </a:p>
          <a:p>
            <a:r>
              <a:rPr lang="en-US" sz="1100" dirty="0" err="1"/>
              <a:t>android.accounts</a:t>
            </a:r>
            <a:endParaRPr lang="en-US" sz="1100" dirty="0"/>
          </a:p>
          <a:p>
            <a:r>
              <a:rPr lang="en-US" sz="1100" dirty="0" err="1"/>
              <a:t>android.animation</a:t>
            </a:r>
            <a:endParaRPr lang="en-US" sz="1100" dirty="0"/>
          </a:p>
          <a:p>
            <a:r>
              <a:rPr lang="en-US" sz="1100" dirty="0" err="1"/>
              <a:t>android.app</a:t>
            </a:r>
            <a:endParaRPr lang="en-US" sz="1100" dirty="0"/>
          </a:p>
          <a:p>
            <a:r>
              <a:rPr lang="en-US" sz="1100" dirty="0" err="1"/>
              <a:t>android.app.admin</a:t>
            </a:r>
            <a:endParaRPr lang="en-US" sz="1100" dirty="0"/>
          </a:p>
          <a:p>
            <a:r>
              <a:rPr lang="en-US" sz="1100" dirty="0" err="1"/>
              <a:t>android.app.backup</a:t>
            </a:r>
            <a:endParaRPr lang="en-US" sz="1100" dirty="0"/>
          </a:p>
          <a:p>
            <a:r>
              <a:rPr lang="en-US" sz="1100" dirty="0" err="1"/>
              <a:t>android.appwidget</a:t>
            </a:r>
            <a:endParaRPr lang="en-US" sz="1100" dirty="0"/>
          </a:p>
          <a:p>
            <a:r>
              <a:rPr lang="en-US" sz="1100" dirty="0" err="1"/>
              <a:t>android.bluetooth</a:t>
            </a:r>
            <a:endParaRPr lang="en-US" sz="1100" dirty="0"/>
          </a:p>
          <a:p>
            <a:r>
              <a:rPr lang="en-US" sz="1100" dirty="0" err="1"/>
              <a:t>android.content</a:t>
            </a:r>
            <a:endParaRPr lang="en-US" sz="1100" dirty="0"/>
          </a:p>
          <a:p>
            <a:r>
              <a:rPr lang="en-US" sz="1100" dirty="0"/>
              <a:t>android.content.pm</a:t>
            </a:r>
          </a:p>
          <a:p>
            <a:r>
              <a:rPr lang="en-US" sz="1100" dirty="0"/>
              <a:t>android.content.res</a:t>
            </a:r>
          </a:p>
          <a:p>
            <a:r>
              <a:rPr lang="en-US" sz="1100" dirty="0" err="1"/>
              <a:t>android.database</a:t>
            </a:r>
            <a:endParaRPr lang="en-US" sz="1100" dirty="0"/>
          </a:p>
          <a:p>
            <a:r>
              <a:rPr lang="en-US" sz="1100" dirty="0" err="1"/>
              <a:t>android.database.sqlite</a:t>
            </a:r>
            <a:endParaRPr lang="en-US" sz="1100" dirty="0"/>
          </a:p>
          <a:p>
            <a:r>
              <a:rPr lang="en-US" sz="1100" dirty="0" err="1"/>
              <a:t>android.drm</a:t>
            </a:r>
            <a:endParaRPr lang="en-US" sz="1100" dirty="0"/>
          </a:p>
          <a:p>
            <a:r>
              <a:rPr lang="en-US" sz="1100" dirty="0" err="1"/>
              <a:t>android.gesture</a:t>
            </a:r>
            <a:endParaRPr lang="en-US" sz="1100" dirty="0"/>
          </a:p>
          <a:p>
            <a:r>
              <a:rPr lang="en-US" sz="1100" dirty="0" err="1"/>
              <a:t>android.graphics</a:t>
            </a:r>
            <a:endParaRPr lang="en-US" sz="1100" dirty="0"/>
          </a:p>
          <a:p>
            <a:r>
              <a:rPr lang="en-US" sz="1100" dirty="0" err="1"/>
              <a:t>android.graphics.drawable</a:t>
            </a:r>
            <a:endParaRPr lang="en-US" sz="1100" dirty="0"/>
          </a:p>
          <a:p>
            <a:r>
              <a:rPr lang="en-US" sz="1100" dirty="0" err="1"/>
              <a:t>android.graphics.drawable.shapes</a:t>
            </a:r>
            <a:endParaRPr lang="en-US" sz="1100" dirty="0"/>
          </a:p>
          <a:p>
            <a:r>
              <a:rPr lang="en-US" sz="1100" dirty="0"/>
              <a:t>android.graphics.pdf</a:t>
            </a:r>
          </a:p>
          <a:p>
            <a:r>
              <a:rPr lang="en-US" sz="1100" dirty="0" err="1"/>
              <a:t>android.hardware</a:t>
            </a:r>
            <a:endParaRPr lang="en-US" sz="1100" dirty="0"/>
          </a:p>
          <a:p>
            <a:r>
              <a:rPr lang="en-US" sz="1100" dirty="0" err="1"/>
              <a:t>android.hardware.display</a:t>
            </a:r>
            <a:endParaRPr lang="en-US" sz="1100" dirty="0"/>
          </a:p>
          <a:p>
            <a:r>
              <a:rPr lang="en-US" sz="1100" dirty="0" err="1"/>
              <a:t>android.hardware.input</a:t>
            </a:r>
            <a:endParaRPr lang="en-US" sz="1100" dirty="0"/>
          </a:p>
          <a:p>
            <a:r>
              <a:rPr lang="en-US" sz="1100" dirty="0" err="1"/>
              <a:t>android.hardware.location</a:t>
            </a:r>
            <a:endParaRPr lang="en-US" sz="1100" dirty="0"/>
          </a:p>
          <a:p>
            <a:r>
              <a:rPr lang="en-US" sz="1100" dirty="0" err="1"/>
              <a:t>android.hardware.usb</a:t>
            </a:r>
            <a:endParaRPr lang="en-US" sz="1100" dirty="0"/>
          </a:p>
          <a:p>
            <a:r>
              <a:rPr lang="en-US" sz="1100" dirty="0" err="1"/>
              <a:t>android.inputmethodservice</a:t>
            </a:r>
            <a:endParaRPr lang="en-US" sz="1100" dirty="0"/>
          </a:p>
          <a:p>
            <a:r>
              <a:rPr lang="en-US" sz="1100" dirty="0" err="1" smtClean="0"/>
              <a:t>android.location</a:t>
            </a:r>
            <a:endParaRPr lang="en-US" sz="1100" dirty="0" smtClean="0"/>
          </a:p>
          <a:p>
            <a:r>
              <a:rPr lang="en-US" sz="1100" dirty="0" err="1"/>
              <a:t>android.media</a:t>
            </a:r>
            <a:endParaRPr lang="en-US" sz="1100" dirty="0"/>
          </a:p>
          <a:p>
            <a:r>
              <a:rPr lang="en-US" sz="1100" dirty="0" err="1"/>
              <a:t>android.media.audiofx</a:t>
            </a:r>
            <a:endParaRPr lang="en-US" sz="1100" dirty="0"/>
          </a:p>
          <a:p>
            <a:r>
              <a:rPr lang="en-US" sz="1100" dirty="0" err="1"/>
              <a:t>android.media.effect</a:t>
            </a:r>
            <a:endParaRPr lang="en-US" sz="1100" dirty="0"/>
          </a:p>
          <a:p>
            <a:r>
              <a:rPr lang="en-US" sz="1100" dirty="0" err="1"/>
              <a:t>android.mtp</a:t>
            </a:r>
            <a:endParaRPr lang="en-US" sz="1100" dirty="0"/>
          </a:p>
          <a:p>
            <a:r>
              <a:rPr lang="en-US" sz="1100" dirty="0" smtClean="0"/>
              <a:t>android.net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340768"/>
            <a:ext cx="244827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android.net</a:t>
            </a:r>
          </a:p>
          <a:p>
            <a:r>
              <a:rPr lang="en-US" sz="1100" dirty="0" err="1"/>
              <a:t>android.net.http</a:t>
            </a:r>
            <a:endParaRPr lang="en-US" sz="1100" dirty="0"/>
          </a:p>
          <a:p>
            <a:r>
              <a:rPr lang="en-US" sz="1100" dirty="0" err="1"/>
              <a:t>android.net.nsd</a:t>
            </a:r>
            <a:endParaRPr lang="en-US" sz="1100" dirty="0"/>
          </a:p>
          <a:p>
            <a:r>
              <a:rPr lang="en-US" sz="1100" dirty="0" err="1"/>
              <a:t>android.net.rtp</a:t>
            </a:r>
            <a:endParaRPr lang="en-US" sz="1100" dirty="0"/>
          </a:p>
          <a:p>
            <a:r>
              <a:rPr lang="en-US" sz="1100" dirty="0" err="1"/>
              <a:t>android.net.sip</a:t>
            </a:r>
            <a:endParaRPr lang="en-US" sz="1100" dirty="0"/>
          </a:p>
          <a:p>
            <a:r>
              <a:rPr lang="en-US" sz="1100" dirty="0" err="1"/>
              <a:t>android.net.wifi</a:t>
            </a:r>
            <a:endParaRPr lang="en-US" sz="1100" dirty="0"/>
          </a:p>
          <a:p>
            <a:r>
              <a:rPr lang="en-US" sz="1100" dirty="0"/>
              <a:t>android.net.wifi.p2p</a:t>
            </a:r>
          </a:p>
          <a:p>
            <a:r>
              <a:rPr lang="en-US" sz="1100" dirty="0"/>
              <a:t>android.net.wifi.p2p.nsd</a:t>
            </a:r>
          </a:p>
          <a:p>
            <a:r>
              <a:rPr lang="en-US" sz="1100" dirty="0" err="1"/>
              <a:t>android.nfc</a:t>
            </a:r>
            <a:endParaRPr lang="en-US" sz="1100" dirty="0"/>
          </a:p>
          <a:p>
            <a:r>
              <a:rPr lang="en-US" sz="1100" dirty="0" err="1"/>
              <a:t>android.nfc.cardemulation</a:t>
            </a:r>
            <a:endParaRPr lang="en-US" sz="1100" dirty="0"/>
          </a:p>
          <a:p>
            <a:r>
              <a:rPr lang="en-US" sz="1100" dirty="0" err="1"/>
              <a:t>android.nfc.tech</a:t>
            </a:r>
            <a:endParaRPr lang="en-US" sz="1100" dirty="0"/>
          </a:p>
          <a:p>
            <a:r>
              <a:rPr lang="en-US" sz="1100" dirty="0" err="1"/>
              <a:t>android.opengl</a:t>
            </a:r>
            <a:endParaRPr lang="en-US" sz="1100" dirty="0"/>
          </a:p>
          <a:p>
            <a:r>
              <a:rPr lang="en-US" sz="1100" dirty="0" err="1"/>
              <a:t>android.os</a:t>
            </a:r>
            <a:endParaRPr lang="en-US" sz="1100" dirty="0"/>
          </a:p>
          <a:p>
            <a:r>
              <a:rPr lang="en-US" sz="1100" dirty="0" err="1"/>
              <a:t>android.os.storage</a:t>
            </a:r>
            <a:endParaRPr lang="en-US" sz="1100" dirty="0"/>
          </a:p>
          <a:p>
            <a:r>
              <a:rPr lang="en-US" sz="1100" dirty="0" err="1"/>
              <a:t>android.preference</a:t>
            </a:r>
            <a:endParaRPr lang="en-US" sz="1100" dirty="0"/>
          </a:p>
          <a:p>
            <a:r>
              <a:rPr lang="en-US" sz="1100" dirty="0" err="1"/>
              <a:t>android.print</a:t>
            </a:r>
            <a:endParaRPr lang="en-US" sz="1100" dirty="0"/>
          </a:p>
          <a:p>
            <a:r>
              <a:rPr lang="en-US" sz="1100" dirty="0"/>
              <a:t>android.print.pdf</a:t>
            </a:r>
          </a:p>
          <a:p>
            <a:r>
              <a:rPr lang="en-US" sz="1100" dirty="0" err="1"/>
              <a:t>android.printservice</a:t>
            </a:r>
            <a:endParaRPr lang="en-US" sz="1100" dirty="0"/>
          </a:p>
          <a:p>
            <a:r>
              <a:rPr lang="en-US" sz="1100" dirty="0" err="1"/>
              <a:t>android.provider</a:t>
            </a:r>
            <a:endParaRPr lang="en-US" sz="1100" dirty="0"/>
          </a:p>
          <a:p>
            <a:r>
              <a:rPr lang="en-US" sz="1100" dirty="0" err="1"/>
              <a:t>android.renderscript</a:t>
            </a:r>
            <a:endParaRPr lang="en-US" sz="1100" dirty="0"/>
          </a:p>
          <a:p>
            <a:r>
              <a:rPr lang="en-US" sz="1100" dirty="0" err="1"/>
              <a:t>android.sax</a:t>
            </a:r>
            <a:endParaRPr lang="en-US" sz="1100" dirty="0"/>
          </a:p>
          <a:p>
            <a:r>
              <a:rPr lang="en-US" sz="1100" dirty="0" err="1"/>
              <a:t>android.security</a:t>
            </a:r>
            <a:endParaRPr lang="en-US" sz="1100" dirty="0"/>
          </a:p>
          <a:p>
            <a:r>
              <a:rPr lang="en-US" sz="1100" dirty="0" err="1"/>
              <a:t>android.service.dreams</a:t>
            </a:r>
            <a:endParaRPr lang="en-US" sz="1100" dirty="0"/>
          </a:p>
          <a:p>
            <a:r>
              <a:rPr lang="en-US" sz="1100" dirty="0" err="1"/>
              <a:t>android.service.notification</a:t>
            </a:r>
            <a:endParaRPr lang="en-US" sz="1100" dirty="0"/>
          </a:p>
          <a:p>
            <a:r>
              <a:rPr lang="en-US" sz="1100" dirty="0" err="1"/>
              <a:t>android.service.textservice</a:t>
            </a:r>
            <a:endParaRPr lang="en-US" sz="1100" dirty="0"/>
          </a:p>
          <a:p>
            <a:r>
              <a:rPr lang="en-US" sz="1100" dirty="0" err="1"/>
              <a:t>android.service.wallpaper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4853235" y="1269450"/>
            <a:ext cx="2599085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android.speech</a:t>
            </a:r>
            <a:endParaRPr lang="en-US" sz="1100" dirty="0"/>
          </a:p>
          <a:p>
            <a:r>
              <a:rPr lang="en-US" sz="1100" dirty="0" err="1"/>
              <a:t>android.speech.tts</a:t>
            </a:r>
            <a:endParaRPr lang="en-US" sz="1100" dirty="0"/>
          </a:p>
          <a:p>
            <a:r>
              <a:rPr lang="en-US" sz="1100" dirty="0"/>
              <a:t>android.support.v13.app</a:t>
            </a:r>
          </a:p>
          <a:p>
            <a:r>
              <a:rPr lang="en-US" sz="1100" dirty="0"/>
              <a:t>android.support.v4.accessibilityservice</a:t>
            </a:r>
          </a:p>
          <a:p>
            <a:r>
              <a:rPr lang="en-US" sz="1100" dirty="0"/>
              <a:t>android.support.v4.app</a:t>
            </a:r>
          </a:p>
          <a:p>
            <a:r>
              <a:rPr lang="en-US" sz="1100" dirty="0"/>
              <a:t>android.support.v4.content</a:t>
            </a:r>
          </a:p>
          <a:p>
            <a:r>
              <a:rPr lang="en-US" sz="1100" dirty="0"/>
              <a:t>android.support.v4.content.pm</a:t>
            </a:r>
          </a:p>
          <a:p>
            <a:r>
              <a:rPr lang="en-US" sz="1100" dirty="0"/>
              <a:t>android.support.v4.database</a:t>
            </a:r>
          </a:p>
          <a:p>
            <a:r>
              <a:rPr lang="en-US" sz="1100" dirty="0"/>
              <a:t>android.support.v4.graphics.drawable</a:t>
            </a:r>
          </a:p>
          <a:p>
            <a:r>
              <a:rPr lang="en-US" sz="1100" dirty="0"/>
              <a:t>android.support.v4.hardware.display</a:t>
            </a:r>
          </a:p>
          <a:p>
            <a:r>
              <a:rPr lang="en-US" sz="1100" dirty="0"/>
              <a:t>android.support.v4.media</a:t>
            </a:r>
          </a:p>
          <a:p>
            <a:r>
              <a:rPr lang="en-US" sz="1100" dirty="0"/>
              <a:t>android.support.v4.net</a:t>
            </a:r>
          </a:p>
          <a:p>
            <a:r>
              <a:rPr lang="en-US" sz="1100" dirty="0"/>
              <a:t>android.support.v4.os</a:t>
            </a:r>
          </a:p>
          <a:p>
            <a:r>
              <a:rPr lang="en-US" sz="1100" dirty="0"/>
              <a:t>android.support.v4.print</a:t>
            </a:r>
          </a:p>
          <a:p>
            <a:r>
              <a:rPr lang="en-US" sz="1100" dirty="0"/>
              <a:t>android.support.v4.text</a:t>
            </a:r>
          </a:p>
          <a:p>
            <a:r>
              <a:rPr lang="en-US" sz="1100" dirty="0"/>
              <a:t>android.support.v4.util</a:t>
            </a:r>
          </a:p>
          <a:p>
            <a:r>
              <a:rPr lang="en-US" sz="1100" dirty="0"/>
              <a:t>android.support.v4.view</a:t>
            </a:r>
          </a:p>
          <a:p>
            <a:r>
              <a:rPr lang="en-US" sz="1100" dirty="0"/>
              <a:t>android.support.v4.view.accessibility</a:t>
            </a:r>
          </a:p>
          <a:p>
            <a:r>
              <a:rPr lang="en-US" sz="1100" dirty="0"/>
              <a:t>android.support.v4.widget</a:t>
            </a:r>
          </a:p>
          <a:p>
            <a:r>
              <a:rPr lang="en-US" sz="1100" dirty="0"/>
              <a:t>android.support.v7.app</a:t>
            </a:r>
          </a:p>
          <a:p>
            <a:r>
              <a:rPr lang="en-US" sz="1100" dirty="0"/>
              <a:t>android.support.v7.appcompat</a:t>
            </a:r>
          </a:p>
          <a:p>
            <a:r>
              <a:rPr lang="en-US" sz="1100" dirty="0"/>
              <a:t>android.support.v7.gridlayout</a:t>
            </a:r>
          </a:p>
          <a:p>
            <a:r>
              <a:rPr lang="en-US" sz="1100" dirty="0"/>
              <a:t>android.support.v7.media</a:t>
            </a:r>
          </a:p>
          <a:p>
            <a:r>
              <a:rPr lang="en-US" sz="1100" dirty="0"/>
              <a:t>android.support.v7.mediarouter</a:t>
            </a:r>
          </a:p>
          <a:p>
            <a:r>
              <a:rPr lang="en-US" sz="1100" dirty="0"/>
              <a:t>android.support.v7.view</a:t>
            </a:r>
          </a:p>
          <a:p>
            <a:r>
              <a:rPr lang="en-US" sz="1100" dirty="0"/>
              <a:t>android.support.v7.widget</a:t>
            </a:r>
          </a:p>
          <a:p>
            <a:r>
              <a:rPr lang="en-US" sz="1100" dirty="0"/>
              <a:t>android.support.v8.renderscript</a:t>
            </a:r>
          </a:p>
          <a:p>
            <a:r>
              <a:rPr lang="en-US" sz="1100" dirty="0" err="1"/>
              <a:t>android.telephony</a:t>
            </a:r>
            <a:endParaRPr lang="en-US" sz="1100" dirty="0"/>
          </a:p>
          <a:p>
            <a:r>
              <a:rPr lang="en-US" sz="1100" dirty="0" err="1"/>
              <a:t>android.telephony.cdma</a:t>
            </a:r>
            <a:endParaRPr lang="en-US" sz="1100" dirty="0"/>
          </a:p>
          <a:p>
            <a:r>
              <a:rPr lang="en-US" sz="1100" dirty="0" err="1"/>
              <a:t>android.telephony.gsm</a:t>
            </a:r>
            <a:endParaRPr lang="en-US" sz="1100" dirty="0"/>
          </a:p>
          <a:p>
            <a:r>
              <a:rPr lang="en-US" sz="1100" dirty="0" err="1"/>
              <a:t>android.test</a:t>
            </a:r>
            <a:endParaRPr lang="en-US" sz="1100" dirty="0"/>
          </a:p>
          <a:p>
            <a:r>
              <a:rPr lang="en-US" sz="1100" dirty="0" err="1"/>
              <a:t>android.test.mock</a:t>
            </a:r>
            <a:endParaRPr lang="en-US" sz="1100" dirty="0"/>
          </a:p>
          <a:p>
            <a:r>
              <a:rPr lang="en-US" sz="1100" dirty="0" err="1" smtClean="0"/>
              <a:t>android.test.suitebuilder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7380312" y="1297791"/>
            <a:ext cx="1872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android.text</a:t>
            </a:r>
            <a:endParaRPr lang="en-US" sz="1100" dirty="0"/>
          </a:p>
          <a:p>
            <a:r>
              <a:rPr lang="en-US" sz="1100" dirty="0" err="1"/>
              <a:t>android.text.format</a:t>
            </a:r>
            <a:endParaRPr lang="en-US" sz="1100" dirty="0"/>
          </a:p>
          <a:p>
            <a:r>
              <a:rPr lang="en-US" sz="1100" dirty="0" err="1"/>
              <a:t>android.text.method</a:t>
            </a:r>
            <a:endParaRPr lang="en-US" sz="1100" dirty="0"/>
          </a:p>
          <a:p>
            <a:r>
              <a:rPr lang="en-US" sz="1100" dirty="0" err="1"/>
              <a:t>android.text.style</a:t>
            </a:r>
            <a:endParaRPr lang="en-US" sz="1100" dirty="0"/>
          </a:p>
          <a:p>
            <a:r>
              <a:rPr lang="en-US" sz="1100" dirty="0" err="1"/>
              <a:t>android.text.util</a:t>
            </a:r>
            <a:endParaRPr lang="en-US" sz="1100" dirty="0"/>
          </a:p>
          <a:p>
            <a:r>
              <a:rPr lang="en-US" sz="1100" dirty="0" err="1"/>
              <a:t>android.transition</a:t>
            </a:r>
            <a:endParaRPr lang="en-US" sz="1100" dirty="0"/>
          </a:p>
          <a:p>
            <a:r>
              <a:rPr lang="en-US" sz="1100" dirty="0" err="1"/>
              <a:t>android.util</a:t>
            </a:r>
            <a:endParaRPr lang="en-US" sz="1100" dirty="0"/>
          </a:p>
          <a:p>
            <a:r>
              <a:rPr lang="en-US" sz="1100" dirty="0" err="1"/>
              <a:t>android.view</a:t>
            </a:r>
            <a:endParaRPr lang="en-US" sz="1100" dirty="0"/>
          </a:p>
          <a:p>
            <a:r>
              <a:rPr lang="en-US" sz="1100" dirty="0" err="1"/>
              <a:t>android.view.accessibility</a:t>
            </a:r>
            <a:endParaRPr lang="en-US" sz="1100" dirty="0"/>
          </a:p>
          <a:p>
            <a:r>
              <a:rPr lang="en-US" sz="1100" dirty="0" err="1"/>
              <a:t>android.view.animation</a:t>
            </a:r>
            <a:endParaRPr lang="en-US" sz="1100" dirty="0"/>
          </a:p>
          <a:p>
            <a:r>
              <a:rPr lang="en-US" sz="1100" dirty="0" err="1"/>
              <a:t>android.view.inputmethod</a:t>
            </a:r>
            <a:endParaRPr lang="en-US" sz="1100" dirty="0"/>
          </a:p>
          <a:p>
            <a:r>
              <a:rPr lang="en-US" sz="1100" dirty="0" err="1"/>
              <a:t>android.view.textservice</a:t>
            </a:r>
            <a:endParaRPr lang="en-US" sz="1100" dirty="0"/>
          </a:p>
          <a:p>
            <a:r>
              <a:rPr lang="en-US" sz="1100" dirty="0" err="1"/>
              <a:t>android.webkit</a:t>
            </a:r>
            <a:endParaRPr lang="en-US" sz="1100" dirty="0"/>
          </a:p>
          <a:p>
            <a:r>
              <a:rPr lang="en-US" sz="1100" dirty="0" err="1"/>
              <a:t>android.widget</a:t>
            </a:r>
            <a:endParaRPr lang="en-US" sz="1100" dirty="0"/>
          </a:p>
          <a:p>
            <a:r>
              <a:rPr lang="en-US" sz="1100" dirty="0" err="1"/>
              <a:t>dalvik.bytecode</a:t>
            </a:r>
            <a:endParaRPr lang="en-US" sz="1100" dirty="0"/>
          </a:p>
          <a:p>
            <a:r>
              <a:rPr lang="en-US" sz="1100" dirty="0" err="1" smtClean="0"/>
              <a:t>dalvik.system</a:t>
            </a:r>
            <a:endParaRPr lang="en-US" sz="1100" dirty="0" smtClean="0"/>
          </a:p>
          <a:p>
            <a:endParaRPr lang="en-US" sz="1100" dirty="0" smtClean="0"/>
          </a:p>
          <a:p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1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Framework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268760"/>
            <a:ext cx="2599085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java.awt.font</a:t>
            </a:r>
            <a:endParaRPr lang="en-US" sz="1100" dirty="0"/>
          </a:p>
          <a:p>
            <a:r>
              <a:rPr lang="en-US" sz="1100" dirty="0" err="1"/>
              <a:t>java.beans</a:t>
            </a:r>
            <a:endParaRPr lang="en-US" sz="1100" dirty="0"/>
          </a:p>
          <a:p>
            <a:r>
              <a:rPr lang="en-US" sz="1100" dirty="0"/>
              <a:t>java.io</a:t>
            </a:r>
          </a:p>
          <a:p>
            <a:r>
              <a:rPr lang="en-US" sz="1100" dirty="0" err="1"/>
              <a:t>java.lang</a:t>
            </a:r>
            <a:endParaRPr lang="en-US" sz="1100" dirty="0"/>
          </a:p>
          <a:p>
            <a:r>
              <a:rPr lang="en-US" sz="1100" dirty="0" err="1"/>
              <a:t>java.lang.annotation</a:t>
            </a:r>
            <a:endParaRPr lang="en-US" sz="1100" dirty="0"/>
          </a:p>
          <a:p>
            <a:r>
              <a:rPr lang="en-US" sz="1100" dirty="0" err="1"/>
              <a:t>java.lang.ref</a:t>
            </a:r>
            <a:endParaRPr lang="en-US" sz="1100" dirty="0"/>
          </a:p>
          <a:p>
            <a:r>
              <a:rPr lang="en-US" sz="1100" dirty="0" err="1"/>
              <a:t>java.lang.reflect</a:t>
            </a:r>
            <a:endParaRPr lang="en-US" sz="1100" dirty="0"/>
          </a:p>
          <a:p>
            <a:r>
              <a:rPr lang="en-US" sz="1100" dirty="0" err="1"/>
              <a:t>java.math</a:t>
            </a:r>
            <a:endParaRPr lang="en-US" sz="1100" dirty="0"/>
          </a:p>
          <a:p>
            <a:r>
              <a:rPr lang="en-US" sz="1100" dirty="0"/>
              <a:t>java.net</a:t>
            </a:r>
          </a:p>
          <a:p>
            <a:r>
              <a:rPr lang="en-US" sz="1100" dirty="0" err="1"/>
              <a:t>java.nio</a:t>
            </a:r>
            <a:endParaRPr lang="en-US" sz="1100" dirty="0"/>
          </a:p>
          <a:p>
            <a:r>
              <a:rPr lang="en-US" sz="1100" dirty="0" err="1"/>
              <a:t>java.nio.channels</a:t>
            </a:r>
            <a:endParaRPr lang="en-US" sz="1100" dirty="0"/>
          </a:p>
          <a:p>
            <a:r>
              <a:rPr lang="en-US" sz="1100" dirty="0" err="1"/>
              <a:t>java.nio.channels.spi</a:t>
            </a:r>
            <a:endParaRPr lang="en-US" sz="1100" dirty="0"/>
          </a:p>
          <a:p>
            <a:r>
              <a:rPr lang="en-US" sz="1100" dirty="0" err="1"/>
              <a:t>java.nio.charset</a:t>
            </a:r>
            <a:endParaRPr lang="en-US" sz="1100" dirty="0"/>
          </a:p>
          <a:p>
            <a:r>
              <a:rPr lang="en-US" sz="1100" dirty="0" err="1"/>
              <a:t>java.nio.charset.spi</a:t>
            </a:r>
            <a:endParaRPr lang="en-US" sz="1100" dirty="0"/>
          </a:p>
          <a:p>
            <a:r>
              <a:rPr lang="en-US" sz="1100" dirty="0" err="1"/>
              <a:t>java.security</a:t>
            </a:r>
            <a:endParaRPr lang="en-US" sz="1100" dirty="0"/>
          </a:p>
          <a:p>
            <a:r>
              <a:rPr lang="en-US" sz="1100" dirty="0" err="1"/>
              <a:t>java.security.acl</a:t>
            </a:r>
            <a:endParaRPr lang="en-US" sz="1100" dirty="0"/>
          </a:p>
          <a:p>
            <a:r>
              <a:rPr lang="en-US" sz="1100" dirty="0" err="1"/>
              <a:t>java.security.cert</a:t>
            </a:r>
            <a:endParaRPr lang="en-US" sz="1100" dirty="0"/>
          </a:p>
          <a:p>
            <a:r>
              <a:rPr lang="en-US" sz="1100" dirty="0" err="1"/>
              <a:t>java.security.interfaces</a:t>
            </a:r>
            <a:endParaRPr lang="en-US" sz="1100" dirty="0"/>
          </a:p>
          <a:p>
            <a:r>
              <a:rPr lang="en-US" sz="1100" dirty="0" err="1"/>
              <a:t>java.security.spec</a:t>
            </a:r>
            <a:endParaRPr lang="en-US" sz="1100" dirty="0"/>
          </a:p>
          <a:p>
            <a:r>
              <a:rPr lang="en-US" sz="1100" dirty="0" err="1"/>
              <a:t>java.sql</a:t>
            </a:r>
            <a:endParaRPr lang="en-US" sz="1100" dirty="0"/>
          </a:p>
          <a:p>
            <a:r>
              <a:rPr lang="en-US" sz="1100" dirty="0" err="1"/>
              <a:t>java.text</a:t>
            </a:r>
            <a:endParaRPr lang="en-US" sz="1100" dirty="0"/>
          </a:p>
          <a:p>
            <a:r>
              <a:rPr lang="en-US" sz="1100" dirty="0" err="1"/>
              <a:t>java.util</a:t>
            </a:r>
            <a:endParaRPr lang="en-US" sz="1100" dirty="0"/>
          </a:p>
          <a:p>
            <a:r>
              <a:rPr lang="en-US" sz="1100" dirty="0" err="1"/>
              <a:t>java.util.concurrent</a:t>
            </a:r>
            <a:endParaRPr lang="en-US" sz="1100" dirty="0"/>
          </a:p>
          <a:p>
            <a:r>
              <a:rPr lang="en-US" sz="1100" dirty="0" err="1"/>
              <a:t>java.util.concurrent.atomic</a:t>
            </a:r>
            <a:endParaRPr lang="en-US" sz="1100" dirty="0"/>
          </a:p>
          <a:p>
            <a:r>
              <a:rPr lang="en-US" sz="1100" dirty="0" err="1"/>
              <a:t>java.util.concurrent.locks</a:t>
            </a:r>
            <a:endParaRPr lang="en-US" sz="1100" dirty="0"/>
          </a:p>
          <a:p>
            <a:r>
              <a:rPr lang="en-US" sz="1100" dirty="0"/>
              <a:t>java.util.jar</a:t>
            </a:r>
          </a:p>
          <a:p>
            <a:r>
              <a:rPr lang="en-US" sz="1100" dirty="0" err="1"/>
              <a:t>java.util.logging</a:t>
            </a:r>
            <a:endParaRPr lang="en-US" sz="1100" dirty="0"/>
          </a:p>
          <a:p>
            <a:r>
              <a:rPr lang="en-US" sz="1100" dirty="0" err="1"/>
              <a:t>java.util.prefs</a:t>
            </a:r>
            <a:endParaRPr lang="en-US" sz="1100" dirty="0"/>
          </a:p>
          <a:p>
            <a:r>
              <a:rPr lang="en-US" sz="1100" dirty="0" err="1"/>
              <a:t>java.util.regex</a:t>
            </a:r>
            <a:endParaRPr lang="en-US" sz="1100" dirty="0"/>
          </a:p>
          <a:p>
            <a:r>
              <a:rPr lang="en-US" sz="1100" dirty="0"/>
              <a:t>java.util.zip</a:t>
            </a:r>
          </a:p>
          <a:p>
            <a:r>
              <a:rPr lang="en-US" sz="1100" dirty="0" err="1"/>
              <a:t>javax.crypto</a:t>
            </a:r>
            <a:endParaRPr lang="en-US" sz="1100" dirty="0"/>
          </a:p>
          <a:p>
            <a:r>
              <a:rPr lang="en-US" sz="1100" dirty="0" err="1"/>
              <a:t>javax.crypto.interfaces</a:t>
            </a:r>
            <a:endParaRPr lang="en-US" sz="1100" dirty="0"/>
          </a:p>
          <a:p>
            <a:r>
              <a:rPr lang="en-US" sz="1100" dirty="0" err="1"/>
              <a:t>javax.crypto.spec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3595589" y="1268760"/>
            <a:ext cx="244827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javax.microedition.khronos.egl</a:t>
            </a:r>
            <a:endParaRPr lang="en-US" sz="1100" dirty="0" smtClean="0"/>
          </a:p>
          <a:p>
            <a:r>
              <a:rPr lang="en-US" sz="1100" dirty="0" err="1" smtClean="0"/>
              <a:t>javax.microedition.khronos.opengles</a:t>
            </a:r>
            <a:endParaRPr lang="en-US" sz="1100" dirty="0" smtClean="0"/>
          </a:p>
          <a:p>
            <a:r>
              <a:rPr lang="en-US" sz="1100" dirty="0" smtClean="0"/>
              <a:t>javax.net</a:t>
            </a:r>
            <a:endParaRPr lang="en-US" sz="1100" dirty="0"/>
          </a:p>
          <a:p>
            <a:r>
              <a:rPr lang="en-US" sz="1100" dirty="0" err="1"/>
              <a:t>javax.net.ssl</a:t>
            </a:r>
            <a:endParaRPr lang="en-US" sz="1100" dirty="0"/>
          </a:p>
          <a:p>
            <a:r>
              <a:rPr lang="en-US" sz="1100" dirty="0" err="1"/>
              <a:t>javax.security.auth</a:t>
            </a:r>
            <a:endParaRPr lang="en-US" sz="1100" dirty="0"/>
          </a:p>
          <a:p>
            <a:r>
              <a:rPr lang="en-US" sz="1100" dirty="0" err="1"/>
              <a:t>javax.security.auth.callback</a:t>
            </a:r>
            <a:endParaRPr lang="en-US" sz="1100" dirty="0"/>
          </a:p>
          <a:p>
            <a:r>
              <a:rPr lang="en-US" sz="1100" dirty="0" err="1"/>
              <a:t>javax.security.auth.login</a:t>
            </a:r>
            <a:endParaRPr lang="en-US" sz="1100" dirty="0"/>
          </a:p>
          <a:p>
            <a:r>
              <a:rPr lang="en-US" sz="1100" dirty="0"/>
              <a:t>javax.security.auth.x500</a:t>
            </a:r>
          </a:p>
          <a:p>
            <a:r>
              <a:rPr lang="en-US" sz="1100" dirty="0" err="1"/>
              <a:t>javax.security.cert</a:t>
            </a:r>
            <a:endParaRPr lang="en-US" sz="1100" dirty="0"/>
          </a:p>
          <a:p>
            <a:r>
              <a:rPr lang="en-US" sz="1100" dirty="0" err="1"/>
              <a:t>javax.sql</a:t>
            </a:r>
            <a:endParaRPr lang="en-US" sz="1100" dirty="0"/>
          </a:p>
          <a:p>
            <a:r>
              <a:rPr lang="en-US" sz="1100" dirty="0"/>
              <a:t>javax.xml</a:t>
            </a:r>
          </a:p>
          <a:p>
            <a:r>
              <a:rPr lang="en-US" sz="1100" dirty="0" err="1"/>
              <a:t>javax.xml.datatype</a:t>
            </a:r>
            <a:endParaRPr lang="en-US" sz="1100" dirty="0"/>
          </a:p>
          <a:p>
            <a:r>
              <a:rPr lang="en-US" sz="1100" dirty="0" err="1"/>
              <a:t>javax.xml.namespace</a:t>
            </a:r>
            <a:endParaRPr lang="en-US" sz="1100" dirty="0"/>
          </a:p>
          <a:p>
            <a:r>
              <a:rPr lang="en-US" sz="1100" dirty="0" err="1"/>
              <a:t>javax.xml.parsers</a:t>
            </a:r>
            <a:endParaRPr lang="en-US" sz="1100" dirty="0"/>
          </a:p>
          <a:p>
            <a:r>
              <a:rPr lang="en-US" sz="1100" dirty="0" err="1"/>
              <a:t>javax.xml.transform</a:t>
            </a:r>
            <a:endParaRPr lang="en-US" sz="1100" dirty="0"/>
          </a:p>
          <a:p>
            <a:r>
              <a:rPr lang="en-US" sz="1100" dirty="0" err="1"/>
              <a:t>javax.xml.transform.dom</a:t>
            </a:r>
            <a:endParaRPr lang="en-US" sz="1100" dirty="0"/>
          </a:p>
          <a:p>
            <a:r>
              <a:rPr lang="en-US" sz="1100" dirty="0" err="1"/>
              <a:t>javax.xml.transform.sax</a:t>
            </a:r>
            <a:endParaRPr lang="en-US" sz="1100" dirty="0"/>
          </a:p>
          <a:p>
            <a:r>
              <a:rPr lang="en-US" sz="1100" dirty="0" err="1"/>
              <a:t>javax.xml.transform.stream</a:t>
            </a:r>
            <a:endParaRPr lang="en-US" sz="1100" dirty="0"/>
          </a:p>
          <a:p>
            <a:r>
              <a:rPr lang="en-US" sz="1100" dirty="0" err="1"/>
              <a:t>javax.xml.validation</a:t>
            </a:r>
            <a:endParaRPr lang="en-US" sz="1100" dirty="0"/>
          </a:p>
          <a:p>
            <a:r>
              <a:rPr lang="en-US" sz="1100" dirty="0" err="1"/>
              <a:t>javax.xml.xpath</a:t>
            </a:r>
            <a:endParaRPr lang="en-US" sz="1100" dirty="0"/>
          </a:p>
          <a:p>
            <a:r>
              <a:rPr lang="en-US" sz="1100" dirty="0" err="1"/>
              <a:t>junit.framework</a:t>
            </a:r>
            <a:endParaRPr lang="en-US" sz="1100" dirty="0"/>
          </a:p>
          <a:p>
            <a:r>
              <a:rPr lang="en-US" sz="1100" dirty="0" err="1"/>
              <a:t>junit.runner</a:t>
            </a:r>
            <a:endParaRPr lang="en-US" sz="1100" dirty="0"/>
          </a:p>
          <a:p>
            <a:r>
              <a:rPr lang="en-US" sz="1100" dirty="0" err="1" smtClean="0"/>
              <a:t>org.json</a:t>
            </a:r>
            <a:endParaRPr lang="en-US" sz="1100" dirty="0"/>
          </a:p>
          <a:p>
            <a:r>
              <a:rPr lang="en-US" sz="1100" dirty="0"/>
              <a:t>org.w3c.dom</a:t>
            </a:r>
          </a:p>
          <a:p>
            <a:r>
              <a:rPr lang="en-US" sz="1100" dirty="0"/>
              <a:t>org.w3c.dom.ls</a:t>
            </a:r>
          </a:p>
          <a:p>
            <a:r>
              <a:rPr lang="en-US" sz="1100" dirty="0" err="1"/>
              <a:t>org.xml.sax</a:t>
            </a:r>
            <a:endParaRPr lang="en-US" sz="1100" dirty="0"/>
          </a:p>
          <a:p>
            <a:r>
              <a:rPr lang="en-US" sz="1100" dirty="0" err="1"/>
              <a:t>org.xml.sax.ext</a:t>
            </a:r>
            <a:endParaRPr lang="en-US" sz="1100" dirty="0"/>
          </a:p>
          <a:p>
            <a:r>
              <a:rPr lang="en-US" sz="1100" dirty="0" err="1"/>
              <a:t>org.xml.sax.helpers</a:t>
            </a:r>
            <a:endParaRPr lang="en-US" sz="1100" dirty="0"/>
          </a:p>
          <a:p>
            <a:r>
              <a:rPr lang="en-US" sz="1100" dirty="0"/>
              <a:t>org.xmlpull.v1</a:t>
            </a:r>
          </a:p>
          <a:p>
            <a:r>
              <a:rPr lang="en-US" sz="1100" dirty="0" smtClean="0"/>
              <a:t>org.xmlpull.v1.sax2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6516216" y="1268760"/>
            <a:ext cx="24482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org.apache.http</a:t>
            </a:r>
            <a:endParaRPr lang="en-US" sz="1100" dirty="0"/>
          </a:p>
          <a:p>
            <a:r>
              <a:rPr lang="en-US" sz="1100" dirty="0" err="1"/>
              <a:t>org.apache.http.auth</a:t>
            </a:r>
            <a:endParaRPr lang="en-US" sz="1100" dirty="0"/>
          </a:p>
          <a:p>
            <a:r>
              <a:rPr lang="en-US" sz="1100" dirty="0" err="1"/>
              <a:t>org.apache.http.auth.params</a:t>
            </a:r>
            <a:endParaRPr lang="en-US" sz="1100" dirty="0"/>
          </a:p>
          <a:p>
            <a:r>
              <a:rPr lang="en-US" sz="1100" dirty="0" err="1"/>
              <a:t>org.apache.http.client</a:t>
            </a:r>
            <a:endParaRPr lang="en-US" sz="1100" dirty="0"/>
          </a:p>
          <a:p>
            <a:r>
              <a:rPr lang="en-US" sz="1100" dirty="0" err="1"/>
              <a:t>org.apache.http.client.entity</a:t>
            </a:r>
            <a:endParaRPr lang="en-US" sz="1100" dirty="0"/>
          </a:p>
          <a:p>
            <a:r>
              <a:rPr lang="en-US" sz="1100" dirty="0" err="1"/>
              <a:t>org.apache.http.client.methods</a:t>
            </a:r>
            <a:endParaRPr lang="en-US" sz="1100" dirty="0"/>
          </a:p>
          <a:p>
            <a:r>
              <a:rPr lang="en-US" sz="1100" dirty="0" err="1"/>
              <a:t>org.apache.http.client.params</a:t>
            </a:r>
            <a:endParaRPr lang="en-US" sz="1100" dirty="0"/>
          </a:p>
          <a:p>
            <a:r>
              <a:rPr lang="en-US" sz="1100" dirty="0" err="1"/>
              <a:t>org.apache.http.client.protocol</a:t>
            </a:r>
            <a:endParaRPr lang="en-US" sz="1100" dirty="0"/>
          </a:p>
          <a:p>
            <a:r>
              <a:rPr lang="en-US" sz="1100" dirty="0" err="1"/>
              <a:t>org.apache.http.client.utils</a:t>
            </a:r>
            <a:endParaRPr lang="en-US" sz="1100" dirty="0"/>
          </a:p>
          <a:p>
            <a:r>
              <a:rPr lang="en-US" sz="1100" dirty="0" err="1"/>
              <a:t>org.apache.http.conn</a:t>
            </a:r>
            <a:endParaRPr lang="en-US" sz="1100" dirty="0"/>
          </a:p>
          <a:p>
            <a:r>
              <a:rPr lang="en-US" sz="1100" dirty="0" err="1"/>
              <a:t>org.apache.http.conn.params</a:t>
            </a:r>
            <a:endParaRPr lang="en-US" sz="1100" dirty="0"/>
          </a:p>
          <a:p>
            <a:r>
              <a:rPr lang="en-US" sz="1100" dirty="0" err="1"/>
              <a:t>org.apache.http.conn.routing</a:t>
            </a:r>
            <a:endParaRPr lang="en-US" sz="1100" dirty="0"/>
          </a:p>
          <a:p>
            <a:r>
              <a:rPr lang="en-US" sz="1100" dirty="0" err="1"/>
              <a:t>org.apache.http.conn.scheme</a:t>
            </a:r>
            <a:endParaRPr lang="en-US" sz="1100" dirty="0"/>
          </a:p>
          <a:p>
            <a:r>
              <a:rPr lang="en-US" sz="1100" dirty="0" err="1"/>
              <a:t>org.apache.http.conn.ssl</a:t>
            </a:r>
            <a:endParaRPr lang="en-US" sz="1100" dirty="0"/>
          </a:p>
          <a:p>
            <a:r>
              <a:rPr lang="en-US" sz="1100" dirty="0" err="1"/>
              <a:t>org.apache.http.conn.util</a:t>
            </a:r>
            <a:endParaRPr lang="en-US" sz="1100" dirty="0"/>
          </a:p>
          <a:p>
            <a:r>
              <a:rPr lang="en-US" sz="1100" dirty="0" err="1"/>
              <a:t>org.apache.http.cookie</a:t>
            </a:r>
            <a:endParaRPr lang="en-US" sz="1100" dirty="0"/>
          </a:p>
          <a:p>
            <a:r>
              <a:rPr lang="en-US" sz="1100" dirty="0" err="1"/>
              <a:t>org.apache.http.cookie.params</a:t>
            </a:r>
            <a:endParaRPr lang="en-US" sz="1100" dirty="0"/>
          </a:p>
          <a:p>
            <a:r>
              <a:rPr lang="en-US" sz="1100" dirty="0" err="1"/>
              <a:t>org.apache.http.entity</a:t>
            </a:r>
            <a:endParaRPr lang="en-US" sz="1100" dirty="0"/>
          </a:p>
          <a:p>
            <a:r>
              <a:rPr lang="en-US" sz="1100" dirty="0" err="1"/>
              <a:t>org.apache.http.impl</a:t>
            </a:r>
            <a:endParaRPr lang="en-US" sz="1100" dirty="0"/>
          </a:p>
          <a:p>
            <a:r>
              <a:rPr lang="en-US" sz="1100" dirty="0" err="1"/>
              <a:t>org.apache.http.impl.auth</a:t>
            </a:r>
            <a:endParaRPr lang="en-US" sz="1100" dirty="0"/>
          </a:p>
          <a:p>
            <a:r>
              <a:rPr lang="en-US" sz="1100" dirty="0" err="1"/>
              <a:t>org.apache.http.impl.client</a:t>
            </a:r>
            <a:endParaRPr lang="en-US" sz="1100" dirty="0"/>
          </a:p>
          <a:p>
            <a:r>
              <a:rPr lang="en-US" sz="1100" dirty="0" err="1"/>
              <a:t>org.apache.http.impl.conn</a:t>
            </a:r>
            <a:endParaRPr lang="en-US" sz="1100" dirty="0"/>
          </a:p>
          <a:p>
            <a:r>
              <a:rPr lang="en-US" sz="1100" dirty="0" err="1"/>
              <a:t>org.apache.http.impl.conn.tsccm</a:t>
            </a:r>
            <a:endParaRPr lang="en-US" sz="1100" dirty="0"/>
          </a:p>
          <a:p>
            <a:r>
              <a:rPr lang="en-US" sz="1100" dirty="0" err="1"/>
              <a:t>org.apache.http.impl.cookie</a:t>
            </a:r>
            <a:endParaRPr lang="en-US" sz="1100" dirty="0"/>
          </a:p>
          <a:p>
            <a:r>
              <a:rPr lang="en-US" sz="1100" dirty="0" err="1"/>
              <a:t>org.apache.http.impl.entity</a:t>
            </a:r>
            <a:endParaRPr lang="en-US" sz="1100" dirty="0"/>
          </a:p>
          <a:p>
            <a:r>
              <a:rPr lang="en-US" sz="1100" dirty="0"/>
              <a:t>org.apache.http.impl.io</a:t>
            </a:r>
          </a:p>
          <a:p>
            <a:r>
              <a:rPr lang="en-US" sz="1100" dirty="0"/>
              <a:t>org.apache.http.io</a:t>
            </a:r>
          </a:p>
          <a:p>
            <a:r>
              <a:rPr lang="en-US" sz="1100" dirty="0" err="1"/>
              <a:t>org.apache.http.message</a:t>
            </a:r>
            <a:endParaRPr lang="en-US" sz="1100" dirty="0"/>
          </a:p>
          <a:p>
            <a:r>
              <a:rPr lang="en-US" sz="1100" dirty="0" err="1"/>
              <a:t>org.apache.http.params</a:t>
            </a:r>
            <a:endParaRPr lang="en-US" sz="1100" dirty="0"/>
          </a:p>
          <a:p>
            <a:r>
              <a:rPr lang="en-US" sz="1100" dirty="0" err="1"/>
              <a:t>org.apache.http.protocol</a:t>
            </a:r>
            <a:endParaRPr lang="en-US" sz="1100" dirty="0"/>
          </a:p>
          <a:p>
            <a:r>
              <a:rPr lang="en-US" sz="1100" dirty="0" err="1" smtClean="0"/>
              <a:t>org.apache.http.util</a:t>
            </a:r>
            <a:endParaRPr lang="en-US" sz="11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67544" y="888744"/>
            <a:ext cx="6480720" cy="761413"/>
          </a:xfrm>
        </p:spPr>
        <p:txBody>
          <a:bodyPr/>
          <a:lstStyle/>
          <a:p>
            <a:r>
              <a:rPr lang="en-US" dirty="0" smtClean="0"/>
              <a:t>Packages by Java Framework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1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Library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71601" y="1268760"/>
            <a:ext cx="158417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aac</a:t>
            </a:r>
            <a:endParaRPr lang="en-US" sz="1100" dirty="0"/>
          </a:p>
          <a:p>
            <a:r>
              <a:rPr lang="en-US" sz="1100" dirty="0"/>
              <a:t>android-</a:t>
            </a:r>
            <a:r>
              <a:rPr lang="en-US" sz="1100" dirty="0" err="1"/>
              <a:t>clat</a:t>
            </a:r>
            <a:endParaRPr lang="en-US" sz="1100" dirty="0"/>
          </a:p>
          <a:p>
            <a:r>
              <a:rPr lang="en-US" sz="1100" dirty="0"/>
              <a:t>android-mock</a:t>
            </a:r>
          </a:p>
          <a:p>
            <a:r>
              <a:rPr lang="en-US" sz="1100" dirty="0"/>
              <a:t>ant-glob</a:t>
            </a:r>
          </a:p>
          <a:p>
            <a:r>
              <a:rPr lang="en-US" sz="1100" dirty="0" err="1"/>
              <a:t>antlr</a:t>
            </a:r>
            <a:endParaRPr lang="en-US" sz="1100" dirty="0"/>
          </a:p>
          <a:p>
            <a:r>
              <a:rPr lang="en-US" sz="1100" dirty="0"/>
              <a:t>apache-harmony</a:t>
            </a:r>
          </a:p>
          <a:p>
            <a:r>
              <a:rPr lang="en-US" sz="1100" dirty="0"/>
              <a:t>apache-http</a:t>
            </a:r>
          </a:p>
          <a:p>
            <a:r>
              <a:rPr lang="en-US" sz="1100" dirty="0"/>
              <a:t>apache-</a:t>
            </a:r>
            <a:r>
              <a:rPr lang="en-US" sz="1100" dirty="0" err="1"/>
              <a:t>qp</a:t>
            </a:r>
            <a:endParaRPr lang="en-US" sz="1100" dirty="0"/>
          </a:p>
          <a:p>
            <a:r>
              <a:rPr lang="en-US" sz="1100" dirty="0"/>
              <a:t>apache-xml</a:t>
            </a:r>
          </a:p>
          <a:p>
            <a:r>
              <a:rPr lang="en-US" sz="1100" dirty="0" err="1"/>
              <a:t>arduino</a:t>
            </a:r>
            <a:endParaRPr lang="en-US" sz="1100" dirty="0"/>
          </a:p>
          <a:p>
            <a:r>
              <a:rPr lang="en-US" sz="1100" dirty="0"/>
              <a:t>bison</a:t>
            </a:r>
          </a:p>
          <a:p>
            <a:r>
              <a:rPr lang="en-US" sz="1100" dirty="0" err="1"/>
              <a:t>blktrace</a:t>
            </a:r>
            <a:endParaRPr lang="en-US" sz="1100" dirty="0"/>
          </a:p>
          <a:p>
            <a:r>
              <a:rPr lang="en-US" sz="1100" dirty="0" err="1"/>
              <a:t>bluetooth</a:t>
            </a:r>
            <a:endParaRPr lang="en-US" sz="1100" dirty="0"/>
          </a:p>
          <a:p>
            <a:r>
              <a:rPr lang="en-US" sz="1100" dirty="0" err="1"/>
              <a:t>bouncycastle</a:t>
            </a:r>
            <a:endParaRPr lang="en-US" sz="1100" dirty="0"/>
          </a:p>
          <a:p>
            <a:r>
              <a:rPr lang="en-US" sz="1100" dirty="0" err="1"/>
              <a:t>bsdiff</a:t>
            </a:r>
            <a:endParaRPr lang="en-US" sz="1100" dirty="0"/>
          </a:p>
          <a:p>
            <a:r>
              <a:rPr lang="en-US" sz="1100" dirty="0"/>
              <a:t>bzip2</a:t>
            </a:r>
          </a:p>
          <a:p>
            <a:r>
              <a:rPr lang="en-US" sz="1100" dirty="0" err="1"/>
              <a:t>ceres</a:t>
            </a:r>
            <a:r>
              <a:rPr lang="en-US" sz="1100" dirty="0"/>
              <a:t>-solver</a:t>
            </a:r>
          </a:p>
          <a:p>
            <a:r>
              <a:rPr lang="en-US" sz="1100" dirty="0" err="1"/>
              <a:t>checkpolicy</a:t>
            </a:r>
            <a:endParaRPr lang="en-US" sz="1100" dirty="0"/>
          </a:p>
          <a:p>
            <a:r>
              <a:rPr lang="en-US" sz="1100" dirty="0"/>
              <a:t>chromium</a:t>
            </a:r>
          </a:p>
          <a:p>
            <a:r>
              <a:rPr lang="en-US" sz="1100" dirty="0"/>
              <a:t>chromium-</a:t>
            </a:r>
            <a:r>
              <a:rPr lang="en-US" sz="1100" dirty="0" err="1"/>
              <a:t>libpac</a:t>
            </a:r>
            <a:endParaRPr lang="en-US" sz="1100" dirty="0"/>
          </a:p>
          <a:p>
            <a:r>
              <a:rPr lang="en-US" sz="1100" dirty="0"/>
              <a:t>chromium-trace</a:t>
            </a:r>
          </a:p>
          <a:p>
            <a:r>
              <a:rPr lang="en-US" sz="1100" dirty="0" err="1"/>
              <a:t>chromium_org</a:t>
            </a:r>
            <a:endParaRPr lang="en-US" sz="1100" dirty="0"/>
          </a:p>
          <a:p>
            <a:r>
              <a:rPr lang="en-US" sz="1100" dirty="0"/>
              <a:t>clang</a:t>
            </a:r>
          </a:p>
          <a:p>
            <a:r>
              <a:rPr lang="en-US" sz="1100" dirty="0"/>
              <a:t>compiler-</a:t>
            </a:r>
            <a:r>
              <a:rPr lang="en-US" sz="1100" dirty="0" err="1"/>
              <a:t>rt</a:t>
            </a:r>
            <a:endParaRPr lang="en-US" sz="1100" dirty="0"/>
          </a:p>
          <a:p>
            <a:r>
              <a:rPr lang="en-US" sz="1100" dirty="0" err="1"/>
              <a:t>dexmaker</a:t>
            </a:r>
            <a:endParaRPr lang="en-US" sz="1100" dirty="0"/>
          </a:p>
          <a:p>
            <a:r>
              <a:rPr lang="en-US" sz="1100" dirty="0" err="1"/>
              <a:t>dhcpcd</a:t>
            </a:r>
            <a:endParaRPr lang="en-US" sz="1100" dirty="0"/>
          </a:p>
          <a:p>
            <a:r>
              <a:rPr lang="en-US" sz="1100" dirty="0" err="1"/>
              <a:t>dnsmasq</a:t>
            </a:r>
            <a:endParaRPr lang="en-US" sz="1100" dirty="0"/>
          </a:p>
          <a:p>
            <a:r>
              <a:rPr lang="en-US" sz="1100" dirty="0" err="1"/>
              <a:t>doclava</a:t>
            </a:r>
            <a:endParaRPr lang="en-US" sz="1100" dirty="0"/>
          </a:p>
          <a:p>
            <a:r>
              <a:rPr lang="en-US" sz="1100" dirty="0" err="1"/>
              <a:t>droiddriver</a:t>
            </a:r>
            <a:endParaRPr lang="en-US" sz="1100" dirty="0"/>
          </a:p>
          <a:p>
            <a:r>
              <a:rPr lang="en-US" sz="1100" dirty="0" err="1"/>
              <a:t>dropbear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2339753" y="1280898"/>
            <a:ext cx="244827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e2fsprogs</a:t>
            </a:r>
          </a:p>
          <a:p>
            <a:r>
              <a:rPr lang="en-US" sz="1100" dirty="0" err="1"/>
              <a:t>easymock</a:t>
            </a:r>
            <a:endParaRPr lang="en-US" sz="1100" dirty="0"/>
          </a:p>
          <a:p>
            <a:r>
              <a:rPr lang="en-US" sz="1100" dirty="0"/>
              <a:t>eclipse-</a:t>
            </a:r>
            <a:r>
              <a:rPr lang="en-US" sz="1100" dirty="0" err="1"/>
              <a:t>basebuilder</a:t>
            </a:r>
            <a:endParaRPr lang="en-US" sz="1100" dirty="0"/>
          </a:p>
          <a:p>
            <a:r>
              <a:rPr lang="en-US" sz="1100" dirty="0"/>
              <a:t>eclipse-</a:t>
            </a:r>
            <a:r>
              <a:rPr lang="en-US" sz="1100" dirty="0" err="1"/>
              <a:t>windowbuilder</a:t>
            </a:r>
            <a:endParaRPr lang="en-US" sz="1100" dirty="0"/>
          </a:p>
          <a:p>
            <a:r>
              <a:rPr lang="en-US" sz="1100" dirty="0" err="1"/>
              <a:t>eigen</a:t>
            </a:r>
            <a:endParaRPr lang="en-US" sz="1100" dirty="0"/>
          </a:p>
          <a:p>
            <a:r>
              <a:rPr lang="en-US" sz="1100" dirty="0" err="1"/>
              <a:t>elfutils</a:t>
            </a:r>
            <a:endParaRPr lang="en-US" sz="1100" dirty="0"/>
          </a:p>
          <a:p>
            <a:r>
              <a:rPr lang="en-US" sz="1100" dirty="0" err="1"/>
              <a:t>embunit</a:t>
            </a:r>
            <a:endParaRPr lang="en-US" sz="1100" dirty="0"/>
          </a:p>
          <a:p>
            <a:r>
              <a:rPr lang="en-US" sz="1100" dirty="0" err="1"/>
              <a:t>emma</a:t>
            </a:r>
            <a:endParaRPr lang="en-US" sz="1100" dirty="0"/>
          </a:p>
          <a:p>
            <a:r>
              <a:rPr lang="en-US" sz="1100" dirty="0" err="1"/>
              <a:t>esd</a:t>
            </a:r>
            <a:endParaRPr lang="en-US" sz="1100" dirty="0"/>
          </a:p>
          <a:p>
            <a:r>
              <a:rPr lang="en-US" sz="1100" dirty="0"/>
              <a:t>expat</a:t>
            </a:r>
          </a:p>
          <a:p>
            <a:r>
              <a:rPr lang="en-US" sz="1100" dirty="0"/>
              <a:t>eyes-free</a:t>
            </a:r>
          </a:p>
          <a:p>
            <a:r>
              <a:rPr lang="en-US" sz="1100" dirty="0" err="1"/>
              <a:t>fdlibm</a:t>
            </a:r>
            <a:endParaRPr lang="en-US" sz="1100" dirty="0"/>
          </a:p>
          <a:p>
            <a:r>
              <a:rPr lang="en-US" sz="1100" dirty="0" err="1"/>
              <a:t>flac</a:t>
            </a:r>
            <a:endParaRPr lang="en-US" sz="1100" dirty="0"/>
          </a:p>
          <a:p>
            <a:r>
              <a:rPr lang="en-US" sz="1100" dirty="0" err="1"/>
              <a:t>freetype</a:t>
            </a:r>
            <a:endParaRPr lang="en-US" sz="1100" dirty="0"/>
          </a:p>
          <a:p>
            <a:r>
              <a:rPr lang="en-US" sz="1100" dirty="0" err="1"/>
              <a:t>fsck_msdos</a:t>
            </a:r>
            <a:endParaRPr lang="en-US" sz="1100" dirty="0"/>
          </a:p>
          <a:p>
            <a:r>
              <a:rPr lang="en-US" sz="1100" dirty="0"/>
              <a:t>ganymed-ssh2</a:t>
            </a:r>
          </a:p>
          <a:p>
            <a:r>
              <a:rPr lang="en-US" sz="1100" dirty="0" err="1"/>
              <a:t>gcc-demangle</a:t>
            </a:r>
            <a:endParaRPr lang="en-US" sz="1100" dirty="0"/>
          </a:p>
          <a:p>
            <a:r>
              <a:rPr lang="en-US" sz="1100" dirty="0"/>
              <a:t>genext2fs</a:t>
            </a:r>
          </a:p>
          <a:p>
            <a:r>
              <a:rPr lang="en-US" sz="1100" dirty="0" err="1"/>
              <a:t>giflib</a:t>
            </a:r>
            <a:endParaRPr lang="en-US" sz="1100" dirty="0"/>
          </a:p>
          <a:p>
            <a:r>
              <a:rPr lang="en-US" sz="1100" dirty="0"/>
              <a:t>google-diff-match-patch</a:t>
            </a:r>
          </a:p>
          <a:p>
            <a:r>
              <a:rPr lang="en-US" sz="1100" dirty="0"/>
              <a:t>grub</a:t>
            </a:r>
          </a:p>
          <a:p>
            <a:r>
              <a:rPr lang="en-US" sz="1100" dirty="0" err="1"/>
              <a:t>gtest</a:t>
            </a:r>
            <a:endParaRPr lang="en-US" sz="1100" dirty="0"/>
          </a:p>
          <a:p>
            <a:r>
              <a:rPr lang="en-US" sz="1100" dirty="0"/>
              <a:t>guava</a:t>
            </a:r>
          </a:p>
          <a:p>
            <a:r>
              <a:rPr lang="en-US" sz="1100" dirty="0" err="1"/>
              <a:t>hamcrest</a:t>
            </a:r>
            <a:endParaRPr lang="en-US" sz="1100" dirty="0"/>
          </a:p>
          <a:p>
            <a:r>
              <a:rPr lang="en-US" sz="1100" dirty="0" err="1"/>
              <a:t>harfbuzz</a:t>
            </a:r>
            <a:endParaRPr lang="en-US" sz="1100" dirty="0"/>
          </a:p>
          <a:p>
            <a:r>
              <a:rPr lang="en-US" sz="1100" dirty="0" err="1"/>
              <a:t>harfbuzz_ng</a:t>
            </a:r>
            <a:endParaRPr lang="en-US" sz="1100" dirty="0"/>
          </a:p>
          <a:p>
            <a:r>
              <a:rPr lang="en-US" sz="1100" dirty="0"/>
              <a:t>hyphenation</a:t>
            </a:r>
          </a:p>
          <a:p>
            <a:r>
              <a:rPr lang="en-US" sz="1100" dirty="0"/>
              <a:t>icu4c</a:t>
            </a:r>
          </a:p>
          <a:p>
            <a:r>
              <a:rPr lang="en-US" sz="1100" dirty="0"/>
              <a:t>iproute2</a:t>
            </a:r>
          </a:p>
          <a:p>
            <a:r>
              <a:rPr lang="en-US" sz="1100" dirty="0" err="1"/>
              <a:t>ipsec</a:t>
            </a:r>
            <a:r>
              <a:rPr lang="en-US" sz="1100" dirty="0"/>
              <a:t>-tools</a:t>
            </a:r>
          </a:p>
          <a:p>
            <a:r>
              <a:rPr lang="en-US" sz="1100" dirty="0" err="1"/>
              <a:t>iptables</a:t>
            </a:r>
            <a:endParaRPr lang="en-US" sz="1100" dirty="0"/>
          </a:p>
          <a:p>
            <a:r>
              <a:rPr lang="en-US" sz="1100" dirty="0" err="1" smtClean="0"/>
              <a:t>iputils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3940491" y="1280898"/>
            <a:ext cx="1567613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jack</a:t>
            </a:r>
          </a:p>
          <a:p>
            <a:r>
              <a:rPr lang="en-US" sz="1100" dirty="0" err="1"/>
              <a:t>javasqlite</a:t>
            </a:r>
            <a:endParaRPr lang="en-US" sz="1100" dirty="0"/>
          </a:p>
          <a:p>
            <a:r>
              <a:rPr lang="en-US" sz="1100" dirty="0" err="1"/>
              <a:t>javassist</a:t>
            </a:r>
            <a:endParaRPr lang="en-US" sz="1100" dirty="0"/>
          </a:p>
          <a:p>
            <a:r>
              <a:rPr lang="en-US" sz="1100" dirty="0" err="1"/>
              <a:t>jdiff</a:t>
            </a:r>
            <a:endParaRPr lang="en-US" sz="1100" dirty="0"/>
          </a:p>
          <a:p>
            <a:r>
              <a:rPr lang="en-US" sz="1100" dirty="0" err="1"/>
              <a:t>jhead</a:t>
            </a:r>
            <a:endParaRPr lang="en-US" sz="1100" dirty="0"/>
          </a:p>
          <a:p>
            <a:r>
              <a:rPr lang="en-US" sz="1100" dirty="0" err="1"/>
              <a:t>jmdns</a:t>
            </a:r>
            <a:endParaRPr lang="en-US" sz="1100" dirty="0"/>
          </a:p>
          <a:p>
            <a:r>
              <a:rPr lang="en-US" sz="1100" dirty="0" err="1"/>
              <a:t>jmonkeyengine</a:t>
            </a:r>
            <a:endParaRPr lang="en-US" sz="1100" dirty="0"/>
          </a:p>
          <a:p>
            <a:r>
              <a:rPr lang="en-US" sz="1100" dirty="0"/>
              <a:t>jpeg</a:t>
            </a:r>
          </a:p>
          <a:p>
            <a:r>
              <a:rPr lang="en-US" sz="1100" dirty="0" err="1"/>
              <a:t>jsilver</a:t>
            </a:r>
            <a:endParaRPr lang="en-US" sz="1100" dirty="0"/>
          </a:p>
          <a:p>
            <a:r>
              <a:rPr lang="en-US" sz="1100" dirty="0"/>
              <a:t>jsr305</a:t>
            </a:r>
          </a:p>
          <a:p>
            <a:r>
              <a:rPr lang="en-US" sz="1100" dirty="0" err="1"/>
              <a:t>junit</a:t>
            </a:r>
            <a:endParaRPr lang="en-US" sz="1100" dirty="0"/>
          </a:p>
          <a:p>
            <a:r>
              <a:rPr lang="en-US" sz="1100" dirty="0"/>
              <a:t>kernel-headers</a:t>
            </a:r>
          </a:p>
          <a:p>
            <a:r>
              <a:rPr lang="en-US" sz="1100" dirty="0" err="1"/>
              <a:t>libcap-ng</a:t>
            </a:r>
            <a:endParaRPr lang="en-US" sz="1100" dirty="0"/>
          </a:p>
          <a:p>
            <a:r>
              <a:rPr lang="en-US" sz="1100" dirty="0" err="1"/>
              <a:t>libffi</a:t>
            </a:r>
            <a:endParaRPr lang="en-US" sz="1100" dirty="0"/>
          </a:p>
          <a:p>
            <a:r>
              <a:rPr lang="en-US" sz="1100" dirty="0" err="1"/>
              <a:t>libgsm</a:t>
            </a:r>
            <a:endParaRPr lang="en-US" sz="1100" dirty="0"/>
          </a:p>
          <a:p>
            <a:r>
              <a:rPr lang="en-US" sz="1100" dirty="0" err="1"/>
              <a:t>liblzf</a:t>
            </a:r>
            <a:endParaRPr lang="en-US" sz="1100" dirty="0"/>
          </a:p>
          <a:p>
            <a:r>
              <a:rPr lang="en-US" sz="1100" dirty="0" err="1"/>
              <a:t>libmtp</a:t>
            </a:r>
            <a:endParaRPr lang="en-US" sz="1100" dirty="0"/>
          </a:p>
          <a:p>
            <a:r>
              <a:rPr lang="en-US" sz="1100" dirty="0" err="1"/>
              <a:t>libnfc-nci</a:t>
            </a:r>
            <a:endParaRPr lang="en-US" sz="1100" dirty="0"/>
          </a:p>
          <a:p>
            <a:r>
              <a:rPr lang="en-US" sz="1100" dirty="0" err="1"/>
              <a:t>libnfc-nxp</a:t>
            </a:r>
            <a:endParaRPr lang="en-US" sz="1100" dirty="0"/>
          </a:p>
          <a:p>
            <a:r>
              <a:rPr lang="en-US" sz="1100" dirty="0" err="1"/>
              <a:t>libnl</a:t>
            </a:r>
            <a:r>
              <a:rPr lang="en-US" sz="1100" dirty="0"/>
              <a:t>-headers</a:t>
            </a:r>
          </a:p>
          <a:p>
            <a:r>
              <a:rPr lang="en-US" sz="1100" dirty="0" err="1"/>
              <a:t>libogg</a:t>
            </a:r>
            <a:endParaRPr lang="en-US" sz="1100" dirty="0"/>
          </a:p>
          <a:p>
            <a:r>
              <a:rPr lang="en-US" sz="1100" dirty="0" err="1"/>
              <a:t>libpcap</a:t>
            </a:r>
            <a:endParaRPr lang="en-US" sz="1100" dirty="0"/>
          </a:p>
          <a:p>
            <a:r>
              <a:rPr lang="en-US" sz="1100" dirty="0" err="1"/>
              <a:t>libphonenumber</a:t>
            </a:r>
            <a:endParaRPr lang="en-US" sz="1100" dirty="0"/>
          </a:p>
          <a:p>
            <a:r>
              <a:rPr lang="en-US" sz="1100" dirty="0" err="1"/>
              <a:t>libpng</a:t>
            </a:r>
            <a:endParaRPr lang="en-US" sz="1100" dirty="0"/>
          </a:p>
          <a:p>
            <a:r>
              <a:rPr lang="en-US" sz="1100" dirty="0" err="1"/>
              <a:t>libppp</a:t>
            </a:r>
            <a:endParaRPr lang="en-US" sz="1100" dirty="0"/>
          </a:p>
          <a:p>
            <a:r>
              <a:rPr lang="en-US" sz="1100" dirty="0" err="1"/>
              <a:t>libselinux</a:t>
            </a:r>
            <a:endParaRPr lang="en-US" sz="1100" dirty="0"/>
          </a:p>
          <a:p>
            <a:r>
              <a:rPr lang="en-US" sz="1100" dirty="0" err="1"/>
              <a:t>libsepol</a:t>
            </a:r>
            <a:endParaRPr lang="en-US" sz="1100" dirty="0"/>
          </a:p>
          <a:p>
            <a:r>
              <a:rPr lang="en-US" sz="1100" dirty="0" err="1"/>
              <a:t>libusb</a:t>
            </a:r>
            <a:endParaRPr lang="en-US" sz="1100" dirty="0"/>
          </a:p>
          <a:p>
            <a:r>
              <a:rPr lang="en-US" sz="1100" dirty="0" err="1"/>
              <a:t>libusb-compat</a:t>
            </a:r>
            <a:endParaRPr lang="en-US" sz="1100" dirty="0"/>
          </a:p>
          <a:p>
            <a:r>
              <a:rPr lang="en-US" sz="1100" dirty="0" err="1"/>
              <a:t>libvorbis</a:t>
            </a:r>
            <a:endParaRPr lang="en-US" sz="1100" dirty="0"/>
          </a:p>
          <a:p>
            <a:r>
              <a:rPr lang="en-US" sz="1100" dirty="0" err="1"/>
              <a:t>libvpx</a:t>
            </a:r>
            <a:endParaRPr lang="en-US" sz="1100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67544" y="888744"/>
            <a:ext cx="6480720" cy="761413"/>
          </a:xfrm>
        </p:spPr>
        <p:txBody>
          <a:bodyPr/>
          <a:lstStyle/>
          <a:p>
            <a:r>
              <a:rPr lang="en-US" dirty="0" smtClean="0"/>
              <a:t>Linux Software &amp; Linux Library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64088" y="1363061"/>
            <a:ext cx="133214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libxml2</a:t>
            </a:r>
          </a:p>
          <a:p>
            <a:r>
              <a:rPr lang="en-US" sz="1100" dirty="0" err="1"/>
              <a:t>libxslt</a:t>
            </a:r>
            <a:endParaRPr lang="en-US" sz="1100" dirty="0"/>
          </a:p>
          <a:p>
            <a:r>
              <a:rPr lang="en-US" sz="1100" dirty="0" err="1"/>
              <a:t>libyuv</a:t>
            </a:r>
            <a:endParaRPr lang="en-US" sz="1100" dirty="0"/>
          </a:p>
          <a:p>
            <a:r>
              <a:rPr lang="en-US" sz="1100" dirty="0" err="1"/>
              <a:t>linux</a:t>
            </a:r>
            <a:r>
              <a:rPr lang="en-US" sz="1100" dirty="0"/>
              <a:t>-tools-</a:t>
            </a:r>
            <a:r>
              <a:rPr lang="en-US" sz="1100" dirty="0" err="1"/>
              <a:t>perf</a:t>
            </a:r>
            <a:endParaRPr lang="en-US" sz="1100" dirty="0"/>
          </a:p>
          <a:p>
            <a:r>
              <a:rPr lang="en-US" sz="1100" dirty="0" err="1"/>
              <a:t>littlemock</a:t>
            </a:r>
            <a:endParaRPr lang="en-US" sz="1100" dirty="0"/>
          </a:p>
          <a:p>
            <a:r>
              <a:rPr lang="en-US" sz="1100" dirty="0" err="1"/>
              <a:t>llvm</a:t>
            </a:r>
            <a:endParaRPr lang="en-US" sz="1100" dirty="0"/>
          </a:p>
          <a:p>
            <a:r>
              <a:rPr lang="en-US" sz="1100" dirty="0" err="1"/>
              <a:t>lzma</a:t>
            </a:r>
            <a:endParaRPr lang="en-US" sz="1100" dirty="0"/>
          </a:p>
          <a:p>
            <a:r>
              <a:rPr lang="en-US" sz="1100" dirty="0" err="1"/>
              <a:t>marisa-trie</a:t>
            </a:r>
            <a:endParaRPr lang="en-US" sz="1100" dirty="0"/>
          </a:p>
          <a:p>
            <a:r>
              <a:rPr lang="en-US" sz="1100" dirty="0"/>
              <a:t>markdown</a:t>
            </a:r>
          </a:p>
          <a:p>
            <a:r>
              <a:rPr lang="en-US" sz="1100" dirty="0" err="1"/>
              <a:t>mdnsresponder</a:t>
            </a:r>
            <a:endParaRPr lang="en-US" sz="1100" dirty="0"/>
          </a:p>
          <a:p>
            <a:r>
              <a:rPr lang="en-US" sz="1100" dirty="0"/>
              <a:t>mesa3d</a:t>
            </a:r>
          </a:p>
          <a:p>
            <a:r>
              <a:rPr lang="en-US" sz="1100" dirty="0" err="1"/>
              <a:t>mksh</a:t>
            </a:r>
            <a:endParaRPr lang="en-US" sz="1100" dirty="0"/>
          </a:p>
          <a:p>
            <a:r>
              <a:rPr lang="en-US" sz="1100" dirty="0" err="1"/>
              <a:t>mockito</a:t>
            </a:r>
            <a:endParaRPr lang="en-US" sz="1100" dirty="0"/>
          </a:p>
          <a:p>
            <a:r>
              <a:rPr lang="en-US" sz="1100" dirty="0" err="1"/>
              <a:t>mockwebserver</a:t>
            </a:r>
            <a:endParaRPr lang="en-US" sz="1100" dirty="0"/>
          </a:p>
          <a:p>
            <a:r>
              <a:rPr lang="en-US" sz="1100" dirty="0"/>
              <a:t>mp4parser</a:t>
            </a:r>
          </a:p>
          <a:p>
            <a:r>
              <a:rPr lang="en-US" sz="1100" dirty="0" err="1"/>
              <a:t>mtpd</a:t>
            </a:r>
            <a:endParaRPr lang="en-US" sz="1100" dirty="0"/>
          </a:p>
          <a:p>
            <a:r>
              <a:rPr lang="en-US" sz="1100" dirty="0" err="1"/>
              <a:t>naver</a:t>
            </a:r>
            <a:r>
              <a:rPr lang="en-US" sz="1100" dirty="0"/>
              <a:t>-fonts</a:t>
            </a:r>
          </a:p>
          <a:p>
            <a:r>
              <a:rPr lang="en-US" sz="1100" dirty="0" err="1"/>
              <a:t>netcat</a:t>
            </a:r>
            <a:endParaRPr lang="en-US" sz="1100" dirty="0"/>
          </a:p>
          <a:p>
            <a:r>
              <a:rPr lang="en-US" sz="1100" dirty="0" err="1"/>
              <a:t>netperf</a:t>
            </a:r>
            <a:endParaRPr lang="en-US" sz="1100" dirty="0"/>
          </a:p>
          <a:p>
            <a:r>
              <a:rPr lang="en-US" sz="1100" dirty="0" err="1"/>
              <a:t>neven</a:t>
            </a:r>
            <a:endParaRPr lang="en-US" sz="1100" dirty="0"/>
          </a:p>
          <a:p>
            <a:r>
              <a:rPr lang="en-US" sz="1100" dirty="0" err="1"/>
              <a:t>nist-pkits</a:t>
            </a:r>
            <a:endParaRPr lang="en-US" sz="1100" dirty="0"/>
          </a:p>
          <a:p>
            <a:r>
              <a:rPr lang="en-US" sz="1100" dirty="0" err="1"/>
              <a:t>nist</a:t>
            </a:r>
            <a:r>
              <a:rPr lang="en-US" sz="1100" dirty="0"/>
              <a:t>-sip</a:t>
            </a:r>
          </a:p>
          <a:p>
            <a:r>
              <a:rPr lang="en-US" sz="1100" dirty="0" err="1"/>
              <a:t>noto</a:t>
            </a:r>
            <a:r>
              <a:rPr lang="en-US" sz="1100" dirty="0"/>
              <a:t>-fonts</a:t>
            </a:r>
          </a:p>
          <a:p>
            <a:r>
              <a:rPr lang="en-US" sz="1100" dirty="0" err="1"/>
              <a:t>oauth</a:t>
            </a:r>
            <a:endParaRPr lang="en-US" sz="1100" dirty="0"/>
          </a:p>
          <a:p>
            <a:r>
              <a:rPr lang="en-US" sz="1100" dirty="0" err="1"/>
              <a:t>objenesis</a:t>
            </a:r>
            <a:endParaRPr lang="en-US" sz="1100" dirty="0"/>
          </a:p>
          <a:p>
            <a:r>
              <a:rPr lang="en-US" sz="1100" dirty="0" err="1"/>
              <a:t>okhttp</a:t>
            </a:r>
            <a:endParaRPr lang="en-US" sz="1100" dirty="0"/>
          </a:p>
          <a:p>
            <a:r>
              <a:rPr lang="en-US" sz="1100" dirty="0"/>
              <a:t>open-</a:t>
            </a:r>
            <a:r>
              <a:rPr lang="en-US" sz="1100" dirty="0" err="1"/>
              <a:t>vcdiff</a:t>
            </a:r>
            <a:endParaRPr lang="en-US" sz="1100" dirty="0"/>
          </a:p>
          <a:p>
            <a:r>
              <a:rPr lang="en-US" sz="1100" dirty="0" err="1"/>
              <a:t>opencv</a:t>
            </a:r>
            <a:endParaRPr lang="en-US" sz="1100" dirty="0"/>
          </a:p>
          <a:p>
            <a:r>
              <a:rPr lang="en-US" sz="1100" dirty="0" err="1"/>
              <a:t>openfst</a:t>
            </a:r>
            <a:endParaRPr lang="en-US" sz="1100" dirty="0"/>
          </a:p>
          <a:p>
            <a:r>
              <a:rPr lang="en-US" sz="1100" dirty="0" err="1"/>
              <a:t>openssh</a:t>
            </a:r>
            <a:endParaRPr lang="en-US" sz="1100" dirty="0"/>
          </a:p>
          <a:p>
            <a:r>
              <a:rPr lang="en-US" sz="1100" dirty="0" err="1"/>
              <a:t>openssl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6696235" y="1293042"/>
            <a:ext cx="1636743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oprofile</a:t>
            </a:r>
            <a:endParaRPr lang="en-US" sz="1100" dirty="0"/>
          </a:p>
          <a:p>
            <a:r>
              <a:rPr lang="en-US" sz="1100" dirty="0" err="1"/>
              <a:t>pixman</a:t>
            </a:r>
            <a:endParaRPr lang="en-US" sz="1100" dirty="0"/>
          </a:p>
          <a:p>
            <a:r>
              <a:rPr lang="en-US" sz="1100" dirty="0" err="1"/>
              <a:t>ppp</a:t>
            </a:r>
            <a:endParaRPr lang="en-US" sz="1100" dirty="0"/>
          </a:p>
          <a:p>
            <a:r>
              <a:rPr lang="en-US" sz="1100" dirty="0" err="1"/>
              <a:t>proguard</a:t>
            </a:r>
            <a:endParaRPr lang="en-US" sz="1100" dirty="0"/>
          </a:p>
          <a:p>
            <a:r>
              <a:rPr lang="en-US" sz="1100" dirty="0" err="1"/>
              <a:t>protobuf</a:t>
            </a:r>
            <a:endParaRPr lang="en-US" sz="1100" dirty="0"/>
          </a:p>
          <a:p>
            <a:r>
              <a:rPr lang="en-US" sz="1100" dirty="0" err="1"/>
              <a:t>qemu</a:t>
            </a:r>
            <a:endParaRPr lang="en-US" sz="1100" dirty="0"/>
          </a:p>
          <a:p>
            <a:r>
              <a:rPr lang="en-US" sz="1100" dirty="0" err="1"/>
              <a:t>qemu</a:t>
            </a:r>
            <a:r>
              <a:rPr lang="en-US" sz="1100" dirty="0"/>
              <a:t>-pc-bios</a:t>
            </a:r>
          </a:p>
          <a:p>
            <a:r>
              <a:rPr lang="en-US" sz="1100" dirty="0"/>
              <a:t>regex-re2</a:t>
            </a:r>
          </a:p>
          <a:p>
            <a:r>
              <a:rPr lang="en-US" sz="1100" dirty="0" err="1"/>
              <a:t>replicaisland</a:t>
            </a:r>
            <a:endParaRPr lang="en-US" sz="1100" dirty="0"/>
          </a:p>
          <a:p>
            <a:r>
              <a:rPr lang="en-US" sz="1100" dirty="0" err="1"/>
              <a:t>robolectric</a:t>
            </a:r>
            <a:endParaRPr lang="en-US" sz="1100" dirty="0"/>
          </a:p>
          <a:p>
            <a:r>
              <a:rPr lang="en-US" sz="1100" dirty="0"/>
              <a:t>safe-</a:t>
            </a:r>
            <a:r>
              <a:rPr lang="en-US" sz="1100" dirty="0" err="1"/>
              <a:t>iop</a:t>
            </a:r>
            <a:endParaRPr lang="en-US" sz="1100" dirty="0"/>
          </a:p>
          <a:p>
            <a:r>
              <a:rPr lang="en-US" sz="1100" dirty="0" err="1"/>
              <a:t>scrypt</a:t>
            </a:r>
            <a:endParaRPr lang="en-US" sz="1100" dirty="0"/>
          </a:p>
          <a:p>
            <a:r>
              <a:rPr lang="en-US" sz="1100" dirty="0" err="1"/>
              <a:t>sepolicy</a:t>
            </a:r>
            <a:endParaRPr lang="en-US" sz="1100" dirty="0"/>
          </a:p>
          <a:p>
            <a:r>
              <a:rPr lang="en-US" sz="1100" dirty="0" err="1"/>
              <a:t>sfntly</a:t>
            </a:r>
            <a:endParaRPr lang="en-US" sz="1100" dirty="0"/>
          </a:p>
          <a:p>
            <a:r>
              <a:rPr lang="en-US" sz="1100" dirty="0" err="1"/>
              <a:t>sil</a:t>
            </a:r>
            <a:r>
              <a:rPr lang="en-US" sz="1100" dirty="0"/>
              <a:t>-fonts</a:t>
            </a:r>
          </a:p>
          <a:p>
            <a:r>
              <a:rPr lang="en-US" sz="1100" dirty="0" err="1"/>
              <a:t>skia</a:t>
            </a:r>
            <a:endParaRPr lang="en-US" sz="1100" dirty="0"/>
          </a:p>
          <a:p>
            <a:r>
              <a:rPr lang="en-US" sz="1100" dirty="0"/>
              <a:t>smack</a:t>
            </a:r>
          </a:p>
          <a:p>
            <a:r>
              <a:rPr lang="en-US" sz="1100" dirty="0" err="1"/>
              <a:t>smali</a:t>
            </a:r>
            <a:endParaRPr lang="en-US" sz="1100" dirty="0"/>
          </a:p>
          <a:p>
            <a:r>
              <a:rPr lang="en-US" sz="1100" dirty="0" err="1"/>
              <a:t>sonivox</a:t>
            </a:r>
            <a:endParaRPr lang="en-US" sz="1100" dirty="0"/>
          </a:p>
          <a:p>
            <a:r>
              <a:rPr lang="en-US" sz="1100" dirty="0" err="1"/>
              <a:t>speex</a:t>
            </a:r>
            <a:endParaRPr lang="en-US" sz="1100" dirty="0"/>
          </a:p>
          <a:p>
            <a:r>
              <a:rPr lang="en-US" sz="1100" dirty="0" err="1"/>
              <a:t>sqlite</a:t>
            </a:r>
            <a:endParaRPr lang="en-US" sz="1100" dirty="0"/>
          </a:p>
          <a:p>
            <a:r>
              <a:rPr lang="en-US" sz="1100" dirty="0" err="1"/>
              <a:t>srec</a:t>
            </a:r>
            <a:endParaRPr lang="en-US" sz="1100" dirty="0"/>
          </a:p>
          <a:p>
            <a:r>
              <a:rPr lang="en-US" sz="1100" dirty="0" err="1"/>
              <a:t>srtp</a:t>
            </a:r>
            <a:endParaRPr lang="en-US" sz="1100" dirty="0"/>
          </a:p>
          <a:p>
            <a:r>
              <a:rPr lang="en-US" sz="1100" dirty="0" err="1"/>
              <a:t>stlport</a:t>
            </a:r>
            <a:endParaRPr lang="en-US" sz="1100" dirty="0"/>
          </a:p>
          <a:p>
            <a:r>
              <a:rPr lang="en-US" sz="1100" dirty="0" err="1"/>
              <a:t>strace</a:t>
            </a:r>
            <a:endParaRPr lang="en-US" sz="1100" dirty="0"/>
          </a:p>
          <a:p>
            <a:r>
              <a:rPr lang="en-US" sz="1100" dirty="0" err="1"/>
              <a:t>stressapptest</a:t>
            </a:r>
            <a:endParaRPr lang="en-US" sz="1100" dirty="0"/>
          </a:p>
          <a:p>
            <a:r>
              <a:rPr lang="en-US" sz="1100" dirty="0" err="1"/>
              <a:t>svox</a:t>
            </a:r>
            <a:endParaRPr lang="en-US" sz="1100" dirty="0"/>
          </a:p>
          <a:p>
            <a:r>
              <a:rPr lang="en-US" sz="1100" dirty="0" err="1"/>
              <a:t>tagsoup</a:t>
            </a:r>
            <a:endParaRPr lang="en-US" sz="1100" dirty="0"/>
          </a:p>
          <a:p>
            <a:r>
              <a:rPr lang="en-US" sz="1100" dirty="0" err="1"/>
              <a:t>tcpdump</a:t>
            </a:r>
            <a:endParaRPr lang="en-US" sz="1100" dirty="0"/>
          </a:p>
          <a:p>
            <a:r>
              <a:rPr lang="en-US" sz="1100" dirty="0" err="1"/>
              <a:t>timezonepicker</a:t>
            </a:r>
            <a:r>
              <a:rPr lang="en-US" sz="1100" dirty="0"/>
              <a:t>-support</a:t>
            </a:r>
          </a:p>
          <a:p>
            <a:r>
              <a:rPr lang="en-US" sz="1100" dirty="0" err="1"/>
              <a:t>tinyalsa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7831801" y="1254819"/>
            <a:ext cx="163674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tinycompress</a:t>
            </a:r>
            <a:endParaRPr lang="en-US" sz="1100" dirty="0"/>
          </a:p>
          <a:p>
            <a:r>
              <a:rPr lang="en-US" sz="1100" dirty="0" err="1"/>
              <a:t>tinyxml</a:t>
            </a:r>
            <a:endParaRPr lang="en-US" sz="1100" dirty="0"/>
          </a:p>
          <a:p>
            <a:r>
              <a:rPr lang="en-US" sz="1100" dirty="0"/>
              <a:t>tinyxml2</a:t>
            </a:r>
          </a:p>
          <a:p>
            <a:r>
              <a:rPr lang="en-US" sz="1100" dirty="0"/>
              <a:t>tremolo</a:t>
            </a:r>
          </a:p>
          <a:p>
            <a:r>
              <a:rPr lang="en-US" sz="1100" dirty="0"/>
              <a:t>v8</a:t>
            </a:r>
          </a:p>
          <a:p>
            <a:r>
              <a:rPr lang="en-US" sz="1100" dirty="0" err="1"/>
              <a:t>valgrind</a:t>
            </a:r>
            <a:endParaRPr lang="en-US" sz="1100" dirty="0"/>
          </a:p>
          <a:p>
            <a:r>
              <a:rPr lang="en-US" sz="1100" dirty="0" err="1"/>
              <a:t>webp</a:t>
            </a:r>
            <a:endParaRPr lang="en-US" sz="1100" dirty="0"/>
          </a:p>
          <a:p>
            <a:r>
              <a:rPr lang="en-US" sz="1100" dirty="0" err="1"/>
              <a:t>webrtc</a:t>
            </a:r>
            <a:endParaRPr lang="en-US" sz="1100" dirty="0"/>
          </a:p>
          <a:p>
            <a:r>
              <a:rPr lang="en-US" sz="1100" dirty="0"/>
              <a:t>wpa_supplicant_8</a:t>
            </a:r>
          </a:p>
          <a:p>
            <a:r>
              <a:rPr lang="en-US" sz="1100" dirty="0" err="1"/>
              <a:t>xmlwriter</a:t>
            </a:r>
            <a:endParaRPr lang="en-US" sz="1100" dirty="0"/>
          </a:p>
          <a:p>
            <a:r>
              <a:rPr lang="en-US" sz="1100" dirty="0" err="1"/>
              <a:t>xmp_toolkit</a:t>
            </a:r>
            <a:endParaRPr lang="en-US" sz="1100" dirty="0"/>
          </a:p>
          <a:p>
            <a:r>
              <a:rPr lang="en-US" sz="1100" dirty="0"/>
              <a:t>yaffs2</a:t>
            </a:r>
          </a:p>
          <a:p>
            <a:r>
              <a:rPr lang="en-US" sz="1100" dirty="0" err="1"/>
              <a:t>zlib</a:t>
            </a:r>
            <a:endParaRPr lang="en-US" sz="1100" dirty="0"/>
          </a:p>
          <a:p>
            <a:r>
              <a:rPr lang="en-US" sz="1100" dirty="0" err="1"/>
              <a:t>zxing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6696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Kernel/Driver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7118176" cy="5327650"/>
          </a:xfrm>
        </p:spPr>
        <p:txBody>
          <a:bodyPr/>
          <a:lstStyle/>
          <a:p>
            <a:r>
              <a:rPr lang="en-US" dirty="0" smtClean="0"/>
              <a:t>Android Source Tree</a:t>
            </a:r>
          </a:p>
          <a:p>
            <a:pPr marL="457200" lvl="1" indent="0">
              <a:buNone/>
            </a:pPr>
            <a:r>
              <a:rPr lang="en-US" dirty="0" smtClean="0"/>
              <a:t>Ex. Nexus7(2013)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lvl="1"/>
            <a:r>
              <a:rPr lang="en-US" dirty="0" smtClean="0"/>
              <a:t>Device</a:t>
            </a:r>
          </a:p>
          <a:p>
            <a:pPr lvl="2"/>
            <a:r>
              <a:rPr lang="en-US" dirty="0" smtClean="0"/>
              <a:t>Asus</a:t>
            </a:r>
          </a:p>
          <a:p>
            <a:pPr lvl="3"/>
            <a:r>
              <a:rPr lang="en-US" dirty="0" err="1"/>
              <a:t>flo</a:t>
            </a:r>
            <a:endParaRPr lang="en-US" dirty="0"/>
          </a:p>
          <a:p>
            <a:pPr lvl="3"/>
            <a:r>
              <a:rPr lang="en-US" dirty="0" err="1" smtClean="0"/>
              <a:t>flo</a:t>
            </a:r>
            <a:r>
              <a:rPr lang="en-US" dirty="0" smtClean="0"/>
              <a:t>-kernel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563888" y="1413718"/>
            <a:ext cx="3810000" cy="5327650"/>
          </a:xfrm>
        </p:spPr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/>
              <a:t>Hardware</a:t>
            </a:r>
          </a:p>
          <a:p>
            <a:pPr lvl="2"/>
            <a:r>
              <a:rPr lang="en-US" dirty="0" err="1"/>
              <a:t>Qcom</a:t>
            </a:r>
            <a:endParaRPr lang="en-US" dirty="0"/>
          </a:p>
          <a:p>
            <a:pPr lvl="3"/>
            <a:r>
              <a:rPr lang="en-US" dirty="0"/>
              <a:t>audio</a:t>
            </a:r>
          </a:p>
          <a:p>
            <a:pPr lvl="3"/>
            <a:r>
              <a:rPr lang="en-US" dirty="0" err="1"/>
              <a:t>bt</a:t>
            </a:r>
            <a:endParaRPr lang="en-US" dirty="0"/>
          </a:p>
          <a:p>
            <a:pPr lvl="3"/>
            <a:r>
              <a:rPr lang="en-US" dirty="0"/>
              <a:t>camera</a:t>
            </a:r>
          </a:p>
          <a:p>
            <a:pPr lvl="3"/>
            <a:r>
              <a:rPr lang="en-US" dirty="0"/>
              <a:t>display</a:t>
            </a:r>
          </a:p>
          <a:p>
            <a:pPr lvl="3"/>
            <a:r>
              <a:rPr lang="en-US" dirty="0" err="1"/>
              <a:t>keymaster</a:t>
            </a:r>
            <a:endParaRPr lang="en-US" dirty="0"/>
          </a:p>
          <a:p>
            <a:pPr lvl="3"/>
            <a:r>
              <a:rPr lang="en-US" dirty="0"/>
              <a:t>media</a:t>
            </a:r>
          </a:p>
          <a:p>
            <a:pPr lvl="3"/>
            <a:r>
              <a:rPr lang="en-US" dirty="0"/>
              <a:t>msm8960</a:t>
            </a:r>
          </a:p>
          <a:p>
            <a:pPr lvl="3"/>
            <a:r>
              <a:rPr lang="en-US" dirty="0"/>
              <a:t>msm8x74</a:t>
            </a:r>
          </a:p>
          <a:p>
            <a:pPr lvl="3"/>
            <a:r>
              <a:rPr lang="en-US" dirty="0"/>
              <a:t>power</a:t>
            </a:r>
          </a:p>
          <a:p>
            <a:pPr lvl="3"/>
            <a:r>
              <a:rPr lang="en-US" dirty="0"/>
              <a:t>sensors</a:t>
            </a:r>
          </a:p>
          <a:p>
            <a:pPr lvl="3"/>
            <a:r>
              <a:rPr lang="en-US" dirty="0" err="1"/>
              <a:t>wlan</a:t>
            </a:r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3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125538"/>
            <a:ext cx="3649240" cy="5327650"/>
          </a:xfrm>
        </p:spPr>
        <p:txBody>
          <a:bodyPr/>
          <a:lstStyle/>
          <a:p>
            <a:r>
              <a:rPr lang="en-US" dirty="0" smtClean="0"/>
              <a:t>3 Types License</a:t>
            </a:r>
          </a:p>
          <a:p>
            <a:pPr lvl="1"/>
            <a:r>
              <a:rPr lang="en-US" dirty="0" smtClean="0"/>
              <a:t>Apache 2.0</a:t>
            </a:r>
          </a:p>
          <a:p>
            <a:pPr lvl="2"/>
            <a:r>
              <a:rPr lang="en-US" dirty="0" smtClean="0"/>
              <a:t>All Application Framework</a:t>
            </a:r>
          </a:p>
          <a:p>
            <a:pPr lvl="2"/>
            <a:r>
              <a:rPr lang="en-US" dirty="0" smtClean="0"/>
              <a:t>Some Libraries</a:t>
            </a:r>
          </a:p>
          <a:p>
            <a:pPr lvl="3"/>
            <a:r>
              <a:rPr lang="en-US" dirty="0" smtClean="0"/>
              <a:t>Bionic</a:t>
            </a:r>
          </a:p>
          <a:p>
            <a:pPr lvl="1"/>
            <a:r>
              <a:rPr lang="en-US" dirty="0" smtClean="0"/>
              <a:t>GPL</a:t>
            </a:r>
          </a:p>
          <a:p>
            <a:pPr lvl="2"/>
            <a:r>
              <a:rPr lang="en-US" dirty="0" smtClean="0"/>
              <a:t>Almost Libraries</a:t>
            </a:r>
          </a:p>
          <a:p>
            <a:pPr lvl="2"/>
            <a:r>
              <a:rPr lang="en-US" dirty="0" smtClean="0"/>
              <a:t>Linux Kernel</a:t>
            </a:r>
          </a:p>
          <a:p>
            <a:pPr lvl="1"/>
            <a:r>
              <a:rPr lang="en-US" dirty="0"/>
              <a:t>Google </a:t>
            </a:r>
            <a:r>
              <a:rPr lang="en-US" dirty="0" smtClean="0"/>
              <a:t>Proprietary</a:t>
            </a:r>
          </a:p>
          <a:p>
            <a:pPr lvl="2"/>
            <a:r>
              <a:rPr lang="en-US" dirty="0" smtClean="0"/>
              <a:t>Google Applications from Play Store</a:t>
            </a:r>
          </a:p>
          <a:p>
            <a:pPr lvl="3"/>
            <a:r>
              <a:rPr lang="en-US" dirty="0" smtClean="0"/>
              <a:t>How to Get Play Store?</a:t>
            </a:r>
          </a:p>
          <a:p>
            <a:pPr lvl="4"/>
            <a:r>
              <a:rPr lang="en-US" dirty="0" smtClean="0"/>
              <a:t>Pass 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5" b="-1"/>
          <a:stretch/>
        </p:blipFill>
        <p:spPr>
          <a:xfrm>
            <a:off x="4436525" y="2686279"/>
            <a:ext cx="4707475" cy="383906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211960" y="2924944"/>
            <a:ext cx="5275409" cy="2036513"/>
          </a:xfrm>
          <a:prstGeom prst="ellipse">
            <a:avLst/>
          </a:prstGeom>
          <a:solidFill>
            <a:srgbClr val="0080FF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2.0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152557" y="4628776"/>
            <a:ext cx="5275409" cy="1916858"/>
          </a:xfrm>
          <a:prstGeom prst="ellipse">
            <a:avLst/>
          </a:prstGeom>
          <a:solidFill>
            <a:srgbClr val="FF0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GPL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843" y="1863611"/>
            <a:ext cx="860173" cy="8601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570" y="1887686"/>
            <a:ext cx="774519" cy="7745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189" y="1834600"/>
            <a:ext cx="880690" cy="8806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643" y="1838737"/>
            <a:ext cx="1133741" cy="8503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605" y="1049415"/>
            <a:ext cx="744117" cy="74411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211960" y="868141"/>
            <a:ext cx="5275409" cy="2036513"/>
          </a:xfrm>
          <a:prstGeom prst="ellipse">
            <a:avLst/>
          </a:prstGeom>
          <a:solidFill>
            <a:srgbClr val="FFC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Google Proprietary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178016" y="889435"/>
            <a:ext cx="5275409" cy="5661190"/>
          </a:xfrm>
          <a:prstGeom prst="ellipse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 smtClean="0"/>
              <a:t>Google Android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443135" y="2736770"/>
            <a:ext cx="4707475" cy="3832516"/>
          </a:xfrm>
          <a:prstGeom prst="ellipse">
            <a:avLst/>
          </a:prstGeom>
          <a:solidFill>
            <a:srgbClr val="0080FF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AOSP</a:t>
            </a:r>
          </a:p>
          <a:p>
            <a:pPr algn="ctr"/>
            <a:r>
              <a:rPr lang="en-US" dirty="0" smtClean="0"/>
              <a:t>(Android Open Source Project)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50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12" grpId="0" animBg="1"/>
      <p:bldP spid="12" grpId="1" animBg="1"/>
      <p:bldP spid="13" grpId="0" animBg="1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Develop?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ADT</a:t>
            </a:r>
          </a:p>
          <a:p>
            <a:pPr lvl="1"/>
            <a:r>
              <a:rPr lang="en-US" dirty="0" smtClean="0"/>
              <a:t>Standard Android Application</a:t>
            </a:r>
          </a:p>
          <a:p>
            <a:pPr lvl="1"/>
            <a:r>
              <a:rPr lang="en-US" dirty="0" smtClean="0"/>
              <a:t>Only Java on Application Framework Layer</a:t>
            </a:r>
          </a:p>
          <a:p>
            <a:pPr lvl="1"/>
            <a:endParaRPr lang="en-US" dirty="0"/>
          </a:p>
          <a:p>
            <a:r>
              <a:rPr lang="en-US" altLang="ja-JP" dirty="0"/>
              <a:t>A</a:t>
            </a:r>
            <a:r>
              <a:rPr lang="en-US" altLang="ja-JP" dirty="0" smtClean="0"/>
              <a:t>dvantage</a:t>
            </a:r>
            <a:endParaRPr lang="en-US" dirty="0" smtClean="0"/>
          </a:p>
          <a:p>
            <a:pPr lvl="1"/>
            <a:r>
              <a:rPr lang="en-US" dirty="0" smtClean="0"/>
              <a:t>Use </a:t>
            </a:r>
            <a:r>
              <a:rPr lang="en-US" dirty="0" smtClean="0">
                <a:solidFill>
                  <a:srgbClr val="FF0000"/>
                </a:solidFill>
              </a:rPr>
              <a:t>All</a:t>
            </a:r>
            <a:r>
              <a:rPr lang="en-US" dirty="0" smtClean="0"/>
              <a:t> Android Tools</a:t>
            </a:r>
          </a:p>
          <a:p>
            <a:pPr lvl="1"/>
            <a:r>
              <a:rPr lang="en-US" dirty="0" smtClean="0"/>
              <a:t>Many Docs from Google Developer Site &amp; Blogs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APK File(</a:t>
            </a:r>
            <a:r>
              <a:rPr lang="en-US" dirty="0"/>
              <a:t>Your 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(Java)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148064" y="3248247"/>
            <a:ext cx="3744416" cy="900833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Framework</a:t>
            </a:r>
          </a:p>
          <a:p>
            <a:pPr algn="ctr"/>
            <a:r>
              <a:rPr lang="en-US" dirty="0" smtClean="0"/>
              <a:t>Layer (Java)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5940152" y="2780928"/>
            <a:ext cx="4320480" cy="461665"/>
            <a:chOff x="2483768" y="2792142"/>
            <a:chExt cx="4320480" cy="461665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Java API</a:t>
              </a:r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40152" y="4149080"/>
            <a:ext cx="4320480" cy="467319"/>
            <a:chOff x="2843808" y="2780928"/>
            <a:chExt cx="4320480" cy="467319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JNI(C/C++)</a:t>
              </a:r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58864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Develop?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NDK w/ADT</a:t>
            </a:r>
            <a:endParaRPr lang="en-US" dirty="0"/>
          </a:p>
          <a:p>
            <a:pPr lvl="1"/>
            <a:r>
              <a:rPr lang="en-US" dirty="0"/>
              <a:t>Standard Android Application for C/C++</a:t>
            </a:r>
          </a:p>
          <a:p>
            <a:pPr lvl="1"/>
            <a:r>
              <a:rPr lang="en-US" dirty="0" smtClean="0"/>
              <a:t>Java </a:t>
            </a:r>
            <a:r>
              <a:rPr lang="en-US" dirty="0"/>
              <a:t>on Application Framework </a:t>
            </a:r>
            <a:r>
              <a:rPr lang="en-US" dirty="0" smtClean="0"/>
              <a:t>Layer</a:t>
            </a:r>
          </a:p>
          <a:p>
            <a:pPr lvl="1"/>
            <a:r>
              <a:rPr lang="en-US" dirty="0" smtClean="0"/>
              <a:t>C/C++ on </a:t>
            </a:r>
            <a:r>
              <a:rPr lang="en-US" b="1" dirty="0" smtClean="0">
                <a:solidFill>
                  <a:srgbClr val="FF0000"/>
                </a:solidFill>
              </a:rPr>
              <a:t>Limited</a:t>
            </a:r>
            <a:r>
              <a:rPr lang="en-US" dirty="0" smtClean="0"/>
              <a:t> Library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ja-JP" dirty="0"/>
              <a:t>Advantage</a:t>
            </a:r>
            <a:endParaRPr lang="en-US" dirty="0"/>
          </a:p>
          <a:p>
            <a:pPr lvl="1"/>
            <a:r>
              <a:rPr lang="en-US" dirty="0" smtClean="0"/>
              <a:t>Use </a:t>
            </a:r>
            <a:r>
              <a:rPr lang="en-US" b="1" dirty="0" err="1" smtClean="0">
                <a:solidFill>
                  <a:srgbClr val="FF0000"/>
                </a:solidFill>
              </a:rPr>
              <a:t>Java&amp;C</a:t>
            </a:r>
            <a:r>
              <a:rPr lang="en-US" b="1" dirty="0" smtClean="0">
                <a:solidFill>
                  <a:srgbClr val="FF0000"/>
                </a:solidFill>
              </a:rPr>
              <a:t>/C++</a:t>
            </a:r>
            <a:endParaRPr lang="en-US" dirty="0" smtClean="0"/>
          </a:p>
          <a:p>
            <a:r>
              <a:rPr lang="en-US" altLang="ja-JP" dirty="0" smtClean="0"/>
              <a:t>Dis-Advantage</a:t>
            </a:r>
            <a:endParaRPr lang="en-US" dirty="0"/>
          </a:p>
          <a:p>
            <a:pPr lvl="1"/>
            <a:r>
              <a:rPr lang="en-US" dirty="0" smtClean="0"/>
              <a:t>Must Use UI Framework on Java Layer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APK File(</a:t>
            </a:r>
            <a:r>
              <a:rPr lang="en-US" dirty="0"/>
              <a:t>Your 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(Java &amp; C/C++)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724128" y="3248247"/>
            <a:ext cx="3168352" cy="900833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Framework</a:t>
            </a:r>
          </a:p>
          <a:p>
            <a:pPr algn="ctr"/>
            <a:r>
              <a:rPr lang="en-US" dirty="0" smtClean="0"/>
              <a:t>Layer (Java)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5940152" y="2780928"/>
            <a:ext cx="4320480" cy="461665"/>
            <a:chOff x="2483768" y="2792142"/>
            <a:chExt cx="4320480" cy="461665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Java API</a:t>
              </a:r>
              <a:endParaRPr lang="en-US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5436096" y="2798663"/>
            <a:ext cx="0" cy="17644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41490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as JNI(C/C++)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74186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Develop?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NDK </a:t>
            </a:r>
            <a:r>
              <a:rPr lang="en-US" dirty="0" err="1" smtClean="0"/>
              <a:t>wo</a:t>
            </a:r>
            <a:r>
              <a:rPr lang="en-US" dirty="0" smtClean="0"/>
              <a:t>/ADT</a:t>
            </a:r>
            <a:endParaRPr lang="en-US" dirty="0"/>
          </a:p>
          <a:p>
            <a:pPr lvl="1"/>
            <a:r>
              <a:rPr lang="en-US" dirty="0" smtClean="0"/>
              <a:t>Standard </a:t>
            </a:r>
            <a:r>
              <a:rPr lang="en-US" dirty="0"/>
              <a:t>Android Application for C/C++</a:t>
            </a:r>
          </a:p>
          <a:p>
            <a:pPr lvl="1"/>
            <a:r>
              <a:rPr lang="en-US" dirty="0" smtClean="0"/>
              <a:t>Only C/C++ on </a:t>
            </a:r>
            <a:r>
              <a:rPr lang="en-US" b="1" dirty="0" smtClean="0">
                <a:solidFill>
                  <a:srgbClr val="FF0000"/>
                </a:solidFill>
              </a:rPr>
              <a:t>Limited</a:t>
            </a:r>
            <a:r>
              <a:rPr lang="en-US" dirty="0" smtClean="0"/>
              <a:t> Library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ja-JP" dirty="0" smtClean="0"/>
              <a:t>Advantage</a:t>
            </a:r>
          </a:p>
          <a:p>
            <a:pPr lvl="1"/>
            <a:r>
              <a:rPr lang="en-US" altLang="ja-JP" dirty="0" smtClean="0"/>
              <a:t>Only C/C++</a:t>
            </a:r>
          </a:p>
          <a:p>
            <a:pPr lvl="1"/>
            <a:r>
              <a:rPr lang="en-US" altLang="ja-JP" dirty="0" err="1" smtClean="0"/>
              <a:t>DirectCall</a:t>
            </a:r>
            <a:r>
              <a:rPr lang="en-US" altLang="ja-JP" dirty="0" smtClean="0"/>
              <a:t> C/C++ API</a:t>
            </a:r>
          </a:p>
          <a:p>
            <a:r>
              <a:rPr lang="en-US" altLang="ja-JP" dirty="0" smtClean="0"/>
              <a:t>Dis-Advantage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 smtClean="0">
                <a:solidFill>
                  <a:srgbClr val="FF0000"/>
                </a:solidFill>
              </a:rPr>
              <a:t>a few</a:t>
            </a:r>
            <a:r>
              <a:rPr lang="en-US" dirty="0" smtClean="0"/>
              <a:t> Android </a:t>
            </a:r>
            <a:r>
              <a:rPr lang="en-US" dirty="0"/>
              <a:t>Tools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A few</a:t>
            </a:r>
            <a:r>
              <a:rPr lang="en-US" dirty="0" smtClean="0"/>
              <a:t> </a:t>
            </a:r>
            <a:r>
              <a:rPr lang="en-US" dirty="0"/>
              <a:t>Docs from Google Developer Site &amp; Blogs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APK File(</a:t>
            </a:r>
            <a:r>
              <a:rPr lang="en-US" dirty="0"/>
              <a:t>Your 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(C/C++)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436096" y="2798663"/>
            <a:ext cx="0" cy="17644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41490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as </a:t>
            </a:r>
            <a:r>
              <a:rPr lang="en-US" dirty="0" smtClean="0">
                <a:solidFill>
                  <a:srgbClr val="FF0000"/>
                </a:solidFill>
              </a:rPr>
              <a:t>C/C++ APIs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4958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Develop?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As Linux Application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Non-</a:t>
            </a:r>
            <a:r>
              <a:rPr lang="en-US" dirty="0" smtClean="0"/>
              <a:t>Standard </a:t>
            </a:r>
            <a:r>
              <a:rPr lang="en-US" dirty="0"/>
              <a:t>Android </a:t>
            </a:r>
            <a:r>
              <a:rPr lang="en-US" dirty="0" smtClean="0"/>
              <a:t>Application</a:t>
            </a:r>
            <a:endParaRPr lang="en-US" dirty="0"/>
          </a:p>
          <a:p>
            <a:pPr lvl="1"/>
            <a:r>
              <a:rPr lang="en-US" dirty="0" smtClean="0"/>
              <a:t>Full Linux C/C++ on Library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ja-JP" dirty="0" smtClean="0"/>
              <a:t>Advantage</a:t>
            </a:r>
          </a:p>
          <a:p>
            <a:pPr lvl="1"/>
            <a:r>
              <a:rPr lang="en-US" altLang="ja-JP" dirty="0" smtClean="0"/>
              <a:t>Use Other Linux Libs</a:t>
            </a:r>
          </a:p>
          <a:p>
            <a:r>
              <a:rPr lang="en-US" altLang="ja-JP" dirty="0" smtClean="0"/>
              <a:t>Dis-Advantage</a:t>
            </a:r>
            <a:endParaRPr lang="en-US" dirty="0"/>
          </a:p>
          <a:p>
            <a:pPr lvl="1"/>
            <a:r>
              <a:rPr lang="en-US" dirty="0" smtClean="0"/>
              <a:t>Must Modify Android System</a:t>
            </a:r>
            <a:endParaRPr lang="en-US" dirty="0"/>
          </a:p>
          <a:p>
            <a:pPr lvl="2"/>
            <a:r>
              <a:rPr lang="en-US" dirty="0" smtClean="0"/>
              <a:t>How to Modify on next Lecture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ELF</a:t>
            </a:r>
            <a:r>
              <a:rPr lang="en-US" dirty="0" smtClean="0"/>
              <a:t> File(Your </a:t>
            </a:r>
            <a:r>
              <a:rPr lang="en-US" dirty="0"/>
              <a:t>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(C/C++)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+ </a:t>
            </a:r>
            <a:r>
              <a:rPr lang="en-US" dirty="0" smtClean="0">
                <a:solidFill>
                  <a:srgbClr val="FF0000"/>
                </a:solidFill>
              </a:rPr>
              <a:t>Linux Libs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436096" y="2798663"/>
            <a:ext cx="0" cy="17644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41490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as </a:t>
            </a:r>
            <a:r>
              <a:rPr lang="en-US" dirty="0" smtClean="0">
                <a:solidFill>
                  <a:srgbClr val="FF0000"/>
                </a:solidFill>
              </a:rPr>
              <a:t>C/C++ APIs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52903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pPr algn="ctr"/>
            <a:r>
              <a:rPr lang="en-US" altLang="ja-JP" sz="4800" dirty="0" smtClean="0"/>
              <a:t>Development Tips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10988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Help | Android </a:t>
            </a:r>
            <a:r>
              <a:rPr lang="en-US" dirty="0" smtClean="0"/>
              <a:t>Developers</a:t>
            </a:r>
          </a:p>
          <a:p>
            <a:pPr lvl="1"/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developer.android.com/tools/help/index.html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1"/>
          <p:cNvSpPr txBox="1"/>
          <p:nvPr/>
        </p:nvSpPr>
        <p:spPr>
          <a:xfrm>
            <a:off x="1619672" y="2924944"/>
            <a:ext cx="2391680" cy="331789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jet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android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apps/SdkController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ddms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dmtracedump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draw9patch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emulator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etc1tool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hierarchyviewer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hprof-conv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layoutopt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5364088" y="2924944"/>
            <a:ext cx="2321148" cy="331789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jobb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lint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mksdcard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monitor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monkey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monkeyrunner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proguard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sqlite3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systrace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traceview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uiautomatorviewer</a:t>
            </a:r>
          </a:p>
          <a:p>
            <a:pPr>
              <a:lnSpc>
                <a:spcPts val="2200"/>
              </a:lnSpc>
              <a:tabLst/>
            </a:pPr>
            <a:r>
              <a:rPr lang="en-US" altLang="zh-CN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zipalign</a:t>
            </a:r>
          </a:p>
        </p:txBody>
      </p:sp>
    </p:spTree>
    <p:extLst>
      <p:ext uri="{BB962C8B-B14F-4D97-AF65-F5344CB8AC3E}">
        <p14:creationId xmlns:p14="http://schemas.microsoft.com/office/powerpoint/2010/main" val="335510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jet</a:t>
            </a:r>
          </a:p>
          <a:p>
            <a:pPr lvl="1"/>
            <a:r>
              <a:rPr lang="en-US" dirty="0" smtClean="0"/>
              <a:t>Making Music File for </a:t>
            </a:r>
            <a:r>
              <a:rPr lang="en-US" dirty="0" err="1" smtClean="0"/>
              <a:t>JetPlayer</a:t>
            </a:r>
            <a:endParaRPr lang="en-US" dirty="0" smtClean="0"/>
          </a:p>
          <a:p>
            <a:pPr lvl="2"/>
            <a:r>
              <a:rPr lang="en-US" dirty="0" err="1"/>
              <a:t>JetPlayer</a:t>
            </a:r>
            <a:r>
              <a:rPr lang="en-US" dirty="0"/>
              <a:t> | Android Developers </a:t>
            </a:r>
            <a:endParaRPr lang="en-US" dirty="0" smtClean="0"/>
          </a:p>
          <a:p>
            <a:pPr lvl="3"/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developer.android.com/reference/android/media/JetPlayer.html</a:t>
            </a:r>
            <a:endParaRPr lang="en-US" dirty="0" smtClean="0"/>
          </a:p>
          <a:p>
            <a:r>
              <a:rPr lang="en-US" dirty="0" smtClean="0"/>
              <a:t>android</a:t>
            </a:r>
          </a:p>
          <a:p>
            <a:pPr lvl="1"/>
            <a:r>
              <a:rPr lang="en-US" dirty="0" smtClean="0"/>
              <a:t>Manage Project, SDK, Android Virtual Devices</a:t>
            </a:r>
          </a:p>
          <a:p>
            <a:pPr lvl="2"/>
            <a:r>
              <a:rPr lang="fr-FR" dirty="0" err="1"/>
              <a:t>android</a:t>
            </a:r>
            <a:r>
              <a:rPr lang="fr-FR" dirty="0"/>
              <a:t> | Android </a:t>
            </a:r>
            <a:r>
              <a:rPr lang="fr-FR" dirty="0" err="1"/>
              <a:t>Developers</a:t>
            </a:r>
            <a:r>
              <a:rPr lang="fr-FR" dirty="0"/>
              <a:t> </a:t>
            </a:r>
            <a:endParaRPr lang="fr-FR" dirty="0" smtClean="0"/>
          </a:p>
          <a:p>
            <a:pPr lvl="3"/>
            <a:r>
              <a:rPr lang="fr-FR" dirty="0" smtClean="0">
                <a:hlinkClick r:id="rId3"/>
              </a:rPr>
              <a:t>http</a:t>
            </a:r>
            <a:r>
              <a:rPr lang="fr-FR" dirty="0">
                <a:hlinkClick r:id="rId3"/>
              </a:rPr>
              <a:t>://</a:t>
            </a:r>
            <a:r>
              <a:rPr lang="fr-FR" dirty="0" smtClean="0">
                <a:hlinkClick r:id="rId3"/>
              </a:rPr>
              <a:t>developer.android.com/tools/help/android.html</a:t>
            </a:r>
            <a:endParaRPr lang="fr-FR" dirty="0" smtClean="0"/>
          </a:p>
          <a:p>
            <a:r>
              <a:rPr lang="fr-FR" dirty="0" err="1"/>
              <a:t>a</a:t>
            </a:r>
            <a:r>
              <a:rPr lang="fr-FR" dirty="0" err="1" smtClean="0"/>
              <a:t>nt</a:t>
            </a:r>
            <a:endParaRPr lang="fr-FR" dirty="0" smtClean="0"/>
          </a:p>
          <a:p>
            <a:pPr lvl="1"/>
            <a:r>
              <a:rPr lang="fr-FR" dirty="0" smtClean="0"/>
              <a:t>Apache </a:t>
            </a:r>
            <a:r>
              <a:rPr lang="fr-FR" dirty="0" err="1" smtClean="0"/>
              <a:t>Ant</a:t>
            </a:r>
            <a:endParaRPr lang="fr-FR" dirty="0" smtClean="0"/>
          </a:p>
          <a:p>
            <a:pPr lvl="2"/>
            <a:r>
              <a:rPr lang="en-US" altLang="zh-CN" u="sng" dirty="0" smtClean="0">
                <a:solidFill>
                  <a:srgbClr val="1155CC"/>
                </a:solidFill>
                <a:latin typeface="Times New Roman" pitchFamily="18" charset="0"/>
                <a:cs typeface="Times New Roman" pitchFamily="18" charset="0"/>
                <a:hlinkClick r:id="rId4"/>
              </a:rPr>
              <a:t>http</a:t>
            </a:r>
            <a:r>
              <a:rPr lang="en-US" altLang="zh-CN" u="sng" dirty="0">
                <a:solidFill>
                  <a:srgbClr val="1155CC"/>
                </a:solidFill>
                <a:latin typeface="Times New Roman" pitchFamily="18" charset="0"/>
                <a:cs typeface="Times New Roman" pitchFamily="18" charset="0"/>
                <a:hlinkClick r:id="rId4"/>
              </a:rPr>
              <a:t>://ant.apache.org/</a:t>
            </a:r>
          </a:p>
          <a:p>
            <a:pPr lvl="2"/>
            <a:endParaRPr lang="fr-FR" dirty="0"/>
          </a:p>
          <a:p>
            <a:endParaRPr lang="fr-FR" dirty="0" smtClean="0"/>
          </a:p>
          <a:p>
            <a:pPr lvl="2"/>
            <a:endParaRPr lang="fr-FR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96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apps/</a:t>
            </a:r>
            <a:r>
              <a:rPr lang="en-US" dirty="0" err="1"/>
              <a:t>SdkController</a:t>
            </a:r>
            <a:endParaRPr lang="en-US" dirty="0"/>
          </a:p>
          <a:p>
            <a:pPr lvl="1"/>
            <a:r>
              <a:rPr lang="en-US" dirty="0" smtClean="0"/>
              <a:t>Virtual Hardware for Emulator</a:t>
            </a:r>
          </a:p>
          <a:p>
            <a:pPr lvl="2"/>
            <a:r>
              <a:rPr lang="en-US" dirty="0" smtClean="0"/>
              <a:t>Emulate Sensors, Multi Touch</a:t>
            </a:r>
          </a:p>
          <a:p>
            <a:pPr lvl="2"/>
            <a:endParaRPr lang="en-US" dirty="0" smtClean="0"/>
          </a:p>
          <a:p>
            <a:r>
              <a:rPr lang="en-US" dirty="0" err="1"/>
              <a:t>ddms</a:t>
            </a:r>
            <a:r>
              <a:rPr lang="en-US" dirty="0"/>
              <a:t> (</a:t>
            </a:r>
            <a:r>
              <a:rPr lang="en-US" dirty="0" err="1"/>
              <a:t>Dalvik</a:t>
            </a:r>
            <a:r>
              <a:rPr lang="en-US" dirty="0"/>
              <a:t> Debug Monitor Server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Debugger</a:t>
            </a:r>
            <a:endParaRPr lang="en-US" dirty="0"/>
          </a:p>
          <a:p>
            <a:pPr lvl="2"/>
            <a:r>
              <a:rPr lang="en-US" dirty="0"/>
              <a:t>Using DDMS | Android Developers </a:t>
            </a:r>
            <a:endParaRPr lang="en-US" dirty="0" smtClean="0"/>
          </a:p>
          <a:p>
            <a:pPr lvl="3"/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developer.android.com/tools/debugging/ddms.html</a:t>
            </a:r>
            <a:endParaRPr lang="en-US" dirty="0"/>
          </a:p>
          <a:p>
            <a:pPr lvl="2"/>
            <a:r>
              <a:rPr lang="en-US" dirty="0" smtClean="0"/>
              <a:t>Deprecated </a:t>
            </a:r>
            <a:endParaRPr lang="en-US" dirty="0"/>
          </a:p>
          <a:p>
            <a:pPr lvl="3"/>
            <a:r>
              <a:rPr lang="en-US" dirty="0"/>
              <a:t>Android Device Monitor</a:t>
            </a:r>
          </a:p>
          <a:p>
            <a:pPr lvl="3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06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dmtracedump</a:t>
            </a:r>
            <a:endParaRPr lang="en-US" dirty="0"/>
          </a:p>
          <a:p>
            <a:pPr lvl="1"/>
            <a:r>
              <a:rPr lang="en-US" dirty="0" smtClean="0"/>
              <a:t>Create Graphical Diagram from </a:t>
            </a:r>
            <a:r>
              <a:rPr lang="en-US" dirty="0" err="1" smtClean="0"/>
              <a:t>SysTrace</a:t>
            </a:r>
            <a:r>
              <a:rPr lang="en-US" dirty="0" smtClean="0"/>
              <a:t> Data</a:t>
            </a:r>
            <a:endParaRPr lang="en-US" dirty="0"/>
          </a:p>
          <a:p>
            <a:pPr lvl="2"/>
            <a:r>
              <a:rPr lang="en-US" dirty="0" err="1"/>
              <a:t>dmtracedump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2"/>
              </a:rPr>
              <a:t>http://developer.android.com/tools/help/dmtracedump.html</a:t>
            </a:r>
            <a:endParaRPr lang="en-US" dirty="0"/>
          </a:p>
          <a:p>
            <a:r>
              <a:rPr lang="en-US" dirty="0" smtClean="0"/>
              <a:t>draw9patch</a:t>
            </a:r>
          </a:p>
          <a:p>
            <a:pPr lvl="1"/>
            <a:r>
              <a:rPr lang="en-US" dirty="0" smtClean="0"/>
              <a:t>Editor for making 9patch Image File</a:t>
            </a:r>
          </a:p>
          <a:p>
            <a:pPr lvl="2"/>
            <a:r>
              <a:rPr lang="en-US" dirty="0"/>
              <a:t>Draw 9-patch | Android Developers </a:t>
            </a:r>
          </a:p>
          <a:p>
            <a:pPr lvl="3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developer.android.com/tools/help/draw9patch.html</a:t>
            </a:r>
            <a:endParaRPr lang="en-US" dirty="0" smtClean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404505"/>
            <a:ext cx="2987824" cy="24703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4415677"/>
            <a:ext cx="2782563" cy="244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4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US" dirty="0" smtClean="0"/>
              <a:t>mulator</a:t>
            </a:r>
          </a:p>
          <a:p>
            <a:pPr lvl="1"/>
            <a:r>
              <a:rPr lang="en-US" dirty="0" smtClean="0"/>
              <a:t>Android Emulator</a:t>
            </a:r>
          </a:p>
          <a:p>
            <a:pPr lvl="2"/>
            <a:r>
              <a:rPr lang="en-US" dirty="0"/>
              <a:t>Android Emulator | Android Developers </a:t>
            </a:r>
          </a:p>
          <a:p>
            <a:pPr lvl="3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developer.android.com/tools/help/emulator.html</a:t>
            </a:r>
            <a:endParaRPr lang="en-US" dirty="0" smtClean="0"/>
          </a:p>
          <a:p>
            <a:r>
              <a:rPr lang="en-US" dirty="0" smtClean="0"/>
              <a:t>etc1tool</a:t>
            </a:r>
            <a:endParaRPr lang="en-US" dirty="0"/>
          </a:p>
          <a:p>
            <a:pPr lvl="1"/>
            <a:r>
              <a:rPr lang="en-US" dirty="0"/>
              <a:t>Create Open GL Texture File(ETC1)</a:t>
            </a:r>
          </a:p>
          <a:p>
            <a:pPr lvl="2"/>
            <a:r>
              <a:rPr lang="en-US" dirty="0"/>
              <a:t>etc1tool | Android </a:t>
            </a:r>
            <a:r>
              <a:rPr lang="en-US" dirty="0" smtClean="0"/>
              <a:t>Developers </a:t>
            </a:r>
            <a:endParaRPr lang="en-US" dirty="0"/>
          </a:p>
          <a:p>
            <a:pPr lvl="3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developer.android.com/tools/help/etc1tool.html</a:t>
            </a:r>
            <a:endParaRPr lang="en-US" dirty="0" smtClean="0"/>
          </a:p>
          <a:p>
            <a:r>
              <a:rPr lang="en-US" dirty="0" err="1"/>
              <a:t>h</a:t>
            </a:r>
            <a:r>
              <a:rPr lang="en-US" dirty="0" err="1" smtClean="0"/>
              <a:t>ierarchyviewer</a:t>
            </a:r>
            <a:endParaRPr lang="en-US" dirty="0" smtClean="0"/>
          </a:p>
          <a:p>
            <a:pPr lvl="1"/>
            <a:r>
              <a:rPr lang="en-US" dirty="0" smtClean="0"/>
              <a:t>Editor for Android UI</a:t>
            </a:r>
            <a:endParaRPr lang="en-US" dirty="0"/>
          </a:p>
          <a:p>
            <a:pPr lvl="2"/>
            <a:r>
              <a:rPr lang="en-US" dirty="0"/>
              <a:t>Hierarchy Viewer | Android Developers </a:t>
            </a:r>
          </a:p>
          <a:p>
            <a:pPr lvl="3"/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developer.android.com/tools/help/hierarchy-viewer.html</a:t>
            </a:r>
            <a:endParaRPr lang="en-US" dirty="0" smtClean="0"/>
          </a:p>
          <a:p>
            <a:pPr lvl="2"/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51" y="4765801"/>
            <a:ext cx="2915816" cy="1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7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hprof-conv</a:t>
            </a:r>
            <a:endParaRPr lang="en-US" dirty="0"/>
          </a:p>
          <a:p>
            <a:pPr lvl="1"/>
            <a:r>
              <a:rPr lang="en-US" dirty="0" smtClean="0"/>
              <a:t>Convert Android Original Format Heap Memory Dump to Standard Format. Ex. Eclipse </a:t>
            </a:r>
            <a:r>
              <a:rPr lang="en-US" dirty="0"/>
              <a:t>Memory Analyzer (MAT)</a:t>
            </a:r>
          </a:p>
          <a:p>
            <a:pPr lvl="2"/>
            <a:r>
              <a:rPr lang="en-US" dirty="0"/>
              <a:t>HPROF Converter | Android Developers </a:t>
            </a:r>
          </a:p>
          <a:p>
            <a:pPr lvl="3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developer.android.com/tools/help/hprof-conv.html</a:t>
            </a:r>
            <a:endParaRPr lang="en-US" dirty="0" smtClean="0"/>
          </a:p>
          <a:p>
            <a:r>
              <a:rPr lang="en-US" dirty="0" err="1" smtClean="0"/>
              <a:t>layoutopt</a:t>
            </a:r>
            <a:endParaRPr lang="en-US" dirty="0" smtClean="0"/>
          </a:p>
          <a:p>
            <a:pPr lvl="1"/>
            <a:r>
              <a:rPr lang="en-US" dirty="0" smtClean="0"/>
              <a:t>Optimize Layout. But lint is better.</a:t>
            </a:r>
          </a:p>
          <a:p>
            <a:pPr lvl="2"/>
            <a:r>
              <a:rPr lang="en-US" dirty="0" err="1"/>
              <a:t>layoutopt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developer.android.com/tools/help/layoutopt.html</a:t>
            </a:r>
            <a:endParaRPr lang="en-US" dirty="0" smtClean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</a:t>
            </a:r>
            <a:r>
              <a:rPr lang="en-US" dirty="0" err="1" smtClean="0"/>
              <a:t>obb</a:t>
            </a:r>
            <a:endParaRPr lang="en-US" dirty="0" smtClean="0"/>
          </a:p>
          <a:p>
            <a:pPr lvl="1"/>
            <a:r>
              <a:rPr lang="en-US" dirty="0"/>
              <a:t>Create OBB(Opaque Binary Blob) File. You can use it as APK </a:t>
            </a:r>
            <a:r>
              <a:rPr lang="en-US" dirty="0" smtClean="0"/>
              <a:t>expansion </a:t>
            </a:r>
            <a:r>
              <a:rPr lang="en-US" dirty="0"/>
              <a:t>File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Android Application File Size Limit is 50MB. If bigger, you MUST use APK expansion File.</a:t>
            </a:r>
            <a:endParaRPr lang="en-US" dirty="0"/>
          </a:p>
          <a:p>
            <a:pPr lvl="2"/>
            <a:r>
              <a:rPr lang="en-US" dirty="0"/>
              <a:t>JOBB | Android Developers </a:t>
            </a:r>
          </a:p>
          <a:p>
            <a:pPr lvl="3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developer.android.com/tools/help/jobb.html</a:t>
            </a:r>
            <a:endParaRPr lang="en-US" dirty="0"/>
          </a:p>
          <a:p>
            <a:pPr lvl="2"/>
            <a:r>
              <a:rPr lang="en-US" dirty="0"/>
              <a:t>APK Expansion Files | Android Developers </a:t>
            </a:r>
          </a:p>
          <a:p>
            <a:pPr lvl="3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developer.android.com/google/play/expansion-files.html</a:t>
            </a:r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3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lint</a:t>
            </a:r>
          </a:p>
          <a:p>
            <a:pPr lvl="1"/>
            <a:r>
              <a:rPr lang="en-US" dirty="0" smtClean="0"/>
              <a:t>Optimize Android Applications.</a:t>
            </a:r>
          </a:p>
          <a:p>
            <a:pPr lvl="2"/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Developers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altLang="zh-CN" u="sng" dirty="0" smtClean="0">
                <a:solidFill>
                  <a:srgbClr val="1155CC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http</a:t>
            </a:r>
            <a:r>
              <a:rPr lang="en-US" altLang="zh-CN" u="sng" dirty="0">
                <a:solidFill>
                  <a:srgbClr val="1155CC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://developer.android.com/tools/help/lint.html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94" y="3015121"/>
            <a:ext cx="7635535" cy="36281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5"/>
          <a:stretch/>
        </p:blipFill>
        <p:spPr>
          <a:xfrm>
            <a:off x="1619672" y="2813053"/>
            <a:ext cx="6826410" cy="40453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"/>
          <a:stretch/>
        </p:blipFill>
        <p:spPr>
          <a:xfrm>
            <a:off x="1619672" y="2864093"/>
            <a:ext cx="6826410" cy="400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85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mksdcard</a:t>
            </a:r>
            <a:endParaRPr lang="en-US" dirty="0"/>
          </a:p>
          <a:p>
            <a:pPr lvl="1"/>
            <a:r>
              <a:rPr lang="en-US" dirty="0"/>
              <a:t>Make SD Card Image for Emulator</a:t>
            </a:r>
          </a:p>
          <a:p>
            <a:pPr lvl="2"/>
            <a:r>
              <a:rPr lang="en-US" dirty="0" err="1"/>
              <a:t>mksdcard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developer.android.com/tools/help/mksdcard.html</a:t>
            </a:r>
            <a:endParaRPr lang="en-US" dirty="0" smtClean="0"/>
          </a:p>
          <a:p>
            <a:r>
              <a:rPr lang="en-US" dirty="0"/>
              <a:t>monitor</a:t>
            </a:r>
          </a:p>
          <a:p>
            <a:pPr lvl="1"/>
            <a:r>
              <a:rPr lang="en-US" dirty="0"/>
              <a:t>Android Device Monitor</a:t>
            </a:r>
          </a:p>
          <a:p>
            <a:pPr lvl="1"/>
            <a:r>
              <a:rPr lang="en-US" dirty="0"/>
              <a:t>GUI Standalone Tool for </a:t>
            </a:r>
            <a:r>
              <a:rPr lang="en-US" dirty="0" err="1" smtClean="0"/>
              <a:t>Debug&amp;Profiling</a:t>
            </a:r>
            <a:endParaRPr lang="en-US" dirty="0" smtClean="0"/>
          </a:p>
          <a:p>
            <a:pPr lvl="2"/>
            <a:r>
              <a:rPr lang="en-US" dirty="0" smtClean="0"/>
              <a:t>Including Tools</a:t>
            </a:r>
            <a:endParaRPr lang="en-US" dirty="0"/>
          </a:p>
          <a:p>
            <a:pPr lvl="3"/>
            <a:r>
              <a:rPr lang="en-US" dirty="0"/>
              <a:t>DDMS</a:t>
            </a:r>
          </a:p>
          <a:p>
            <a:pPr lvl="3"/>
            <a:r>
              <a:rPr lang="en-US" dirty="0"/>
              <a:t>Tracer for OpenGL ES</a:t>
            </a:r>
          </a:p>
          <a:p>
            <a:pPr lvl="3"/>
            <a:r>
              <a:rPr lang="en-US" dirty="0"/>
              <a:t>Hierarchy Viewer</a:t>
            </a:r>
          </a:p>
          <a:p>
            <a:pPr lvl="3"/>
            <a:r>
              <a:rPr lang="en-US" dirty="0" err="1"/>
              <a:t>Traceview</a:t>
            </a:r>
            <a:endParaRPr lang="en-US" dirty="0"/>
          </a:p>
          <a:p>
            <a:pPr lvl="3"/>
            <a:r>
              <a:rPr lang="en-US" dirty="0"/>
              <a:t>Pixel Perfect magnification </a:t>
            </a:r>
            <a:r>
              <a:rPr lang="en-US" dirty="0" smtClean="0"/>
              <a:t>viewer</a:t>
            </a:r>
            <a:endParaRPr lang="en-US" dirty="0"/>
          </a:p>
          <a:p>
            <a:pPr lvl="2"/>
            <a:r>
              <a:rPr lang="en-US" dirty="0"/>
              <a:t>Device Monitor | Android Developers </a:t>
            </a:r>
          </a:p>
          <a:p>
            <a:pPr lvl="3"/>
            <a:r>
              <a:rPr lang="en-US" dirty="0"/>
              <a:t>http://developer.android.com/tools/help/monitor.html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16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monkey</a:t>
            </a:r>
          </a:p>
          <a:p>
            <a:pPr lvl="1"/>
            <a:r>
              <a:rPr lang="en-US" dirty="0"/>
              <a:t>Monkey Testing Tool for Android UI.</a:t>
            </a:r>
          </a:p>
          <a:p>
            <a:pPr lvl="2"/>
            <a:r>
              <a:rPr lang="en-US" dirty="0"/>
              <a:t>UI/Application Exerciser Monkey | Android Developers </a:t>
            </a:r>
          </a:p>
          <a:p>
            <a:pPr lvl="3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developer.android.com/tools/help/monkey.html</a:t>
            </a:r>
            <a:endParaRPr lang="en-US" dirty="0" smtClean="0"/>
          </a:p>
          <a:p>
            <a:r>
              <a:rPr lang="en-US" dirty="0" err="1"/>
              <a:t>monkeyrunner</a:t>
            </a:r>
            <a:endParaRPr lang="en-US" dirty="0"/>
          </a:p>
          <a:p>
            <a:pPr lvl="1"/>
            <a:r>
              <a:rPr lang="en-US" dirty="0" smtClean="0"/>
              <a:t>Control </a:t>
            </a:r>
            <a:r>
              <a:rPr lang="en-US" dirty="0"/>
              <a:t>monkey by Python Script.</a:t>
            </a:r>
          </a:p>
          <a:p>
            <a:pPr lvl="2"/>
            <a:r>
              <a:rPr lang="en-US" dirty="0" err="1"/>
              <a:t>monkeyrunner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developer.android.com/tools/help/monkeyrunner_concepts.html</a:t>
            </a:r>
            <a:endParaRPr lang="en-US" dirty="0" smtClean="0"/>
          </a:p>
          <a:p>
            <a:r>
              <a:rPr lang="en-US" dirty="0" err="1"/>
              <a:t>proguard</a:t>
            </a:r>
            <a:endParaRPr lang="en-US" dirty="0"/>
          </a:p>
          <a:p>
            <a:pPr lvl="1"/>
            <a:r>
              <a:rPr lang="en-US" dirty="0"/>
              <a:t>Make Obfuscated code.</a:t>
            </a:r>
          </a:p>
          <a:p>
            <a:pPr lvl="2"/>
            <a:r>
              <a:rPr lang="en-US" dirty="0" err="1"/>
              <a:t>ProGuard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developer.android.com/tools/help/proguard.html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pPr lvl="3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53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sqlite3</a:t>
            </a:r>
          </a:p>
          <a:p>
            <a:pPr lvl="1"/>
            <a:r>
              <a:rPr lang="en-US" dirty="0"/>
              <a:t>SQLite Management Tool</a:t>
            </a:r>
          </a:p>
          <a:p>
            <a:pPr lvl="2"/>
            <a:r>
              <a:rPr lang="en-US" dirty="0"/>
              <a:t>SQLite Home Page</a:t>
            </a:r>
          </a:p>
          <a:p>
            <a:pPr lvl="3"/>
            <a:r>
              <a:rPr lang="en-US" dirty="0">
                <a:hlinkClick r:id="rId2"/>
              </a:rPr>
              <a:t>http://www.sqlite.org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err="1"/>
              <a:t>Systrace</a:t>
            </a:r>
            <a:endParaRPr lang="en-US" dirty="0"/>
          </a:p>
          <a:p>
            <a:pPr lvl="1"/>
            <a:r>
              <a:rPr lang="en-US" dirty="0" smtClean="0"/>
              <a:t>Profiling </a:t>
            </a:r>
            <a:r>
              <a:rPr lang="en-US" dirty="0"/>
              <a:t>Tool. Use </a:t>
            </a:r>
            <a:r>
              <a:rPr lang="en-US" dirty="0" smtClean="0"/>
              <a:t>with Android Device Monitor.</a:t>
            </a:r>
            <a:endParaRPr lang="en-US" dirty="0"/>
          </a:p>
          <a:p>
            <a:pPr lvl="2"/>
            <a:r>
              <a:rPr lang="en-US" dirty="0"/>
              <a:t>Analyzing Display and Performance with </a:t>
            </a:r>
            <a:r>
              <a:rPr lang="en-US" dirty="0" err="1"/>
              <a:t>Systrace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developer.android.com/tools/debugging/systrace.html</a:t>
            </a:r>
            <a:endParaRPr lang="en-US" dirty="0" smtClean="0"/>
          </a:p>
          <a:p>
            <a:r>
              <a:rPr lang="en-US" dirty="0" err="1"/>
              <a:t>t</a:t>
            </a:r>
            <a:r>
              <a:rPr lang="en-US" dirty="0" err="1" smtClean="0"/>
              <a:t>raceview</a:t>
            </a:r>
            <a:endParaRPr lang="en-US" dirty="0" smtClean="0"/>
          </a:p>
          <a:p>
            <a:pPr lvl="1"/>
            <a:r>
              <a:rPr lang="en-US" dirty="0" smtClean="0"/>
              <a:t>Show Graphical View from </a:t>
            </a:r>
            <a:r>
              <a:rPr lang="en-US" dirty="0" err="1" smtClean="0"/>
              <a:t>Systrace</a:t>
            </a:r>
            <a:r>
              <a:rPr lang="en-US" dirty="0" smtClean="0"/>
              <a:t> Data</a:t>
            </a:r>
            <a:endParaRPr lang="en-US" dirty="0"/>
          </a:p>
          <a:p>
            <a:pPr lvl="2"/>
            <a:r>
              <a:rPr lang="en-US" dirty="0" err="1"/>
              <a:t>Traceview</a:t>
            </a:r>
            <a:r>
              <a:rPr lang="en-US" dirty="0"/>
              <a:t> | Android Developers </a:t>
            </a:r>
            <a:endParaRPr lang="en-US" dirty="0" smtClean="0"/>
          </a:p>
          <a:p>
            <a:pPr lvl="3"/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developer.android.com/tools/help/traceview.html</a:t>
            </a:r>
            <a:endParaRPr lang="en-US" dirty="0"/>
          </a:p>
          <a:p>
            <a:pPr lvl="2"/>
            <a:r>
              <a:rPr lang="en-US" dirty="0"/>
              <a:t>deprecated</a:t>
            </a:r>
          </a:p>
          <a:p>
            <a:pPr lvl="3"/>
            <a:r>
              <a:rPr lang="en-US" dirty="0"/>
              <a:t>Android Device Monitor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95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</a:t>
            </a:r>
            <a:r>
              <a:rPr lang="en-US" dirty="0" err="1" smtClean="0"/>
              <a:t>iautomator</a:t>
            </a:r>
            <a:r>
              <a:rPr lang="en-US" dirty="0" smtClean="0"/>
              <a:t>/</a:t>
            </a:r>
            <a:r>
              <a:rPr lang="en-US" dirty="0" err="1" smtClean="0"/>
              <a:t>uiautomatorviewer</a:t>
            </a:r>
            <a:endParaRPr lang="en-US" dirty="0"/>
          </a:p>
          <a:p>
            <a:pPr lvl="1"/>
            <a:r>
              <a:rPr lang="en-US" dirty="0"/>
              <a:t>UI Testing Tool by scenario file</a:t>
            </a:r>
          </a:p>
          <a:p>
            <a:pPr lvl="2"/>
            <a:r>
              <a:rPr lang="en-US" dirty="0"/>
              <a:t>UI Testing | Android Developers </a:t>
            </a:r>
          </a:p>
          <a:p>
            <a:pPr lvl="3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developer.android.com/tools/testing/testing_ui.html#uianalysis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zipalign</a:t>
            </a:r>
            <a:endParaRPr lang="en-US" dirty="0"/>
          </a:p>
          <a:p>
            <a:pPr lvl="1"/>
            <a:r>
              <a:rPr lang="en-US" dirty="0"/>
              <a:t>Optimize APK File</a:t>
            </a:r>
          </a:p>
          <a:p>
            <a:pPr lvl="2"/>
            <a:r>
              <a:rPr lang="en-US" dirty="0" err="1"/>
              <a:t>zipalign</a:t>
            </a:r>
            <a:r>
              <a:rPr lang="en-US" dirty="0"/>
              <a:t> | Android Developers </a:t>
            </a:r>
          </a:p>
          <a:p>
            <a:pPr lvl="3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developer.android.com/tools/help/zipalign.html</a:t>
            </a:r>
            <a:endParaRPr lang="en-US" dirty="0" smtClean="0"/>
          </a:p>
          <a:p>
            <a:pPr lvl="3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852936"/>
            <a:ext cx="3425114" cy="252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5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Profiling</a:t>
            </a:r>
          </a:p>
          <a:p>
            <a:pPr lvl="1"/>
            <a:r>
              <a:rPr lang="en-US" dirty="0" err="1" smtClean="0"/>
              <a:t>Systrace</a:t>
            </a:r>
            <a:r>
              <a:rPr lang="en-US" dirty="0" smtClean="0"/>
              <a:t>/</a:t>
            </a:r>
            <a:r>
              <a:rPr lang="en-US" dirty="0" err="1" smtClean="0"/>
              <a:t>TraceView</a:t>
            </a:r>
            <a:endParaRPr lang="en-US" dirty="0" smtClean="0"/>
          </a:p>
          <a:p>
            <a:pPr lvl="2"/>
            <a:r>
              <a:rPr lang="en-US" altLang="ja-JP" dirty="0" smtClean="0"/>
              <a:t>Bottleneck</a:t>
            </a:r>
            <a:endParaRPr lang="en-US" dirty="0" smtClean="0"/>
          </a:p>
          <a:p>
            <a:pPr lvl="1"/>
            <a:r>
              <a:rPr lang="en-US" dirty="0" err="1" smtClean="0"/>
              <a:t>hprof-conv</a:t>
            </a:r>
            <a:endParaRPr lang="en-US" dirty="0" smtClean="0"/>
          </a:p>
          <a:p>
            <a:pPr lvl="2"/>
            <a:r>
              <a:rPr lang="en-US" dirty="0" smtClean="0"/>
              <a:t>Heap Memory</a:t>
            </a:r>
          </a:p>
          <a:p>
            <a:pPr lvl="1"/>
            <a:r>
              <a:rPr lang="en-US" dirty="0" smtClean="0"/>
              <a:t>lint</a:t>
            </a:r>
          </a:p>
          <a:p>
            <a:pPr lvl="2"/>
            <a:r>
              <a:rPr lang="en-US" dirty="0" smtClean="0"/>
              <a:t>Useless of Source Code</a:t>
            </a:r>
          </a:p>
          <a:p>
            <a:r>
              <a:rPr lang="en-US" dirty="0" smtClean="0"/>
              <a:t>Debug/Analyze</a:t>
            </a:r>
          </a:p>
          <a:p>
            <a:pPr lvl="1"/>
            <a:r>
              <a:rPr lang="en-US" dirty="0" smtClean="0"/>
              <a:t>Monitor (Android Device Monitor)</a:t>
            </a:r>
          </a:p>
          <a:p>
            <a:pPr lvl="2"/>
            <a:r>
              <a:rPr lang="en-US" dirty="0"/>
              <a:t>DDMS</a:t>
            </a:r>
          </a:p>
          <a:p>
            <a:pPr lvl="2"/>
            <a:r>
              <a:rPr lang="en-US" dirty="0"/>
              <a:t>Tracer for OpenGL ES</a:t>
            </a:r>
          </a:p>
          <a:p>
            <a:pPr lvl="2"/>
            <a:r>
              <a:rPr lang="en-US" dirty="0"/>
              <a:t>Hierarchy </a:t>
            </a:r>
            <a:r>
              <a:rPr lang="en-US" dirty="0" smtClean="0"/>
              <a:t>Viewer</a:t>
            </a:r>
            <a:endParaRPr lang="en-US" dirty="0"/>
          </a:p>
          <a:p>
            <a:pPr lvl="2"/>
            <a:r>
              <a:rPr lang="en-US" dirty="0"/>
              <a:t>Pixel Perfect magnification viewer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1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adb</a:t>
            </a:r>
            <a:r>
              <a:rPr lang="en-US" dirty="0"/>
              <a:t>(Android Debug Bridge)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</a:p>
          <a:p>
            <a:pPr lvl="1"/>
            <a:r>
              <a:rPr lang="en-US" dirty="0" smtClean="0"/>
              <a:t>Shell on Android Device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shell</a:t>
            </a:r>
          </a:p>
          <a:p>
            <a:pPr lvl="1"/>
            <a:r>
              <a:rPr lang="en-US" dirty="0" smtClean="0"/>
              <a:t>Show Connected Android Devices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devices</a:t>
            </a:r>
          </a:p>
          <a:p>
            <a:pPr lvl="1"/>
            <a:r>
              <a:rPr lang="en-US" dirty="0" smtClean="0"/>
              <a:t>Install/Uninstall APK File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install/uninstall [App Name]/[Package Name]</a:t>
            </a:r>
          </a:p>
          <a:p>
            <a:pPr lvl="1"/>
            <a:r>
              <a:rPr lang="en-US" dirty="0" smtClean="0"/>
              <a:t>Send/Get File to/from Android Device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push/pull [from File Path] [to File Path]</a:t>
            </a:r>
            <a:endParaRPr lang="en-US" dirty="0"/>
          </a:p>
          <a:p>
            <a:pPr lvl="1"/>
            <a:r>
              <a:rPr lang="en-US" dirty="0" smtClean="0"/>
              <a:t>Show Log (DDMS)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</a:t>
            </a:r>
            <a:r>
              <a:rPr lang="en-US" dirty="0" err="1" smtClean="0"/>
              <a:t>logcat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18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Code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</a:t>
            </a:r>
            <a:r>
              <a:rPr lang="en-US" dirty="0"/>
              <a:t>get </a:t>
            </a:r>
            <a:r>
              <a:rPr lang="en-US" dirty="0" smtClean="0"/>
              <a:t>an </a:t>
            </a:r>
            <a:r>
              <a:rPr lang="en-US" dirty="0"/>
              <a:t>incomprehensible </a:t>
            </a:r>
            <a:r>
              <a:rPr lang="en-US" dirty="0" smtClean="0"/>
              <a:t>bug And want to fix it, you should read Android Framework Source Code.</a:t>
            </a:r>
          </a:p>
          <a:p>
            <a:pPr lvl="1"/>
            <a:r>
              <a:rPr lang="en-US" dirty="0" smtClean="0"/>
              <a:t>Because like that bug is Android Framework’s Bug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</a:p>
          <a:p>
            <a:r>
              <a:rPr lang="en-US" dirty="0" smtClean="0"/>
              <a:t>Android Source Code Search Engine Service</a:t>
            </a:r>
          </a:p>
          <a:p>
            <a:pPr lvl="1"/>
            <a:r>
              <a:rPr lang="en-US" dirty="0">
                <a:hlinkClick r:id="rId2"/>
              </a:rPr>
              <a:t>http://tools.oesf.biz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8" y="3964443"/>
            <a:ext cx="2878253" cy="28489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4376350"/>
            <a:ext cx="2633919" cy="20768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819" y="3868001"/>
            <a:ext cx="2990647" cy="287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0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SDK Sample (API Demo)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have API you want to use,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First you should check SDK Sample.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3" y="2346800"/>
            <a:ext cx="6069208" cy="44046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613" y="2470982"/>
            <a:ext cx="4636399" cy="44156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219" y="2460055"/>
            <a:ext cx="4024651" cy="44156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65" y="2503562"/>
            <a:ext cx="4014693" cy="440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7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pPr algn="ctr"/>
            <a:r>
              <a:rPr lang="en-US" altLang="ja-JP" sz="4800" dirty="0" smtClean="0"/>
              <a:t>Hands On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46235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Android Environment for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Target</a:t>
            </a:r>
          </a:p>
          <a:p>
            <a:pPr lvl="1"/>
            <a:r>
              <a:rPr lang="en-US" dirty="0" err="1" smtClean="0"/>
              <a:t>OpenCV</a:t>
            </a:r>
            <a:r>
              <a:rPr lang="en-US" dirty="0" smtClean="0"/>
              <a:t> 2.4.7 for Android</a:t>
            </a:r>
          </a:p>
          <a:p>
            <a:pPr lvl="2"/>
            <a:r>
              <a:rPr lang="en-US" dirty="0">
                <a:hlinkClick r:id="rId2"/>
              </a:rPr>
              <a:t>http://opencv.org/platforms/android.html</a:t>
            </a:r>
            <a:endParaRPr lang="en-US" dirty="0"/>
          </a:p>
          <a:p>
            <a:pPr lvl="2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sourceforge.net/projects/opencvlibrary/files/opencv-android/2.4.7/OpenCV-2.4.7-android-sdk.zip/download</a:t>
            </a:r>
            <a:endParaRPr lang="en-US" dirty="0" smtClean="0"/>
          </a:p>
          <a:p>
            <a:r>
              <a:rPr lang="en-US" dirty="0" smtClean="0"/>
              <a:t>Required</a:t>
            </a:r>
          </a:p>
          <a:p>
            <a:pPr lvl="1"/>
            <a:r>
              <a:rPr lang="en-US" dirty="0" smtClean="0"/>
              <a:t>Java SE 6</a:t>
            </a:r>
          </a:p>
          <a:p>
            <a:pPr lvl="2"/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www.oracle.com/technetwork/java/javase/downloads/java-archive-downloads-javase6-419409.html</a:t>
            </a:r>
            <a:endParaRPr lang="en-US" dirty="0" smtClean="0"/>
          </a:p>
          <a:p>
            <a:pPr lvl="1"/>
            <a:r>
              <a:rPr lang="en-US" dirty="0" smtClean="0"/>
              <a:t>ADT (Eclipse + Android SDK)</a:t>
            </a:r>
          </a:p>
          <a:p>
            <a:pPr lvl="2"/>
            <a:r>
              <a:rPr lang="en-US" dirty="0">
                <a:hlinkClick r:id="rId5"/>
              </a:rPr>
              <a:t>http://developer.android.com/sdk/index.html</a:t>
            </a:r>
            <a:endParaRPr lang="en-US" dirty="0"/>
          </a:p>
          <a:p>
            <a:pPr lvl="1"/>
            <a:r>
              <a:rPr lang="en-US" dirty="0" smtClean="0"/>
              <a:t>Android NDK</a:t>
            </a:r>
          </a:p>
          <a:p>
            <a:pPr lvl="2"/>
            <a:r>
              <a:rPr lang="en-US" dirty="0">
                <a:hlinkClick r:id="rId6"/>
              </a:rPr>
              <a:t>http://developer.android.com/tools/sdk/ndk/index.html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1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Studio</a:t>
            </a:r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developer.android.com/sdk/installing/studio.html</a:t>
            </a:r>
            <a:endParaRPr lang="en-US" dirty="0" smtClean="0"/>
          </a:p>
          <a:p>
            <a:r>
              <a:rPr lang="en-US" dirty="0" smtClean="0"/>
              <a:t>What’s this?</a:t>
            </a:r>
            <a:endParaRPr lang="en-US" dirty="0"/>
          </a:p>
          <a:p>
            <a:pPr lvl="1"/>
            <a:r>
              <a:rPr lang="en-US" dirty="0" smtClean="0"/>
              <a:t>Next Generation Android Development Environment</a:t>
            </a:r>
          </a:p>
          <a:p>
            <a:pPr lvl="1"/>
            <a:r>
              <a:rPr lang="en-US" dirty="0" err="1" smtClean="0"/>
              <a:t>InteliJ</a:t>
            </a:r>
            <a:r>
              <a:rPr lang="en-US" dirty="0" smtClean="0"/>
              <a:t> based IDE</a:t>
            </a:r>
            <a:endParaRPr lang="en-US" dirty="0"/>
          </a:p>
          <a:p>
            <a:pPr lvl="1"/>
            <a:r>
              <a:rPr lang="en-US" dirty="0" smtClean="0"/>
              <a:t>Non-Stable</a:t>
            </a:r>
          </a:p>
          <a:p>
            <a:pPr lvl="2"/>
            <a:r>
              <a:rPr lang="en-US" dirty="0" smtClean="0"/>
              <a:t>Has many </a:t>
            </a:r>
            <a:r>
              <a:rPr lang="en-US" dirty="0" err="1" smtClean="0"/>
              <a:t>many</a:t>
            </a:r>
            <a:r>
              <a:rPr lang="en-US" dirty="0" smtClean="0"/>
              <a:t> bugs…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496413"/>
            <a:ext cx="4032821" cy="332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4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ADT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IDE for Android that is made by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Eclipse </a:t>
            </a:r>
            <a:r>
              <a:rPr lang="en-US" dirty="0" err="1" smtClean="0"/>
              <a:t>Java&amp;C</a:t>
            </a:r>
            <a:r>
              <a:rPr lang="en-US" dirty="0" smtClean="0"/>
              <a:t>/C++ &amp; Android SDK.</a:t>
            </a:r>
          </a:p>
          <a:p>
            <a:r>
              <a:rPr lang="en-US" dirty="0" smtClean="0"/>
              <a:t>Setup </a:t>
            </a:r>
            <a:r>
              <a:rPr lang="en-US" dirty="0" err="1" smtClean="0"/>
              <a:t>WorkSpace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073" y="3104770"/>
            <a:ext cx="5013480" cy="2304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690" y="2862125"/>
            <a:ext cx="6400245" cy="38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1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Android SDK &amp; USB Driver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8198296" cy="5327650"/>
          </a:xfrm>
        </p:spPr>
        <p:txBody>
          <a:bodyPr/>
          <a:lstStyle/>
          <a:p>
            <a:r>
              <a:rPr lang="en-US" dirty="0" smtClean="0"/>
              <a:t>Current ADT has only 4.4 SDK.</a:t>
            </a:r>
          </a:p>
          <a:p>
            <a:pPr lvl="1"/>
            <a:r>
              <a:rPr lang="en-US" dirty="0" smtClean="0"/>
              <a:t>Setup other version SDK</a:t>
            </a:r>
          </a:p>
          <a:p>
            <a:r>
              <a:rPr lang="en-US" dirty="0" smtClean="0"/>
              <a:t>Windows doesn’t have USB Driver for Real Device</a:t>
            </a:r>
          </a:p>
          <a:p>
            <a:pPr lvl="1"/>
            <a:r>
              <a:rPr lang="en-US" dirty="0" smtClean="0"/>
              <a:t>Setup Google USB Driver for Android Device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" y="3402788"/>
            <a:ext cx="4437534" cy="31696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072" y="3402788"/>
            <a:ext cx="4379928" cy="312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9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NDK Path for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Preferences -&gt; Android -&gt; NDK</a:t>
            </a:r>
          </a:p>
          <a:p>
            <a:pPr lvl="1"/>
            <a:r>
              <a:rPr lang="en-US" dirty="0" smtClean="0"/>
              <a:t>Add NDK Location=[NDK Path]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181" y="2276872"/>
            <a:ext cx="5041107" cy="44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4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NDK Path for C/C++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Preferences -&gt; C/C++ -&gt; Build -&gt; Environment</a:t>
            </a:r>
          </a:p>
          <a:p>
            <a:pPr lvl="1"/>
            <a:r>
              <a:rPr lang="en-US" dirty="0" smtClean="0"/>
              <a:t>Add Variable=NDKROOT, Value=[NDK Path]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24" y="2636912"/>
            <a:ext cx="7195777" cy="392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3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r>
              <a:rPr lang="en-US" dirty="0" err="1" smtClean="0"/>
              <a:t>OpenCV</a:t>
            </a:r>
            <a:r>
              <a:rPr lang="en-US" dirty="0" smtClean="0"/>
              <a:t>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8249871" cy="5327650"/>
          </a:xfrm>
        </p:spPr>
        <p:txBody>
          <a:bodyPr/>
          <a:lstStyle/>
          <a:p>
            <a:r>
              <a:rPr lang="en-US" dirty="0" smtClean="0"/>
              <a:t>File -&gt; Import</a:t>
            </a:r>
          </a:p>
          <a:p>
            <a:r>
              <a:rPr lang="en-US" dirty="0" smtClean="0"/>
              <a:t>General -&gt; Existing Projects into Workspace</a:t>
            </a:r>
          </a:p>
          <a:p>
            <a:r>
              <a:rPr lang="en-US" dirty="0" smtClean="0"/>
              <a:t>Input [</a:t>
            </a:r>
            <a:r>
              <a:rPr lang="en-US" dirty="0" err="1" smtClean="0"/>
              <a:t>OpenCV</a:t>
            </a:r>
            <a:r>
              <a:rPr lang="en-US" dirty="0" smtClean="0"/>
              <a:t> Path] in “Select root directory”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28" y="2998891"/>
            <a:ext cx="3427878" cy="36717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406" y="3356992"/>
            <a:ext cx="2628665" cy="31043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356992"/>
            <a:ext cx="2925157" cy="306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6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Modefy</a:t>
            </a:r>
            <a:r>
              <a:rPr lang="en-US" dirty="0" smtClean="0"/>
              <a:t> </a:t>
            </a:r>
            <a:r>
              <a:rPr lang="en-US" dirty="0" err="1" smtClean="0"/>
              <a:t>OpenCV</a:t>
            </a:r>
            <a:r>
              <a:rPr lang="en-US" dirty="0" smtClean="0"/>
              <a:t> </a:t>
            </a:r>
            <a:r>
              <a:rPr lang="en-US" dirty="0" err="1" smtClean="0"/>
              <a:t>Pref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OpenCV’s</a:t>
            </a:r>
            <a:r>
              <a:rPr lang="en-US" dirty="0" smtClean="0"/>
              <a:t> Default Android Version</a:t>
            </a:r>
          </a:p>
          <a:p>
            <a:pPr lvl="1"/>
            <a:r>
              <a:rPr lang="en-US" dirty="0" smtClean="0"/>
              <a:t>Android 3.0 (API Level 11)</a:t>
            </a:r>
          </a:p>
          <a:p>
            <a:pPr lvl="1"/>
            <a:r>
              <a:rPr lang="en-US" dirty="0" smtClean="0"/>
              <a:t>But it </a:t>
            </a:r>
            <a:r>
              <a:rPr lang="en-US" dirty="0" smtClean="0">
                <a:solidFill>
                  <a:srgbClr val="FF0000"/>
                </a:solidFill>
              </a:rPr>
              <a:t>doesn’t work</a:t>
            </a:r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You MUST change upper Android 4.0 (API Level 14)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068960"/>
            <a:ext cx="5022240" cy="370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0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</a:t>
            </a:r>
            <a:r>
              <a:rPr lang="en-US" dirty="0" err="1" smtClean="0"/>
              <a:t>OpenCV</a:t>
            </a:r>
            <a:r>
              <a:rPr lang="en-US" dirty="0" smtClean="0"/>
              <a:t> 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OpenCV</a:t>
            </a:r>
            <a:r>
              <a:rPr lang="en-US" dirty="0" smtClean="0"/>
              <a:t> Apps need </a:t>
            </a:r>
            <a:r>
              <a:rPr lang="en-US" dirty="0" err="1" smtClean="0"/>
              <a:t>OpenCV</a:t>
            </a:r>
            <a:r>
              <a:rPr lang="en-US" dirty="0" smtClean="0"/>
              <a:t> Manager.</a:t>
            </a:r>
          </a:p>
          <a:p>
            <a:pPr lvl="1"/>
            <a:r>
              <a:rPr lang="en-US" dirty="0" smtClean="0"/>
              <a:t>Install from </a:t>
            </a:r>
            <a:r>
              <a:rPr lang="en-US" dirty="0" err="1" smtClean="0"/>
              <a:t>PlayStore</a:t>
            </a:r>
            <a:r>
              <a:rPr lang="en-US" dirty="0" smtClean="0"/>
              <a:t> or </a:t>
            </a:r>
            <a:r>
              <a:rPr lang="en-US" dirty="0" err="1" smtClean="0"/>
              <a:t>adb</a:t>
            </a:r>
            <a:endParaRPr lang="en-US" dirty="0" smtClean="0"/>
          </a:p>
          <a:p>
            <a:pPr lvl="1"/>
            <a:r>
              <a:rPr lang="en-US" dirty="0" err="1" smtClean="0"/>
              <a:t>PlayStore</a:t>
            </a:r>
            <a:endParaRPr lang="en-US" dirty="0" smtClean="0"/>
          </a:p>
          <a:p>
            <a:pPr lvl="2"/>
            <a:r>
              <a:rPr lang="en-US" sz="1800" dirty="0">
                <a:hlinkClick r:id="rId2"/>
              </a:rPr>
              <a:t>https://</a:t>
            </a:r>
            <a:r>
              <a:rPr lang="en-US" sz="1800" dirty="0" smtClean="0">
                <a:hlinkClick r:id="rId2"/>
              </a:rPr>
              <a:t>play.google.com/store/apps/details?id=org.opencv.engine</a:t>
            </a:r>
            <a:endParaRPr lang="en-US" sz="1800" dirty="0" smtClean="0"/>
          </a:p>
          <a:p>
            <a:pPr lvl="1"/>
            <a:r>
              <a:rPr lang="en-US" dirty="0" err="1"/>
              <a:t>a</a:t>
            </a:r>
            <a:r>
              <a:rPr lang="en-US" dirty="0" err="1" smtClean="0"/>
              <a:t>db</a:t>
            </a:r>
            <a:endParaRPr lang="en-US" dirty="0"/>
          </a:p>
          <a:p>
            <a:pPr lvl="2"/>
            <a:r>
              <a:rPr lang="en-US" sz="1600" dirty="0" smtClean="0"/>
              <a:t>[</a:t>
            </a:r>
            <a:r>
              <a:rPr lang="en-US" sz="1600" dirty="0" err="1" smtClean="0"/>
              <a:t>OpenCV</a:t>
            </a:r>
            <a:r>
              <a:rPr lang="en-US" sz="1600" dirty="0" smtClean="0"/>
              <a:t> SDK Path]/</a:t>
            </a:r>
            <a:r>
              <a:rPr lang="en-US" sz="1600" dirty="0" err="1" smtClean="0"/>
              <a:t>apk</a:t>
            </a:r>
            <a:r>
              <a:rPr lang="en-US" sz="1600" dirty="0" smtClean="0"/>
              <a:t>/</a:t>
            </a:r>
            <a:r>
              <a:rPr lang="en-US" sz="1600" dirty="0"/>
              <a:t>OpenCV_2.4.7_Manager_2.14_armv7a-neon.apk</a:t>
            </a:r>
          </a:p>
          <a:p>
            <a:pPr lvl="2"/>
            <a:r>
              <a:rPr lang="en-US" sz="1800" dirty="0" smtClean="0"/>
              <a:t>[ADT Path]/</a:t>
            </a:r>
            <a:r>
              <a:rPr lang="en-US" sz="1800" dirty="0" err="1" smtClean="0"/>
              <a:t>sdk</a:t>
            </a:r>
            <a:r>
              <a:rPr lang="en-US" sz="1800" dirty="0" smtClean="0"/>
              <a:t>/platform-tools/</a:t>
            </a:r>
            <a:r>
              <a:rPr lang="en-US" sz="1800" dirty="0" err="1" smtClean="0"/>
              <a:t>adb</a:t>
            </a:r>
            <a:endParaRPr lang="en-US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960440"/>
            <a:ext cx="5159567" cy="285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9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OpenCV</a:t>
            </a:r>
            <a:r>
              <a:rPr lang="en-US" dirty="0" smtClean="0"/>
              <a:t>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Run -&gt; Run As -&gt; Android Application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007885"/>
            <a:ext cx="6839905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5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pPr algn="ctr"/>
            <a:r>
              <a:rPr lang="en-US" altLang="ja-JP" sz="4800" dirty="0"/>
              <a:t>What’s Android App?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5580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What’s Android App?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Android </a:t>
            </a:r>
            <a:r>
              <a:rPr lang="en-US" altLang="ja-JP" dirty="0" smtClean="0"/>
              <a:t>App is “</a:t>
            </a:r>
            <a:r>
              <a:rPr kumimoji="1" lang="en-US" altLang="ja-JP" dirty="0" smtClean="0"/>
              <a:t>Activity”</a:t>
            </a:r>
            <a:r>
              <a:rPr lang="en-US" altLang="ja-JP" dirty="0">
                <a:sym typeface="Wingdings" panose="05000000000000000000" pitchFamily="2" charset="2"/>
              </a:rPr>
              <a:t> </a:t>
            </a:r>
            <a:r>
              <a:rPr lang="en-US" altLang="ja-JP" dirty="0" smtClean="0">
                <a:sym typeface="Wingdings" panose="05000000000000000000" pitchFamily="2" charset="2"/>
              </a:rPr>
              <a:t> </a:t>
            </a:r>
            <a:r>
              <a:rPr lang="en-US" altLang="ja-JP" dirty="0">
                <a:sym typeface="Wingdings" panose="05000000000000000000" pitchFamily="2" charset="2"/>
              </a:rPr>
              <a:t>… Maybe </a:t>
            </a:r>
            <a:endParaRPr lang="en-US" altLang="ja-JP" dirty="0" smtClean="0"/>
          </a:p>
          <a:p>
            <a:pPr lvl="1"/>
            <a:r>
              <a:rPr lang="en-US" altLang="ja-JP" dirty="0"/>
              <a:t>Android is Stack Screen Type OS.</a:t>
            </a:r>
          </a:p>
          <a:p>
            <a:pPr lvl="2"/>
            <a:r>
              <a:rPr lang="en-US" altLang="ja-JP" dirty="0"/>
              <a:t>1 Screen, 1 Application</a:t>
            </a:r>
          </a:p>
          <a:p>
            <a:pPr lvl="1"/>
            <a:r>
              <a:rPr kumimoji="1" lang="en-US" altLang="ja-JP" dirty="0" smtClean="0"/>
              <a:t>Android App has one Activity.</a:t>
            </a:r>
          </a:p>
          <a:p>
            <a:pPr lvl="2"/>
            <a:r>
              <a:rPr lang="en-US" altLang="ja-JP" dirty="0" smtClean="0"/>
              <a:t>Activity has one View(Screen).</a:t>
            </a:r>
          </a:p>
          <a:p>
            <a:pPr lvl="3"/>
            <a:r>
              <a:rPr lang="en-US" altLang="ja-JP" dirty="0" smtClean="0"/>
              <a:t>Excluding Service.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2189278" y="3789040"/>
            <a:ext cx="3606858" cy="3200537"/>
            <a:chOff x="-669124" y="3805232"/>
            <a:chExt cx="3606858" cy="320053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-669124" y="3844454"/>
              <a:ext cx="3606858" cy="316131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28993">
              <a:off x="844547" y="4078252"/>
              <a:ext cx="1291808" cy="2066893"/>
            </a:xfrm>
            <a:prstGeom prst="rect">
              <a:avLst/>
            </a:prstGeom>
            <a:ln>
              <a:noFill/>
            </a:ln>
            <a:effectLst>
              <a:reflection blurRad="12700" stA="30000" endPos="30000" dist="5000" dir="5400000" sy="-100000" algn="bl" rotWithShape="0"/>
            </a:effectLst>
            <a:scene3d>
              <a:camera prst="perspectiveContrastingLeftFacing">
                <a:rot lat="300000" lon="19800000" rev="0"/>
              </a:camera>
              <a:lightRig rig="threePt" dir="t">
                <a:rot lat="0" lon="0" rev="2700000"/>
              </a:lightRig>
            </a:scene3d>
            <a:sp3d>
              <a:bevelT w="63500" h="50800"/>
            </a:sp3d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85011">
              <a:off x="1063836" y="3966493"/>
              <a:ext cx="1234129" cy="1974607"/>
            </a:xfrm>
            <a:prstGeom prst="rect">
              <a:avLst/>
            </a:prstGeom>
            <a:ln>
              <a:noFill/>
            </a:ln>
            <a:effectLst>
              <a:reflection blurRad="12700" stA="30000" endPos="30000" dist="5000" dir="5400000" sy="-100000" algn="bl" rotWithShape="0"/>
            </a:effectLst>
            <a:scene3d>
              <a:camera prst="perspectiveContrastingLeftFacing">
                <a:rot lat="300000" lon="19800000" rev="0"/>
              </a:camera>
              <a:lightRig rig="threePt" dir="t">
                <a:rot lat="0" lon="0" rev="2700000"/>
              </a:lightRig>
            </a:scene3d>
            <a:sp3d>
              <a:bevelT w="63500" h="50800"/>
            </a:sp3d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94387">
              <a:off x="1361514" y="3880167"/>
              <a:ext cx="1255008" cy="2008012"/>
            </a:xfrm>
            <a:prstGeom prst="rect">
              <a:avLst/>
            </a:prstGeom>
            <a:ln>
              <a:noFill/>
            </a:ln>
            <a:effectLst>
              <a:reflection blurRad="12700" stA="30000" endPos="30000" dist="5000" dir="5400000" sy="-100000" algn="bl" rotWithShape="0"/>
            </a:effectLst>
            <a:scene3d>
              <a:camera prst="perspectiveContrastingLeftFacing">
                <a:rot lat="300000" lon="19800000" rev="0"/>
              </a:camera>
              <a:lightRig rig="threePt" dir="t">
                <a:rot lat="0" lon="0" rev="2700000"/>
              </a:lightRig>
            </a:scene3d>
            <a:sp3d>
              <a:bevelT w="63500" h="50800"/>
            </a:sp3d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91935">
              <a:off x="1661320" y="3805232"/>
              <a:ext cx="1216962" cy="1947140"/>
            </a:xfrm>
            <a:prstGeom prst="rect">
              <a:avLst/>
            </a:prstGeom>
            <a:ln>
              <a:noFill/>
            </a:ln>
            <a:effectLst>
              <a:reflection blurRad="12700" stA="30000" endPos="30000" dist="5000" dir="5400000" sy="-100000" algn="bl" rotWithShape="0"/>
            </a:effectLst>
            <a:scene3d>
              <a:camera prst="perspectiveContrastingLeftFacing">
                <a:rot lat="300000" lon="19800000" rev="0"/>
              </a:camera>
              <a:lightRig rig="threePt" dir="t">
                <a:rot lat="0" lon="0" rev="2700000"/>
              </a:lightRig>
            </a:scene3d>
            <a:sp3d>
              <a:bevelT w="63500" h="50800"/>
            </a:sp3d>
          </p:spPr>
        </p:pic>
      </p:grpSp>
    </p:spTree>
    <p:extLst>
      <p:ext uri="{BB962C8B-B14F-4D97-AF65-F5344CB8AC3E}">
        <p14:creationId xmlns:p14="http://schemas.microsoft.com/office/powerpoint/2010/main" val="310608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LifeCycle</a:t>
            </a:r>
            <a:r>
              <a:rPr lang="en-US" dirty="0" smtClean="0"/>
              <a:t>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5245968" cy="5327650"/>
          </a:xfrm>
        </p:spPr>
        <p:txBody>
          <a:bodyPr/>
          <a:lstStyle/>
          <a:p>
            <a:r>
              <a:rPr lang="en-US" dirty="0" smtClean="0"/>
              <a:t>Activity is Event Driven Arch</a:t>
            </a:r>
            <a:endParaRPr lang="en-US" dirty="0"/>
          </a:p>
          <a:p>
            <a:r>
              <a:rPr lang="en-US" dirty="0" smtClean="0"/>
              <a:t>Main Event</a:t>
            </a:r>
          </a:p>
          <a:p>
            <a:pPr lvl="1"/>
            <a:r>
              <a:rPr lang="en-US" dirty="0" err="1" smtClean="0"/>
              <a:t>onCreate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Start Activity</a:t>
            </a:r>
          </a:p>
          <a:p>
            <a:pPr lvl="2"/>
            <a:r>
              <a:rPr lang="en-US" altLang="ja-JP" dirty="0" smtClean="0"/>
              <a:t>Initialize Objects</a:t>
            </a:r>
            <a:endParaRPr lang="en-US" dirty="0" smtClean="0"/>
          </a:p>
          <a:p>
            <a:pPr lvl="1"/>
            <a:r>
              <a:rPr lang="en-US" dirty="0" err="1" smtClean="0"/>
              <a:t>onStart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Finish Initialized</a:t>
            </a:r>
          </a:p>
          <a:p>
            <a:pPr lvl="1"/>
            <a:r>
              <a:rPr lang="en-US" dirty="0" err="1" smtClean="0"/>
              <a:t>onPause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Other Activity Start</a:t>
            </a:r>
          </a:p>
          <a:p>
            <a:pPr lvl="1"/>
            <a:r>
              <a:rPr lang="en-US" dirty="0" err="1"/>
              <a:t>onResume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Back from Other Activity</a:t>
            </a:r>
            <a:endParaRPr lang="en-US" dirty="0"/>
          </a:p>
          <a:p>
            <a:pPr lvl="1"/>
            <a:r>
              <a:rPr lang="en-US" dirty="0" err="1" smtClean="0"/>
              <a:t>onStop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Don’t back long time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13" y="918741"/>
            <a:ext cx="4442320" cy="574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48231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2301</TotalTime>
  <Words>3494</Words>
  <Application>Microsoft Office PowerPoint</Application>
  <PresentationFormat>On-screen Show (4:3)</PresentationFormat>
  <Paragraphs>1590</Paragraphs>
  <Slides>89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ＭＳ Ｐゴシック</vt:lpstr>
      <vt:lpstr>メイリオ</vt:lpstr>
      <vt:lpstr>Arial</vt:lpstr>
      <vt:lpstr>Times</vt:lpstr>
      <vt:lpstr>Times New Roman</vt:lpstr>
      <vt:lpstr>Wingdings</vt:lpstr>
      <vt:lpstr>SIProp</vt:lpstr>
      <vt:lpstr>About Android</vt:lpstr>
      <vt:lpstr>Agenda</vt:lpstr>
      <vt:lpstr>summary</vt:lpstr>
      <vt:lpstr>SIP&amp;IPv6 engineer: 2002-2004</vt:lpstr>
      <vt:lpstr>SIProp project in MITOH : 2006-2007</vt:lpstr>
      <vt:lpstr>HOTARU project : 2007-2008</vt:lpstr>
      <vt:lpstr>Japan Android Group : 2008-2010</vt:lpstr>
      <vt:lpstr>OESF : 2009-present</vt:lpstr>
      <vt:lpstr>Android’s tools</vt:lpstr>
      <vt:lpstr>Other Products</vt:lpstr>
      <vt:lpstr>Agenda</vt:lpstr>
      <vt:lpstr>PowerPoint Presentation</vt:lpstr>
      <vt:lpstr>What’s Android?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 -Date</vt:lpstr>
      <vt:lpstr>World Share of SmartPhone</vt:lpstr>
      <vt:lpstr>Android Usage</vt:lpstr>
      <vt:lpstr>PowerPoint Presentation</vt:lpstr>
      <vt:lpstr>About Android</vt:lpstr>
      <vt:lpstr>Application Framework Layer</vt:lpstr>
      <vt:lpstr>Application Framework Layer</vt:lpstr>
      <vt:lpstr>Application Framework Layer</vt:lpstr>
      <vt:lpstr>Library Layer</vt:lpstr>
      <vt:lpstr>Kernel/Driver Layer</vt:lpstr>
      <vt:lpstr>License</vt:lpstr>
      <vt:lpstr>How to Develop?</vt:lpstr>
      <vt:lpstr>How to Develop?</vt:lpstr>
      <vt:lpstr>How to Develop?</vt:lpstr>
      <vt:lpstr>How to Develop?</vt:lpstr>
      <vt:lpstr>PowerPoint Presentation</vt:lpstr>
      <vt:lpstr>Android SDK Tools</vt:lpstr>
      <vt:lpstr>Android SDK Tools</vt:lpstr>
      <vt:lpstr>Android SDK Tools</vt:lpstr>
      <vt:lpstr>Android SDK Tools</vt:lpstr>
      <vt:lpstr>Android SDK Tools</vt:lpstr>
      <vt:lpstr>Android SDK Tools</vt:lpstr>
      <vt:lpstr>Android SDK Tools</vt:lpstr>
      <vt:lpstr>Android SDK Tools</vt:lpstr>
      <vt:lpstr>Android SDK Tools</vt:lpstr>
      <vt:lpstr>Android SDK Tools</vt:lpstr>
      <vt:lpstr>Android SDK Tools</vt:lpstr>
      <vt:lpstr>Android SDK Tools</vt:lpstr>
      <vt:lpstr>Important Tools</vt:lpstr>
      <vt:lpstr>adb(Android Debug Bridge)</vt:lpstr>
      <vt:lpstr>Source Code Search</vt:lpstr>
      <vt:lpstr>SDK Sample (API Demo)</vt:lpstr>
      <vt:lpstr>PowerPoint Presentation</vt:lpstr>
      <vt:lpstr>Setup Android Environment for Java</vt:lpstr>
      <vt:lpstr>Tips</vt:lpstr>
      <vt:lpstr>Setup ADT</vt:lpstr>
      <vt:lpstr>Setup Android SDK &amp; USB Driver</vt:lpstr>
      <vt:lpstr>Setup NDK Path for Android</vt:lpstr>
      <vt:lpstr>Setup NDK Path for C/C++</vt:lpstr>
      <vt:lpstr>Import OpenCV File</vt:lpstr>
      <vt:lpstr>Modefy OpenCV Pref</vt:lpstr>
      <vt:lpstr>Setup OpenCV Manager</vt:lpstr>
      <vt:lpstr>Run OpenCV App</vt:lpstr>
      <vt:lpstr>PowerPoint Presentation</vt:lpstr>
      <vt:lpstr>What’s Android App?</vt:lpstr>
      <vt:lpstr>LifeCycle Diagram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</dc:creator>
  <cp:lastModifiedBy>Noritsuna Imamura</cp:lastModifiedBy>
  <cp:revision>339</cp:revision>
  <dcterms:created xsi:type="dcterms:W3CDTF">2013-11-26T18:43:02Z</dcterms:created>
  <dcterms:modified xsi:type="dcterms:W3CDTF">2013-11-28T21:34:38Z</dcterms:modified>
</cp:coreProperties>
</file>