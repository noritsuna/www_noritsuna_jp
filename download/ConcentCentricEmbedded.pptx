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370" r:id="rId3"/>
    <p:sldId id="348" r:id="rId4"/>
    <p:sldId id="391" r:id="rId5"/>
    <p:sldId id="327" r:id="rId6"/>
    <p:sldId id="369" r:id="rId7"/>
    <p:sldId id="329" r:id="rId8"/>
    <p:sldId id="415" r:id="rId9"/>
    <p:sldId id="412" r:id="rId10"/>
    <p:sldId id="431" r:id="rId11"/>
    <p:sldId id="449" r:id="rId12"/>
    <p:sldId id="450" r:id="rId13"/>
    <p:sldId id="388" r:id="rId14"/>
    <p:sldId id="387" r:id="rId15"/>
    <p:sldId id="451" r:id="rId16"/>
    <p:sldId id="355" r:id="rId17"/>
    <p:sldId id="407" r:id="rId18"/>
    <p:sldId id="434" r:id="rId19"/>
    <p:sldId id="432" r:id="rId20"/>
    <p:sldId id="409" r:id="rId21"/>
    <p:sldId id="398" r:id="rId22"/>
    <p:sldId id="399" r:id="rId23"/>
    <p:sldId id="401" r:id="rId24"/>
    <p:sldId id="410" r:id="rId25"/>
    <p:sldId id="402" r:id="rId26"/>
    <p:sldId id="403" r:id="rId27"/>
    <p:sldId id="411" r:id="rId28"/>
    <p:sldId id="404" r:id="rId29"/>
    <p:sldId id="405" r:id="rId30"/>
    <p:sldId id="406" r:id="rId31"/>
    <p:sldId id="331" r:id="rId32"/>
    <p:sldId id="332" r:id="rId33"/>
    <p:sldId id="433" r:id="rId34"/>
    <p:sldId id="446" r:id="rId35"/>
    <p:sldId id="447" r:id="rId36"/>
    <p:sldId id="453" r:id="rId37"/>
    <p:sldId id="445" r:id="rId38"/>
    <p:sldId id="448" r:id="rId39"/>
    <p:sldId id="346" r:id="rId40"/>
    <p:sldId id="419" r:id="rId41"/>
    <p:sldId id="420" r:id="rId42"/>
    <p:sldId id="424" r:id="rId43"/>
    <p:sldId id="426" r:id="rId44"/>
    <p:sldId id="441" r:id="rId45"/>
    <p:sldId id="421" r:id="rId46"/>
    <p:sldId id="422" r:id="rId47"/>
    <p:sldId id="423" r:id="rId48"/>
    <p:sldId id="425" r:id="rId49"/>
    <p:sldId id="440" r:id="rId50"/>
    <p:sldId id="435" r:id="rId51"/>
    <p:sldId id="442" r:id="rId52"/>
    <p:sldId id="443" r:id="rId53"/>
    <p:sldId id="436" r:id="rId54"/>
    <p:sldId id="437" r:id="rId55"/>
    <p:sldId id="438" r:id="rId56"/>
    <p:sldId id="439" r:id="rId57"/>
    <p:sldId id="427" r:id="rId58"/>
    <p:sldId id="428" r:id="rId59"/>
    <p:sldId id="429" r:id="rId60"/>
    <p:sldId id="430" r:id="rId61"/>
    <p:sldId id="386" r:id="rId62"/>
    <p:sldId id="375" r:id="rId63"/>
    <p:sldId id="382" r:id="rId64"/>
    <p:sldId id="383" r:id="rId65"/>
    <p:sldId id="384" r:id="rId66"/>
    <p:sldId id="368" r:id="rId67"/>
    <p:sldId id="364" r:id="rId68"/>
    <p:sldId id="322" r:id="rId69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CCFF"/>
    <a:srgbClr val="0080FF"/>
    <a:srgbClr val="FF0000"/>
    <a:srgbClr val="FF6FCF"/>
    <a:srgbClr val="E8E8E8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64" autoAdjust="0"/>
    <p:restoredTop sz="60340" autoAdjust="0"/>
  </p:normalViewPr>
  <p:slideViewPr>
    <p:cSldViewPr snapToGrid="0">
      <p:cViewPr varScale="1">
        <p:scale>
          <a:sx n="57" d="100"/>
          <a:sy n="57" d="100"/>
        </p:scale>
        <p:origin x="-200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6F2F0D8F-BC08-4AA1-8CB7-853ECBFEE146}" type="datetimeFigureOut">
              <a:rPr kumimoji="1" lang="ja-JP" altLang="en-US" smtClean="0"/>
              <a:t>2012/8/20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6D6E528D-5D26-492A-B88E-0510A1A95B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937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9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1" tIns="45715" rIns="91431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1" tIns="45715" rIns="91431" bIns="4571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A48290-AC86-4EA9-8888-462A7AC8725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875325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624E2-D5BE-49FF-A63A-79135793D79B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smtClean="0"/>
              <a:t>Nice to meet you, everybody.</a:t>
            </a:r>
            <a:r>
              <a:rPr lang="en-US" altLang="ja-JP" baseline="0" dirty="0"/>
              <a:t> </a:t>
            </a:r>
            <a:r>
              <a:rPr lang="en-US" altLang="ja-JP" baseline="0" dirty="0" smtClean="0"/>
              <a:t>I’m </a:t>
            </a:r>
            <a:r>
              <a:rPr lang="en-US" altLang="ja-JP" baseline="0" dirty="0" err="1" smtClean="0"/>
              <a:t>Nori</a:t>
            </a:r>
            <a:r>
              <a:rPr lang="en-US" altLang="ja-JP" baseline="0" dirty="0" smtClean="0"/>
              <a:t>.</a:t>
            </a:r>
          </a:p>
          <a:p>
            <a:r>
              <a:rPr lang="en-US" altLang="ja-JP" baseline="0" dirty="0" smtClean="0"/>
              <a:t>Today, I speak about THR.</a:t>
            </a:r>
          </a:p>
          <a:p>
            <a:r>
              <a:rPr lang="en-US" altLang="ja-JP" baseline="0" dirty="0" smtClean="0"/>
              <a:t>THR is a robot which we made. Our team is called </a:t>
            </a:r>
            <a:r>
              <a:rPr lang="en-US" altLang="ja-JP" baseline="0" dirty="0" err="1" smtClean="0"/>
              <a:t>SIProp</a:t>
            </a:r>
            <a:r>
              <a:rPr lang="en-US" altLang="ja-JP" baseline="0" dirty="0" smtClean="0"/>
              <a:t> project.</a:t>
            </a:r>
          </a:p>
          <a:p>
            <a:r>
              <a:rPr lang="en-US" altLang="ja-JP" baseline="0" dirty="0" smtClean="0"/>
              <a:t>It’s a small OSS project. Our members are 3 people.</a:t>
            </a:r>
          </a:p>
          <a:p>
            <a:r>
              <a:rPr lang="en-US" altLang="ja-JP" baseline="0" dirty="0" smtClean="0"/>
              <a:t>We have made a lot of fun things. This is one of them.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6010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In</a:t>
            </a:r>
            <a:r>
              <a:rPr kumimoji="1" lang="en-US" altLang="ja-JP" baseline="0" dirty="0" smtClean="0"/>
              <a:t> fact, my </a:t>
            </a:r>
            <a:r>
              <a:rPr kumimoji="1" lang="en-US" altLang="ja-JP" baseline="0" dirty="0" err="1" smtClean="0"/>
              <a:t>speciality</a:t>
            </a:r>
            <a:r>
              <a:rPr kumimoji="1" lang="en-US" altLang="ja-JP" baseline="0" dirty="0" smtClean="0"/>
              <a:t> is networking technology. P2P. Like Skype.</a:t>
            </a:r>
          </a:p>
          <a:p>
            <a:r>
              <a:rPr kumimoji="1" lang="en-US" altLang="ja-JP" baseline="0" dirty="0" smtClean="0"/>
              <a:t>Now I’m a community </a:t>
            </a:r>
            <a:r>
              <a:rPr kumimoji="1" lang="en-US" altLang="ja-JP" baseline="0" dirty="0" err="1" smtClean="0"/>
              <a:t>cordinator</a:t>
            </a:r>
            <a:r>
              <a:rPr kumimoji="1" lang="en-US" altLang="ja-JP" baseline="0" dirty="0" smtClean="0"/>
              <a:t>. I usually create &amp; support OSS community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I explain them later.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I’m from OESF. OESF is NPO. OESF has a lot of member companies.</a:t>
            </a:r>
          </a:p>
          <a:p>
            <a:r>
              <a:rPr kumimoji="1" lang="en-US" altLang="ja-JP" baseline="0" dirty="0" smtClean="0"/>
              <a:t>OESF’s members work in WGs. WGs are STB, Car </a:t>
            </a:r>
            <a:r>
              <a:rPr kumimoji="1" lang="en-US" altLang="ja-JP" baseline="0" dirty="0" err="1" smtClean="0"/>
              <a:t>Navi</a:t>
            </a:r>
            <a:r>
              <a:rPr kumimoji="1" lang="en-US" altLang="ja-JP" baseline="0" dirty="0" smtClean="0"/>
              <a:t> and </a:t>
            </a:r>
            <a:r>
              <a:rPr kumimoji="1" lang="en-US" altLang="ja-JP" baseline="0" dirty="0" err="1" smtClean="0"/>
              <a:t>Edu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They are making a standard spec &amp; </a:t>
            </a:r>
            <a:r>
              <a:rPr kumimoji="1" lang="en-US" altLang="ja-JP" baseline="0" dirty="0" err="1" smtClean="0"/>
              <a:t>liblary</a:t>
            </a:r>
            <a:r>
              <a:rPr kumimoji="1" lang="en-US" altLang="ja-JP" baseline="0" dirty="0" smtClean="0"/>
              <a:t>, framework for application. And release as OSS.</a:t>
            </a:r>
          </a:p>
          <a:p>
            <a:r>
              <a:rPr kumimoji="1" lang="en-US" altLang="ja-JP" baseline="0" dirty="0" smtClean="0"/>
              <a:t>I almost </a:t>
            </a:r>
            <a:r>
              <a:rPr kumimoji="1" lang="en-US" altLang="ja-JP" baseline="0" dirty="0" err="1" smtClean="0"/>
              <a:t>cordinate</a:t>
            </a:r>
            <a:r>
              <a:rPr kumimoji="1" lang="en-US" altLang="ja-JP" baseline="0" dirty="0" smtClean="0"/>
              <a:t> WGs.</a:t>
            </a:r>
          </a:p>
          <a:p>
            <a:r>
              <a:rPr kumimoji="1" lang="en-US" altLang="ja-JP" baseline="0" dirty="0" smtClean="0"/>
              <a:t>In fact, my robot is one of this WG’s work. I explain about it later.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12850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8662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Maybe</a:t>
            </a:r>
            <a:r>
              <a:rPr kumimoji="1" lang="en-US" altLang="ja-JP" baseline="0" dirty="0" smtClean="0"/>
              <a:t> now, It’s the most famous community in Japan.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Resign</a:t>
            </a:r>
          </a:p>
          <a:p>
            <a:endParaRPr kumimoji="1" lang="en-US" altLang="ja-JP" baseline="0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13673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ただ、これらのハードウェアを動かすには、各種センサーのドライバ開発や</a:t>
            </a:r>
            <a:endParaRPr kumimoji="1" lang="en-US" altLang="ja-JP" dirty="0" smtClean="0"/>
          </a:p>
          <a:p>
            <a:r>
              <a:rPr kumimoji="1" lang="ja-JP" altLang="en-US" dirty="0" smtClean="0"/>
              <a:t>オプティマイズをきちんと行わないと、期待した動作になりません。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そこで、去年に</a:t>
            </a:r>
            <a:r>
              <a:rPr kumimoji="1" lang="en-US" altLang="ja-JP" dirty="0" err="1" smtClean="0"/>
              <a:t>Linaro</a:t>
            </a:r>
            <a:r>
              <a:rPr kumimoji="1" lang="ja-JP" altLang="en-US" dirty="0" smtClean="0"/>
              <a:t>プロジェクトという</a:t>
            </a:r>
            <a:r>
              <a:rPr kumimoji="1" lang="en-US" altLang="ja-JP" dirty="0" smtClean="0"/>
              <a:t>OSS</a:t>
            </a:r>
            <a:r>
              <a:rPr kumimoji="1" lang="ja-JP" altLang="en-US" dirty="0" smtClean="0"/>
              <a:t>が立ち上がり、この手の</a:t>
            </a:r>
            <a:r>
              <a:rPr kumimoji="1" lang="en-US" altLang="ja-JP" dirty="0" err="1" smtClean="0"/>
              <a:t>SoC</a:t>
            </a:r>
            <a:r>
              <a:rPr kumimoji="1" lang="ja-JP" altLang="en-US" dirty="0" smtClean="0"/>
              <a:t>用の</a:t>
            </a:r>
            <a:endParaRPr kumimoji="1" lang="en-US" altLang="ja-JP" dirty="0" smtClean="0"/>
          </a:p>
          <a:p>
            <a:r>
              <a:rPr kumimoji="1" lang="ja-JP" altLang="en-US" dirty="0" smtClean="0"/>
              <a:t>ドライバやオプティマイズを行っています。</a:t>
            </a:r>
            <a:endParaRPr kumimoji="1" lang="en-US" altLang="ja-JP" dirty="0" smtClean="0"/>
          </a:p>
          <a:p>
            <a:r>
              <a:rPr kumimoji="1" lang="ja-JP" altLang="en-US" dirty="0" smtClean="0"/>
              <a:t>我々は、そこのコミッターとして、</a:t>
            </a:r>
            <a:r>
              <a:rPr kumimoji="1" lang="en-US" altLang="ja-JP" dirty="0" smtClean="0"/>
              <a:t>Android</a:t>
            </a:r>
            <a:r>
              <a:rPr kumimoji="1" lang="ja-JP" altLang="en-US" dirty="0" smtClean="0"/>
              <a:t>周りのサポートを行っています。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ちなみに、そこのコンペティションに、このカメさんを出しまして、１位になりました。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My small </a:t>
            </a:r>
            <a:r>
              <a:rPr kumimoji="1" lang="en-US" altLang="ja-JP" dirty="0" err="1" smtClean="0"/>
              <a:t>wokrs</a:t>
            </a:r>
            <a:r>
              <a:rPr kumimoji="1" lang="en-US" altLang="ja-JP" dirty="0" smtClean="0"/>
              <a:t>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However</a:t>
            </a:r>
            <a:r>
              <a:rPr kumimoji="1" lang="en-US" altLang="ja-JP" baseline="0" dirty="0" smtClean="0"/>
              <a:t> Google doesn’t notice me it.</a:t>
            </a:r>
          </a:p>
          <a:p>
            <a:r>
              <a:rPr kumimoji="1" lang="en-US" altLang="ja-JP" baseline="0" dirty="0" smtClean="0"/>
              <a:t>I knew it, when my friend sent me e-mail about it</a:t>
            </a:r>
            <a:r>
              <a:rPr kumimoji="1" lang="en-US" altLang="ja-JP" baseline="0" dirty="0" smtClean="0">
                <a:sym typeface="Wingdings" pitchFamily="2" charset="2"/>
              </a:rPr>
              <a:t>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46329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624E2-D5BE-49FF-A63A-79135793D79B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aseline="0" dirty="0" smtClean="0"/>
              <a:t>And we made this robot by thinking of </a:t>
            </a:r>
            <a:r>
              <a:rPr lang="en-US" altLang="ja-JP" baseline="0" dirty="0" err="1" smtClean="0"/>
              <a:t>DIwO</a:t>
            </a:r>
            <a:r>
              <a:rPr lang="en-US" altLang="ja-JP" baseline="0" dirty="0" smtClean="0"/>
              <a:t>.</a:t>
            </a:r>
          </a:p>
          <a:p>
            <a:endParaRPr lang="en-US" altLang="ja-JP" baseline="0" dirty="0" smtClean="0"/>
          </a:p>
          <a:p>
            <a:endParaRPr lang="en-US" altLang="ja-JP" baseline="0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4444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8127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combine , suggest</a:t>
            </a:r>
          </a:p>
          <a:p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It’s important point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to make about that.</a:t>
            </a:r>
          </a:p>
          <a:p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One of answer is for this point.</a:t>
            </a: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DIY is made by yourself, only you or only your company.</a:t>
            </a:r>
          </a:p>
          <a:p>
            <a:r>
              <a:rPr kumimoji="1" lang="en-US" altLang="ja-JP" sz="1200" kern="1200" baseline="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DIwO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is made by all of the world engineers!</a:t>
            </a: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You use the engineer’s result and make your prototype quickly!</a:t>
            </a: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OSS, Open hard, knowledge</a:t>
            </a: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You don’t need to make your </a:t>
            </a:r>
            <a:r>
              <a:rPr kumimoji="1" lang="en-US" altLang="ja-JP" sz="1200" kern="1200" baseline="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SoC.</a:t>
            </a:r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This is applied also to an engineer.</a:t>
            </a:r>
          </a:p>
          <a:p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31999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 smtClean="0"/>
              <a:t>About </a:t>
            </a:r>
            <a:r>
              <a:rPr lang="en-US" altLang="ja-JP" sz="1200" dirty="0" smtClean="0"/>
              <a:t>Content-Centric Embedded.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Ex.</a:t>
            </a:r>
          </a:p>
          <a:p>
            <a:r>
              <a:rPr kumimoji="1" lang="en-US" altLang="ja-JP" dirty="0" smtClean="0"/>
              <a:t>When</a:t>
            </a:r>
            <a:r>
              <a:rPr kumimoji="1" lang="en-US" altLang="ja-JP" baseline="0" dirty="0" smtClean="0"/>
              <a:t> you use SNS service, you find new information from your friend’s information.</a:t>
            </a:r>
          </a:p>
          <a:p>
            <a:r>
              <a:rPr kumimoji="1" lang="en-US" altLang="ja-JP" baseline="0" dirty="0" smtClean="0"/>
              <a:t>Key word is NOT </a:t>
            </a:r>
            <a:r>
              <a:rPr kumimoji="1" lang="en-US" altLang="ja-JP" baseline="0" dirty="0" err="1" smtClean="0"/>
              <a:t>url</a:t>
            </a:r>
            <a:r>
              <a:rPr kumimoji="1" lang="en-US" altLang="ja-JP" baseline="0" dirty="0" smtClean="0"/>
              <a:t> or IP, it’s friend as contents.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You sale it to your customer. Maybe consumers.</a:t>
            </a:r>
          </a:p>
          <a:p>
            <a:r>
              <a:rPr kumimoji="1" lang="en-US" altLang="ja-JP" dirty="0" smtClean="0"/>
              <a:t>First you are looking</a:t>
            </a:r>
            <a:r>
              <a:rPr kumimoji="1" lang="en-US" altLang="ja-JP" baseline="0" dirty="0" smtClean="0"/>
              <a:t> for service &amp; content providers.</a:t>
            </a:r>
          </a:p>
          <a:p>
            <a:r>
              <a:rPr kumimoji="1" lang="en-US" altLang="ja-JP" baseline="0" dirty="0" smtClean="0"/>
              <a:t>And you suggest your idea for their service to them. </a:t>
            </a:r>
          </a:p>
          <a:p>
            <a:r>
              <a:rPr kumimoji="1" lang="en-US" altLang="ja-JP" baseline="0" dirty="0" smtClean="0"/>
              <a:t>And you get order from them.</a:t>
            </a:r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03349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624E2-D5BE-49FF-A63A-79135793D79B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aseline="0" dirty="0" smtClean="0"/>
              <a:t>And we made this robot by thinking of </a:t>
            </a:r>
            <a:r>
              <a:rPr lang="en-US" altLang="ja-JP" baseline="0" dirty="0" err="1" smtClean="0"/>
              <a:t>DIwO</a:t>
            </a:r>
            <a:r>
              <a:rPr lang="en-US" altLang="ja-JP" baseline="0" dirty="0" smtClean="0"/>
              <a:t>.</a:t>
            </a:r>
          </a:p>
          <a:p>
            <a:endParaRPr lang="en-US" altLang="ja-JP" baseline="0" dirty="0" smtClean="0"/>
          </a:p>
          <a:p>
            <a:endParaRPr lang="en-US" altLang="ja-JP" baseline="0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I explain about special parts.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I used a Kinect &amp; </a:t>
            </a:r>
            <a:r>
              <a:rPr kumimoji="1" lang="en-US" altLang="ja-JP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Beagleboard-xm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in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the robot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The Kinect is Xbox’s option controller. It has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a RGB camera, a Depth camera and an Audio.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I used thing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to g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et camera view &amp; distance as this robot’s eyes.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A </a:t>
            </a:r>
            <a:r>
              <a:rPr kumimoji="1" lang="en-US" altLang="ja-JP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specail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point is the </a:t>
            </a:r>
            <a:r>
              <a:rPr kumimoji="1" lang="en-US" altLang="ja-JP" sz="1200" kern="120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kinect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is a next generation controller for game console.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However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I used as </a:t>
            </a:r>
            <a:r>
              <a:rPr kumimoji="1" lang="en-US" altLang="ja-JP" sz="1200" kern="1200" baseline="0" dirty="0" err="1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sonser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These</a:t>
            </a:r>
            <a:r>
              <a:rPr kumimoji="1" lang="en-US" altLang="ja-JP" baseline="0" dirty="0" smtClean="0"/>
              <a:t> </a:t>
            </a:r>
            <a:r>
              <a:rPr kumimoji="1" lang="en-US" altLang="ja-JP" baseline="0" dirty="0" err="1" smtClean="0"/>
              <a:t>urls</a:t>
            </a:r>
            <a:r>
              <a:rPr kumimoji="1" lang="en-US" altLang="ja-JP" baseline="0" dirty="0" smtClean="0"/>
              <a:t> are download pages.</a:t>
            </a:r>
          </a:p>
          <a:p>
            <a:r>
              <a:rPr kumimoji="1" lang="en-US" altLang="ja-JP" dirty="0" smtClean="0"/>
              <a:t>If you don’t remember this </a:t>
            </a:r>
            <a:r>
              <a:rPr kumimoji="1" lang="en-US" altLang="ja-JP" dirty="0" err="1" smtClean="0"/>
              <a:t>url</a:t>
            </a:r>
            <a:r>
              <a:rPr kumimoji="1" lang="en-US" altLang="ja-JP" dirty="0" smtClean="0"/>
              <a:t>,</a:t>
            </a:r>
            <a:r>
              <a:rPr kumimoji="1" lang="en-US" altLang="ja-JP" baseline="0" dirty="0" smtClean="0"/>
              <a:t> please search for Google by using keyword.</a:t>
            </a:r>
          </a:p>
          <a:p>
            <a:r>
              <a:rPr kumimoji="1" lang="en-US" altLang="ja-JP" baseline="0" dirty="0" smtClean="0"/>
              <a:t>Maybe you will be able to find these pages quickly!</a:t>
            </a:r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This part is</a:t>
            </a:r>
            <a:r>
              <a:rPr kumimoji="1" lang="en-US" altLang="ja-JP" baseline="0" dirty="0" smtClean="0"/>
              <a:t> Kinect part.</a:t>
            </a:r>
          </a:p>
          <a:p>
            <a:r>
              <a:rPr kumimoji="1" lang="en-US" altLang="ja-JP" baseline="0" dirty="0" smtClean="0"/>
              <a:t>I’ll explain 3 things.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Important things are 2 points.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 explain about those.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But this has a big problem. So you can’t use for real product.</a:t>
            </a:r>
          </a:p>
          <a:p>
            <a:r>
              <a:rPr kumimoji="1" lang="en-US" altLang="ja-JP" dirty="0" smtClean="0"/>
              <a:t>However this is prototype. So it’s important</a:t>
            </a:r>
            <a:r>
              <a:rPr kumimoji="1" lang="en-US" altLang="ja-JP" baseline="0" dirty="0" smtClean="0"/>
              <a:t> point to make quickly!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Detect</a:t>
            </a:r>
            <a:r>
              <a:rPr kumimoji="1" lang="en-US" altLang="ja-JP" baseline="0" dirty="0" smtClean="0"/>
              <a:t> the face source code is only this!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In fact, first,</a:t>
            </a:r>
            <a:r>
              <a:rPr kumimoji="1" lang="en-US" altLang="ja-JP" baseline="0" dirty="0" smtClean="0"/>
              <a:t> I </a:t>
            </a:r>
            <a:r>
              <a:rPr kumimoji="1" lang="en-US" altLang="ja-JP" baseline="0" dirty="0" err="1" smtClean="0"/>
              <a:t>thougt</a:t>
            </a:r>
            <a:r>
              <a:rPr kumimoji="1" lang="en-US" altLang="ja-JP" baseline="0" dirty="0" smtClean="0"/>
              <a:t> to use </a:t>
            </a:r>
            <a:r>
              <a:rPr kumimoji="1" lang="en-US" altLang="ja-JP" baseline="0" dirty="0" err="1" smtClean="0"/>
              <a:t>OpenCV</a:t>
            </a:r>
            <a:r>
              <a:rPr kumimoji="1" lang="en-US" altLang="ja-JP" baseline="0" dirty="0" smtClean="0"/>
              <a:t> which is in the </a:t>
            </a:r>
            <a:r>
              <a:rPr kumimoji="1" lang="en-US" altLang="ja-JP" baseline="0" dirty="0" err="1" smtClean="0"/>
              <a:t>openFrameworks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But It is necessary a lot of memory to use </a:t>
            </a:r>
            <a:r>
              <a:rPr kumimoji="1" lang="en-US" altLang="ja-JP" baseline="0" dirty="0" err="1" smtClean="0"/>
              <a:t>OpenCV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But </a:t>
            </a:r>
            <a:r>
              <a:rPr kumimoji="1" lang="en-US" altLang="ja-JP" baseline="0" dirty="0" err="1" smtClean="0"/>
              <a:t>Beagleboard-xm</a:t>
            </a:r>
            <a:r>
              <a:rPr kumimoji="1" lang="en-US" altLang="ja-JP" baseline="0" dirty="0" smtClean="0"/>
              <a:t> has no enough memory. </a:t>
            </a:r>
          </a:p>
          <a:p>
            <a:r>
              <a:rPr kumimoji="1" lang="en-US" altLang="ja-JP" baseline="0" dirty="0" smtClean="0"/>
              <a:t>That’s why I use this function. </a:t>
            </a:r>
          </a:p>
          <a:p>
            <a:r>
              <a:rPr kumimoji="1" lang="en-US" altLang="ja-JP" baseline="0" dirty="0" smtClean="0"/>
              <a:t>However this function is too slow and bad </a:t>
            </a:r>
            <a:r>
              <a:rPr kumimoji="1" lang="en-US" altLang="ja-JP" baseline="0" dirty="0" err="1" smtClean="0"/>
              <a:t>recognization</a:t>
            </a:r>
            <a:r>
              <a:rPr kumimoji="1" lang="en-US" altLang="ja-JP" baseline="0" dirty="0" smtClean="0"/>
              <a:t> acceptable rate.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baseline="0" dirty="0" smtClean="0"/>
              <a:t>If I make next version, I will use </a:t>
            </a:r>
            <a:r>
              <a:rPr kumimoji="1" lang="en-US" altLang="ja-JP" baseline="0" dirty="0" err="1" smtClean="0"/>
              <a:t>OpenCV</a:t>
            </a:r>
            <a:r>
              <a:rPr kumimoji="1" lang="en-US" altLang="ja-JP" baseline="0" dirty="0" smtClean="0"/>
              <a:t> and make an original 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algorithm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for </a:t>
            </a:r>
            <a:r>
              <a:rPr kumimoji="1" lang="en-US" altLang="ja-JP" baseline="0" dirty="0" smtClean="0"/>
              <a:t>Face Detector.</a:t>
            </a:r>
          </a:p>
          <a:p>
            <a:r>
              <a:rPr kumimoji="1" lang="en-US" altLang="ja-JP" baseline="0" dirty="0" smtClean="0"/>
              <a:t>Because currently ARM’s boards have more memory then </a:t>
            </a:r>
            <a:r>
              <a:rPr kumimoji="1" lang="en-US" altLang="ja-JP" baseline="0" dirty="0" err="1" smtClean="0"/>
              <a:t>Beagleboard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I can use </a:t>
            </a:r>
            <a:r>
              <a:rPr kumimoji="1" lang="en-US" altLang="ja-JP" baseline="0" dirty="0" err="1" smtClean="0"/>
              <a:t>OpenCV</a:t>
            </a:r>
            <a:r>
              <a:rPr kumimoji="1" lang="en-US" altLang="ja-JP" baseline="0" dirty="0" smtClean="0"/>
              <a:t> now.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107918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This part is</a:t>
            </a:r>
            <a:r>
              <a:rPr kumimoji="1" lang="en-US" altLang="ja-JP" baseline="0" dirty="0" smtClean="0"/>
              <a:t> Kinect part.</a:t>
            </a:r>
          </a:p>
          <a:p>
            <a:r>
              <a:rPr kumimoji="1" lang="en-US" altLang="ja-JP" baseline="0" dirty="0" smtClean="0"/>
              <a:t>I’ll explain 3 things.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What</a:t>
            </a:r>
            <a:r>
              <a:rPr kumimoji="1" lang="en-US" altLang="ja-JP" baseline="0" dirty="0" smtClean="0"/>
              <a:t> I do is only two things.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 explain</a:t>
            </a:r>
            <a:r>
              <a:rPr kumimoji="1" lang="en-US" altLang="ja-JP" baseline="0" dirty="0" smtClean="0"/>
              <a:t> more.</a:t>
            </a:r>
          </a:p>
          <a:p>
            <a:r>
              <a:rPr kumimoji="1" lang="en-US" altLang="ja-JP" baseline="0" dirty="0" smtClean="0"/>
              <a:t>(click!)</a:t>
            </a:r>
            <a:endParaRPr kumimoji="1" lang="en-US" altLang="ja-JP" dirty="0"/>
          </a:p>
          <a:p>
            <a:r>
              <a:rPr kumimoji="1" lang="en-US" altLang="ja-JP" dirty="0" smtClean="0"/>
              <a:t>If image width is 640px, In that case 1-section is 160px.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baseline="0" dirty="0" smtClean="0"/>
              <a:t>(click!)</a:t>
            </a:r>
            <a:endParaRPr kumimoji="1" lang="en-US" altLang="ja-JP" dirty="0" smtClean="0"/>
          </a:p>
          <a:p>
            <a:r>
              <a:rPr kumimoji="1" lang="en-US" altLang="ja-JP" dirty="0" smtClean="0"/>
              <a:t>If face position is 400px.</a:t>
            </a:r>
            <a:r>
              <a:rPr kumimoji="1" lang="en-US" altLang="ja-JP" baseline="0" dirty="0" smtClean="0"/>
              <a:t> Face is in a 3</a:t>
            </a:r>
            <a:r>
              <a:rPr kumimoji="1" lang="en-US" altLang="ja-JP" baseline="30000" dirty="0" smtClean="0"/>
              <a:t>rd</a:t>
            </a:r>
            <a:r>
              <a:rPr kumimoji="1" lang="en-US" altLang="ja-JP" baseline="0" dirty="0" smtClean="0"/>
              <a:t> section.</a:t>
            </a:r>
          </a:p>
          <a:p>
            <a:r>
              <a:rPr kumimoji="1" lang="en-US" altLang="ja-JP" baseline="0" dirty="0" smtClean="0"/>
              <a:t>In that case, Robot is center, it </a:t>
            </a:r>
            <a:r>
              <a:rPr kumimoji="1" lang="en-US" altLang="ja-JP" baseline="0" dirty="0" err="1" smtClean="0"/>
              <a:t>dosen’t</a:t>
            </a:r>
            <a:r>
              <a:rPr kumimoji="1" lang="en-US" altLang="ja-JP" baseline="0" dirty="0" smtClean="0"/>
              <a:t> turn.</a:t>
            </a:r>
            <a:endParaRPr kumimoji="1" lang="en-US" altLang="ja-JP" dirty="0" smtClean="0"/>
          </a:p>
          <a:p>
            <a:r>
              <a:rPr kumimoji="1" lang="en-US" altLang="ja-JP" dirty="0" smtClean="0"/>
              <a:t>if it’s a 1</a:t>
            </a:r>
            <a:r>
              <a:rPr kumimoji="1" lang="en-US" altLang="ja-JP" baseline="30000" dirty="0" smtClean="0"/>
              <a:t>st</a:t>
            </a:r>
            <a:r>
              <a:rPr kumimoji="1" lang="en-US" altLang="ja-JP" dirty="0" smtClean="0"/>
              <a:t> or 4</a:t>
            </a:r>
            <a:r>
              <a:rPr kumimoji="1" lang="en-US" altLang="ja-JP" baseline="30000" dirty="0" smtClean="0"/>
              <a:t>th</a:t>
            </a:r>
            <a:r>
              <a:rPr kumimoji="1" lang="en-US" altLang="ja-JP" dirty="0" smtClean="0"/>
              <a:t> section, robot turn to right or left.</a:t>
            </a:r>
            <a:endParaRPr kumimoji="1" lang="en-US" altLang="ja-JP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It’s a</a:t>
            </a:r>
            <a:r>
              <a:rPr kumimoji="1" lang="en-US" altLang="ja-JP" baseline="0" dirty="0" smtClean="0"/>
              <a:t> source code.</a:t>
            </a:r>
          </a:p>
          <a:p>
            <a:r>
              <a:rPr kumimoji="1" lang="en-US" altLang="ja-JP" baseline="0" dirty="0" smtClean="0"/>
              <a:t>It’s too </a:t>
            </a:r>
            <a:r>
              <a:rPr kumimoji="1" lang="en-US" altLang="ja-JP" baseline="0" dirty="0" err="1" smtClean="0"/>
              <a:t>difficulet</a:t>
            </a:r>
            <a:r>
              <a:rPr kumimoji="1" lang="en-US" altLang="ja-JP" baseline="0" dirty="0" smtClean="0"/>
              <a:t> to me. I can’t explain it!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54067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This part is</a:t>
            </a:r>
            <a:r>
              <a:rPr kumimoji="1" lang="en-US" altLang="ja-JP" baseline="0" dirty="0" smtClean="0"/>
              <a:t> Kinect part.</a:t>
            </a:r>
          </a:p>
          <a:p>
            <a:r>
              <a:rPr kumimoji="1" lang="en-US" altLang="ja-JP" baseline="0" dirty="0" smtClean="0"/>
              <a:t>I’ll explain 3 things.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 smtClean="0"/>
              <a:t>What</a:t>
            </a:r>
            <a:r>
              <a:rPr kumimoji="1" lang="en-US" altLang="ja-JP" baseline="0" dirty="0" smtClean="0"/>
              <a:t> I do is only two things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baseline="0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baseline="0" dirty="0" smtClean="0"/>
              <a:t>It’s over!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 smtClean="0"/>
              <a:t>Please see source</a:t>
            </a:r>
            <a:r>
              <a:rPr kumimoji="1" lang="en-US" altLang="ja-JP" baseline="0" dirty="0" smtClean="0"/>
              <a:t> code.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It’s a</a:t>
            </a:r>
            <a:r>
              <a:rPr kumimoji="1" lang="en-US" altLang="ja-JP" baseline="0" dirty="0" smtClean="0"/>
              <a:t> source code.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baseline="0" dirty="0" smtClean="0"/>
              <a:t>this function can get distance of argument.</a:t>
            </a:r>
            <a:endParaRPr kumimoji="1" lang="en-US" altLang="ja-JP" dirty="0" smtClean="0"/>
          </a:p>
          <a:p>
            <a:r>
              <a:rPr kumimoji="1" lang="en-US" altLang="ja-JP" dirty="0" smtClean="0"/>
              <a:t>And </a:t>
            </a:r>
            <a:r>
              <a:rPr kumimoji="1" lang="en-US" altLang="ja-JP" baseline="0" dirty="0" smtClean="0"/>
              <a:t>argument </a:t>
            </a:r>
            <a:r>
              <a:rPr kumimoji="1" lang="en-US" altLang="ja-JP" dirty="0" smtClean="0"/>
              <a:t>is </a:t>
            </a:r>
            <a:r>
              <a:rPr kumimoji="1" lang="en-US" altLang="ja-JP" baseline="0" dirty="0" smtClean="0"/>
              <a:t>the center point of face.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 finished to explain software</a:t>
            </a:r>
            <a:r>
              <a:rPr kumimoji="1" lang="en-US" altLang="ja-JP" baseline="0" dirty="0" smtClean="0"/>
              <a:t> part.</a:t>
            </a:r>
            <a:endParaRPr kumimoji="1" lang="en-US" altLang="ja-JP" dirty="0" smtClean="0"/>
          </a:p>
          <a:p>
            <a:r>
              <a:rPr kumimoji="1" lang="en-US" altLang="ja-JP" dirty="0" smtClean="0"/>
              <a:t>Incidentally, </a:t>
            </a:r>
            <a:r>
              <a:rPr kumimoji="1" lang="en-US" altLang="ja-JP" dirty="0" err="1" smtClean="0"/>
              <a:t>Tatal</a:t>
            </a:r>
            <a:r>
              <a:rPr kumimoji="1" lang="en-US" altLang="ja-JP" baseline="0" dirty="0" smtClean="0"/>
              <a:t> source code lines are 167 lines.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5624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C624E2-D5BE-49FF-A63A-79135793D79B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baseline="0" dirty="0" smtClean="0"/>
              <a:t>And we made this robot by thinking of </a:t>
            </a:r>
            <a:r>
              <a:rPr lang="en-US" altLang="ja-JP" baseline="0" dirty="0" err="1" smtClean="0"/>
              <a:t>DIwO</a:t>
            </a:r>
            <a:r>
              <a:rPr lang="en-US" altLang="ja-JP" baseline="0" dirty="0" smtClean="0"/>
              <a:t>.</a:t>
            </a:r>
          </a:p>
          <a:p>
            <a:endParaRPr lang="en-US" altLang="ja-JP" baseline="0" dirty="0" smtClean="0"/>
          </a:p>
          <a:p>
            <a:endParaRPr lang="en-US" altLang="ja-JP" baseline="0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71546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This is an</a:t>
            </a:r>
            <a:r>
              <a:rPr kumimoji="1" lang="en-US" altLang="ja-JP" baseline="0" dirty="0" smtClean="0"/>
              <a:t> Android Application Framework which has </a:t>
            </a:r>
            <a:r>
              <a:rPr kumimoji="1" lang="en-US" altLang="ja-JP" baseline="0" dirty="0" err="1" smtClean="0"/>
              <a:t>openFrameworks</a:t>
            </a:r>
            <a:r>
              <a:rPr kumimoji="1" lang="en-US" altLang="ja-JP" baseline="0" dirty="0" smtClean="0"/>
              <a:t>’ APIs &amp; Kinect APIs.</a:t>
            </a:r>
            <a:endParaRPr kumimoji="1" lang="en-US" altLang="ja-JP" dirty="0" smtClean="0"/>
          </a:p>
          <a:p>
            <a:r>
              <a:rPr kumimoji="1" lang="en-US" altLang="ja-JP" dirty="0" smtClean="0"/>
              <a:t>And, I made it to combine</a:t>
            </a:r>
            <a:r>
              <a:rPr kumimoji="1" lang="en-US" altLang="ja-JP" baseline="0" dirty="0" smtClean="0"/>
              <a:t> these things.</a:t>
            </a:r>
          </a:p>
          <a:p>
            <a:r>
              <a:rPr kumimoji="1" lang="en-US" altLang="ja-JP" baseline="0" dirty="0" smtClean="0"/>
              <a:t>By this, you can make media art programs easily and battery-operated is possible. </a:t>
            </a:r>
          </a:p>
          <a:p>
            <a:endParaRPr kumimoji="1" lang="en-US" altLang="ja-JP" dirty="0" smtClean="0"/>
          </a:p>
          <a:p>
            <a:r>
              <a:rPr kumimoji="1" lang="en-US" altLang="ja-JP" dirty="0" err="1" smtClean="0"/>
              <a:t>Linaro</a:t>
            </a:r>
            <a:r>
              <a:rPr kumimoji="1" lang="en-US" altLang="ja-JP" dirty="0" smtClean="0"/>
              <a:t> is OSS</a:t>
            </a:r>
            <a:r>
              <a:rPr kumimoji="1" lang="en-US" altLang="ja-JP" baseline="0" dirty="0" smtClean="0"/>
              <a:t> project. They make a Linux kernel for ARM and porting to Android.</a:t>
            </a:r>
            <a:endParaRPr kumimoji="1" lang="en-US" altLang="ja-JP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This is an</a:t>
            </a:r>
            <a:r>
              <a:rPr kumimoji="1" lang="en-US" altLang="ja-JP" baseline="0" dirty="0" smtClean="0"/>
              <a:t> Android Application Framework which has </a:t>
            </a:r>
            <a:r>
              <a:rPr kumimoji="1" lang="en-US" altLang="ja-JP" baseline="0" dirty="0" err="1" smtClean="0"/>
              <a:t>openFrameworks</a:t>
            </a:r>
            <a:r>
              <a:rPr kumimoji="1" lang="en-US" altLang="ja-JP" baseline="0" dirty="0" smtClean="0"/>
              <a:t>’ APIs &amp; Kinect APIs.</a:t>
            </a:r>
            <a:endParaRPr kumimoji="1" lang="en-US" altLang="ja-JP" dirty="0" smtClean="0"/>
          </a:p>
          <a:p>
            <a:r>
              <a:rPr kumimoji="1" lang="en-US" altLang="ja-JP" dirty="0" smtClean="0"/>
              <a:t>And, I made it to combine</a:t>
            </a:r>
            <a:r>
              <a:rPr kumimoji="1" lang="en-US" altLang="ja-JP" baseline="0" dirty="0" smtClean="0"/>
              <a:t> these things.</a:t>
            </a:r>
          </a:p>
          <a:p>
            <a:r>
              <a:rPr kumimoji="1" lang="en-US" altLang="ja-JP" baseline="0" dirty="0" smtClean="0"/>
              <a:t>By this, you can make media art programs easily and battery-operated is possible. </a:t>
            </a:r>
          </a:p>
          <a:p>
            <a:endParaRPr kumimoji="1" lang="en-US" altLang="ja-JP" dirty="0" smtClean="0"/>
          </a:p>
          <a:p>
            <a:r>
              <a:rPr kumimoji="1" lang="en-US" altLang="ja-JP" dirty="0" err="1" smtClean="0"/>
              <a:t>Linaro</a:t>
            </a:r>
            <a:r>
              <a:rPr kumimoji="1" lang="en-US" altLang="ja-JP" dirty="0" smtClean="0"/>
              <a:t> is OSS</a:t>
            </a:r>
            <a:r>
              <a:rPr kumimoji="1" lang="en-US" altLang="ja-JP" baseline="0" dirty="0" smtClean="0"/>
              <a:t> project. They make a Linux kernel for ARM and porting to Android.</a:t>
            </a:r>
            <a:endParaRPr kumimoji="1" lang="en-US" altLang="ja-JP" dirty="0" smtClean="0"/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09833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But if only made it, they can’t know about</a:t>
            </a:r>
            <a:r>
              <a:rPr kumimoji="1" lang="en-US" altLang="ja-JP" baseline="0" dirty="0" smtClean="0"/>
              <a:t> that. </a:t>
            </a:r>
          </a:p>
          <a:p>
            <a:r>
              <a:rPr kumimoji="1" lang="en-US" altLang="ja-JP" baseline="0" dirty="0" smtClean="0"/>
              <a:t>So I show that demonstration &amp; give a speech in some events &amp; conferences.</a:t>
            </a:r>
          </a:p>
          <a:p>
            <a:endParaRPr kumimoji="1" lang="en-US" altLang="ja-JP" baseline="0" dirty="0" smtClean="0"/>
          </a:p>
          <a:p>
            <a:r>
              <a:rPr kumimoji="1" lang="en-US" altLang="ja-JP" dirty="0" smtClean="0"/>
              <a:t>Last</a:t>
            </a:r>
            <a:r>
              <a:rPr kumimoji="1" lang="en-US" altLang="ja-JP" baseline="0" dirty="0" smtClean="0"/>
              <a:t> part, </a:t>
            </a:r>
            <a:r>
              <a:rPr kumimoji="1" lang="en-US" altLang="ja-JP" dirty="0" smtClean="0"/>
              <a:t>I will report about that quickly.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051000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Makers show robot, car, hardware</a:t>
            </a:r>
            <a:r>
              <a:rPr kumimoji="1" lang="en-US" altLang="ja-JP" baseline="0" dirty="0" smtClean="0"/>
              <a:t> and etc…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98790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I gave out 2 snowball &amp; 1 beagle</a:t>
            </a:r>
            <a:r>
              <a:rPr kumimoji="1" lang="en-US" altLang="ja-JP" baseline="0" dirty="0" smtClean="0"/>
              <a:t> bone as educational kit for </a:t>
            </a:r>
            <a:r>
              <a:rPr kumimoji="1" lang="en-US" altLang="ja-JP" baseline="0" dirty="0" err="1" smtClean="0"/>
              <a:t>Linaro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Maybe they will study how to develop </a:t>
            </a:r>
            <a:r>
              <a:rPr kumimoji="1" lang="en-US" altLang="ja-JP" baseline="0" dirty="0" err="1" smtClean="0"/>
              <a:t>Linaro</a:t>
            </a:r>
            <a:r>
              <a:rPr kumimoji="1" lang="en-US" altLang="ja-JP" baseline="0" dirty="0" smtClean="0"/>
              <a:t>.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283497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Software</a:t>
            </a:r>
            <a:r>
              <a:rPr kumimoji="1" lang="en-US" altLang="ja-JP" baseline="0" dirty="0" smtClean="0"/>
              <a:t> &amp; hardware engineers, OSS engineers, and researchers came here.</a:t>
            </a:r>
          </a:p>
          <a:p>
            <a:r>
              <a:rPr kumimoji="1" lang="en-US" altLang="ja-JP" baseline="0" dirty="0" smtClean="0"/>
              <a:t>Maybe almost famous Taiwanese engineers came here.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089370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995568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Probably everybody</a:t>
            </a:r>
            <a:r>
              <a:rPr kumimoji="1" lang="en-US" altLang="ja-JP" baseline="0" dirty="0" smtClean="0"/>
              <a:t> know it better than me.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290567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I gave out 2 snowball &amp; 1 beagle</a:t>
            </a:r>
            <a:r>
              <a:rPr kumimoji="1" lang="en-US" altLang="ja-JP" baseline="0" dirty="0" smtClean="0"/>
              <a:t> bone as educational kit for </a:t>
            </a:r>
            <a:r>
              <a:rPr kumimoji="1" lang="en-US" altLang="ja-JP" baseline="0" dirty="0" err="1" smtClean="0"/>
              <a:t>Linaro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Maybe they will study how to develop </a:t>
            </a:r>
            <a:r>
              <a:rPr kumimoji="1" lang="en-US" altLang="ja-JP" baseline="0" dirty="0" err="1" smtClean="0"/>
              <a:t>Linaro</a:t>
            </a:r>
            <a:r>
              <a:rPr kumimoji="1" lang="en-US" altLang="ja-JP" baseline="0" dirty="0" smtClean="0"/>
              <a:t>.</a:t>
            </a:r>
          </a:p>
          <a:p>
            <a:endParaRPr kumimoji="1" lang="en-US" altLang="ja-JP" baseline="0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48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144022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Makers show robot, car, hardware</a:t>
            </a:r>
            <a:r>
              <a:rPr kumimoji="1" lang="en-US" altLang="ja-JP" baseline="0" dirty="0" smtClean="0"/>
              <a:t> and etc…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50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9879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Makers show robot, car, hardware</a:t>
            </a:r>
            <a:r>
              <a:rPr kumimoji="1" lang="en-US" altLang="ja-JP" baseline="0" dirty="0" smtClean="0"/>
              <a:t> and etc…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52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98790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883428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Makers show robot, car, hardware</a:t>
            </a:r>
            <a:r>
              <a:rPr kumimoji="1" lang="en-US" altLang="ja-JP" baseline="0" dirty="0" smtClean="0"/>
              <a:t> and etc…</a:t>
            </a:r>
          </a:p>
          <a:p>
            <a:endParaRPr kumimoji="1" lang="en-US" altLang="ja-JP" baseline="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56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49879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58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43294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31E98-97F4-4116-9657-252A15117AA7}" type="slidenum">
              <a:rPr lang="en-US" altLang="ja-JP" smtClean="0"/>
              <a:pPr/>
              <a:t>59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172763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 smtClean="0"/>
              <a:t>I’m 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usually asked …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baseline="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kern="1200" dirty="0" smtClean="0">
              <a:solidFill>
                <a:schemeClr val="tx1"/>
              </a:solidFill>
              <a:effectLst/>
              <a:latin typeface="Arial" charset="0"/>
              <a:ea typeface="ＭＳ Ｐゴシック" pitchFamily="-96" charset="-128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738697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No.</a:t>
            </a:r>
            <a:r>
              <a:rPr kumimoji="1" lang="en-US" altLang="ja-JP" baseline="0" dirty="0" smtClean="0"/>
              <a:t> This work is NOT consumer product. For demonstration.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522846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No</a:t>
            </a:r>
            <a:r>
              <a:rPr kumimoji="1" lang="en-US" altLang="ja-JP" baseline="0" dirty="0" smtClean="0"/>
              <a:t> thing is for 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spiritual.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 don’t think so.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457667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Because Community</a:t>
            </a:r>
            <a:r>
              <a:rPr kumimoji="1" lang="en-US" altLang="ja-JP" baseline="0" dirty="0" smtClean="0"/>
              <a:t> is a strong tool for viral marketing.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They</a:t>
            </a:r>
            <a:r>
              <a:rPr kumimoji="1" lang="en-US" altLang="ja-JP" baseline="0" dirty="0" smtClean="0"/>
              <a:t> changed community </a:t>
            </a:r>
            <a:r>
              <a:rPr kumimoji="1" lang="en-US" altLang="ja-JP" baseline="0" dirty="0" err="1" smtClean="0"/>
              <a:t>work&amp;contribution</a:t>
            </a:r>
            <a:r>
              <a:rPr kumimoji="1" lang="en-US" altLang="ja-JP" baseline="0" dirty="0" smtClean="0"/>
              <a:t> to big money.</a:t>
            </a:r>
          </a:p>
          <a:p>
            <a:r>
              <a:rPr kumimoji="1" lang="en-US" altLang="ja-JP" dirty="0" smtClean="0"/>
              <a:t>Probably,</a:t>
            </a:r>
            <a:r>
              <a:rPr kumimoji="1" lang="en-US" altLang="ja-JP" baseline="0" dirty="0" smtClean="0"/>
              <a:t> it’s a new generation developer.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Their own work. No company work.</a:t>
            </a:r>
          </a:p>
          <a:p>
            <a:r>
              <a:rPr kumimoji="1" lang="en-US" altLang="ja-JP" dirty="0" smtClean="0"/>
              <a:t>And they do it, because it’s fun.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821938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 smtClean="0"/>
              <a:t>I got a first impression from</a:t>
            </a:r>
            <a:r>
              <a:rPr lang="en-US" altLang="ja-JP" baseline="0" dirty="0" smtClean="0"/>
              <a:t> this paper.</a:t>
            </a:r>
            <a:endParaRPr lang="en-US" altLang="ja-JP" dirty="0" smtClean="0"/>
          </a:p>
          <a:p>
            <a:r>
              <a:rPr lang="en-US" altLang="ja-JP" dirty="0" smtClean="0"/>
              <a:t>According to this paper.</a:t>
            </a:r>
          </a:p>
          <a:p>
            <a:r>
              <a:rPr lang="en-US" altLang="ja-JP" dirty="0" smtClean="0"/>
              <a:t>I</a:t>
            </a:r>
            <a:r>
              <a:rPr lang="en-US" altLang="ja-JP" baseline="0" dirty="0" smtClean="0"/>
              <a:t> think it has 2 important points.</a:t>
            </a:r>
          </a:p>
          <a:p>
            <a:r>
              <a:rPr lang="en-US" altLang="ja-JP" baseline="0" dirty="0" smtClean="0"/>
              <a:t>No angel &amp; investor. Don’t need big money to </a:t>
            </a:r>
            <a:r>
              <a:rPr lang="en-US" altLang="ja-JP" baseline="0" smtClean="0"/>
              <a:t>make it.</a:t>
            </a:r>
            <a:endParaRPr lang="en-US" altLang="ja-JP" baseline="0" dirty="0" smtClean="0"/>
          </a:p>
          <a:p>
            <a:endParaRPr lang="en-US" altLang="ja-JP" baseline="0" dirty="0" smtClean="0"/>
          </a:p>
          <a:p>
            <a:r>
              <a:rPr lang="en-US" altLang="ja-JP" baseline="0" dirty="0" err="1" smtClean="0"/>
              <a:t>Simeji’s</a:t>
            </a:r>
            <a:r>
              <a:rPr lang="en-US" altLang="ja-JP" baseline="0" dirty="0" smtClean="0"/>
              <a:t> developers’ job is making relationship to community. Not for </a:t>
            </a:r>
            <a:r>
              <a:rPr lang="ja-JP" altLang="en-US" baseline="0" dirty="0" smtClean="0"/>
              <a:t>百度 </a:t>
            </a:r>
            <a:r>
              <a:rPr lang="en-US" altLang="ja-JP" baseline="0" dirty="0" err="1" smtClean="0"/>
              <a:t>directoly</a:t>
            </a:r>
            <a:r>
              <a:rPr lang="en-US" altLang="ja-JP" baseline="0" dirty="0" smtClean="0"/>
              <a:t>.</a:t>
            </a:r>
          </a:p>
          <a:p>
            <a:r>
              <a:rPr lang="ja-JP" altLang="en-US" baseline="0" dirty="0" smtClean="0"/>
              <a:t>百度 </a:t>
            </a:r>
            <a:r>
              <a:rPr lang="en-US" altLang="ja-JP" baseline="0" dirty="0" smtClean="0"/>
              <a:t>gives only </a:t>
            </a:r>
            <a:r>
              <a:rPr kumimoji="1" lang="en-US" altLang="ja-JP" sz="1200" kern="120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environment</a:t>
            </a:r>
            <a:r>
              <a:rPr kumimoji="1" lang="ja-JP" altLang="en-US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 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for their work. </a:t>
            </a:r>
          </a:p>
          <a:p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They are NOT ordered from </a:t>
            </a:r>
            <a:r>
              <a:rPr kumimoji="1" lang="ja-JP" altLang="en-US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百度</a:t>
            </a:r>
            <a:r>
              <a:rPr kumimoji="1" lang="en-US" altLang="ja-JP" sz="1200" kern="1200" baseline="0" dirty="0" smtClean="0">
                <a:solidFill>
                  <a:schemeClr val="tx1"/>
                </a:solidFill>
                <a:effectLst/>
                <a:latin typeface="Arial" charset="0"/>
                <a:ea typeface="ＭＳ Ｐゴシック" pitchFamily="-96" charset="-128"/>
                <a:cs typeface="+mn-cs"/>
              </a:rPr>
              <a:t>. They do only their work they need.</a:t>
            </a:r>
          </a:p>
          <a:p>
            <a:endParaRPr lang="en-US" altLang="ja-JP" baseline="0" dirty="0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So I am acting based on </a:t>
            </a:r>
            <a:r>
              <a:rPr kumimoji="1" lang="en-US" altLang="ja-JP" dirty="0" err="1" smtClean="0"/>
              <a:t>DIwO</a:t>
            </a:r>
            <a:r>
              <a:rPr kumimoji="1" lang="en-US" altLang="ja-JP" dirty="0" smtClean="0"/>
              <a:t> soul.</a:t>
            </a:r>
          </a:p>
          <a:p>
            <a:r>
              <a:rPr kumimoji="1" lang="en-US" altLang="ja-JP" dirty="0" smtClean="0"/>
              <a:t>Today’s robots were made by this soul. So I</a:t>
            </a:r>
            <a:r>
              <a:rPr kumimoji="1" lang="en-US" altLang="ja-JP" baseline="0" dirty="0" smtClean="0"/>
              <a:t> used a lot of projects!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Because today’s product is </a:t>
            </a:r>
            <a:r>
              <a:rPr kumimoji="1" lang="en-US" altLang="ja-JP" dirty="0" err="1" smtClean="0"/>
              <a:t>complexed</a:t>
            </a:r>
            <a:r>
              <a:rPr kumimoji="1" lang="en-US" altLang="ja-JP" dirty="0" smtClean="0"/>
              <a:t>.</a:t>
            </a:r>
            <a:r>
              <a:rPr kumimoji="1" lang="en-US" altLang="ja-JP" baseline="0" dirty="0" smtClean="0"/>
              <a:t> So you can’t make it by only you.</a:t>
            </a:r>
            <a:endParaRPr kumimoji="1" lang="en-US" altLang="ja-JP" dirty="0" smtClean="0"/>
          </a:p>
          <a:p>
            <a:r>
              <a:rPr kumimoji="1" lang="en-US" altLang="ja-JP" dirty="0" smtClean="0"/>
              <a:t>If you want</a:t>
            </a:r>
            <a:r>
              <a:rPr kumimoji="1" lang="en-US" altLang="ja-JP" baseline="0" dirty="0" smtClean="0"/>
              <a:t> to make a big project, </a:t>
            </a:r>
            <a:r>
              <a:rPr kumimoji="1" lang="en-US" altLang="ja-JP" dirty="0" smtClean="0"/>
              <a:t>You have</a:t>
            </a:r>
            <a:r>
              <a:rPr kumimoji="1" lang="en-US" altLang="ja-JP" baseline="0" dirty="0" smtClean="0"/>
              <a:t> to collaborate with others.</a:t>
            </a:r>
            <a:endParaRPr kumimoji="1" lang="en-US" altLang="ja-JP" dirty="0" smtClean="0"/>
          </a:p>
          <a:p>
            <a:r>
              <a:rPr kumimoji="1" lang="en-US" altLang="ja-JP" dirty="0" smtClean="0"/>
              <a:t>And if you give your work to</a:t>
            </a:r>
            <a:r>
              <a:rPr kumimoji="1" lang="en-US" altLang="ja-JP" baseline="0" dirty="0" smtClean="0"/>
              <a:t> over the world, you are given a lot of work from world.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It’s called </a:t>
            </a:r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give and given(</a:t>
            </a:r>
            <a:r>
              <a:rPr kumimoji="1" lang="ja-JP" altLang="en-US" dirty="0" smtClean="0"/>
              <a:t>与え与えられる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」</a:t>
            </a:r>
            <a:r>
              <a:rPr kumimoji="1" lang="en-US" altLang="ja-JP" dirty="0" smtClean="0"/>
              <a:t>.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not give</a:t>
            </a:r>
            <a:r>
              <a:rPr kumimoji="1" lang="en-US" altLang="ja-JP" baseline="0" dirty="0" smtClean="0"/>
              <a:t> and take.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one in a thousand</a:t>
            </a:r>
          </a:p>
          <a:p>
            <a:endParaRPr kumimoji="1" lang="en-US" altLang="ja-JP" dirty="0" smtClean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67</a:t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ja-JP" altLang="en-US" noProof="0" smtClean="0"/>
              <a:t>マスター タイトルの書式設定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itchFamily="-96" charset="0"/>
              <a:buNone/>
              <a:defRPr sz="2400"/>
            </a:lvl1pPr>
          </a:lstStyle>
          <a:p>
            <a:pPr lvl="0"/>
            <a:r>
              <a:rPr lang="ja-JP" altLang="en-US" noProof="0" smtClean="0"/>
              <a:t>マスター サブタイトルの書式設定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A4EED0B2-1AD1-41B8-BF62-1208D4106CF1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68110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7167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6400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012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135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4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5115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7244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4103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938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itchFamily="-96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itchFamily="-96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0D11CA58-1024-4106-85EA-DB74BC33B2B6}" type="slidenum">
              <a:rPr lang="en-US" altLang="ja-JP" sz="1000">
                <a:latin typeface="ＭＳ Ｐゴシック" pitchFamily="-96" charset="-128"/>
              </a:rPr>
              <a:pPr algn="r"/>
              <a:t>‹#›</a:t>
            </a:fld>
            <a:endParaRPr lang="en-US" altLang="ja-JP" sz="1000">
              <a:latin typeface="ＭＳ Ｐゴシック" pitchFamily="-96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itchFamily="-96" charset="-128"/>
          <a:ea typeface="ＭＳ Ｐゴシック" pitchFamily="-96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itchFamily="-96" charset="0"/>
        <a:buBlip>
          <a:blip r:embed="rId16"/>
        </a:buBlip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en.sourceforge.jp/projects/nyartoolkit-and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hyperlink" Target="http://tools.oesf.biz/android-4.0.1_r1.0/search?q=SIProp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beagleboard.org/hardware-xM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hyperlink" Target="https://github.com/OESF/Embedded-Master-AR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hyperlink" Target="http://git.linaro.org/gitweb?p=people/jstultz/linux.git;a=summary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://www.xbox.com/en-US/kinect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://kondo-robot.com/product/kondo-animal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ntent-centric_network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watch?v=8EgfAk5RBVo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25.jpeg"/><Relationship Id="rId5" Type="http://schemas.openxmlformats.org/officeDocument/2006/relationships/image" Target="../media/image6.png"/><Relationship Id="rId10" Type="http://schemas.openxmlformats.org/officeDocument/2006/relationships/image" Target="../media/image26.jpeg"/><Relationship Id="rId4" Type="http://schemas.openxmlformats.org/officeDocument/2006/relationships/image" Target="../media/image5.png"/><Relationship Id="rId9" Type="http://schemas.openxmlformats.org/officeDocument/2006/relationships/hyperlink" Target="http://www.siprop.org/ja/2.0/index.php?product/AutoChasingTurtle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Documents%20and%20Settings\usr0101078\&#12487;&#12473;&#12463;&#12488;&#12483;&#12503;\campusparty\movie2.wmv" TargetMode="Externa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1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4.png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prop.org/ja/2.0/index.php?product/TreasureHuntingRobot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jpeg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o.research.ibm.com/comm/www_innovate.nsf/pages/world.gio2004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://git.linaro.org/gitweb?p=people/jstultz/linux.git;a=summary" TargetMode="External"/><Relationship Id="rId3" Type="http://schemas.openxmlformats.org/officeDocument/2006/relationships/hyperlink" Target="http://beagleboard.org/hardware-xM" TargetMode="External"/><Relationship Id="rId7" Type="http://schemas.openxmlformats.org/officeDocument/2006/relationships/image" Target="../media/image4.png"/><Relationship Id="rId12" Type="http://schemas.openxmlformats.org/officeDocument/2006/relationships/hyperlink" Target="http://www.noritsuna.com/archives/2011/01/openframeworks_kinect_android.html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wmf"/><Relationship Id="rId11" Type="http://schemas.openxmlformats.org/officeDocument/2006/relationships/image" Target="../media/image8.png"/><Relationship Id="rId5" Type="http://schemas.openxmlformats.org/officeDocument/2006/relationships/hyperlink" Target="http://www.xbox.com/en-US/kinect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://kondo-robot.com/product/kondo-animal.html" TargetMode="External"/><Relationship Id="rId9" Type="http://schemas.openxmlformats.org/officeDocument/2006/relationships/image" Target="../media/image6.png"/><Relationship Id="rId14" Type="http://schemas.openxmlformats.org/officeDocument/2006/relationships/hyperlink" Target="https://github.com/OESF/Embedded-Master-ARM" TargetMode="Externa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79A9C6A-65CC-4899-81C6-8425C8FEAB2E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8610600" cy="1143000"/>
          </a:xfrm>
        </p:spPr>
        <p:txBody>
          <a:bodyPr/>
          <a:lstStyle/>
          <a:p>
            <a:r>
              <a:rPr lang="en-US" altLang="ja-JP" sz="5400" dirty="0"/>
              <a:t>Content-Centric </a:t>
            </a:r>
            <a:r>
              <a:rPr lang="en-US" altLang="ja-JP" sz="5400" dirty="0" smtClean="0"/>
              <a:t>Embedded</a:t>
            </a:r>
            <a:br>
              <a:rPr lang="en-US" altLang="ja-JP" sz="5400" dirty="0" smtClean="0"/>
            </a:br>
            <a:r>
              <a:rPr lang="ja-JP" altLang="en-US" sz="5400" dirty="0" smtClean="0"/>
              <a:t>～</a:t>
            </a:r>
            <a:r>
              <a:rPr lang="en-US" altLang="ja-JP" sz="5400" dirty="0" smtClean="0"/>
              <a:t>Treasure </a:t>
            </a:r>
            <a:r>
              <a:rPr lang="en-US" altLang="ja-JP" sz="5400" dirty="0"/>
              <a:t>Hunting </a:t>
            </a:r>
            <a:r>
              <a:rPr lang="en-US" altLang="ja-JP" sz="5400" dirty="0" smtClean="0"/>
              <a:t>Robot</a:t>
            </a:r>
            <a:r>
              <a:rPr lang="ja-JP" altLang="en-US" sz="5400" dirty="0"/>
              <a:t>～</a:t>
            </a:r>
            <a:endParaRPr lang="ja-JP" altLang="ja-JP" sz="5400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1560" y="5373216"/>
            <a:ext cx="4105275" cy="1320552"/>
          </a:xfrm>
        </p:spPr>
        <p:txBody>
          <a:bodyPr/>
          <a:lstStyle/>
          <a:p>
            <a:r>
              <a:rPr lang="en-US" altLang="ja-JP" sz="3200" dirty="0" err="1" smtClean="0"/>
              <a:t>Noritsuna</a:t>
            </a:r>
            <a:r>
              <a:rPr lang="en-US" altLang="ja-JP" sz="3200" dirty="0" smtClean="0"/>
              <a:t> Imamura</a:t>
            </a:r>
            <a:endParaRPr lang="ja-JP" altLang="ja-JP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sz="3600" dirty="0" smtClean="0"/>
              <a:t>1</a:t>
            </a:r>
            <a:r>
              <a:rPr kumimoji="1" lang="en-US" altLang="ja-JP" sz="3600" baseline="30000" dirty="0" smtClean="0"/>
              <a:t>st</a:t>
            </a:r>
            <a:endParaRPr kumimoji="1" lang="en-US" altLang="ja-JP" sz="3600" dirty="0" smtClean="0"/>
          </a:p>
          <a:p>
            <a:pPr lvl="1"/>
            <a:r>
              <a:rPr kumimoji="1" lang="en-US" altLang="ja-JP" sz="3200" dirty="0" smtClean="0"/>
              <a:t>About me</a:t>
            </a:r>
          </a:p>
          <a:p>
            <a:pPr lvl="2"/>
            <a:r>
              <a:rPr lang="en-US" altLang="ja-JP" sz="2800" dirty="0" smtClean="0"/>
              <a:t>Today’s goal</a:t>
            </a:r>
            <a:endParaRPr kumimoji="1" lang="en-US" altLang="ja-JP" sz="2800" dirty="0" smtClean="0"/>
          </a:p>
          <a:p>
            <a:r>
              <a:rPr lang="en-US" altLang="ja-JP" sz="3600" dirty="0" smtClean="0"/>
              <a:t>2</a:t>
            </a:r>
            <a:r>
              <a:rPr lang="en-US" altLang="ja-JP" sz="3600" baseline="30000" dirty="0" smtClean="0"/>
              <a:t>nd</a:t>
            </a:r>
            <a:endParaRPr kumimoji="1" lang="en-US" altLang="ja-JP" sz="3200" dirty="0" smtClean="0"/>
          </a:p>
          <a:p>
            <a:pPr lvl="1"/>
            <a:r>
              <a:rPr lang="en-US" altLang="ja-JP" sz="3200" dirty="0" smtClean="0"/>
              <a:t>Auto Chasing Turtle</a:t>
            </a:r>
          </a:p>
          <a:p>
            <a:pPr lvl="1"/>
            <a:r>
              <a:rPr lang="en-US" altLang="ja-JP" sz="3200" dirty="0" smtClean="0"/>
              <a:t>Treasure Hunting Robot</a:t>
            </a:r>
          </a:p>
          <a:p>
            <a:pPr lvl="2"/>
            <a:r>
              <a:rPr kumimoji="1" lang="en-US" altLang="ja-JP" sz="2800" dirty="0" smtClean="0"/>
              <a:t>Little how to make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618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My </a:t>
            </a:r>
            <a:r>
              <a:rPr lang="en-US" altLang="ja-JP" dirty="0" smtClean="0"/>
              <a:t>Bio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Special</a:t>
            </a:r>
          </a:p>
          <a:p>
            <a:pPr lvl="1"/>
            <a:r>
              <a:rPr lang="en-US" altLang="ja-JP" dirty="0"/>
              <a:t>Networking </a:t>
            </a:r>
            <a:r>
              <a:rPr lang="en-US" altLang="ja-JP" dirty="0" smtClean="0"/>
              <a:t>technology (</a:t>
            </a:r>
            <a:r>
              <a:rPr lang="en-US" altLang="ja-JP" dirty="0"/>
              <a:t>P2P</a:t>
            </a:r>
            <a:r>
              <a:rPr lang="en-US" altLang="ja-JP" dirty="0" smtClean="0"/>
              <a:t>)</a:t>
            </a:r>
          </a:p>
          <a:p>
            <a:pPr lvl="1"/>
            <a:endParaRPr lang="en-US" altLang="ja-JP" dirty="0" smtClean="0"/>
          </a:p>
          <a:p>
            <a:r>
              <a:rPr lang="en-US" altLang="ja-JP" dirty="0" smtClean="0"/>
              <a:t>Community (OSS)</a:t>
            </a:r>
          </a:p>
          <a:p>
            <a:pPr lvl="1"/>
            <a:r>
              <a:rPr lang="en-US" altLang="ja-JP" dirty="0" smtClean="0"/>
              <a:t>SIProp.org</a:t>
            </a:r>
          </a:p>
          <a:p>
            <a:pPr lvl="1"/>
            <a:r>
              <a:rPr kumimoji="1" lang="en-US" altLang="ja-JP" dirty="0" smtClean="0"/>
              <a:t>Japan Android Group</a:t>
            </a:r>
          </a:p>
          <a:p>
            <a:pPr lvl="1"/>
            <a:r>
              <a:rPr lang="en-US" altLang="ja-JP" dirty="0" err="1" smtClean="0"/>
              <a:t>Linaro</a:t>
            </a:r>
            <a:endParaRPr kumimoji="1" lang="en-US" altLang="ja-JP" dirty="0" smtClean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 smtClean="0"/>
              <a:t>Company</a:t>
            </a:r>
          </a:p>
          <a:p>
            <a:pPr lvl="1"/>
            <a:r>
              <a:rPr lang="en-US" altLang="ja-JP" dirty="0" smtClean="0"/>
              <a:t>NPO OESF (Open Embedded Software Foundation)</a:t>
            </a:r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9435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Current work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r>
              <a:rPr kumimoji="1" lang="en-US" altLang="ja-JP" dirty="0" smtClean="0"/>
              <a:t>Work</a:t>
            </a:r>
          </a:p>
          <a:p>
            <a:pPr lvl="1"/>
            <a:r>
              <a:rPr lang="en-US" altLang="ja-JP" dirty="0"/>
              <a:t>Industrial Technology Research Institute</a:t>
            </a:r>
            <a:r>
              <a:rPr lang="en-US" altLang="ja-JP" dirty="0" smtClean="0"/>
              <a:t>.</a:t>
            </a:r>
          </a:p>
          <a:p>
            <a:pPr lvl="1"/>
            <a:r>
              <a:rPr lang="en-US" altLang="ja-JP" dirty="0" smtClean="0"/>
              <a:t>Making a testing center for Android Devices.</a:t>
            </a:r>
            <a:endParaRPr lang="en-US" altLang="ja-JP" dirty="0"/>
          </a:p>
          <a:p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kumimoji="1" lang="ja-JP" altLang="en-US" dirty="0"/>
          </a:p>
        </p:txBody>
      </p:sp>
      <p:pic>
        <p:nvPicPr>
          <p:cNvPr id="10242" name="Picture 2" descr="C:\Data\MyDocuments\Business\personal\Linaro\プレゼン\LC12.Q2\WP_000003 (2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60648"/>
            <a:ext cx="2354107" cy="1758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629" y="1416357"/>
            <a:ext cx="2286319" cy="638264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650" y="3429000"/>
            <a:ext cx="6122764" cy="285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6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Japan Android Group : 2008-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Prof.Maruyama</a:t>
            </a:r>
            <a:r>
              <a:rPr lang="en-US" altLang="ja-JP" dirty="0"/>
              <a:t> &amp; I </a:t>
            </a:r>
            <a:r>
              <a:rPr lang="en-US" altLang="ja-JP" dirty="0" smtClean="0"/>
              <a:t>started up </a:t>
            </a:r>
            <a:r>
              <a:rPr lang="en-US" altLang="ja-JP" dirty="0"/>
              <a:t>this community.</a:t>
            </a:r>
            <a:endParaRPr lang="ja-JP" altLang="en-US" dirty="0"/>
          </a:p>
          <a:p>
            <a:pPr lvl="1"/>
            <a:r>
              <a:rPr lang="en-US" altLang="ja-JP" dirty="0" smtClean="0"/>
              <a:t>At Apr/2008</a:t>
            </a:r>
          </a:p>
          <a:p>
            <a:endParaRPr lang="en-US" altLang="ja-JP" sz="2000" dirty="0" smtClean="0"/>
          </a:p>
          <a:p>
            <a:r>
              <a:rPr lang="en-US" altLang="ja-JP" dirty="0" smtClean="0"/>
              <a:t>Detail</a:t>
            </a:r>
            <a:endParaRPr lang="en-US" altLang="ja-JP" dirty="0"/>
          </a:p>
          <a:p>
            <a:pPr lvl="1"/>
            <a:r>
              <a:rPr lang="en-US" altLang="ja-JP" dirty="0" smtClean="0"/>
              <a:t>The most famous &amp; largest </a:t>
            </a:r>
            <a:r>
              <a:rPr lang="en-US" altLang="ja-JP" dirty="0"/>
              <a:t>Community in </a:t>
            </a:r>
            <a:r>
              <a:rPr lang="en-US" altLang="ja-JP" dirty="0" smtClean="0"/>
              <a:t>Japan</a:t>
            </a:r>
          </a:p>
          <a:p>
            <a:pPr lvl="1"/>
            <a:r>
              <a:rPr lang="en-US" altLang="ja-JP" dirty="0" smtClean="0"/>
              <a:t>URL: http://www.android-group.jp/</a:t>
            </a:r>
            <a:endParaRPr lang="en-US" altLang="ja-JP" dirty="0"/>
          </a:p>
          <a:p>
            <a:pPr lvl="1"/>
            <a:r>
              <a:rPr lang="en-US" altLang="ja-JP" dirty="0"/>
              <a:t>Since: </a:t>
            </a:r>
            <a:r>
              <a:rPr lang="en-US" altLang="ja-JP" dirty="0" smtClean="0"/>
              <a:t>Sep/2008</a:t>
            </a:r>
            <a:endParaRPr lang="en-US" altLang="ja-JP" dirty="0"/>
          </a:p>
          <a:p>
            <a:pPr lvl="1"/>
            <a:r>
              <a:rPr lang="en-US" altLang="ja-JP" dirty="0"/>
              <a:t>Members: over 20,000</a:t>
            </a:r>
          </a:p>
          <a:p>
            <a:pPr lvl="1"/>
            <a:r>
              <a:rPr lang="en-US" altLang="ja-JP" dirty="0"/>
              <a:t>Branch: over 20</a:t>
            </a:r>
          </a:p>
          <a:p>
            <a:pPr marL="0" indent="0">
              <a:buNone/>
            </a:pPr>
            <a:endParaRPr lang="en-US" altLang="ja-JP" dirty="0"/>
          </a:p>
          <a:p>
            <a:endParaRPr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861048"/>
            <a:ext cx="432964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5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Linaro</a:t>
            </a:r>
            <a:r>
              <a:rPr kumimoji="1" lang="en-US" altLang="ja-JP" dirty="0" smtClean="0"/>
              <a:t>: 2010-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967563"/>
          </a:xfrm>
        </p:spPr>
        <p:txBody>
          <a:bodyPr/>
          <a:lstStyle/>
          <a:p>
            <a:r>
              <a:rPr kumimoji="1" lang="ja-JP" altLang="en-US" dirty="0" smtClean="0"/>
              <a:t>　　　　　　　　　</a:t>
            </a:r>
            <a:r>
              <a:rPr kumimoji="1" lang="en-US" altLang="ja-JP" dirty="0" smtClean="0"/>
              <a:t>http://linaro.org/</a:t>
            </a:r>
          </a:p>
          <a:p>
            <a:pPr lvl="1"/>
            <a:endParaRPr lang="en-US" altLang="ja-JP" dirty="0"/>
          </a:p>
        </p:txBody>
      </p:sp>
      <p:pic>
        <p:nvPicPr>
          <p:cNvPr id="4" name="コンテンツ プレースホルダ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7"/>
          <a:stretch/>
        </p:blipFill>
        <p:spPr bwMode="auto">
          <a:xfrm>
            <a:off x="672030" y="2093101"/>
            <a:ext cx="2781756" cy="357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1851" y="1020105"/>
            <a:ext cx="2107679" cy="1098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コンテンツ プレースホルダー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5983" y="3342965"/>
            <a:ext cx="5432932" cy="3281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コンテンツ プレースホルダー 2"/>
          <p:cNvSpPr txBox="1">
            <a:spLocks/>
          </p:cNvSpPr>
          <p:nvPr/>
        </p:nvSpPr>
        <p:spPr bwMode="auto">
          <a:xfrm>
            <a:off x="3755832" y="1708309"/>
            <a:ext cx="5112745" cy="165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6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400" dirty="0" smtClean="0"/>
              <a:t>Mission</a:t>
            </a:r>
          </a:p>
          <a:p>
            <a:pPr lvl="1"/>
            <a:r>
              <a:rPr lang="en-US" altLang="ja-JP" sz="2000" dirty="0" smtClean="0"/>
              <a:t>Optimize for each </a:t>
            </a:r>
            <a:r>
              <a:rPr lang="en-US" altLang="ja-JP" sz="2000" dirty="0" err="1" smtClean="0"/>
              <a:t>SoC</a:t>
            </a:r>
            <a:r>
              <a:rPr lang="en-US" altLang="ja-JP" sz="2000" dirty="0" smtClean="0"/>
              <a:t> &amp; Platform</a:t>
            </a:r>
          </a:p>
          <a:p>
            <a:pPr lvl="1"/>
            <a:r>
              <a:rPr lang="en-US" altLang="ja-JP" sz="2800" dirty="0" smtClean="0">
                <a:solidFill>
                  <a:srgbClr val="FF0000"/>
                </a:solidFill>
              </a:rPr>
              <a:t>Contributor for community!</a:t>
            </a:r>
            <a:endParaRPr lang="en-US" altLang="ja-JP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43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Android’s tools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NyARToolkit</a:t>
            </a:r>
            <a:r>
              <a:rPr kumimoji="1" lang="en-US" altLang="ja-JP" dirty="0" smtClean="0"/>
              <a:t> for </a:t>
            </a:r>
            <a:r>
              <a:rPr lang="en-US" altLang="ja-JP" dirty="0"/>
              <a:t>Android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I made a based-program for this OSS community</a:t>
            </a:r>
            <a:endParaRPr kumimoji="1" lang="en-US" altLang="ja-JP" dirty="0" smtClean="0"/>
          </a:p>
          <a:p>
            <a:pPr lvl="2"/>
            <a:r>
              <a:rPr lang="en-US" altLang="ja-JP" dirty="0" smtClean="0">
                <a:hlinkClick r:id="rId3"/>
              </a:rPr>
              <a:t>http</a:t>
            </a:r>
            <a:r>
              <a:rPr lang="en-US" altLang="ja-JP" dirty="0">
                <a:hlinkClick r:id="rId3"/>
              </a:rPr>
              <a:t>://en.sourceforge.jp/projects/nyartoolkit-and/</a:t>
            </a:r>
            <a:endParaRPr kumimoji="1" lang="en-US" altLang="ja-JP" dirty="0" smtClean="0"/>
          </a:p>
          <a:p>
            <a:r>
              <a:rPr lang="en-US" altLang="ja-JP" dirty="0" err="1"/>
              <a:t>OpenCV</a:t>
            </a:r>
            <a:r>
              <a:rPr lang="en-US" altLang="ja-JP" dirty="0"/>
              <a:t> for Android NDK</a:t>
            </a:r>
          </a:p>
          <a:p>
            <a:pPr lvl="1"/>
            <a:r>
              <a:rPr lang="en-US" altLang="ja-JP" dirty="0"/>
              <a:t>This program is included in Android 4.0.1 </a:t>
            </a:r>
            <a:r>
              <a:rPr lang="en-US" altLang="ja-JP" dirty="0" smtClean="0"/>
              <a:t>.</a:t>
            </a:r>
          </a:p>
          <a:p>
            <a:pPr lvl="2"/>
            <a:r>
              <a:rPr lang="en-US" altLang="ja-JP" dirty="0">
                <a:hlinkClick r:id="rId4"/>
              </a:rPr>
              <a:t>http://</a:t>
            </a:r>
            <a:r>
              <a:rPr lang="en-US" altLang="ja-JP" dirty="0" smtClean="0">
                <a:hlinkClick r:id="rId4"/>
              </a:rPr>
              <a:t>tools.oesf.biz/android-4.0.1_r1.0/search?q=SIProp</a:t>
            </a:r>
            <a:endParaRPr lang="en-US" altLang="ja-JP" dirty="0" smtClean="0"/>
          </a:p>
          <a:p>
            <a:endParaRPr lang="ja-JP" altLang="en-US" dirty="0"/>
          </a:p>
          <a:p>
            <a:pPr lvl="2"/>
            <a:endParaRPr lang="en-US" altLang="ja-JP" dirty="0" smtClean="0"/>
          </a:p>
          <a:p>
            <a:pPr lvl="1"/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3829320"/>
            <a:ext cx="3520235" cy="2927967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7"/>
          <a:stretch/>
        </p:blipFill>
        <p:spPr>
          <a:xfrm>
            <a:off x="1547664" y="3812688"/>
            <a:ext cx="2812834" cy="296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79A9C6A-65CC-4899-81C6-8425C8FEAB2E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399" y="1352550"/>
            <a:ext cx="8610601" cy="1143000"/>
          </a:xfrm>
        </p:spPr>
        <p:txBody>
          <a:bodyPr/>
          <a:lstStyle/>
          <a:p>
            <a:r>
              <a:rPr lang="en-US" altLang="ja-JP" sz="6600" dirty="0" smtClean="0"/>
              <a:t>Today’s </a:t>
            </a:r>
            <a:r>
              <a:rPr lang="en-US" altLang="ja-JP" sz="6600" dirty="0"/>
              <a:t>Topic</a:t>
            </a:r>
            <a:endParaRPr lang="ja-JP" altLang="ja-JP" sz="6600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1560" y="5373216"/>
            <a:ext cx="4105275" cy="1320552"/>
          </a:xfrm>
        </p:spPr>
        <p:txBody>
          <a:bodyPr/>
          <a:lstStyle/>
          <a:p>
            <a:r>
              <a:rPr lang="en-US" altLang="ja-JP" sz="3200" dirty="0" err="1" smtClean="0"/>
              <a:t>Noritsuna</a:t>
            </a:r>
            <a:r>
              <a:rPr lang="en-US" altLang="ja-JP" sz="3200" dirty="0" smtClean="0"/>
              <a:t> Imamura</a:t>
            </a:r>
            <a:endParaRPr lang="ja-JP" altLang="ja-JP" sz="3200" dirty="0"/>
          </a:p>
        </p:txBody>
      </p:sp>
    </p:spTree>
    <p:extLst>
      <p:ext uri="{BB962C8B-B14F-4D97-AF65-F5344CB8AC3E}">
        <p14:creationId xmlns:p14="http://schemas.microsoft.com/office/powerpoint/2010/main" val="78314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What do you want to make?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5" y="929594"/>
            <a:ext cx="4239650" cy="5327650"/>
          </a:xfrm>
        </p:spPr>
      </p:pic>
      <p:pic>
        <p:nvPicPr>
          <p:cNvPr id="7" name="図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4" r="26185"/>
          <a:stretch/>
        </p:blipFill>
        <p:spPr>
          <a:xfrm>
            <a:off x="3831770" y="1422608"/>
            <a:ext cx="3744685" cy="397872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" r="17355"/>
          <a:stretch/>
        </p:blipFill>
        <p:spPr>
          <a:xfrm>
            <a:off x="4968447" y="3411971"/>
            <a:ext cx="4415038" cy="326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9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Need </a:t>
            </a:r>
            <a:r>
              <a:rPr lang="en-US" altLang="ja-JP" dirty="0" smtClean="0"/>
              <a:t>a lot of money…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7"/>
            <a:ext cx="7772400" cy="5557895"/>
          </a:xfrm>
        </p:spPr>
        <p:txBody>
          <a:bodyPr/>
          <a:lstStyle/>
          <a:p>
            <a:r>
              <a:rPr lang="en-US" altLang="ja-JP" sz="3200" dirty="0" smtClean="0"/>
              <a:t>How to get?</a:t>
            </a:r>
          </a:p>
          <a:p>
            <a:pPr lvl="1"/>
            <a:r>
              <a:rPr kumimoji="1" lang="en-US" altLang="ja-JP" sz="2800" dirty="0" smtClean="0"/>
              <a:t>Make a Startup </a:t>
            </a:r>
            <a:r>
              <a:rPr kumimoji="1" lang="en-US" altLang="ja-JP" sz="2800" dirty="0" smtClean="0"/>
              <a:t>Company</a:t>
            </a:r>
            <a:endParaRPr kumimoji="1" lang="en-US" altLang="ja-JP" dirty="0" smtClean="0"/>
          </a:p>
          <a:p>
            <a:pPr lvl="1"/>
            <a:r>
              <a:rPr lang="en-US" altLang="ja-JP" sz="2800" dirty="0" smtClean="0"/>
              <a:t>Get </a:t>
            </a:r>
            <a:r>
              <a:rPr lang="en-US" altLang="ja-JP" sz="2800" dirty="0" smtClean="0"/>
              <a:t>a </a:t>
            </a:r>
            <a:r>
              <a:rPr lang="en-US" altLang="ja-JP" sz="2800" dirty="0" smtClean="0"/>
              <a:t>Sponsor</a:t>
            </a:r>
          </a:p>
          <a:p>
            <a:pPr lvl="1"/>
            <a:endParaRPr lang="en-US" altLang="ja-JP" sz="3200" dirty="0" smtClean="0"/>
          </a:p>
          <a:p>
            <a:r>
              <a:rPr lang="en-US" altLang="ja-JP" sz="3200" dirty="0" smtClean="0"/>
              <a:t>Kinds of Sponsors</a:t>
            </a:r>
            <a:endParaRPr lang="en-US" altLang="ja-JP" sz="3200" dirty="0"/>
          </a:p>
          <a:p>
            <a:pPr lvl="1"/>
            <a:r>
              <a:rPr lang="en-US" altLang="ja-JP" sz="2800" dirty="0"/>
              <a:t>Product Sponsors</a:t>
            </a:r>
          </a:p>
          <a:p>
            <a:pPr lvl="2"/>
            <a:r>
              <a:rPr lang="en-US" altLang="ja-JP" sz="2400" dirty="0"/>
              <a:t>Sale their products</a:t>
            </a:r>
          </a:p>
          <a:p>
            <a:pPr lvl="1"/>
            <a:r>
              <a:rPr lang="en-US" altLang="ja-JP" sz="2800" dirty="0"/>
              <a:t>Service Sponsors</a:t>
            </a:r>
          </a:p>
          <a:p>
            <a:pPr lvl="2"/>
            <a:r>
              <a:rPr lang="en-US" altLang="ja-JP" sz="2400" dirty="0"/>
              <a:t>Expand their service</a:t>
            </a:r>
          </a:p>
          <a:p>
            <a:pPr lvl="1"/>
            <a:r>
              <a:rPr lang="en-US" altLang="ja-JP" sz="2800" dirty="0"/>
              <a:t>Patron</a:t>
            </a:r>
          </a:p>
          <a:p>
            <a:pPr lvl="2"/>
            <a:r>
              <a:rPr lang="en-US" altLang="ja-JP" dirty="0"/>
              <a:t>Support </a:t>
            </a:r>
            <a:r>
              <a:rPr lang="en-US" altLang="ja-JP" dirty="0" smtClean="0"/>
              <a:t>a cool </a:t>
            </a:r>
            <a:r>
              <a:rPr lang="en-US" altLang="ja-JP" dirty="0" smtClean="0"/>
              <a:t>guy (Ex. </a:t>
            </a:r>
            <a:r>
              <a:rPr lang="en-US" altLang="ja-JP" dirty="0" err="1" smtClean="0"/>
              <a:t>Kickstarter</a:t>
            </a:r>
            <a:r>
              <a:rPr lang="en-US" altLang="ja-JP" dirty="0" smtClean="0"/>
              <a:t>)</a:t>
            </a:r>
            <a:endParaRPr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47" y="1323603"/>
            <a:ext cx="2992953" cy="299295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633" y="4498792"/>
            <a:ext cx="4284604" cy="159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0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Treasure Hunting Robot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5324" r="24677" b="16010"/>
          <a:stretch/>
        </p:blipFill>
        <p:spPr>
          <a:xfrm>
            <a:off x="5247911" y="1556792"/>
            <a:ext cx="3862418" cy="3902969"/>
          </a:xfr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80728"/>
            <a:ext cx="4250424" cy="5667232"/>
          </a:xfrm>
          <a:prstGeom prst="rect">
            <a:avLst/>
          </a:prstGeom>
        </p:spPr>
      </p:pic>
      <p:sp>
        <p:nvSpPr>
          <p:cNvPr id="9" name="円形吹き出し 8"/>
          <p:cNvSpPr/>
          <p:nvPr/>
        </p:nvSpPr>
        <p:spPr>
          <a:xfrm>
            <a:off x="3779912" y="3356992"/>
            <a:ext cx="2304256" cy="1342848"/>
          </a:xfrm>
          <a:prstGeom prst="wedgeEllipseCallout">
            <a:avLst>
              <a:gd name="adj1" fmla="val -75118"/>
              <a:gd name="adj2" fmla="val 75470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>
                <a:solidFill>
                  <a:schemeClr val="tx2"/>
                </a:solidFill>
              </a:rPr>
              <a:t>AiRscouter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0" name="円形吹き出し 9"/>
          <p:cNvSpPr/>
          <p:nvPr/>
        </p:nvSpPr>
        <p:spPr>
          <a:xfrm>
            <a:off x="4211960" y="548680"/>
            <a:ext cx="2304256" cy="1342848"/>
          </a:xfrm>
          <a:prstGeom prst="wedgeEllipseCallout">
            <a:avLst>
              <a:gd name="adj1" fmla="val -75118"/>
              <a:gd name="adj2" fmla="val 75470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MindWave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1" name="円形吹き出し 10"/>
          <p:cNvSpPr/>
          <p:nvPr/>
        </p:nvSpPr>
        <p:spPr>
          <a:xfrm>
            <a:off x="-324544" y="3814344"/>
            <a:ext cx="2376264" cy="1342848"/>
          </a:xfrm>
          <a:prstGeom prst="wedgeEllipseCallout">
            <a:avLst>
              <a:gd name="adj1" fmla="val 48183"/>
              <a:gd name="adj2" fmla="val 96547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Pandaboard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2" name="円形吹き出し 11"/>
          <p:cNvSpPr/>
          <p:nvPr/>
        </p:nvSpPr>
        <p:spPr>
          <a:xfrm>
            <a:off x="-162272" y="524542"/>
            <a:ext cx="2051720" cy="1054816"/>
          </a:xfrm>
          <a:prstGeom prst="wedgeEllipseCallout">
            <a:avLst>
              <a:gd name="adj1" fmla="val 28552"/>
              <a:gd name="adj2" fmla="val 91387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Xtion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64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Hardwares</a:t>
            </a:r>
            <a:r>
              <a:rPr lang="en-US" altLang="ja-JP" dirty="0" smtClean="0"/>
              <a:t> &amp; </a:t>
            </a:r>
            <a:r>
              <a:rPr lang="en-US" altLang="ja-JP" dirty="0" err="1" smtClean="0"/>
              <a:t>Softwares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838200" y="908720"/>
            <a:ext cx="3810000" cy="5544468"/>
          </a:xfrm>
        </p:spPr>
        <p:txBody>
          <a:bodyPr/>
          <a:lstStyle/>
          <a:p>
            <a:r>
              <a:rPr kumimoji="1" lang="en-US" altLang="ja-JP" dirty="0" err="1" smtClean="0"/>
              <a:t>Hardwares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Base computer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Pandaboard</a:t>
            </a:r>
            <a:endParaRPr lang="en-US" altLang="ja-JP" dirty="0" smtClean="0"/>
          </a:p>
          <a:p>
            <a:pPr lvl="3"/>
            <a:r>
              <a:rPr lang="en-US" altLang="ja-JP" dirty="0" smtClean="0"/>
              <a:t>TI</a:t>
            </a:r>
          </a:p>
          <a:p>
            <a:pPr lvl="1"/>
            <a:r>
              <a:rPr lang="en-US" altLang="ja-JP" dirty="0" smtClean="0"/>
              <a:t>Brain Wave Sensor</a:t>
            </a:r>
          </a:p>
          <a:p>
            <a:pPr lvl="2"/>
            <a:r>
              <a:rPr kumimoji="1" lang="en-US" altLang="ja-JP" dirty="0" err="1" smtClean="0"/>
              <a:t>MindWave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err="1" smtClean="0"/>
              <a:t>Xtion</a:t>
            </a:r>
            <a:r>
              <a:rPr lang="en-US" altLang="ja-JP" dirty="0" smtClean="0"/>
              <a:t> pro live</a:t>
            </a:r>
          </a:p>
          <a:p>
            <a:pPr lvl="1"/>
            <a:r>
              <a:rPr kumimoji="1" lang="en-US" altLang="ja-JP" dirty="0" smtClean="0"/>
              <a:t>Display</a:t>
            </a:r>
          </a:p>
          <a:p>
            <a:pPr lvl="2"/>
            <a:r>
              <a:rPr lang="en-US" altLang="ja-JP" dirty="0" err="1" smtClean="0"/>
              <a:t>AiRscoter</a:t>
            </a:r>
            <a:endParaRPr lang="en-US" altLang="ja-JP" dirty="0" smtClean="0"/>
          </a:p>
          <a:p>
            <a:pPr lvl="3"/>
            <a:r>
              <a:rPr lang="en-US" altLang="ja-JP" dirty="0"/>
              <a:t>Brother Industries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Walking Robot</a:t>
            </a:r>
          </a:p>
          <a:p>
            <a:pPr lvl="2"/>
            <a:r>
              <a:rPr lang="en-US" altLang="ja-JP" dirty="0" smtClean="0"/>
              <a:t>KHR-3WL</a:t>
            </a:r>
          </a:p>
          <a:p>
            <a:pPr lvl="3"/>
            <a:r>
              <a:rPr kumimoji="1" lang="en-US" altLang="ja-JP" dirty="0" smtClean="0"/>
              <a:t>Kondo science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half" idx="2"/>
          </p:nvPr>
        </p:nvSpPr>
        <p:spPr>
          <a:xfrm>
            <a:off x="4800600" y="908720"/>
            <a:ext cx="4019872" cy="5544468"/>
          </a:xfrm>
        </p:spPr>
        <p:txBody>
          <a:bodyPr/>
          <a:lstStyle/>
          <a:p>
            <a:r>
              <a:rPr kumimoji="1" lang="en-US" altLang="ja-JP" dirty="0" err="1" smtClean="0"/>
              <a:t>Softwares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Ubuntu &amp; Android</a:t>
            </a:r>
          </a:p>
          <a:p>
            <a:pPr lvl="2"/>
            <a:r>
              <a:rPr kumimoji="1" lang="en-US" altLang="ja-JP" dirty="0" smtClean="0"/>
              <a:t>Linaro11.11</a:t>
            </a:r>
          </a:p>
          <a:p>
            <a:pPr lvl="3"/>
            <a:r>
              <a:rPr lang="en-US" altLang="ja-JP" dirty="0" err="1" smtClean="0"/>
              <a:t>Linaro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err="1" smtClean="0"/>
              <a:t>OpenNI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Bone skeleton tracker</a:t>
            </a:r>
            <a:endParaRPr lang="en-US" altLang="ja-JP" dirty="0"/>
          </a:p>
          <a:p>
            <a:pPr lvl="2"/>
            <a:r>
              <a:rPr kumimoji="1" lang="en-US" altLang="ja-JP" dirty="0" smtClean="0"/>
              <a:t>NITE for ARM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UI Framework</a:t>
            </a:r>
          </a:p>
          <a:p>
            <a:pPr lvl="2"/>
            <a:r>
              <a:rPr lang="en-US" altLang="ja-JP" dirty="0" err="1" smtClean="0"/>
              <a:t>openFrameworks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Android</a:t>
            </a:r>
          </a:p>
          <a:p>
            <a:pPr lvl="3"/>
            <a:r>
              <a:rPr lang="en-US" altLang="ja-JP" dirty="0" smtClean="0"/>
              <a:t>OESF</a:t>
            </a:r>
          </a:p>
          <a:p>
            <a:pPr lvl="1"/>
            <a:endParaRPr kumimoji="1" lang="en-US" altLang="ja-JP" dirty="0" smtClean="0"/>
          </a:p>
          <a:p>
            <a:pPr lvl="1"/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8668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Important point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600" dirty="0" smtClean="0"/>
              <a:t>Quick making a prototype!</a:t>
            </a:r>
          </a:p>
          <a:p>
            <a:pPr lvl="1"/>
            <a:r>
              <a:rPr kumimoji="1" lang="en-US" altLang="ja-JP" sz="3200" dirty="0" smtClean="0"/>
              <a:t>Almost people can NOT image a new </a:t>
            </a:r>
            <a:r>
              <a:rPr lang="en-US" altLang="ja-JP" sz="3200" dirty="0" smtClean="0"/>
              <a:t>product </a:t>
            </a:r>
            <a:r>
              <a:rPr kumimoji="1" lang="en-US" altLang="ja-JP" sz="3600" dirty="0" smtClean="0">
                <a:solidFill>
                  <a:srgbClr val="FF0000"/>
                </a:solidFill>
              </a:rPr>
              <a:t>without a real device</a:t>
            </a:r>
            <a:r>
              <a:rPr kumimoji="1" lang="en-US" altLang="ja-JP" sz="3200" dirty="0" smtClean="0"/>
              <a:t>.</a:t>
            </a:r>
            <a:endParaRPr lang="en-US" altLang="ja-JP" sz="3200" dirty="0" smtClean="0"/>
          </a:p>
          <a:p>
            <a:pPr lvl="1"/>
            <a:endParaRPr lang="en-US" altLang="ja-JP" sz="3200" dirty="0"/>
          </a:p>
          <a:p>
            <a:r>
              <a:rPr lang="en-US" altLang="ja-JP" sz="3600" dirty="0" smtClean="0"/>
              <a:t>Do </a:t>
            </a:r>
            <a:r>
              <a:rPr lang="en-US" altLang="ja-JP" sz="3600" dirty="0"/>
              <a:t>It Yourself </a:t>
            </a:r>
            <a:r>
              <a:rPr lang="ja-JP" altLang="en-US" sz="3600" dirty="0"/>
              <a:t>⇒</a:t>
            </a:r>
            <a:r>
              <a:rPr lang="en-US" altLang="ja-JP" sz="3600" dirty="0"/>
              <a:t>Do It With Others</a:t>
            </a:r>
            <a:r>
              <a:rPr lang="en-US" altLang="ja-JP" sz="3600" dirty="0" smtClean="0"/>
              <a:t>!</a:t>
            </a:r>
          </a:p>
          <a:p>
            <a:pPr lvl="1"/>
            <a:r>
              <a:rPr lang="ja-JP" altLang="en-US" sz="3200" dirty="0"/>
              <a:t>！</a:t>
            </a:r>
            <a:r>
              <a:rPr lang="en-US" altLang="ja-JP" sz="3200" dirty="0"/>
              <a:t>Reinventing the </a:t>
            </a:r>
            <a:r>
              <a:rPr lang="en-US" altLang="ja-JP" sz="3200" dirty="0" smtClean="0"/>
              <a:t>wheel.</a:t>
            </a:r>
            <a:endParaRPr lang="ja-JP" altLang="en-US" sz="3200" dirty="0"/>
          </a:p>
          <a:p>
            <a:pPr lvl="1"/>
            <a:endParaRPr kumimoji="1" lang="ja-JP" altLang="en-US" sz="3200" dirty="0"/>
          </a:p>
        </p:txBody>
      </p:sp>
      <p:sp>
        <p:nvSpPr>
          <p:cNvPr id="4" name="コンテンツ プレースホルダー 2"/>
          <p:cNvSpPr txBox="1">
            <a:spLocks/>
          </p:cNvSpPr>
          <p:nvPr/>
        </p:nvSpPr>
        <p:spPr bwMode="auto">
          <a:xfrm>
            <a:off x="1303708" y="4813520"/>
            <a:ext cx="77724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3200" dirty="0" err="1" smtClean="0"/>
              <a:t>MAKE:style</a:t>
            </a:r>
            <a:endParaRPr lang="en-US" altLang="ja-JP" sz="3200" dirty="0" smtClean="0"/>
          </a:p>
          <a:p>
            <a:pPr lvl="1"/>
            <a:r>
              <a:rPr lang="en-US" altLang="ja-JP" dirty="0" smtClean="0"/>
              <a:t>Hardware</a:t>
            </a:r>
          </a:p>
          <a:p>
            <a:pPr lvl="2"/>
            <a:r>
              <a:rPr lang="en-US" altLang="ja-JP" dirty="0" err="1" smtClean="0">
                <a:hlinkClick r:id="rId8"/>
              </a:rPr>
              <a:t>beagleboard-xM</a:t>
            </a:r>
            <a:endParaRPr lang="en-US" altLang="ja-JP" dirty="0" smtClean="0"/>
          </a:p>
          <a:p>
            <a:pPr lvl="2"/>
            <a:r>
              <a:rPr lang="en-US" altLang="ja-JP" dirty="0" err="1" smtClean="0">
                <a:hlinkClick r:id="rId9"/>
              </a:rPr>
              <a:t>Arduino</a:t>
            </a:r>
            <a:endParaRPr lang="en-US" altLang="ja-JP" dirty="0" smtClean="0"/>
          </a:p>
          <a:p>
            <a:pPr lvl="2"/>
            <a:r>
              <a:rPr lang="en-US" altLang="ja-JP" dirty="0" smtClean="0">
                <a:hlinkClick r:id="rId10"/>
              </a:rPr>
              <a:t>Kinect</a:t>
            </a:r>
            <a:endParaRPr lang="en-US" altLang="ja-JP" dirty="0" smtClean="0"/>
          </a:p>
        </p:txBody>
      </p:sp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4864325" y="5407128"/>
            <a:ext cx="5443451" cy="2165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ja-JP" dirty="0" smtClean="0"/>
              <a:t>Software</a:t>
            </a:r>
          </a:p>
          <a:p>
            <a:pPr lvl="2"/>
            <a:r>
              <a:rPr lang="en-US" altLang="ja-JP" dirty="0" smtClean="0">
                <a:hlinkClick r:id="rId11"/>
              </a:rPr>
              <a:t>Linux Kernel</a:t>
            </a:r>
            <a:endParaRPr lang="en-US" altLang="ja-JP" dirty="0" smtClean="0"/>
          </a:p>
          <a:p>
            <a:pPr lvl="2"/>
            <a:r>
              <a:rPr lang="en-US" altLang="ja-JP" dirty="0" smtClean="0">
                <a:hlinkClick r:id="rId12"/>
              </a:rPr>
              <a:t>Android</a:t>
            </a:r>
            <a:endParaRPr lang="en-US" altLang="ja-JP" dirty="0" smtClean="0"/>
          </a:p>
          <a:p>
            <a:pPr lvl="2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72736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 smtClean="0"/>
              <a:t>Content-Centric Embedded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956666" cy="5732462"/>
          </a:xfrm>
        </p:spPr>
        <p:txBody>
          <a:bodyPr/>
          <a:lstStyle/>
          <a:p>
            <a:r>
              <a:rPr lang="en-US" altLang="ja-JP" sz="3200" dirty="0" smtClean="0"/>
              <a:t>Content-Centric </a:t>
            </a:r>
            <a:r>
              <a:rPr lang="en-US" altLang="ja-JP" sz="3200" dirty="0"/>
              <a:t>N</a:t>
            </a:r>
            <a:r>
              <a:rPr lang="en-US" altLang="ja-JP" sz="3200" dirty="0" smtClean="0"/>
              <a:t>etworking</a:t>
            </a:r>
          </a:p>
          <a:p>
            <a:pPr lvl="1"/>
            <a:r>
              <a:rPr lang="en-US" altLang="ja-JP" dirty="0" smtClean="0"/>
              <a:t>It was </a:t>
            </a:r>
            <a:r>
              <a:rPr lang="en-US" altLang="ja-JP" dirty="0"/>
              <a:t>pioneered by </a:t>
            </a:r>
            <a:r>
              <a:rPr lang="en-US" altLang="ja-JP" dirty="0">
                <a:solidFill>
                  <a:srgbClr val="FF0000"/>
                </a:solidFill>
              </a:rPr>
              <a:t>Ted </a:t>
            </a:r>
            <a:r>
              <a:rPr lang="en-US" altLang="ja-JP" dirty="0" smtClean="0">
                <a:solidFill>
                  <a:srgbClr val="FF0000"/>
                </a:solidFill>
              </a:rPr>
              <a:t>Nelson </a:t>
            </a:r>
            <a:r>
              <a:rPr lang="en-US" altLang="ja-JP" dirty="0"/>
              <a:t>in 1979 and later by </a:t>
            </a:r>
            <a:r>
              <a:rPr lang="en-US" altLang="ja-JP" dirty="0">
                <a:solidFill>
                  <a:srgbClr val="FF0000"/>
                </a:solidFill>
              </a:rPr>
              <a:t>Brent </a:t>
            </a:r>
            <a:r>
              <a:rPr lang="en-US" altLang="ja-JP" dirty="0" err="1" smtClean="0">
                <a:solidFill>
                  <a:srgbClr val="FF0000"/>
                </a:solidFill>
              </a:rPr>
              <a:t>Baccala</a:t>
            </a:r>
            <a:r>
              <a:rPr lang="en-US" altLang="ja-JP" dirty="0" smtClean="0"/>
              <a:t> </a:t>
            </a:r>
            <a:r>
              <a:rPr lang="en-US" altLang="ja-JP" dirty="0"/>
              <a:t>in </a:t>
            </a:r>
            <a:r>
              <a:rPr lang="en-US" altLang="ja-JP" dirty="0">
                <a:solidFill>
                  <a:srgbClr val="FF0000"/>
                </a:solidFill>
              </a:rPr>
              <a:t>2002</a:t>
            </a:r>
            <a:r>
              <a:rPr lang="en-US" altLang="ja-JP" dirty="0" smtClean="0"/>
              <a:t>.</a:t>
            </a:r>
          </a:p>
          <a:p>
            <a:pPr lvl="1"/>
            <a:r>
              <a:rPr lang="en-US" altLang="ja-JP" sz="2800" dirty="0"/>
              <a:t>The </a:t>
            </a:r>
            <a:r>
              <a:rPr lang="en-US" altLang="ja-JP" sz="2800" dirty="0" smtClean="0"/>
              <a:t>old internet finds servers by </a:t>
            </a:r>
            <a:r>
              <a:rPr lang="en-US" altLang="ja-JP" sz="2800" dirty="0" smtClean="0">
                <a:solidFill>
                  <a:srgbClr val="FF0000"/>
                </a:solidFill>
              </a:rPr>
              <a:t>IP-Address</a:t>
            </a:r>
            <a:r>
              <a:rPr lang="en-US" altLang="ja-JP" sz="2800" dirty="0" smtClean="0"/>
              <a:t>.</a:t>
            </a:r>
          </a:p>
          <a:p>
            <a:pPr marL="457200" lvl="1" indent="0">
              <a:buNone/>
            </a:pPr>
            <a:r>
              <a:rPr lang="en-US" altLang="ja-JP" sz="2800" dirty="0"/>
              <a:t> </a:t>
            </a:r>
            <a:r>
              <a:rPr lang="en-US" altLang="ja-JP" sz="2800" dirty="0" smtClean="0"/>
              <a:t> This </a:t>
            </a:r>
            <a:r>
              <a:rPr lang="en-US" altLang="ja-JP" sz="2800" dirty="0"/>
              <a:t>philosophy </a:t>
            </a:r>
            <a:r>
              <a:rPr lang="en-US" altLang="ja-JP" sz="2800" dirty="0" smtClean="0"/>
              <a:t>finds them by </a:t>
            </a:r>
            <a:r>
              <a:rPr lang="en-US" altLang="ja-JP" sz="2800" dirty="0" smtClean="0">
                <a:solidFill>
                  <a:srgbClr val="FF0000"/>
                </a:solidFill>
              </a:rPr>
              <a:t>Contents</a:t>
            </a:r>
            <a:r>
              <a:rPr lang="en-US" altLang="ja-JP" sz="2800" dirty="0" smtClean="0"/>
              <a:t>.</a:t>
            </a:r>
          </a:p>
          <a:p>
            <a:pPr marL="457200" lvl="1" indent="0">
              <a:buNone/>
            </a:pPr>
            <a:endParaRPr kumimoji="1" lang="en-US" altLang="ja-JP" sz="1200" dirty="0"/>
          </a:p>
          <a:p>
            <a:r>
              <a:rPr lang="en-US" altLang="ja-JP" sz="3200" dirty="0"/>
              <a:t>Content-Centric </a:t>
            </a:r>
            <a:r>
              <a:rPr lang="en-US" altLang="ja-JP" sz="3200" dirty="0" smtClean="0"/>
              <a:t>Embedded</a:t>
            </a:r>
          </a:p>
          <a:p>
            <a:pPr lvl="1"/>
            <a:r>
              <a:rPr lang="en-US" altLang="ja-JP" sz="2800" dirty="0" smtClean="0"/>
              <a:t>When make products</a:t>
            </a:r>
            <a:r>
              <a:rPr lang="en-US" altLang="ja-JP" sz="2800" dirty="0"/>
              <a:t>, </a:t>
            </a:r>
            <a:r>
              <a:rPr lang="en-US" altLang="ja-JP" sz="2800" dirty="0" smtClean="0"/>
              <a:t>it </a:t>
            </a:r>
            <a:r>
              <a:rPr lang="en-US" altLang="ja-JP" sz="2800" dirty="0"/>
              <a:t>thinks </a:t>
            </a:r>
            <a:r>
              <a:rPr lang="en-US" altLang="ja-JP" sz="2800" dirty="0" smtClean="0"/>
              <a:t>from </a:t>
            </a:r>
            <a:r>
              <a:rPr lang="en-US" altLang="ja-JP" sz="2800" dirty="0" smtClean="0">
                <a:solidFill>
                  <a:srgbClr val="FF0000"/>
                </a:solidFill>
              </a:rPr>
              <a:t>hardware</a:t>
            </a:r>
            <a:r>
              <a:rPr lang="en-US" altLang="ja-JP" sz="2800" dirty="0" smtClean="0"/>
              <a:t>.</a:t>
            </a:r>
          </a:p>
          <a:p>
            <a:pPr marL="457200" lvl="1" indent="0">
              <a:buNone/>
            </a:pPr>
            <a:r>
              <a:rPr lang="en-US" altLang="ja-JP" sz="2800" dirty="0"/>
              <a:t> </a:t>
            </a:r>
            <a:r>
              <a:rPr lang="en-US" altLang="ja-JP" sz="2800" dirty="0" smtClean="0"/>
              <a:t>  This </a:t>
            </a:r>
            <a:r>
              <a:rPr lang="en-US" altLang="ja-JP" sz="2800" dirty="0"/>
              <a:t>philosophy </a:t>
            </a:r>
            <a:r>
              <a:rPr lang="en-US" altLang="ja-JP" sz="2800" dirty="0" smtClean="0"/>
              <a:t>thinks </a:t>
            </a:r>
            <a:r>
              <a:rPr lang="en-US" altLang="ja-JP" sz="2800" dirty="0"/>
              <a:t>them </a:t>
            </a:r>
            <a:r>
              <a:rPr lang="en-US" altLang="ja-JP" sz="2800" dirty="0" smtClean="0"/>
              <a:t>from </a:t>
            </a:r>
            <a:r>
              <a:rPr lang="en-US" altLang="ja-JP" sz="2800" dirty="0">
                <a:solidFill>
                  <a:srgbClr val="FF0000"/>
                </a:solidFill>
              </a:rPr>
              <a:t>Contents</a:t>
            </a:r>
            <a:r>
              <a:rPr lang="en-US" altLang="ja-JP" sz="2800" dirty="0" smtClean="0"/>
              <a:t>.</a:t>
            </a:r>
          </a:p>
          <a:p>
            <a:pPr lvl="2"/>
            <a:r>
              <a:rPr lang="en-US" altLang="ja-JP" sz="2800" dirty="0" smtClean="0"/>
              <a:t>Ex: Kindle</a:t>
            </a:r>
            <a:endParaRPr lang="en-US" altLang="ja-JP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13658" y="6178898"/>
            <a:ext cx="7581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hlinkClick r:id="rId3"/>
              </a:rPr>
              <a:t>http://en.wikipedia.org/wiki/Content-centric_networking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37263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What do you want to make?</a:t>
            </a:r>
            <a:endParaRPr kumimoji="1" lang="ja-JP" altLang="en-US" dirty="0"/>
          </a:p>
        </p:txBody>
      </p:sp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5" y="929594"/>
            <a:ext cx="4239650" cy="5327650"/>
          </a:xfrm>
        </p:spPr>
      </p:pic>
      <p:pic>
        <p:nvPicPr>
          <p:cNvPr id="7" name="図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4" r="26185"/>
          <a:stretch/>
        </p:blipFill>
        <p:spPr>
          <a:xfrm>
            <a:off x="3831770" y="1422608"/>
            <a:ext cx="3744685" cy="3978726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" r="17355"/>
          <a:stretch/>
        </p:blipFill>
        <p:spPr>
          <a:xfrm>
            <a:off x="4968447" y="3411971"/>
            <a:ext cx="4415038" cy="326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79A9C6A-65CC-4899-81C6-8425C8FEAB2E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399" y="1352550"/>
            <a:ext cx="8610601" cy="1143000"/>
          </a:xfrm>
        </p:spPr>
        <p:txBody>
          <a:bodyPr/>
          <a:lstStyle/>
          <a:p>
            <a:r>
              <a:rPr lang="en-US" altLang="ja-JP" sz="6600" dirty="0" smtClean="0"/>
              <a:t>Auto Chasing Turtle</a:t>
            </a:r>
            <a:endParaRPr lang="ja-JP" altLang="ja-JP" sz="6600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1560" y="5373216"/>
            <a:ext cx="4105275" cy="1320552"/>
          </a:xfrm>
        </p:spPr>
        <p:txBody>
          <a:bodyPr/>
          <a:lstStyle/>
          <a:p>
            <a:r>
              <a:rPr lang="en-US" altLang="ja-JP" sz="3200" dirty="0" err="1" smtClean="0"/>
              <a:t>Noritsuna</a:t>
            </a:r>
            <a:r>
              <a:rPr lang="en-US" altLang="ja-JP" sz="3200" dirty="0" smtClean="0"/>
              <a:t> Imamura</a:t>
            </a:r>
            <a:endParaRPr lang="ja-JP" altLang="ja-JP" sz="3200" dirty="0"/>
          </a:p>
        </p:txBody>
      </p:sp>
    </p:spTree>
    <p:extLst>
      <p:ext uri="{BB962C8B-B14F-4D97-AF65-F5344CB8AC3E}">
        <p14:creationId xmlns:p14="http://schemas.microsoft.com/office/powerpoint/2010/main" val="269200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908720"/>
            <a:ext cx="7772400" cy="5327650"/>
          </a:xfrm>
        </p:spPr>
        <p:txBody>
          <a:bodyPr/>
          <a:lstStyle/>
          <a:p>
            <a:r>
              <a:rPr lang="en-US" altLang="ja-JP" dirty="0"/>
              <a:t>This product is </a:t>
            </a:r>
            <a:r>
              <a:rPr lang="en-US" altLang="ja-JP" dirty="0" smtClean="0"/>
              <a:t>an "Auto </a:t>
            </a:r>
            <a:r>
              <a:rPr lang="en-US" altLang="ja-JP" dirty="0"/>
              <a:t>Chasing Turtle".</a:t>
            </a:r>
          </a:p>
          <a:p>
            <a:pPr lvl="1"/>
            <a:r>
              <a:rPr lang="en-US" altLang="ja-JP" dirty="0"/>
              <a:t>By autonomous control, this robot recognizes people's face and approaches to </a:t>
            </a:r>
            <a:r>
              <a:rPr lang="en-US" altLang="ja-JP" dirty="0" smtClean="0"/>
              <a:t>the detected </a:t>
            </a:r>
            <a:r>
              <a:rPr lang="en-US" altLang="ja-JP" dirty="0"/>
              <a:t>human. </a:t>
            </a:r>
          </a:p>
          <a:p>
            <a:pPr lvl="1"/>
            <a:endParaRPr kumimoji="1" lang="en-US" altLang="ja-JP" dirty="0" smtClean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92" y="2418060"/>
            <a:ext cx="7017813" cy="392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6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/>
          <p:cNvSpPr txBox="1">
            <a:spLocks/>
          </p:cNvSpPr>
          <p:nvPr/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dirty="0" smtClean="0"/>
              <a:t>YouTube</a:t>
            </a:r>
          </a:p>
          <a:p>
            <a:pPr lvl="1"/>
            <a:r>
              <a:rPr lang="en-US" altLang="ja-JP" dirty="0" smtClean="0">
                <a:hlinkClick r:id="rId8"/>
              </a:rPr>
              <a:t>http://www.youtube.com/watch?v=8EgfAk5RBVo</a:t>
            </a:r>
            <a:endParaRPr lang="en-US" altLang="ja-JP" dirty="0"/>
          </a:p>
          <a:p>
            <a:r>
              <a:rPr lang="en-US" altLang="ja-JP" dirty="0" smtClean="0"/>
              <a:t>Source Code &amp; detail </a:t>
            </a:r>
            <a:r>
              <a:rPr lang="en-US" altLang="ja-JP" dirty="0"/>
              <a:t>explanation</a:t>
            </a:r>
            <a:endParaRPr lang="en-US" altLang="ja-JP" dirty="0" smtClean="0"/>
          </a:p>
          <a:p>
            <a:pPr lvl="1"/>
            <a:r>
              <a:rPr lang="en-US" altLang="ja-JP" dirty="0" smtClean="0">
                <a:hlinkClick r:id="rId9"/>
              </a:rPr>
              <a:t>http://www.siprop.org/ja/2.0/index.php?product%2FAutoChasingTurtle</a:t>
            </a:r>
            <a:endParaRPr lang="en-US" altLang="ja-JP" dirty="0" smtClean="0"/>
          </a:p>
          <a:p>
            <a:r>
              <a:rPr lang="en-US" altLang="ja-JP" dirty="0" smtClean="0"/>
              <a:t>Keyword</a:t>
            </a:r>
          </a:p>
          <a:p>
            <a:pPr lvl="1"/>
            <a:r>
              <a:rPr lang="en-US" altLang="ja-JP" dirty="0" err="1" smtClean="0">
                <a:hlinkClick r:id="rId9"/>
              </a:rPr>
              <a:t>AutoChasingTurtle</a:t>
            </a:r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endParaRPr lang="en-US" altLang="ja-JP" dirty="0" smtClean="0"/>
          </a:p>
          <a:p>
            <a:pPr lvl="1"/>
            <a:endParaRPr lang="en-US" altLang="ja-JP" dirty="0" smtClean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Movie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073569"/>
            <a:ext cx="3048000" cy="1704975"/>
          </a:xfrm>
          <a:prstGeom prst="rect">
            <a:avLst/>
          </a:prstGeom>
        </p:spPr>
      </p:pic>
      <p:pic>
        <p:nvPicPr>
          <p:cNvPr id="5" name="コンテンツ プレースホルダー 4"/>
          <p:cNvPicPr>
            <a:picLocks noGrp="1" noChangeAspect="1"/>
          </p:cNvPicPr>
          <p:nvPr>
            <p:ph idx="1"/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450602"/>
            <a:ext cx="3048000" cy="1704975"/>
          </a:xfr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633409"/>
            <a:ext cx="30480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6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Hardwares</a:t>
            </a:r>
            <a:r>
              <a:rPr lang="en-US" altLang="ja-JP" dirty="0" smtClean="0"/>
              <a:t> &amp; </a:t>
            </a:r>
            <a:r>
              <a:rPr lang="en-US" altLang="ja-JP" dirty="0" err="1" smtClean="0"/>
              <a:t>Softwares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838200" y="908720"/>
            <a:ext cx="3810000" cy="5544468"/>
          </a:xfrm>
        </p:spPr>
        <p:txBody>
          <a:bodyPr/>
          <a:lstStyle/>
          <a:p>
            <a:r>
              <a:rPr kumimoji="1" lang="en-US" altLang="ja-JP" dirty="0" err="1" smtClean="0"/>
              <a:t>Hardwares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Base computer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Beagleboard-xM</a:t>
            </a:r>
            <a:endParaRPr lang="en-US" altLang="ja-JP" dirty="0" smtClean="0"/>
          </a:p>
          <a:p>
            <a:pPr lvl="3"/>
            <a:r>
              <a:rPr lang="en-US" altLang="ja-JP" dirty="0" smtClean="0"/>
              <a:t>TI</a:t>
            </a:r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smtClean="0"/>
              <a:t>Kinect</a:t>
            </a:r>
          </a:p>
          <a:p>
            <a:pPr lvl="1"/>
            <a:r>
              <a:rPr kumimoji="1" lang="en-US" altLang="ja-JP" dirty="0" smtClean="0"/>
              <a:t>Robot</a:t>
            </a:r>
          </a:p>
          <a:p>
            <a:pPr lvl="2"/>
            <a:r>
              <a:rPr lang="en-US" altLang="ja-JP" dirty="0" smtClean="0"/>
              <a:t>KONDO Animal</a:t>
            </a:r>
          </a:p>
          <a:p>
            <a:pPr lvl="3"/>
            <a:r>
              <a:rPr kumimoji="1" lang="en-US" altLang="ja-JP" dirty="0" smtClean="0"/>
              <a:t>Kondo science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half" idx="2"/>
          </p:nvPr>
        </p:nvSpPr>
        <p:spPr>
          <a:xfrm>
            <a:off x="4800600" y="908720"/>
            <a:ext cx="4019872" cy="5544468"/>
          </a:xfrm>
        </p:spPr>
        <p:txBody>
          <a:bodyPr/>
          <a:lstStyle/>
          <a:p>
            <a:r>
              <a:rPr kumimoji="1" lang="en-US" altLang="ja-JP" dirty="0" err="1" smtClean="0"/>
              <a:t>Softwares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Ubuntu &amp; Android</a:t>
            </a:r>
          </a:p>
          <a:p>
            <a:pPr lvl="2"/>
            <a:r>
              <a:rPr kumimoji="1" lang="en-US" altLang="ja-JP" dirty="0" smtClean="0"/>
              <a:t>Linaro10.03</a:t>
            </a:r>
          </a:p>
          <a:p>
            <a:pPr lvl="3"/>
            <a:r>
              <a:rPr lang="en-US" altLang="ja-JP" dirty="0" err="1" smtClean="0"/>
              <a:t>Linaro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err="1" smtClean="0"/>
              <a:t>ofxKinect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UI Framework</a:t>
            </a:r>
          </a:p>
          <a:p>
            <a:pPr lvl="2"/>
            <a:r>
              <a:rPr lang="en-US" altLang="ja-JP" dirty="0" err="1" smtClean="0"/>
              <a:t>openFrameworks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Android</a:t>
            </a:r>
          </a:p>
          <a:p>
            <a:pPr lvl="3"/>
            <a:r>
              <a:rPr lang="en-US" altLang="ja-JP" dirty="0" smtClean="0"/>
              <a:t>OESF</a:t>
            </a:r>
          </a:p>
          <a:p>
            <a:pPr lvl="1"/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40819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algn="ctr"/>
            <a:r>
              <a:rPr lang="en-US" altLang="ja-JP" sz="3600" dirty="0" smtClean="0"/>
              <a:t>How to make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9712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 Points for Developing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4963" indent="-334963">
              <a:spcBef>
                <a:spcPts val="563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334963">
              <a:spcBef>
                <a:spcPts val="563"/>
              </a:spcBef>
              <a:buSzPct val="111000"/>
              <a:buBlip>
                <a:blip r:embed="rId3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Detect the Face</a:t>
            </a: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dirty="0" smtClean="0"/>
              <a:t>Calculate the course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dirty="0" smtClean="0"/>
              <a:t>Calculate the distance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</p:txBody>
      </p:sp>
      <p:grpSp>
        <p:nvGrpSpPr>
          <p:cNvPr id="11" name="グループ化 10"/>
          <p:cNvGrpSpPr/>
          <p:nvPr/>
        </p:nvGrpSpPr>
        <p:grpSpPr>
          <a:xfrm>
            <a:off x="4729162" y="1357313"/>
            <a:ext cx="4143375" cy="5500687"/>
            <a:chOff x="5129213" y="1462088"/>
            <a:chExt cx="3414713" cy="456723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29213" y="1462088"/>
              <a:ext cx="3414713" cy="3953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" name="直線矢印コネクタ 7"/>
            <p:cNvCxnSpPr/>
            <p:nvPr/>
          </p:nvCxnSpPr>
          <p:spPr>
            <a:xfrm rot="16200000" flipV="1">
              <a:off x="5443540" y="2328865"/>
              <a:ext cx="2671763" cy="204311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6"/>
            <p:cNvSpPr txBox="1"/>
            <p:nvPr/>
          </p:nvSpPr>
          <p:spPr>
            <a:xfrm>
              <a:off x="6729412" y="3043239"/>
              <a:ext cx="1128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1. detect</a:t>
              </a:r>
              <a:endParaRPr kumimoji="1" lang="ja-JP" altLang="en-US" sz="1800" dirty="0"/>
            </a:p>
          </p:txBody>
        </p:sp>
        <p:sp>
          <p:nvSpPr>
            <p:cNvPr id="21" name="円弧 20"/>
            <p:cNvSpPr/>
            <p:nvPr/>
          </p:nvSpPr>
          <p:spPr>
            <a:xfrm rot="20241683">
              <a:off x="5772150" y="4457699"/>
              <a:ext cx="1871662" cy="1571625"/>
            </a:xfrm>
            <a:prstGeom prst="arc">
              <a:avLst>
                <a:gd name="adj1" fmla="val 16823623"/>
                <a:gd name="adj2" fmla="val 0"/>
              </a:avLst>
            </a:prstGeom>
            <a:ln w="571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6272212" y="4681538"/>
              <a:ext cx="1281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2. course</a:t>
              </a:r>
              <a:endParaRPr kumimoji="1" lang="ja-JP" altLang="en-US" sz="1800" dirty="0"/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196137" y="3609977"/>
              <a:ext cx="1304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3. distance</a:t>
              </a:r>
              <a:endParaRPr kumimoji="1" lang="ja-JP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0006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Detect the face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spcBef>
                <a:spcPts val="488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How </a:t>
            </a:r>
            <a:r>
              <a:rPr lang="en-GB" altLang="ja-JP" dirty="0">
                <a:solidFill>
                  <a:srgbClr val="000000"/>
                </a:solidFill>
                <a:latin typeface="ＭＳ Ｐゴシック" charset="-128"/>
              </a:rPr>
              <a:t>to </a:t>
            </a: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recognize a human’s face?</a:t>
            </a:r>
          </a:p>
          <a:p>
            <a:pPr marL="735013" lvl="1" indent="-277813">
              <a:spcBef>
                <a:spcPts val="488"/>
              </a:spcBef>
              <a:buSzPct val="111000"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Using KINECT RGB Camera </a:t>
            </a:r>
            <a:r>
              <a:rPr lang="en-GB" altLang="ja-JP" dirty="0">
                <a:solidFill>
                  <a:srgbClr val="000000"/>
                </a:solidFill>
                <a:latin typeface="ＭＳ Ｐゴシック" charset="-128"/>
              </a:rPr>
              <a:t>as Sensor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735013" lvl="1" indent="-277813">
              <a:spcBef>
                <a:spcPts val="488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735013" lvl="1" indent="-277813">
              <a:spcBef>
                <a:spcPts val="488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60762" y="4688087"/>
            <a:ext cx="2683238" cy="1341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グループ化 14"/>
          <p:cNvGrpSpPr/>
          <p:nvPr/>
        </p:nvGrpSpPr>
        <p:grpSpPr>
          <a:xfrm>
            <a:off x="1295400" y="3352800"/>
            <a:ext cx="4596188" cy="3196777"/>
            <a:chOff x="2187862" y="3159802"/>
            <a:chExt cx="3629025" cy="2667000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187862" y="3159802"/>
              <a:ext cx="3629025" cy="266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正方形/長方形 9"/>
            <p:cNvSpPr/>
            <p:nvPr/>
          </p:nvSpPr>
          <p:spPr>
            <a:xfrm>
              <a:off x="3402767" y="3294558"/>
              <a:ext cx="1139252" cy="14990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右中かっこ 11"/>
          <p:cNvSpPr/>
          <p:nvPr/>
        </p:nvSpPr>
        <p:spPr>
          <a:xfrm>
            <a:off x="10463134" y="1708879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280381" y="4081572"/>
            <a:ext cx="2248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KINECT Image</a:t>
            </a:r>
            <a:endParaRPr kumimoji="1" lang="ja-JP" altLang="en-US" dirty="0"/>
          </a:p>
        </p:txBody>
      </p:sp>
      <p:sp>
        <p:nvSpPr>
          <p:cNvPr id="23" name="右中かっこ 22"/>
          <p:cNvSpPr/>
          <p:nvPr/>
        </p:nvSpPr>
        <p:spPr>
          <a:xfrm>
            <a:off x="5891135" y="3352800"/>
            <a:ext cx="539646" cy="3185160"/>
          </a:xfrm>
          <a:prstGeom prst="rightBrace">
            <a:avLst>
              <a:gd name="adj1" fmla="val 108333"/>
              <a:gd name="adj2" fmla="val 50000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555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GB" altLang="ja-JP" dirty="0">
                <a:solidFill>
                  <a:srgbClr val="000000"/>
                </a:solidFill>
                <a:latin typeface="ＭＳ Ｐゴシック" charset="-128"/>
              </a:rPr>
              <a:t>How to recognizing a human’s face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2590770"/>
            <a:ext cx="7560840" cy="70788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/>
              <a:t>FaceDetector</a:t>
            </a:r>
            <a:r>
              <a:rPr lang="en-US" altLang="ja-JP" sz="2000" dirty="0" smtClean="0"/>
              <a:t> detector = new </a:t>
            </a:r>
            <a:r>
              <a:rPr lang="en-US" altLang="ja-JP" sz="2000" dirty="0" err="1" smtClean="0"/>
              <a:t>FaceDetector</a:t>
            </a:r>
            <a:r>
              <a:rPr lang="en-US" altLang="ja-JP" sz="2000" dirty="0" smtClean="0"/>
              <a:t>(w, h, </a:t>
            </a:r>
            <a:r>
              <a:rPr lang="en-US" altLang="ja-JP" sz="2000" dirty="0" err="1" smtClean="0"/>
              <a:t>faces.length</a:t>
            </a:r>
            <a:r>
              <a:rPr lang="en-US" altLang="ja-JP" sz="2000" dirty="0" smtClean="0"/>
              <a:t>);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numFaces</a:t>
            </a:r>
            <a:r>
              <a:rPr lang="en-US" altLang="ja-JP" sz="2000" dirty="0" smtClean="0"/>
              <a:t> = </a:t>
            </a:r>
            <a:r>
              <a:rPr lang="en-US" altLang="ja-JP" sz="2000" dirty="0" err="1" smtClean="0"/>
              <a:t>detector.findFaces</a:t>
            </a:r>
            <a:r>
              <a:rPr lang="en-US" altLang="ja-JP" sz="2000" dirty="0" smtClean="0"/>
              <a:t>(bitmap, faces);</a:t>
            </a:r>
          </a:p>
        </p:txBody>
      </p:sp>
      <p:sp>
        <p:nvSpPr>
          <p:cNvPr id="5" name="コンテンツ プレースホルダー 2"/>
          <p:cNvSpPr>
            <a:spLocks noGrp="1"/>
          </p:cNvSpPr>
          <p:nvPr>
            <p:ph idx="1"/>
          </p:nvPr>
        </p:nvSpPr>
        <p:spPr>
          <a:xfrm>
            <a:off x="937828" y="3548417"/>
            <a:ext cx="7772400" cy="1280687"/>
          </a:xfrm>
        </p:spPr>
        <p:txBody>
          <a:bodyPr/>
          <a:lstStyle/>
          <a:p>
            <a:pPr algn="r"/>
            <a:r>
              <a:rPr lang="en-US" altLang="ja-JP" dirty="0" smtClean="0"/>
              <a:t> Android’s APIs.</a:t>
            </a:r>
          </a:p>
          <a:p>
            <a:pPr lvl="1" algn="r"/>
            <a:endParaRPr kumimoji="1" lang="ja-JP" altLang="en-US" dirty="0"/>
          </a:p>
        </p:txBody>
      </p:sp>
      <p:sp>
        <p:nvSpPr>
          <p:cNvPr id="3" name="角丸四角形 2"/>
          <p:cNvSpPr/>
          <p:nvPr/>
        </p:nvSpPr>
        <p:spPr>
          <a:xfrm>
            <a:off x="1180407" y="4788132"/>
            <a:ext cx="7424041" cy="106402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800" dirty="0" smtClean="0">
                <a:solidFill>
                  <a:srgbClr val="FF0000"/>
                </a:solidFill>
              </a:rPr>
              <a:t>60-80% Product!</a:t>
            </a:r>
            <a:endParaRPr kumimoji="1" lang="ja-JP" alt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68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 Points for Developing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4963" indent="-334963">
              <a:spcBef>
                <a:spcPts val="563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334963">
              <a:spcBef>
                <a:spcPts val="563"/>
              </a:spcBef>
              <a:buSzPct val="111000"/>
              <a:buBlip>
                <a:blip r:embed="rId3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Detect the Face</a:t>
            </a: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sz="3200" dirty="0" smtClean="0">
                <a:solidFill>
                  <a:srgbClr val="FF0000"/>
                </a:solidFill>
              </a:rPr>
              <a:t>Calculate the course</a:t>
            </a:r>
            <a:endParaRPr lang="en-GB" altLang="ja-JP" sz="3200" dirty="0" smtClean="0">
              <a:solidFill>
                <a:srgbClr val="FF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dirty="0" smtClean="0"/>
              <a:t>Calculate the distance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</p:txBody>
      </p:sp>
      <p:grpSp>
        <p:nvGrpSpPr>
          <p:cNvPr id="11" name="グループ化 10"/>
          <p:cNvGrpSpPr/>
          <p:nvPr/>
        </p:nvGrpSpPr>
        <p:grpSpPr>
          <a:xfrm>
            <a:off x="4828912" y="1357313"/>
            <a:ext cx="4143375" cy="5500687"/>
            <a:chOff x="5129213" y="1462088"/>
            <a:chExt cx="3414713" cy="456723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29213" y="1462088"/>
              <a:ext cx="3414713" cy="3953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" name="直線矢印コネクタ 7"/>
            <p:cNvCxnSpPr/>
            <p:nvPr/>
          </p:nvCxnSpPr>
          <p:spPr>
            <a:xfrm rot="16200000" flipV="1">
              <a:off x="5443540" y="2328865"/>
              <a:ext cx="2671763" cy="204311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6"/>
            <p:cNvSpPr txBox="1"/>
            <p:nvPr/>
          </p:nvSpPr>
          <p:spPr>
            <a:xfrm>
              <a:off x="6729412" y="3043239"/>
              <a:ext cx="1128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1. detect</a:t>
              </a:r>
              <a:endParaRPr kumimoji="1" lang="ja-JP" altLang="en-US" sz="1800" dirty="0"/>
            </a:p>
          </p:txBody>
        </p:sp>
        <p:sp>
          <p:nvSpPr>
            <p:cNvPr id="21" name="円弧 20"/>
            <p:cNvSpPr/>
            <p:nvPr/>
          </p:nvSpPr>
          <p:spPr>
            <a:xfrm rot="20241683">
              <a:off x="5772150" y="4457699"/>
              <a:ext cx="1871662" cy="1571625"/>
            </a:xfrm>
            <a:prstGeom prst="arc">
              <a:avLst>
                <a:gd name="adj1" fmla="val 16823623"/>
                <a:gd name="adj2" fmla="val 0"/>
              </a:avLst>
            </a:prstGeom>
            <a:ln w="571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6272212" y="4681538"/>
              <a:ext cx="1281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2. course</a:t>
              </a:r>
              <a:endParaRPr kumimoji="1" lang="ja-JP" altLang="en-US" sz="1800" dirty="0"/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196137" y="3609977"/>
              <a:ext cx="1304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3. distance</a:t>
              </a:r>
              <a:endParaRPr kumimoji="1" lang="ja-JP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1456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Calculate the course</a:t>
            </a:r>
          </a:p>
        </p:txBody>
      </p:sp>
      <p:pic>
        <p:nvPicPr>
          <p:cNvPr id="123906" name="Picture 2" descr="D:\DCIM\Camera\129126553724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81" y="3457805"/>
            <a:ext cx="4398032" cy="330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43163"/>
              </p:ext>
            </p:extLst>
          </p:nvPr>
        </p:nvGraphicFramePr>
        <p:xfrm>
          <a:off x="2300154" y="3440221"/>
          <a:ext cx="4386264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566"/>
                <a:gridCol w="1096566"/>
                <a:gridCol w="1096566"/>
                <a:gridCol w="1096566"/>
              </a:tblGrid>
              <a:tr h="331470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FF">
                        <a:alpha val="3098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15"/>
              </p:ext>
            </p:extLst>
          </p:nvPr>
        </p:nvGraphicFramePr>
        <p:xfrm>
          <a:off x="2304756" y="3447095"/>
          <a:ext cx="4381648" cy="3293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412"/>
                <a:gridCol w="1095412"/>
                <a:gridCol w="1095412"/>
                <a:gridCol w="1095412"/>
              </a:tblGrid>
              <a:tr h="329352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7" y="1114428"/>
            <a:ext cx="7991893" cy="138311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Calculate a </a:t>
            </a:r>
            <a:r>
              <a:rPr lang="en-GB" altLang="ja-JP" dirty="0" err="1" smtClean="0">
                <a:solidFill>
                  <a:srgbClr val="000000"/>
                </a:solidFill>
                <a:latin typeface="ＭＳ Ｐゴシック" charset="-128"/>
              </a:rPr>
              <a:t>center</a:t>
            </a:r>
            <a:r>
              <a:rPr lang="ja-JP" altLang="en-US" dirty="0" smtClean="0">
                <a:solidFill>
                  <a:srgbClr val="000000"/>
                </a:solidFill>
                <a:latin typeface="ＭＳ Ｐゴシック" charset="-128"/>
              </a:rPr>
              <a:t> </a:t>
            </a:r>
            <a:r>
              <a:rPr lang="en-US" altLang="ja-JP" dirty="0" smtClean="0">
                <a:solidFill>
                  <a:srgbClr val="000000"/>
                </a:solidFill>
                <a:latin typeface="ＭＳ Ｐゴシック" charset="-128"/>
              </a:rPr>
              <a:t>position</a:t>
            </a: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 of face.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>
                <a:solidFill>
                  <a:srgbClr val="000000"/>
                </a:solidFill>
                <a:latin typeface="ＭＳ Ｐゴシック" charset="-128"/>
              </a:rPr>
              <a:t>Calculate a position of the face from 4-sections separation KINECT’s image.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</p:txBody>
      </p:sp>
      <p:grpSp>
        <p:nvGrpSpPr>
          <p:cNvPr id="5" name="グループ化 4"/>
          <p:cNvGrpSpPr/>
          <p:nvPr/>
        </p:nvGrpSpPr>
        <p:grpSpPr>
          <a:xfrm>
            <a:off x="2314581" y="2538485"/>
            <a:ext cx="4398033" cy="810246"/>
            <a:chOff x="2314581" y="2538485"/>
            <a:chExt cx="4398033" cy="810246"/>
          </a:xfrm>
        </p:grpSpPr>
        <p:sp>
          <p:nvSpPr>
            <p:cNvPr id="9" name="右中かっこ 8"/>
            <p:cNvSpPr/>
            <p:nvPr/>
          </p:nvSpPr>
          <p:spPr>
            <a:xfrm rot="16200000">
              <a:off x="4268129" y="904246"/>
              <a:ext cx="490937" cy="4398033"/>
            </a:xfrm>
            <a:prstGeom prst="rightBrace">
              <a:avLst>
                <a:gd name="adj1" fmla="val 281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4099246" y="2538485"/>
              <a:ext cx="8287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/>
                <a:t>640px</a:t>
              </a:r>
              <a:endParaRPr kumimoji="1" lang="ja-JP" altLang="en-US" sz="1600" dirty="0"/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4513597" y="2759531"/>
            <a:ext cx="1175709" cy="694914"/>
            <a:chOff x="4513597" y="2759531"/>
            <a:chExt cx="1175709" cy="694914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4842139" y="2759531"/>
              <a:ext cx="8389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/>
                <a:t>160px</a:t>
              </a:r>
              <a:endParaRPr kumimoji="1" lang="ja-JP" altLang="en-US" sz="1600" dirty="0"/>
            </a:p>
          </p:txBody>
        </p:sp>
        <p:sp>
          <p:nvSpPr>
            <p:cNvPr id="11" name="右中かっこ 10"/>
            <p:cNvSpPr/>
            <p:nvPr/>
          </p:nvSpPr>
          <p:spPr>
            <a:xfrm rot="16200000">
              <a:off x="4902518" y="2667656"/>
              <a:ext cx="397868" cy="1175709"/>
            </a:xfrm>
            <a:prstGeom prst="rightBrace">
              <a:avLst>
                <a:gd name="adj1" fmla="val 2815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0724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Calculate the course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2113099"/>
            <a:ext cx="7560840" cy="34778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f</a:t>
            </a:r>
            <a:r>
              <a:rPr lang="en-US" altLang="ja-JP" sz="2000" dirty="0" smtClean="0"/>
              <a:t>aces[0].</a:t>
            </a:r>
            <a:r>
              <a:rPr lang="en-US" altLang="ja-JP" sz="2000" dirty="0" err="1" smtClean="0"/>
              <a:t>getMidPoint</a:t>
            </a:r>
            <a:r>
              <a:rPr lang="en-US" altLang="ja-JP" sz="2000" dirty="0" smtClean="0"/>
              <a:t>(</a:t>
            </a:r>
            <a:r>
              <a:rPr lang="en-US" altLang="ja-JP" sz="2000" dirty="0" err="1" smtClean="0"/>
              <a:t>midPoint</a:t>
            </a:r>
            <a:r>
              <a:rPr lang="en-US" altLang="ja-JP" sz="2000" dirty="0" smtClean="0"/>
              <a:t>);           //get center position of face</a:t>
            </a:r>
            <a:endParaRPr lang="en-US" altLang="ja-JP" sz="2000" dirty="0"/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/>
              <a:t>pointX</a:t>
            </a:r>
            <a:r>
              <a:rPr lang="en-US" altLang="ja-JP" sz="2000" dirty="0"/>
              <a:t> = (</a:t>
            </a:r>
            <a:r>
              <a:rPr lang="en-US" altLang="ja-JP" sz="2000" dirty="0" err="1"/>
              <a:t>int</a:t>
            </a:r>
            <a:r>
              <a:rPr lang="en-US" altLang="ja-JP" sz="2000" dirty="0"/>
              <a:t>)</a:t>
            </a:r>
            <a:r>
              <a:rPr lang="en-US" altLang="ja-JP" sz="2000" dirty="0" err="1"/>
              <a:t>midPoint.x</a:t>
            </a:r>
            <a:r>
              <a:rPr lang="en-US" altLang="ja-JP" sz="2000" dirty="0"/>
              <a:t>;</a:t>
            </a:r>
          </a:p>
          <a:p>
            <a:endParaRPr lang="en-US" altLang="ja-JP" sz="2000" dirty="0" smtClean="0"/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if (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&gt; 0 &amp;&amp; 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&lt; w/4)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</a:t>
            </a:r>
            <a:r>
              <a:rPr lang="en-US" altLang="ja-JP" sz="2000" dirty="0" err="1" smtClean="0"/>
              <a:t>turnRight</a:t>
            </a:r>
            <a:r>
              <a:rPr lang="en-US" altLang="ja-JP" sz="2000" dirty="0" smtClean="0"/>
              <a:t>();                 // right position</a:t>
            </a:r>
          </a:p>
          <a:p>
            <a:r>
              <a:rPr lang="en-US" altLang="ja-JP" sz="2000" dirty="0" smtClean="0"/>
              <a:t>} else if (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&gt;= w/4 &amp;&amp; 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&lt;= 3*w/4) {</a:t>
            </a:r>
          </a:p>
          <a:p>
            <a:r>
              <a:rPr lang="en-US" altLang="ja-JP" sz="2000" dirty="0" smtClean="0"/>
              <a:t>    ;                                                                         // center position</a:t>
            </a:r>
          </a:p>
          <a:p>
            <a:r>
              <a:rPr lang="en-US" altLang="ja-JP" sz="2000" dirty="0" smtClean="0"/>
              <a:t>} else if (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&gt; 3*w/4 &amp;&amp; 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 &lt;= w)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</a:t>
            </a:r>
            <a:r>
              <a:rPr lang="en-US" altLang="ja-JP" sz="2000" dirty="0" err="1" smtClean="0"/>
              <a:t>turnLeft</a:t>
            </a:r>
            <a:r>
              <a:rPr lang="en-US" altLang="ja-JP" sz="2000" dirty="0" smtClean="0"/>
              <a:t>();                    // left position</a:t>
            </a:r>
          </a:p>
          <a:p>
            <a:r>
              <a:rPr lang="en-US" altLang="ja-JP" sz="2000" dirty="0" smtClean="0"/>
              <a:t>}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06704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3 Points for Developing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34963" indent="-334963">
              <a:spcBef>
                <a:spcPts val="563"/>
              </a:spcBef>
              <a:buSzPct val="111000"/>
              <a:buNone/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334963">
              <a:spcBef>
                <a:spcPts val="563"/>
              </a:spcBef>
              <a:buSzPct val="111000"/>
              <a:buBlip>
                <a:blip r:embed="rId3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GB" altLang="ja-JP" dirty="0" smtClean="0">
                <a:solidFill>
                  <a:srgbClr val="000000"/>
                </a:solidFill>
                <a:latin typeface="ＭＳ Ｐゴシック" charset="-128"/>
              </a:rPr>
              <a:t>Detect the Face</a:t>
            </a: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dirty="0" smtClean="0"/>
              <a:t>Calculate the course</a:t>
            </a: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endParaRPr lang="en-GB" altLang="ja-JP" dirty="0" smtClean="0">
              <a:solidFill>
                <a:srgbClr val="000000"/>
              </a:solidFill>
              <a:latin typeface="ＭＳ Ｐゴシック" charset="-128"/>
            </a:endParaRPr>
          </a:p>
          <a:p>
            <a:pPr marL="334963" indent="-277813">
              <a:spcBef>
                <a:spcPts val="488"/>
              </a:spcBef>
              <a:buSzPct val="111000"/>
              <a:buBlip>
                <a:blip r:embed="rId4"/>
              </a:buBlip>
              <a:tabLst>
                <a:tab pos="334963" algn="l"/>
                <a:tab pos="782638" algn="l"/>
                <a:tab pos="1231900" algn="l"/>
                <a:tab pos="1681163" algn="l"/>
                <a:tab pos="2130425" algn="l"/>
                <a:tab pos="2579688" algn="l"/>
                <a:tab pos="3028950" algn="l"/>
                <a:tab pos="3478213" algn="l"/>
                <a:tab pos="3927475" algn="l"/>
                <a:tab pos="4376738" algn="l"/>
                <a:tab pos="4826000" algn="l"/>
                <a:tab pos="5275263" algn="l"/>
                <a:tab pos="5724525" algn="l"/>
                <a:tab pos="6173788" algn="l"/>
                <a:tab pos="6623050" algn="l"/>
                <a:tab pos="7072313" algn="l"/>
                <a:tab pos="7521575" algn="l"/>
                <a:tab pos="7970838" algn="l"/>
                <a:tab pos="8420100" algn="l"/>
                <a:tab pos="8869363" algn="l"/>
                <a:tab pos="9318625" algn="l"/>
              </a:tabLst>
            </a:pPr>
            <a:r>
              <a:rPr lang="en-US" altLang="ja-JP" sz="3200" dirty="0" smtClean="0">
                <a:solidFill>
                  <a:srgbClr val="FF0000"/>
                </a:solidFill>
              </a:rPr>
              <a:t>Calculate the distance</a:t>
            </a:r>
            <a:endParaRPr lang="en-GB" altLang="ja-JP" sz="3200" dirty="0" smtClean="0">
              <a:solidFill>
                <a:srgbClr val="FF0000"/>
              </a:solidFill>
              <a:latin typeface="ＭＳ Ｐゴシック" charset="-128"/>
            </a:endParaRPr>
          </a:p>
        </p:txBody>
      </p:sp>
      <p:grpSp>
        <p:nvGrpSpPr>
          <p:cNvPr id="11" name="グループ化 10"/>
          <p:cNvGrpSpPr/>
          <p:nvPr/>
        </p:nvGrpSpPr>
        <p:grpSpPr>
          <a:xfrm>
            <a:off x="5143109" y="1357313"/>
            <a:ext cx="4143375" cy="5500687"/>
            <a:chOff x="5129213" y="1462088"/>
            <a:chExt cx="3414713" cy="456723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129213" y="1462088"/>
              <a:ext cx="3414713" cy="3953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" name="直線矢印コネクタ 7"/>
            <p:cNvCxnSpPr/>
            <p:nvPr/>
          </p:nvCxnSpPr>
          <p:spPr>
            <a:xfrm rot="16200000" flipV="1">
              <a:off x="5443540" y="2328865"/>
              <a:ext cx="2671763" cy="204311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6"/>
            <p:cNvSpPr txBox="1"/>
            <p:nvPr/>
          </p:nvSpPr>
          <p:spPr>
            <a:xfrm>
              <a:off x="6729412" y="3043239"/>
              <a:ext cx="1128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1. detect</a:t>
              </a:r>
              <a:endParaRPr kumimoji="1" lang="ja-JP" altLang="en-US" sz="1800" dirty="0"/>
            </a:p>
          </p:txBody>
        </p:sp>
        <p:sp>
          <p:nvSpPr>
            <p:cNvPr id="21" name="円弧 20"/>
            <p:cNvSpPr/>
            <p:nvPr/>
          </p:nvSpPr>
          <p:spPr>
            <a:xfrm rot="20241683">
              <a:off x="5772150" y="4457699"/>
              <a:ext cx="1871662" cy="1571625"/>
            </a:xfrm>
            <a:prstGeom prst="arc">
              <a:avLst>
                <a:gd name="adj1" fmla="val 16823623"/>
                <a:gd name="adj2" fmla="val 0"/>
              </a:avLst>
            </a:prstGeom>
            <a:ln w="57150">
              <a:head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6272212" y="4681538"/>
              <a:ext cx="1281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2. course</a:t>
              </a:r>
              <a:endParaRPr kumimoji="1" lang="ja-JP" altLang="en-US" sz="1800" dirty="0"/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196137" y="3609977"/>
              <a:ext cx="1304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800" dirty="0" smtClean="0"/>
                <a:t>3. distance</a:t>
              </a:r>
              <a:endParaRPr kumimoji="1" lang="ja-JP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965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Calculate the </a:t>
            </a:r>
            <a:r>
              <a:rPr lang="en-US" altLang="ja-JP" dirty="0" smtClean="0"/>
              <a:t>distance</a:t>
            </a:r>
            <a:endParaRPr kumimoji="1" lang="ja-JP" altLang="en-US" dirty="0"/>
          </a:p>
        </p:txBody>
      </p:sp>
      <p:grpSp>
        <p:nvGrpSpPr>
          <p:cNvPr id="23" name="グループ化 22"/>
          <p:cNvGrpSpPr/>
          <p:nvPr/>
        </p:nvGrpSpPr>
        <p:grpSpPr>
          <a:xfrm>
            <a:off x="1027748" y="3678556"/>
            <a:ext cx="1410652" cy="1838324"/>
            <a:chOff x="2495550" y="4205288"/>
            <a:chExt cx="1241698" cy="159543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495550" y="4205288"/>
              <a:ext cx="1241698" cy="1595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" name="円/楕円 21"/>
            <p:cNvSpPr/>
            <p:nvPr/>
          </p:nvSpPr>
          <p:spPr>
            <a:xfrm>
              <a:off x="3019425" y="4905375"/>
              <a:ext cx="209550" cy="209550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44895" y="5253038"/>
            <a:ext cx="2027105" cy="1013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6" name="直線矢印コネクタ 25"/>
          <p:cNvCxnSpPr/>
          <p:nvPr/>
        </p:nvCxnSpPr>
        <p:spPr>
          <a:xfrm rot="10800000">
            <a:off x="1860968" y="4605948"/>
            <a:ext cx="1583272" cy="89569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movie2.wmv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6" cstate="print"/>
          <a:stretch>
            <a:fillRect/>
          </a:stretch>
        </p:blipFill>
        <p:spPr>
          <a:xfrm>
            <a:off x="4612640" y="3215640"/>
            <a:ext cx="4531360" cy="3398520"/>
          </a:xfrm>
          <a:prstGeom prst="rect">
            <a:avLst/>
          </a:prstGeom>
        </p:spPr>
      </p:pic>
      <p:sp>
        <p:nvSpPr>
          <p:cNvPr id="4" name="コンテンツ プレースホルダー 3"/>
          <p:cNvSpPr>
            <a:spLocks noGrp="1"/>
          </p:cNvSpPr>
          <p:nvPr>
            <p:ph idx="1"/>
          </p:nvPr>
        </p:nvSpPr>
        <p:spPr>
          <a:xfrm>
            <a:off x="867294" y="1286510"/>
            <a:ext cx="8160328" cy="5327650"/>
          </a:xfrm>
        </p:spPr>
        <p:txBody>
          <a:bodyPr/>
          <a:lstStyle/>
          <a:p>
            <a:r>
              <a:rPr kumimoji="1" lang="en-US" altLang="ja-JP" sz="3200" dirty="0" smtClean="0"/>
              <a:t>Distance of from Robot to detected human</a:t>
            </a:r>
          </a:p>
          <a:p>
            <a:pPr marL="0" indent="0">
              <a:buNone/>
            </a:pPr>
            <a:r>
              <a:rPr lang="en-US" altLang="ja-JP" sz="3200" dirty="0"/>
              <a:t> </a:t>
            </a:r>
            <a:r>
              <a:rPr lang="en-US" altLang="ja-JP" sz="3200" dirty="0" smtClean="0"/>
              <a:t>  </a:t>
            </a:r>
            <a:r>
              <a:rPr lang="en-US" altLang="ja-JP" sz="3200" dirty="0"/>
              <a:t>C</a:t>
            </a:r>
            <a:r>
              <a:rPr kumimoji="1" lang="en-US" altLang="ja-JP" sz="3200" dirty="0" smtClean="0"/>
              <a:t>an be gotten by KINECT.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1421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7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Calculate the distance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9450" y="4844954"/>
            <a:ext cx="7772400" cy="1280687"/>
          </a:xfrm>
        </p:spPr>
        <p:txBody>
          <a:bodyPr/>
          <a:lstStyle/>
          <a:p>
            <a:pPr algn="r"/>
            <a:r>
              <a:rPr lang="en-US" altLang="ja-JP" dirty="0" smtClean="0"/>
              <a:t>Depth camera’s range is 0~65565.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64906" y="2377623"/>
            <a:ext cx="8496944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= </a:t>
            </a:r>
            <a:r>
              <a:rPr lang="en-US" altLang="ja-JP" sz="2000" dirty="0" err="1" smtClean="0"/>
              <a:t>OFAndroid.getDistance</a:t>
            </a:r>
            <a:r>
              <a:rPr lang="en-US" altLang="ja-JP" sz="2000" dirty="0" smtClean="0"/>
              <a:t>(</a:t>
            </a:r>
            <a:r>
              <a:rPr lang="en-US" altLang="ja-JP" sz="2000" dirty="0" err="1" smtClean="0"/>
              <a:t>pointX</a:t>
            </a:r>
            <a:r>
              <a:rPr lang="en-US" altLang="ja-JP" sz="2000" dirty="0" smtClean="0"/>
              <a:t>, </a:t>
            </a:r>
            <a:r>
              <a:rPr lang="en-US" altLang="ja-JP" sz="2000" dirty="0" err="1" smtClean="0"/>
              <a:t>pointY</a:t>
            </a:r>
            <a:r>
              <a:rPr lang="en-US" altLang="ja-JP" sz="2000" dirty="0" smtClean="0"/>
              <a:t>);       // Use depth camera</a:t>
            </a:r>
          </a:p>
          <a:p>
            <a:endParaRPr lang="en-US" altLang="ja-JP" sz="2000" dirty="0" smtClean="0"/>
          </a:p>
          <a:p>
            <a:r>
              <a:rPr lang="en-US" altLang="ja-JP" sz="2000" dirty="0" smtClean="0"/>
              <a:t>if (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&lt; 100)                    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().walkBack4();</a:t>
            </a:r>
          </a:p>
          <a:p>
            <a:r>
              <a:rPr lang="en-US" altLang="ja-JP" sz="2000" dirty="0" smtClean="0"/>
              <a:t>else if (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&gt;= 100 &amp;&amp; 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&lt; 150)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().walkToward4();</a:t>
            </a:r>
          </a:p>
          <a:p>
            <a:r>
              <a:rPr lang="en-US" altLang="ja-JP" sz="2000" dirty="0" smtClean="0"/>
              <a:t>else if (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&gt;= 150 &amp;&amp; 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&lt; 200)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().walkToward8();</a:t>
            </a:r>
          </a:p>
          <a:p>
            <a:r>
              <a:rPr lang="en-US" altLang="ja-JP" sz="2000" dirty="0" smtClean="0"/>
              <a:t>else if (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&gt;= 200 &amp;&amp; 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&lt; 300)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().walkToward16();</a:t>
            </a:r>
          </a:p>
          <a:p>
            <a:r>
              <a:rPr lang="en-US" altLang="ja-JP" sz="2000" dirty="0" smtClean="0"/>
              <a:t>else if (</a:t>
            </a:r>
            <a:r>
              <a:rPr lang="en-US" altLang="ja-JP" sz="2000" dirty="0" err="1" smtClean="0"/>
              <a:t>dist</a:t>
            </a:r>
            <a:r>
              <a:rPr lang="en-US" altLang="ja-JP" sz="2000" dirty="0" smtClean="0"/>
              <a:t> &gt;= 300)               </a:t>
            </a:r>
            <a:r>
              <a:rPr lang="en-US" altLang="ja-JP" sz="2000" dirty="0" err="1" smtClean="0"/>
              <a:t>DroidBot.getInstance</a:t>
            </a:r>
            <a:r>
              <a:rPr lang="en-US" altLang="ja-JP" sz="2000" dirty="0" smtClean="0"/>
              <a:t>().walkToward32();</a:t>
            </a:r>
          </a:p>
        </p:txBody>
      </p:sp>
    </p:spTree>
    <p:extLst>
      <p:ext uri="{BB962C8B-B14F-4D97-AF65-F5344CB8AC3E}">
        <p14:creationId xmlns:p14="http://schemas.microsoft.com/office/powerpoint/2010/main" val="265435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79A9C6A-65CC-4899-81C6-8425C8FEAB2E}" type="slidenum">
              <a:rPr lang="en-US" altLang="ja-JP"/>
              <a:pPr/>
              <a:t>30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399" y="1352550"/>
            <a:ext cx="8610601" cy="1143000"/>
          </a:xfrm>
        </p:spPr>
        <p:txBody>
          <a:bodyPr/>
          <a:lstStyle/>
          <a:p>
            <a:r>
              <a:rPr lang="en-US" altLang="ja-JP" sz="6600" dirty="0" smtClean="0"/>
              <a:t>Treasure Hunting Robot</a:t>
            </a:r>
            <a:endParaRPr lang="ja-JP" altLang="ja-JP" sz="6600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611560" y="5373216"/>
            <a:ext cx="4105275" cy="1320552"/>
          </a:xfrm>
        </p:spPr>
        <p:txBody>
          <a:bodyPr/>
          <a:lstStyle/>
          <a:p>
            <a:r>
              <a:rPr lang="en-US" altLang="ja-JP" sz="3200" dirty="0" err="1" smtClean="0"/>
              <a:t>Noritsuna</a:t>
            </a:r>
            <a:r>
              <a:rPr lang="en-US" altLang="ja-JP" sz="3200" dirty="0" smtClean="0"/>
              <a:t> Imamura</a:t>
            </a:r>
            <a:endParaRPr lang="ja-JP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4427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327798"/>
          </a:xfrm>
        </p:spPr>
        <p:txBody>
          <a:bodyPr/>
          <a:lstStyle/>
          <a:p>
            <a:r>
              <a:rPr lang="en-US" altLang="ja-JP" dirty="0"/>
              <a:t>This is an 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en-US" altLang="ja-JP" dirty="0" smtClean="0"/>
              <a:t>"</a:t>
            </a:r>
            <a:r>
              <a:rPr lang="en-US" altLang="ja-JP" dirty="0"/>
              <a:t>AR(augmented reality) Treasure Hunting </a:t>
            </a:r>
            <a:r>
              <a:rPr lang="en-US" altLang="ja-JP" dirty="0" smtClean="0"/>
              <a:t>Game“</a:t>
            </a:r>
            <a:endParaRPr lang="en-US" altLang="ja-JP" dirty="0"/>
          </a:p>
          <a:p>
            <a:pPr lvl="1"/>
            <a:r>
              <a:rPr lang="en-US" altLang="ja-JP" dirty="0" smtClean="0"/>
              <a:t> You get virtual treasures by controlling real robot!</a:t>
            </a:r>
            <a:endParaRPr lang="en-US" altLang="ja-JP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16" r="22681"/>
          <a:stretch/>
        </p:blipFill>
        <p:spPr>
          <a:xfrm>
            <a:off x="5004048" y="2933193"/>
            <a:ext cx="3015343" cy="3800628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09" r="17070"/>
          <a:stretch/>
        </p:blipFill>
        <p:spPr>
          <a:xfrm>
            <a:off x="1187624" y="2924944"/>
            <a:ext cx="3287486" cy="378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Manual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5732462"/>
          </a:xfrm>
        </p:spPr>
        <p:txBody>
          <a:bodyPr/>
          <a:lstStyle/>
          <a:p>
            <a:r>
              <a:rPr lang="en-US" altLang="ja-JP" dirty="0" smtClean="0"/>
              <a:t>Look at </a:t>
            </a:r>
            <a:r>
              <a:rPr lang="en-US" altLang="ja-JP" dirty="0"/>
              <a:t>r</a:t>
            </a:r>
            <a:r>
              <a:rPr lang="en-US" altLang="ja-JP" dirty="0" smtClean="0"/>
              <a:t>adar window like dragon radar.</a:t>
            </a:r>
          </a:p>
          <a:p>
            <a:pPr lvl="1"/>
            <a:r>
              <a:rPr lang="en-US" altLang="ja-JP" dirty="0"/>
              <a:t>Show the treasure on radar as red star.</a:t>
            </a:r>
            <a:endParaRPr lang="en-US" altLang="ja-JP" dirty="0" smtClean="0"/>
          </a:p>
          <a:p>
            <a:pPr lvl="1"/>
            <a:r>
              <a:rPr lang="en-US" altLang="ja-JP" dirty="0"/>
              <a:t>C</a:t>
            </a:r>
            <a:r>
              <a:rPr lang="en-US" altLang="ja-JP" dirty="0" smtClean="0"/>
              <a:t>enter </a:t>
            </a:r>
            <a:r>
              <a:rPr lang="en-US" altLang="ja-JP" dirty="0"/>
              <a:t>is a place in which a robot is present</a:t>
            </a:r>
            <a:r>
              <a:rPr lang="en-US" altLang="ja-JP" dirty="0" smtClean="0"/>
              <a:t>.</a:t>
            </a:r>
          </a:p>
          <a:p>
            <a:pPr lvl="2"/>
            <a:r>
              <a:rPr lang="en-US" altLang="ja-JP" dirty="0"/>
              <a:t>The Blue arrow is direction of </a:t>
            </a:r>
            <a:r>
              <a:rPr lang="en-US" altLang="ja-JP" dirty="0" smtClean="0"/>
              <a:t>robot..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Look </a:t>
            </a:r>
            <a:r>
              <a:rPr lang="en-US" altLang="ja-JP" dirty="0"/>
              <a:t>at line graph. This is brain wave line graph.</a:t>
            </a:r>
            <a:endParaRPr lang="en-US" altLang="ja-JP" dirty="0" smtClean="0"/>
          </a:p>
          <a:p>
            <a:pPr lvl="1"/>
            <a:r>
              <a:rPr lang="en-US" altLang="ja-JP" dirty="0"/>
              <a:t>You control the robot to the treasure point by your brain wave</a:t>
            </a:r>
            <a:r>
              <a:rPr lang="en-US" altLang="ja-JP" dirty="0" smtClean="0"/>
              <a:t>.</a:t>
            </a:r>
            <a:endParaRPr lang="en-US" altLang="ja-JP" dirty="0"/>
          </a:p>
          <a:p>
            <a:pPr lvl="2"/>
            <a:r>
              <a:rPr lang="en-US" altLang="ja-JP" dirty="0" smtClean="0"/>
              <a:t>Exciting </a:t>
            </a:r>
            <a:r>
              <a:rPr lang="en-US" altLang="ja-JP" dirty="0"/>
              <a:t>-&gt; Turn left</a:t>
            </a:r>
          </a:p>
          <a:p>
            <a:pPr lvl="2"/>
            <a:r>
              <a:rPr lang="en-US" altLang="ja-JP" dirty="0"/>
              <a:t>Normal -&gt; Go toward</a:t>
            </a:r>
          </a:p>
          <a:p>
            <a:pPr lvl="2"/>
            <a:r>
              <a:rPr lang="en-US" altLang="ja-JP" dirty="0"/>
              <a:t>Relax -&gt; Turn right</a:t>
            </a:r>
          </a:p>
          <a:p>
            <a:pPr lvl="2"/>
            <a:endParaRPr lang="en-US" altLang="ja-JP" dirty="0" smtClean="0"/>
          </a:p>
        </p:txBody>
      </p:sp>
      <p:pic>
        <p:nvPicPr>
          <p:cNvPr id="5" name="コンテンツ プレースホルダ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47243" r="31554" b="27262"/>
          <a:stretch/>
        </p:blipFill>
        <p:spPr bwMode="auto">
          <a:xfrm>
            <a:off x="5540499" y="4492931"/>
            <a:ext cx="1815946" cy="2078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502" y="78415"/>
            <a:ext cx="1907851" cy="191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1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Hardwares</a:t>
            </a:r>
            <a:r>
              <a:rPr lang="en-US" altLang="ja-JP" dirty="0" smtClean="0"/>
              <a:t> &amp; </a:t>
            </a:r>
            <a:r>
              <a:rPr lang="en-US" altLang="ja-JP" dirty="0" err="1" smtClean="0"/>
              <a:t>Softwares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838200" y="908720"/>
            <a:ext cx="3810000" cy="5544468"/>
          </a:xfrm>
        </p:spPr>
        <p:txBody>
          <a:bodyPr/>
          <a:lstStyle/>
          <a:p>
            <a:r>
              <a:rPr kumimoji="1" lang="en-US" altLang="ja-JP" dirty="0" err="1" smtClean="0"/>
              <a:t>Hardwares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Base computer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Pandaboard</a:t>
            </a:r>
            <a:endParaRPr lang="en-US" altLang="ja-JP" dirty="0" smtClean="0"/>
          </a:p>
          <a:p>
            <a:pPr lvl="3"/>
            <a:r>
              <a:rPr lang="en-US" altLang="ja-JP" dirty="0" smtClean="0"/>
              <a:t>TI</a:t>
            </a:r>
          </a:p>
          <a:p>
            <a:pPr lvl="1"/>
            <a:r>
              <a:rPr lang="en-US" altLang="ja-JP" dirty="0" smtClean="0"/>
              <a:t>Brain Wave Sensor</a:t>
            </a:r>
          </a:p>
          <a:p>
            <a:pPr lvl="2"/>
            <a:r>
              <a:rPr kumimoji="1" lang="en-US" altLang="ja-JP" dirty="0" err="1" smtClean="0"/>
              <a:t>MindWave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err="1" smtClean="0"/>
              <a:t>Xtion</a:t>
            </a:r>
            <a:r>
              <a:rPr lang="en-US" altLang="ja-JP" dirty="0" smtClean="0"/>
              <a:t> pro live</a:t>
            </a:r>
          </a:p>
          <a:p>
            <a:pPr lvl="1"/>
            <a:r>
              <a:rPr kumimoji="1" lang="en-US" altLang="ja-JP" dirty="0" smtClean="0"/>
              <a:t>Display</a:t>
            </a:r>
          </a:p>
          <a:p>
            <a:pPr lvl="2"/>
            <a:r>
              <a:rPr lang="en-US" altLang="ja-JP" dirty="0" err="1" smtClean="0"/>
              <a:t>AiRscoter</a:t>
            </a:r>
            <a:endParaRPr lang="en-US" altLang="ja-JP" dirty="0" smtClean="0"/>
          </a:p>
          <a:p>
            <a:pPr lvl="3"/>
            <a:r>
              <a:rPr lang="en-US" altLang="ja-JP" dirty="0"/>
              <a:t>Brother Industries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Walking Robot</a:t>
            </a:r>
          </a:p>
          <a:p>
            <a:pPr lvl="2"/>
            <a:r>
              <a:rPr lang="en-US" altLang="ja-JP" dirty="0" smtClean="0"/>
              <a:t>KHR-3WL</a:t>
            </a:r>
          </a:p>
          <a:p>
            <a:pPr lvl="3"/>
            <a:r>
              <a:rPr kumimoji="1" lang="en-US" altLang="ja-JP" dirty="0" smtClean="0"/>
              <a:t>Kondo science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half" idx="2"/>
          </p:nvPr>
        </p:nvSpPr>
        <p:spPr>
          <a:xfrm>
            <a:off x="4800600" y="908720"/>
            <a:ext cx="4019872" cy="5544468"/>
          </a:xfrm>
        </p:spPr>
        <p:txBody>
          <a:bodyPr/>
          <a:lstStyle/>
          <a:p>
            <a:r>
              <a:rPr kumimoji="1" lang="en-US" altLang="ja-JP" dirty="0" err="1" smtClean="0"/>
              <a:t>Softwares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Ubuntu &amp; Android</a:t>
            </a:r>
          </a:p>
          <a:p>
            <a:pPr lvl="2"/>
            <a:r>
              <a:rPr kumimoji="1" lang="en-US" altLang="ja-JP" dirty="0" smtClean="0"/>
              <a:t>Linaro11.11</a:t>
            </a:r>
          </a:p>
          <a:p>
            <a:pPr lvl="3"/>
            <a:r>
              <a:rPr lang="en-US" altLang="ja-JP" dirty="0" err="1" smtClean="0"/>
              <a:t>Linaro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Depth Sensor</a:t>
            </a:r>
          </a:p>
          <a:p>
            <a:pPr lvl="2"/>
            <a:r>
              <a:rPr lang="en-US" altLang="ja-JP" dirty="0" err="1" smtClean="0"/>
              <a:t>OpenNI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Bone skeleton tracker</a:t>
            </a:r>
            <a:endParaRPr lang="en-US" altLang="ja-JP" dirty="0"/>
          </a:p>
          <a:p>
            <a:pPr lvl="2"/>
            <a:r>
              <a:rPr kumimoji="1" lang="en-US" altLang="ja-JP" dirty="0" smtClean="0"/>
              <a:t>NITE for ARM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UI Framework</a:t>
            </a:r>
          </a:p>
          <a:p>
            <a:pPr lvl="2"/>
            <a:r>
              <a:rPr lang="en-US" altLang="ja-JP" dirty="0" err="1" smtClean="0"/>
              <a:t>openFrameworks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Android</a:t>
            </a:r>
          </a:p>
          <a:p>
            <a:pPr lvl="3"/>
            <a:r>
              <a:rPr lang="en-US" altLang="ja-JP" dirty="0" smtClean="0"/>
              <a:t>OESF</a:t>
            </a:r>
          </a:p>
          <a:p>
            <a:pPr lvl="1"/>
            <a:endParaRPr kumimoji="1" lang="en-US" altLang="ja-JP" dirty="0" smtClean="0"/>
          </a:p>
          <a:p>
            <a:pPr lvl="1"/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48197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Hardwares</a:t>
            </a:r>
            <a:r>
              <a:rPr kumimoji="1" lang="en-US" altLang="ja-JP" dirty="0" smtClean="0"/>
              <a:t>’ photo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7" t="5324" r="24677" b="16010"/>
          <a:stretch/>
        </p:blipFill>
        <p:spPr>
          <a:xfrm>
            <a:off x="5247911" y="1556792"/>
            <a:ext cx="3862418" cy="3902969"/>
          </a:xfr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80728"/>
            <a:ext cx="4250424" cy="5667232"/>
          </a:xfrm>
          <a:prstGeom prst="rect">
            <a:avLst/>
          </a:prstGeom>
        </p:spPr>
      </p:pic>
      <p:sp>
        <p:nvSpPr>
          <p:cNvPr id="9" name="円形吹き出し 8"/>
          <p:cNvSpPr/>
          <p:nvPr/>
        </p:nvSpPr>
        <p:spPr>
          <a:xfrm>
            <a:off x="3779912" y="3356992"/>
            <a:ext cx="2304256" cy="1342848"/>
          </a:xfrm>
          <a:prstGeom prst="wedgeEllipseCallout">
            <a:avLst>
              <a:gd name="adj1" fmla="val -75118"/>
              <a:gd name="adj2" fmla="val 75470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>
                <a:solidFill>
                  <a:schemeClr val="tx2"/>
                </a:solidFill>
              </a:rPr>
              <a:t>AiRscouter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0" name="円形吹き出し 9"/>
          <p:cNvSpPr/>
          <p:nvPr/>
        </p:nvSpPr>
        <p:spPr>
          <a:xfrm>
            <a:off x="4211960" y="548680"/>
            <a:ext cx="2304256" cy="1342848"/>
          </a:xfrm>
          <a:prstGeom prst="wedgeEllipseCallout">
            <a:avLst>
              <a:gd name="adj1" fmla="val -75118"/>
              <a:gd name="adj2" fmla="val 75470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MindWave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1" name="円形吹き出し 10"/>
          <p:cNvSpPr/>
          <p:nvPr/>
        </p:nvSpPr>
        <p:spPr>
          <a:xfrm>
            <a:off x="-324544" y="3814344"/>
            <a:ext cx="2376264" cy="1342848"/>
          </a:xfrm>
          <a:prstGeom prst="wedgeEllipseCallout">
            <a:avLst>
              <a:gd name="adj1" fmla="val 48183"/>
              <a:gd name="adj2" fmla="val 96547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Pandaboard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2" name="円形吹き出し 11"/>
          <p:cNvSpPr/>
          <p:nvPr/>
        </p:nvSpPr>
        <p:spPr>
          <a:xfrm>
            <a:off x="-162272" y="524542"/>
            <a:ext cx="2051720" cy="1054816"/>
          </a:xfrm>
          <a:prstGeom prst="wedgeEllipseCallout">
            <a:avLst>
              <a:gd name="adj1" fmla="val 28552"/>
              <a:gd name="adj2" fmla="val 91387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>
                <a:solidFill>
                  <a:schemeClr val="tx2"/>
                </a:solidFill>
              </a:rPr>
              <a:t>Xtion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2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 smtClean="0"/>
              <a:t>Softwares</a:t>
            </a:r>
            <a:r>
              <a:rPr lang="en-US" altLang="ja-JP" dirty="0" smtClean="0"/>
              <a:t>’ photo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563" y="1125538"/>
            <a:ext cx="3995737" cy="5327650"/>
          </a:xfrm>
        </p:spPr>
      </p:pic>
      <p:sp>
        <p:nvSpPr>
          <p:cNvPr id="9" name="円形吹き出し 8"/>
          <p:cNvSpPr/>
          <p:nvPr/>
        </p:nvSpPr>
        <p:spPr>
          <a:xfrm>
            <a:off x="5220072" y="1412776"/>
            <a:ext cx="2304256" cy="1342848"/>
          </a:xfrm>
          <a:prstGeom prst="wedgeEllipseCallout">
            <a:avLst>
              <a:gd name="adj1" fmla="val -47718"/>
              <a:gd name="adj2" fmla="val 133026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2"/>
                </a:solidFill>
              </a:rPr>
              <a:t>Brain Wave</a:t>
            </a:r>
          </a:p>
          <a:p>
            <a:pPr algn="ctr"/>
            <a:r>
              <a:rPr kumimoji="1" lang="en-US" altLang="ja-JP" dirty="0" smtClean="0">
                <a:solidFill>
                  <a:schemeClr val="tx2"/>
                </a:solidFill>
              </a:rPr>
              <a:t>Line Graph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10" name="円形吹き出し 9"/>
          <p:cNvSpPr/>
          <p:nvPr/>
        </p:nvSpPr>
        <p:spPr>
          <a:xfrm>
            <a:off x="683568" y="2084200"/>
            <a:ext cx="3744416" cy="1342848"/>
          </a:xfrm>
          <a:prstGeom prst="wedgeEllipseCallout">
            <a:avLst>
              <a:gd name="adj1" fmla="val 43894"/>
              <a:gd name="adj2" fmla="val 85198"/>
            </a:avLst>
          </a:prstGeom>
          <a:solidFill>
            <a:srgbClr val="FFFFCC">
              <a:alpha val="55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solidFill>
                  <a:schemeClr val="tx2"/>
                </a:solidFill>
              </a:rPr>
              <a:t>Bone skeleton</a:t>
            </a:r>
          </a:p>
          <a:p>
            <a:pPr algn="ctr"/>
            <a:r>
              <a:rPr lang="en-US" altLang="ja-JP" dirty="0" smtClean="0">
                <a:solidFill>
                  <a:schemeClr val="tx2"/>
                </a:solidFill>
              </a:rPr>
              <a:t> Tracking Window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pic>
        <p:nvPicPr>
          <p:cNvPr id="11" name="コンテンツ プレースホルダ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584" y="4716757"/>
            <a:ext cx="3096344" cy="202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二等辺三角形 11"/>
          <p:cNvSpPr/>
          <p:nvPr/>
        </p:nvSpPr>
        <p:spPr>
          <a:xfrm rot="2481489">
            <a:off x="3609819" y="4149080"/>
            <a:ext cx="792088" cy="864096"/>
          </a:xfrm>
          <a:prstGeom prst="triangle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13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3429837"/>
          </a:xfrm>
        </p:spPr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algn="ctr"/>
            <a:r>
              <a:rPr lang="en-US" altLang="ja-JP" sz="3600" dirty="0" smtClean="0"/>
              <a:t>Some Problems</a:t>
            </a:r>
            <a:r>
              <a:rPr lang="ja-JP" altLang="en-US" sz="3600" dirty="0" smtClean="0"/>
              <a:t>・・・</a:t>
            </a:r>
            <a:endParaRPr lang="en-US" altLang="ja-JP" sz="3600" dirty="0" smtClean="0"/>
          </a:p>
        </p:txBody>
      </p:sp>
      <p:sp>
        <p:nvSpPr>
          <p:cNvPr id="4" name="コンテンツ プレースホルダー 2"/>
          <p:cNvSpPr txBox="1">
            <a:spLocks/>
          </p:cNvSpPr>
          <p:nvPr/>
        </p:nvSpPr>
        <p:spPr bwMode="auto">
          <a:xfrm>
            <a:off x="4282440" y="4047324"/>
            <a:ext cx="3332018" cy="246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dirty="0"/>
              <a:t>Cool </a:t>
            </a:r>
            <a:r>
              <a:rPr lang="en-US" altLang="ja-JP" dirty="0" smtClean="0"/>
              <a:t>UI</a:t>
            </a:r>
          </a:p>
          <a:p>
            <a:r>
              <a:rPr lang="en-US" altLang="ja-JP" dirty="0" smtClean="0"/>
              <a:t>Library</a:t>
            </a:r>
            <a:endParaRPr lang="en-US" altLang="ja-JP" dirty="0"/>
          </a:p>
          <a:p>
            <a:r>
              <a:rPr lang="en-US" altLang="ja-JP" dirty="0" smtClean="0"/>
              <a:t>Mobile</a:t>
            </a:r>
          </a:p>
          <a:p>
            <a:r>
              <a:rPr lang="en-US" altLang="ja-JP" dirty="0" smtClean="0"/>
              <a:t>Connect Sensors</a:t>
            </a:r>
          </a:p>
          <a:p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91944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Made by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ofxDroidLinaro</a:t>
            </a:r>
            <a:r>
              <a:rPr kumimoji="1" lang="en-US" altLang="ja-JP" dirty="0" smtClean="0"/>
              <a:t>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1574" y="1273378"/>
            <a:ext cx="8122920" cy="1436571"/>
          </a:xfrm>
        </p:spPr>
        <p:txBody>
          <a:bodyPr/>
          <a:lstStyle/>
          <a:p>
            <a:r>
              <a:rPr lang="en-US" altLang="ja-JP" sz="3200" dirty="0" smtClean="0"/>
              <a:t>An </a:t>
            </a:r>
            <a:r>
              <a:rPr lang="en-US" altLang="ja-JP" sz="3200" dirty="0" smtClean="0">
                <a:solidFill>
                  <a:srgbClr val="FF0000"/>
                </a:solidFill>
              </a:rPr>
              <a:t>ALL in </a:t>
            </a:r>
            <a:r>
              <a:rPr lang="en-US" altLang="ja-JP" sz="3200" dirty="0">
                <a:solidFill>
                  <a:srgbClr val="FF0000"/>
                </a:solidFill>
              </a:rPr>
              <a:t>ONE</a:t>
            </a:r>
            <a:r>
              <a:rPr lang="en-US" altLang="ja-JP" sz="3200" dirty="0"/>
              <a:t> developing </a:t>
            </a:r>
            <a:r>
              <a:rPr lang="en-US" altLang="ja-JP" sz="3200" b="1" dirty="0" smtClean="0">
                <a:solidFill>
                  <a:srgbClr val="FF0000"/>
                </a:solidFill>
              </a:rPr>
              <a:t>environment.</a:t>
            </a:r>
          </a:p>
          <a:p>
            <a:pPr lvl="1"/>
            <a:r>
              <a:rPr lang="en-US" altLang="ja-JP" sz="2800" dirty="0" smtClean="0"/>
              <a:t>Made by </a:t>
            </a:r>
            <a:r>
              <a:rPr lang="en-US" altLang="ja-JP" sz="3200" dirty="0" smtClean="0">
                <a:solidFill>
                  <a:srgbClr val="FF0000"/>
                </a:solidFill>
              </a:rPr>
              <a:t>3</a:t>
            </a:r>
            <a:r>
              <a:rPr lang="en-US" altLang="ja-JP" sz="2800" dirty="0" smtClean="0"/>
              <a:t> Layers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672506" y="5353396"/>
            <a:ext cx="7989356" cy="1398181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b="1" dirty="0" smtClean="0">
                <a:solidFill>
                  <a:schemeClr val="tx1"/>
                </a:solidFill>
              </a:rPr>
              <a:t>Device : 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672506" y="4199631"/>
            <a:ext cx="7989356" cy="1153765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b="1" dirty="0" err="1" smtClean="0">
                <a:solidFill>
                  <a:schemeClr val="tx1"/>
                </a:solidFill>
              </a:rPr>
              <a:t>Library&amp;Driver</a:t>
            </a:r>
            <a:r>
              <a:rPr lang="en-US" altLang="ja-JP" sz="2800" b="1" dirty="0" smtClean="0">
                <a:solidFill>
                  <a:schemeClr val="tx1"/>
                </a:solidFill>
              </a:rPr>
              <a:t> :</a:t>
            </a:r>
            <a:endParaRPr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672506" y="2916063"/>
            <a:ext cx="7989356" cy="128356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2800" b="1" dirty="0" smtClean="0">
                <a:solidFill>
                  <a:schemeClr val="tx1"/>
                </a:solidFill>
              </a:rPr>
              <a:t>App Framework :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2334" y="4313498"/>
            <a:ext cx="1777380" cy="926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図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333" y="5487220"/>
            <a:ext cx="1447080" cy="1130531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7715" y="2949313"/>
            <a:ext cx="1201332" cy="120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78114" y="3240229"/>
            <a:ext cx="1177044" cy="619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661" y="4313498"/>
            <a:ext cx="1295950" cy="889021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07" y="5546743"/>
            <a:ext cx="2271407" cy="101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4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Made by </a:t>
            </a:r>
            <a:r>
              <a:rPr lang="en-US" altLang="ja-JP" dirty="0" err="1"/>
              <a:t>ofxDroidLinaro</a:t>
            </a:r>
            <a:r>
              <a:rPr lang="en-US" altLang="ja-JP" dirty="0"/>
              <a:t>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980728"/>
            <a:ext cx="8122920" cy="5877272"/>
          </a:xfrm>
        </p:spPr>
        <p:txBody>
          <a:bodyPr/>
          <a:lstStyle/>
          <a:p>
            <a:pPr lvl="1"/>
            <a:endParaRPr lang="en-US" altLang="ja-JP" sz="2000" dirty="0" smtClean="0"/>
          </a:p>
          <a:p>
            <a:pPr lvl="1"/>
            <a:endParaRPr lang="en-US" altLang="ja-JP" sz="2000" dirty="0"/>
          </a:p>
          <a:p>
            <a:pPr marL="457200" lvl="1" indent="0">
              <a:buNone/>
            </a:pPr>
            <a:endParaRPr lang="en-US" altLang="ja-JP" sz="2000" dirty="0"/>
          </a:p>
          <a:p>
            <a:pPr lvl="1"/>
            <a:r>
              <a:rPr lang="en-US" altLang="ja-JP" dirty="0" smtClean="0"/>
              <a:t>Make </a:t>
            </a:r>
            <a:r>
              <a:rPr lang="en-US" altLang="ja-JP" dirty="0" smtClean="0">
                <a:solidFill>
                  <a:srgbClr val="FF0000"/>
                </a:solidFill>
              </a:rPr>
              <a:t>Program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easily&amp;quickly</a:t>
            </a:r>
            <a:r>
              <a:rPr lang="en-US" altLang="ja-JP" dirty="0" smtClean="0"/>
              <a:t> by Android</a:t>
            </a:r>
          </a:p>
          <a:p>
            <a:pPr lvl="1"/>
            <a:r>
              <a:rPr lang="en-US" altLang="ja-JP" dirty="0" smtClean="0"/>
              <a:t>Make </a:t>
            </a:r>
            <a:r>
              <a:rPr lang="en-US" altLang="ja-JP" dirty="0" smtClean="0">
                <a:solidFill>
                  <a:srgbClr val="FF0000"/>
                </a:solidFill>
              </a:rPr>
              <a:t>Cool UI </a:t>
            </a:r>
            <a:r>
              <a:rPr lang="en-US" altLang="ja-JP" dirty="0" smtClean="0"/>
              <a:t>by </a:t>
            </a:r>
            <a:r>
              <a:rPr lang="en-US" altLang="ja-JP" dirty="0" err="1" smtClean="0"/>
              <a:t>openFrameworks</a:t>
            </a:r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r>
              <a:rPr lang="en-US" altLang="ja-JP" dirty="0" smtClean="0"/>
              <a:t>Use a lot of </a:t>
            </a:r>
            <a:r>
              <a:rPr lang="en-US" altLang="ja-JP" dirty="0" err="1">
                <a:solidFill>
                  <a:srgbClr val="FF0000"/>
                </a:solidFill>
              </a:rPr>
              <a:t>L</a:t>
            </a:r>
            <a:r>
              <a:rPr lang="en-US" altLang="ja-JP" dirty="0" err="1" smtClean="0">
                <a:solidFill>
                  <a:srgbClr val="FF0000"/>
                </a:solidFill>
              </a:rPr>
              <a:t>ibraries&amp;Drivers</a:t>
            </a:r>
            <a:r>
              <a:rPr lang="en-US" altLang="ja-JP" dirty="0" smtClean="0"/>
              <a:t> for Linux</a:t>
            </a:r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>
              <a:solidFill>
                <a:srgbClr val="FF0000"/>
              </a:solidFill>
            </a:endParaRPr>
          </a:p>
          <a:p>
            <a:pPr lvl="1"/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dirty="0" smtClean="0">
                <a:solidFill>
                  <a:srgbClr val="FF0000"/>
                </a:solidFill>
              </a:rPr>
              <a:t>Mobile</a:t>
            </a:r>
            <a:r>
              <a:rPr lang="en-US" altLang="ja-JP" dirty="0" smtClean="0"/>
              <a:t> &amp; Connect to </a:t>
            </a:r>
            <a:r>
              <a:rPr lang="en-US" altLang="ja-JP" dirty="0" smtClean="0">
                <a:solidFill>
                  <a:srgbClr val="FF0000"/>
                </a:solidFill>
              </a:rPr>
              <a:t>sensors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Ex,Kinect</a:t>
            </a:r>
            <a:r>
              <a:rPr lang="en-US" altLang="ja-JP" dirty="0" smtClean="0"/>
              <a:t>) by ARM</a:t>
            </a:r>
          </a:p>
        </p:txBody>
      </p:sp>
      <p:grpSp>
        <p:nvGrpSpPr>
          <p:cNvPr id="14" name="グループ化 13"/>
          <p:cNvGrpSpPr/>
          <p:nvPr/>
        </p:nvGrpSpPr>
        <p:grpSpPr>
          <a:xfrm>
            <a:off x="402184" y="1047964"/>
            <a:ext cx="7989356" cy="1038874"/>
            <a:chOff x="556131" y="2916063"/>
            <a:chExt cx="7989356" cy="1283568"/>
          </a:xfrm>
        </p:grpSpPr>
        <p:sp>
          <p:nvSpPr>
            <p:cNvPr id="7" name="正方形/長方形 6"/>
            <p:cNvSpPr/>
            <p:nvPr/>
          </p:nvSpPr>
          <p:spPr>
            <a:xfrm>
              <a:off x="556131" y="2916063"/>
              <a:ext cx="7989356" cy="128356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2800" b="1" dirty="0" smtClean="0">
                  <a:solidFill>
                    <a:schemeClr val="tx1"/>
                  </a:solidFill>
                </a:rPr>
                <a:t>App Framework :</a:t>
              </a:r>
              <a:endParaRPr kumimoji="1" lang="ja-JP" alt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07715" y="2949313"/>
              <a:ext cx="1201332" cy="1201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78114" y="3240229"/>
              <a:ext cx="1177044" cy="6194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5" name="グループ化 14"/>
          <p:cNvGrpSpPr/>
          <p:nvPr/>
        </p:nvGrpSpPr>
        <p:grpSpPr>
          <a:xfrm>
            <a:off x="405899" y="3203426"/>
            <a:ext cx="7989356" cy="1153765"/>
            <a:chOff x="672506" y="4199631"/>
            <a:chExt cx="7989356" cy="1153765"/>
          </a:xfrm>
        </p:grpSpPr>
        <p:sp>
          <p:nvSpPr>
            <p:cNvPr id="6" name="正方形/長方形 5"/>
            <p:cNvSpPr/>
            <p:nvPr/>
          </p:nvSpPr>
          <p:spPr>
            <a:xfrm>
              <a:off x="672506" y="4199631"/>
              <a:ext cx="7989356" cy="1153765"/>
            </a:xfrm>
            <a:prstGeom prst="rect">
              <a:avLst/>
            </a:prstGeom>
            <a:solidFill>
              <a:srgbClr val="FF66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2800" b="1" dirty="0" err="1" smtClean="0">
                  <a:solidFill>
                    <a:schemeClr val="tx1"/>
                  </a:solidFill>
                </a:rPr>
                <a:t>Library&amp;Driver</a:t>
              </a:r>
              <a:r>
                <a:rPr lang="en-US" altLang="ja-JP" sz="2800" b="1" dirty="0" smtClean="0">
                  <a:solidFill>
                    <a:schemeClr val="tx1"/>
                  </a:solidFill>
                </a:rPr>
                <a:t> :</a:t>
              </a:r>
              <a:endParaRPr lang="ja-JP" alt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32334" y="4313498"/>
              <a:ext cx="1777380" cy="9260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図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8661" y="4313498"/>
              <a:ext cx="1295950" cy="889021"/>
            </a:xfrm>
            <a:prstGeom prst="rect">
              <a:avLst/>
            </a:prstGeom>
          </p:spPr>
        </p:pic>
      </p:grpSp>
      <p:grpSp>
        <p:nvGrpSpPr>
          <p:cNvPr id="16" name="グループ化 15"/>
          <p:cNvGrpSpPr/>
          <p:nvPr/>
        </p:nvGrpSpPr>
        <p:grpSpPr>
          <a:xfrm>
            <a:off x="397503" y="5077356"/>
            <a:ext cx="7989356" cy="1057359"/>
            <a:chOff x="672506" y="5353396"/>
            <a:chExt cx="7989356" cy="1398181"/>
          </a:xfrm>
        </p:grpSpPr>
        <p:sp>
          <p:nvSpPr>
            <p:cNvPr id="5" name="正方形/長方形 4"/>
            <p:cNvSpPr/>
            <p:nvPr/>
          </p:nvSpPr>
          <p:spPr>
            <a:xfrm>
              <a:off x="672506" y="5353396"/>
              <a:ext cx="7989356" cy="1398181"/>
            </a:xfrm>
            <a:prstGeom prst="rect">
              <a:avLst/>
            </a:prstGeom>
            <a:solidFill>
              <a:srgbClr val="FF6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ja-JP" sz="2800" b="1" dirty="0" smtClean="0">
                  <a:solidFill>
                    <a:schemeClr val="tx1"/>
                  </a:solidFill>
                </a:rPr>
                <a:t>Device : </a:t>
              </a:r>
              <a:endParaRPr kumimoji="1" lang="ja-JP" altLang="en-US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9" name="図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333" y="5487220"/>
              <a:ext cx="1447080" cy="1130531"/>
            </a:xfrm>
            <a:prstGeom prst="rect">
              <a:avLst/>
            </a:prstGeom>
          </p:spPr>
        </p:pic>
        <p:pic>
          <p:nvPicPr>
            <p:cNvPr id="13" name="図 12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9207" y="5546743"/>
              <a:ext cx="2271407" cy="1011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01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Download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We release all source code on our site.</a:t>
            </a:r>
            <a:endParaRPr lang="en-US" altLang="ja-JP" dirty="0"/>
          </a:p>
          <a:p>
            <a:pPr lvl="1"/>
            <a:r>
              <a:rPr lang="en-US" altLang="ja-JP" dirty="0" smtClean="0">
                <a:hlinkClick r:id="rId3"/>
              </a:rPr>
              <a:t>http</a:t>
            </a:r>
            <a:r>
              <a:rPr lang="en-US" altLang="ja-JP" dirty="0">
                <a:hlinkClick r:id="rId3"/>
              </a:rPr>
              <a:t>://</a:t>
            </a:r>
            <a:r>
              <a:rPr lang="en-US" altLang="ja-JP" dirty="0" smtClean="0">
                <a:hlinkClick r:id="rId3"/>
              </a:rPr>
              <a:t>www.siprop.org/en/2.0/index.php?product%2FTreasureHuntingRobot</a:t>
            </a:r>
            <a:endParaRPr lang="en-US" altLang="ja-JP" dirty="0" smtClean="0"/>
          </a:p>
          <a:p>
            <a:endParaRPr lang="en-US" altLang="ja-JP" dirty="0"/>
          </a:p>
          <a:p>
            <a:pPr marL="0" indent="0" algn="ctr">
              <a:buNone/>
            </a:pPr>
            <a:r>
              <a:rPr lang="ja-JP" altLang="en-US" dirty="0"/>
              <a:t>　 </a:t>
            </a:r>
            <a:r>
              <a:rPr lang="en-US" altLang="ja-JP" sz="3200" b="1" dirty="0"/>
              <a:t>Do It Yourself </a:t>
            </a:r>
            <a:r>
              <a:rPr lang="ja-JP" altLang="en-US" sz="3200" b="1" dirty="0"/>
              <a:t>⇒</a:t>
            </a:r>
            <a:r>
              <a:rPr lang="en-US" altLang="ja-JP" sz="3200" b="1" dirty="0"/>
              <a:t>Do It With Others!</a:t>
            </a:r>
          </a:p>
          <a:p>
            <a:pPr marL="0" indent="0">
              <a:buNone/>
            </a:pPr>
            <a:endParaRPr kumimoji="1" lang="en-US" altLang="ja-JP" dirty="0" smtClean="0"/>
          </a:p>
          <a:p>
            <a:r>
              <a:rPr lang="en-US" altLang="ja-JP" dirty="0" smtClean="0"/>
              <a:t>If you want to try it, please ask me!</a:t>
            </a:r>
          </a:p>
          <a:p>
            <a:pPr lvl="1"/>
            <a:r>
              <a:rPr lang="en-US" altLang="ja-JP" dirty="0" smtClean="0"/>
              <a:t>You can experience like </a:t>
            </a:r>
            <a:r>
              <a:rPr lang="en-US" altLang="ja-JP" b="1" dirty="0"/>
              <a:t>Google </a:t>
            </a:r>
            <a:r>
              <a:rPr lang="en-US" altLang="ja-JP" b="1" dirty="0" smtClean="0"/>
              <a:t>Glass!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pPr marL="0" indent="0">
              <a:buNone/>
            </a:pPr>
            <a:endParaRPr lang="ja-JP" altLang="en-US" sz="3600" dirty="0"/>
          </a:p>
          <a:p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972" y="4980720"/>
            <a:ext cx="2794958" cy="18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7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pPr marL="0" indent="0">
              <a:buNone/>
            </a:pPr>
            <a:endParaRPr kumimoji="1" lang="en-US" altLang="ja-JP" dirty="0" smtClean="0"/>
          </a:p>
          <a:p>
            <a:endParaRPr lang="en-US" altLang="ja-JP" dirty="0"/>
          </a:p>
          <a:p>
            <a:pPr marL="0" indent="0" algn="ctr">
              <a:buNone/>
            </a:pPr>
            <a:r>
              <a:rPr kumimoji="1" lang="en-US" altLang="ja-JP" sz="3600" b="1" dirty="0" smtClean="0"/>
              <a:t>Events &amp; Conferences</a:t>
            </a:r>
          </a:p>
          <a:p>
            <a:pPr marL="0" indent="0" algn="ctr">
              <a:buNone/>
            </a:pPr>
            <a:r>
              <a:rPr lang="ja-JP" altLang="en-US" sz="3600" b="1" dirty="0" smtClean="0"/>
              <a:t>～</a:t>
            </a:r>
            <a:r>
              <a:rPr lang="en-US" altLang="ja-JP" sz="3600" b="1" dirty="0" smtClean="0"/>
              <a:t>Show Demonstration &amp; Speech</a:t>
            </a:r>
            <a:r>
              <a:rPr lang="ja-JP" altLang="en-US" sz="3600" b="1" dirty="0" smtClean="0"/>
              <a:t>～</a:t>
            </a:r>
            <a:endParaRPr kumimoji="1" lang="ja-JP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8905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ja-JP" sz="6000" dirty="0"/>
          </a:p>
          <a:p>
            <a:pPr algn="ctr"/>
            <a:r>
              <a:rPr kumimoji="1" lang="en-US" altLang="ja-JP" sz="6000" dirty="0" smtClean="0"/>
              <a:t>China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322659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Mini Maker Faire 2012 </a:t>
            </a:r>
            <a:r>
              <a:rPr kumimoji="1" lang="en-US" altLang="ja-JP" dirty="0" err="1" smtClean="0"/>
              <a:t>ShenZhen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first Maker Faire in China</a:t>
            </a:r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/>
              <a:t>DIY(</a:t>
            </a:r>
            <a:r>
              <a:rPr lang="en-US" altLang="ja-JP" dirty="0" err="1"/>
              <a:t>DIwO</a:t>
            </a:r>
            <a:r>
              <a:rPr lang="en-US" altLang="ja-JP" dirty="0"/>
              <a:t>) </a:t>
            </a:r>
            <a:r>
              <a:rPr kumimoji="1" lang="en-US" altLang="ja-JP" dirty="0" smtClean="0"/>
              <a:t>Engineer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About Maker Faire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The most famous </a:t>
            </a:r>
            <a:r>
              <a:rPr lang="en-US" altLang="ja-JP" dirty="0" err="1" smtClean="0"/>
              <a:t>DIwO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en-US" altLang="ja-JP" dirty="0"/>
              <a:t> </a:t>
            </a:r>
            <a:r>
              <a:rPr kumimoji="1" lang="en-US" altLang="ja-JP" dirty="0" smtClean="0"/>
              <a:t>  conference</a:t>
            </a:r>
            <a:endParaRPr kumimoji="1" lang="ja-JP" altLang="en-US" dirty="0"/>
          </a:p>
        </p:txBody>
      </p:sp>
      <p:pic>
        <p:nvPicPr>
          <p:cNvPr id="2051" name="Picture 3" descr="C:\Data\MyDocuments\Business\personal\Linaro\プレゼン\LC12.Q2\WP_00239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731698"/>
            <a:ext cx="3537625" cy="264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Data\MyDocuments\Business\personal\Linaro\プレゼン\LC12.Q2\WP_00240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371661"/>
            <a:ext cx="3150188" cy="235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653136"/>
            <a:ext cx="2724397" cy="29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0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Ma An Shan </a:t>
            </a:r>
            <a:r>
              <a:rPr lang="en-US" altLang="zh-CN" dirty="0" smtClean="0"/>
              <a:t>Univ.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Target</a:t>
            </a:r>
          </a:p>
          <a:p>
            <a:pPr lvl="1"/>
            <a:r>
              <a:rPr lang="en-US" altLang="ja-JP" dirty="0"/>
              <a:t>Chi</a:t>
            </a:r>
            <a:r>
              <a:rPr lang="en-US" altLang="ja-JP" dirty="0" smtClean="0"/>
              <a:t>nese </a:t>
            </a:r>
            <a:r>
              <a:rPr lang="en-US" altLang="ja-JP" dirty="0"/>
              <a:t>Students</a:t>
            </a:r>
          </a:p>
          <a:p>
            <a:pPr lvl="1"/>
            <a:r>
              <a:rPr lang="en-US" altLang="ja-JP" dirty="0"/>
              <a:t>Education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3074" name="Picture 2" descr="C:\Data\MyDocuments\Business\personal\Linaro\プレゼン\LC12.Q2\WP_00257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299" y="3573016"/>
            <a:ext cx="4064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Data\MyDocuments\Business\personal\Linaro\プレゼン\LC12.Q2\WP_00254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353" y="404664"/>
            <a:ext cx="4064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Data\MyDocuments\Business\personal\Linaro\プレゼン\LC12.Q2\WP_00256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842" y="3278707"/>
            <a:ext cx="2722192" cy="362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70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ja-JP" sz="6000" dirty="0"/>
          </a:p>
          <a:p>
            <a:pPr algn="ctr"/>
            <a:r>
              <a:rPr kumimoji="1" lang="en-US" altLang="ja-JP" sz="6000" dirty="0" smtClean="0"/>
              <a:t>Taiwan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93505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OSDC.tw 2012 (Apr/2012)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One </a:t>
            </a:r>
            <a:r>
              <a:rPr lang="en-US" altLang="ja-JP" dirty="0" smtClean="0"/>
              <a:t>of t</a:t>
            </a:r>
            <a:r>
              <a:rPr kumimoji="1" lang="en-US" altLang="ja-JP" dirty="0" smtClean="0"/>
              <a:t>he largest OSS conference in Taiwan</a:t>
            </a:r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 smtClean="0"/>
              <a:t>Taiwanese Engineer</a:t>
            </a:r>
            <a:endParaRPr kumimoji="1" lang="ja-JP" altLang="en-US" dirty="0"/>
          </a:p>
        </p:txBody>
      </p:sp>
      <p:pic>
        <p:nvPicPr>
          <p:cNvPr id="1029" name="Picture 5" descr="C:\Data\MyDocuments\Business\personal\Linaro\プレゼン\LC12.Q2\WP_002448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43" t="45404" r="10222"/>
          <a:stretch/>
        </p:blipFill>
        <p:spPr bwMode="auto">
          <a:xfrm>
            <a:off x="960165" y="3505601"/>
            <a:ext cx="4123184" cy="230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Data\MyDocuments\Business\personal\Linaro\プレゼン\LC12.Q2\WP_00245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09" y="5018875"/>
            <a:ext cx="2120673" cy="1583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Data\MyDocuments\Business\personal\Linaro\プレゼン\LC12.Q2\WP_00245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302" y="4658208"/>
            <a:ext cx="2552391" cy="190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448" y="2015656"/>
            <a:ext cx="4064000" cy="252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3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COSCUP 2011&amp;2012 (Aug)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764704"/>
            <a:ext cx="7772400" cy="5327650"/>
          </a:xfrm>
        </p:spPr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dirty="0" smtClean="0"/>
              <a:t>One </a:t>
            </a:r>
            <a:r>
              <a:rPr lang="en-US" altLang="ja-JP" dirty="0"/>
              <a:t>of the largest OSS conference in Taiwan</a:t>
            </a:r>
          </a:p>
          <a:p>
            <a:endParaRPr lang="en-US" altLang="ja-JP" dirty="0" smtClean="0"/>
          </a:p>
          <a:p>
            <a:r>
              <a:rPr lang="en-US" altLang="ja-JP" dirty="0" smtClean="0"/>
              <a:t>Target</a:t>
            </a:r>
            <a:endParaRPr lang="en-US" altLang="ja-JP" dirty="0"/>
          </a:p>
          <a:p>
            <a:pPr lvl="1"/>
            <a:r>
              <a:rPr lang="en-US" altLang="ja-JP" dirty="0" smtClean="0"/>
              <a:t>Taiwanese Engineer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2" y="908720"/>
            <a:ext cx="9144000" cy="1769806"/>
          </a:xfrm>
          <a:prstGeom prst="rect">
            <a:avLst/>
          </a:prstGeom>
        </p:spPr>
      </p:pic>
      <p:pic>
        <p:nvPicPr>
          <p:cNvPr id="8194" name="Picture 2" descr="C:\Data\MyDocuments\Business\personal\Linaro\プレゼン\LC12.Q2\IMG_20110821_18271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83" y="4973214"/>
            <a:ext cx="2388274" cy="1783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Data\MyDocuments\Business\personal\Linaro\プレゼン\LC12.Q2\IMG_20110820_11103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975" y="4998235"/>
            <a:ext cx="2321271" cy="173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:\Data\MyDocuments\Business\personal\Linaro\プレゼン\LC12.Q2\IMG_20110821_131921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" t="12776" r="-501" b="24079"/>
          <a:stretch/>
        </p:blipFill>
        <p:spPr bwMode="auto">
          <a:xfrm>
            <a:off x="6374533" y="3429000"/>
            <a:ext cx="2661820" cy="125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C:\Data\MyDocuments\Business\personal\Linaro\プレゼン\LC12.Q2\IMG_20110821_132102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506" y="4998235"/>
            <a:ext cx="2315601" cy="172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44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Computex</a:t>
            </a:r>
            <a:r>
              <a:rPr kumimoji="1" lang="en-US" altLang="ja-JP" dirty="0" smtClean="0"/>
              <a:t> 2011&amp;2012 (June)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largest hardware business show.</a:t>
            </a:r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kumimoji="1" lang="en-US" altLang="ja-JP" dirty="0" smtClean="0"/>
              <a:t>Hardware Engineer &amp; Company</a:t>
            </a:r>
            <a:endParaRPr kumimoji="1" lang="ja-JP" altLang="en-US" dirty="0"/>
          </a:p>
        </p:txBody>
      </p:sp>
      <p:pic>
        <p:nvPicPr>
          <p:cNvPr id="5122" name="Picture 2" descr="C:\Data\MyDocuments\Business\personal\Linaro\プレゼン\LC12.Q2\compute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8" y="2969428"/>
            <a:ext cx="8983662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Data\MyDocuments\Business\personal\Linaro\プレゼン\LC12.Q2\IMG_20110531_15054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284784"/>
            <a:ext cx="3192073" cy="239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Data\MyDocuments\Business\personal\Linaro\プレゼン\LC12.Q2\IMG_20110531_10164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82323"/>
            <a:ext cx="1800200" cy="239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Data\MyDocuments\Business\personal\Linaro\プレゼン\LC12.Q2\IMG_20110531_102827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056" y="4284785"/>
            <a:ext cx="3192072" cy="239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0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Yuan Pei Univ.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 smtClean="0"/>
              <a:t>Taiwanese Students</a:t>
            </a:r>
          </a:p>
          <a:p>
            <a:pPr lvl="1"/>
            <a:r>
              <a:rPr kumimoji="1" lang="en-US" altLang="ja-JP" dirty="0" smtClean="0"/>
              <a:t>Education</a:t>
            </a:r>
            <a:endParaRPr kumimoji="1" lang="ja-JP" altLang="en-US" dirty="0"/>
          </a:p>
        </p:txBody>
      </p:sp>
      <p:pic>
        <p:nvPicPr>
          <p:cNvPr id="4098" name="Picture 2" descr="C:\Data\MyDocuments\Business\personal\Linaro\プレゼン\LC12.Q2\WP_00306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62"/>
          <a:stretch/>
        </p:blipFill>
        <p:spPr bwMode="auto">
          <a:xfrm>
            <a:off x="755576" y="4988485"/>
            <a:ext cx="3297145" cy="173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Data\MyDocuments\Business\personal\Linaro\プレゼン\LC12.Q2\tumblr_m3p9wfFyd11rsr22uo1_5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861048"/>
            <a:ext cx="3781500" cy="283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C:\Data\MyDocuments\Business\personal\Linaro\プレゼン\LC12.Q2\ypu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55" y="836712"/>
            <a:ext cx="7535863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48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ja-JP" sz="6000" dirty="0"/>
          </a:p>
          <a:p>
            <a:pPr algn="ctr"/>
            <a:r>
              <a:rPr lang="en-US" altLang="ja-JP" sz="6000" dirty="0"/>
              <a:t>Singapore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48081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Mini Maker Faire 2012 </a:t>
            </a:r>
            <a:r>
              <a:rPr lang="en-US" altLang="ja-JP" dirty="0"/>
              <a:t>Singapore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first Maker Faire in </a:t>
            </a:r>
            <a:r>
              <a:rPr lang="en-US" altLang="ja-JP" dirty="0"/>
              <a:t>Singapore</a:t>
            </a:r>
            <a:endParaRPr kumimoji="1" lang="en-US" altLang="ja-JP" dirty="0" smtClean="0"/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/>
              <a:t>DIY(</a:t>
            </a:r>
            <a:r>
              <a:rPr lang="en-US" altLang="ja-JP" dirty="0" err="1"/>
              <a:t>DIwO</a:t>
            </a:r>
            <a:r>
              <a:rPr lang="en-US" altLang="ja-JP" dirty="0"/>
              <a:t>) </a:t>
            </a:r>
            <a:r>
              <a:rPr kumimoji="1" lang="en-US" altLang="ja-JP" dirty="0" smtClean="0"/>
              <a:t>Engineer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About Maker Faire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The most famous </a:t>
            </a:r>
            <a:r>
              <a:rPr lang="en-US" altLang="ja-JP" dirty="0" err="1" smtClean="0"/>
              <a:t>DIwO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en-US" altLang="ja-JP" dirty="0"/>
              <a:t> </a:t>
            </a:r>
            <a:r>
              <a:rPr kumimoji="1" lang="en-US" altLang="ja-JP" dirty="0" smtClean="0"/>
              <a:t>  conference</a:t>
            </a:r>
            <a:endParaRPr kumimoji="1" lang="ja-JP" altLang="en-US" dirty="0"/>
          </a:p>
        </p:txBody>
      </p:sp>
      <p:pic>
        <p:nvPicPr>
          <p:cNvPr id="1026" name="Picture 2" descr="C:\Data\MyDocuments\Business\personal\Treasure\presentation\MakerFaireHongKong\DSC_058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20" y="4625335"/>
            <a:ext cx="2543944" cy="190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Data\MyDocuments\Business\personal\Treasure\presentation\MakerFaireHongKong\DSC_0556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6" t="13748" r="15877" b="17392"/>
          <a:stretch/>
        </p:blipFill>
        <p:spPr bwMode="auto">
          <a:xfrm>
            <a:off x="6484370" y="789304"/>
            <a:ext cx="2625959" cy="214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Data\MyDocuments\Business\personal\Treasure\presentation\MakerFaireHongKong\DSC_055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20" y="2486534"/>
            <a:ext cx="2558134" cy="191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Data\MyDocuments\Business\personal\Treasure\presentation\MakerFaireHongKong\DSC_057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942" y="2486534"/>
            <a:ext cx="2561658" cy="191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Data\MyDocuments\Business\personal\Treasure\presentation\MakerFaireHongKong\DSC_0575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656" y="4625336"/>
            <a:ext cx="2543944" cy="190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39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ja-JP" sz="6000" dirty="0"/>
          </a:p>
          <a:p>
            <a:pPr algn="ctr"/>
            <a:r>
              <a:rPr lang="en-US" altLang="ja-JP" sz="6000" dirty="0" smtClean="0"/>
              <a:t>Hong Kong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47134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Mini Maker Faire 2012 </a:t>
            </a:r>
            <a:r>
              <a:rPr lang="en-US" altLang="ja-JP" dirty="0"/>
              <a:t>Hong Kong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first Maker Faire in </a:t>
            </a:r>
            <a:r>
              <a:rPr lang="en-US" altLang="ja-JP" dirty="0" smtClean="0"/>
              <a:t>Hong Kong</a:t>
            </a:r>
            <a:endParaRPr kumimoji="1" lang="en-US" altLang="ja-JP" dirty="0" smtClean="0"/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/>
              <a:t>DIY(</a:t>
            </a:r>
            <a:r>
              <a:rPr lang="en-US" altLang="ja-JP" dirty="0" err="1"/>
              <a:t>DIwO</a:t>
            </a:r>
            <a:r>
              <a:rPr lang="en-US" altLang="ja-JP" dirty="0"/>
              <a:t>) </a:t>
            </a:r>
            <a:r>
              <a:rPr kumimoji="1" lang="en-US" altLang="ja-JP" dirty="0" smtClean="0"/>
              <a:t>Engineer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About Maker Faire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The most famous </a:t>
            </a:r>
            <a:r>
              <a:rPr lang="en-US" altLang="ja-JP" dirty="0" err="1" smtClean="0"/>
              <a:t>DIwO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en-US" altLang="ja-JP" dirty="0"/>
              <a:t> </a:t>
            </a:r>
            <a:r>
              <a:rPr kumimoji="1" lang="en-US" altLang="ja-JP" dirty="0" smtClean="0"/>
              <a:t>  conference</a:t>
            </a:r>
            <a:endParaRPr kumimoji="1" lang="ja-JP" altLang="en-US" dirty="0"/>
          </a:p>
        </p:txBody>
      </p:sp>
      <p:pic>
        <p:nvPicPr>
          <p:cNvPr id="1026" name="Picture 2" descr="C:\Data\MyDocuments\Business\personal\Treasure\presentation\MakerFaireHongKong\DSC_058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20" y="4625335"/>
            <a:ext cx="2543944" cy="190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Data\MyDocuments\Business\personal\Treasure\presentation\MakerFaireHongKong\DSC_0556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6" t="13748" r="15877" b="17392"/>
          <a:stretch/>
        </p:blipFill>
        <p:spPr bwMode="auto">
          <a:xfrm>
            <a:off x="6484370" y="789304"/>
            <a:ext cx="2625959" cy="214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Data\MyDocuments\Business\personal\Treasure\presentation\MakerFaireHongKong\DSC_055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20" y="2486534"/>
            <a:ext cx="2558134" cy="191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Data\MyDocuments\Business\personal\Treasure\presentation\MakerFaireHongKong\DSC_057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942" y="2486534"/>
            <a:ext cx="2561658" cy="191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Data\MyDocuments\Business\personal\Treasure\presentation\MakerFaireHongKong\DSC_0575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656" y="4625336"/>
            <a:ext cx="2543944" cy="190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0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sz="6600" dirty="0"/>
          </a:p>
          <a:p>
            <a:pPr algn="ctr"/>
            <a:r>
              <a:rPr lang="en-US" altLang="ja-JP" sz="6600" dirty="0"/>
              <a:t>USA</a:t>
            </a:r>
            <a:endParaRPr kumimoji="1" lang="ja-JP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8078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Linaro</a:t>
            </a:r>
            <a:r>
              <a:rPr kumimoji="1" lang="en-US" altLang="ja-JP" dirty="0" smtClean="0"/>
              <a:t> Demo Friday 2012.Q2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2447478"/>
          </a:xfrm>
        </p:spPr>
        <p:txBody>
          <a:bodyPr/>
          <a:lstStyle/>
          <a:p>
            <a:r>
              <a:rPr lang="en-US" altLang="ja-JP" dirty="0" smtClean="0"/>
              <a:t>The Making Linux Kernel for ARM Project</a:t>
            </a:r>
          </a:p>
          <a:p>
            <a:r>
              <a:rPr lang="en-US" altLang="ja-JP" dirty="0" smtClean="0"/>
              <a:t>Target</a:t>
            </a:r>
            <a:endParaRPr lang="en-US" altLang="ja-JP" dirty="0"/>
          </a:p>
          <a:p>
            <a:pPr lvl="1"/>
            <a:r>
              <a:rPr lang="en-US" altLang="ja-JP" dirty="0" smtClean="0"/>
              <a:t>ARM Embedded </a:t>
            </a:r>
            <a:r>
              <a:rPr lang="en-US" altLang="ja-JP" dirty="0"/>
              <a:t>Engineer</a:t>
            </a:r>
            <a:endParaRPr lang="ja-JP" altLang="en-US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4098" name="Picture 2" descr="C:\Data\MyDocuments\Business\personal\Treasure\presentation\MakerFaireHongKong\WP_000413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45687"/>
            <a:ext cx="4464496" cy="333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Data\MyDocuments\Business\personal\Treasure\presentation\MakerFaireHongKong\WP_000418 (2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174909"/>
            <a:ext cx="3386517" cy="252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Data\MyDocuments\Business\personal\Treasure\presentation\MakerFaireHongKong\WP_000460 (2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626" y="1772816"/>
            <a:ext cx="3526392" cy="263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1383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Embedded Linux Con 2012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7772400" cy="1367358"/>
          </a:xfrm>
        </p:spPr>
        <p:txBody>
          <a:bodyPr/>
          <a:lstStyle/>
          <a:p>
            <a:r>
              <a:rPr lang="en-US" altLang="ja-JP" dirty="0"/>
              <a:t>Target</a:t>
            </a:r>
          </a:p>
          <a:p>
            <a:pPr lvl="1"/>
            <a:r>
              <a:rPr lang="en-US" altLang="ja-JP" dirty="0"/>
              <a:t>Linux Embedded Engineer</a:t>
            </a:r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3075" name="Picture 3" descr="C:\Data\MyDocuments\Business\personal\Treasure\presentation\MakerFaireHongKong\WP_000606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253" y="1772816"/>
            <a:ext cx="3685366" cy="490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Data\MyDocuments\Business\personal\Treasure\presentation\MakerFaireHongKong\WP_000638 (2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43660"/>
            <a:ext cx="4064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9304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Maker Faire 2012 </a:t>
            </a:r>
            <a:r>
              <a:rPr lang="en-US" altLang="ja-JP" dirty="0" err="1" smtClean="0"/>
              <a:t>BayArea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</a:t>
            </a:r>
            <a:r>
              <a:rPr lang="en-US" altLang="ja-JP" dirty="0" smtClean="0"/>
              <a:t>biggest</a:t>
            </a:r>
            <a:r>
              <a:rPr kumimoji="1" lang="en-US" altLang="ja-JP" dirty="0" smtClean="0"/>
              <a:t> Maker Faire</a:t>
            </a:r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/>
              <a:t>DIY(</a:t>
            </a:r>
            <a:r>
              <a:rPr lang="en-US" altLang="ja-JP" dirty="0" err="1"/>
              <a:t>DIwO</a:t>
            </a:r>
            <a:r>
              <a:rPr lang="en-US" altLang="ja-JP" dirty="0"/>
              <a:t>) </a:t>
            </a:r>
            <a:r>
              <a:rPr kumimoji="1" lang="en-US" altLang="ja-JP" dirty="0" smtClean="0"/>
              <a:t>Engineer</a:t>
            </a:r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About Maker Faire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The most famous </a:t>
            </a:r>
            <a:r>
              <a:rPr lang="en-US" altLang="ja-JP" dirty="0" err="1" smtClean="0"/>
              <a:t>DIwO</a:t>
            </a:r>
            <a:endParaRPr lang="en-US" altLang="ja-JP" dirty="0" smtClean="0"/>
          </a:p>
          <a:p>
            <a:pPr marL="457200" lvl="1" indent="0">
              <a:buNone/>
            </a:pPr>
            <a:r>
              <a:rPr kumimoji="1" lang="en-US" altLang="ja-JP" dirty="0"/>
              <a:t> </a:t>
            </a:r>
            <a:r>
              <a:rPr kumimoji="1" lang="en-US" altLang="ja-JP" dirty="0" smtClean="0"/>
              <a:t>  conference</a:t>
            </a:r>
            <a:endParaRPr kumimoji="1" lang="ja-JP" altLang="en-US" dirty="0"/>
          </a:p>
        </p:txBody>
      </p:sp>
      <p:pic>
        <p:nvPicPr>
          <p:cNvPr id="2050" name="Picture 2" descr="C:\Data\MyDocuments\Business\personal\Treasure\presentation\MakerFaireHongKong\DSC_003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44" y="4752092"/>
            <a:ext cx="3048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Data\MyDocuments\Business\personal\Treasure\presentation\MakerFaireHongKong\DSC_002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217" y="1052736"/>
            <a:ext cx="3048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Data\MyDocuments\Business\personal\Treasure\presentation\MakerFaireHongKong\DSC_002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780928"/>
            <a:ext cx="3048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Data\MyDocuments\Business\personal\Treasure\presentation\MakerFaireHongKong\DSC_003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221088"/>
            <a:ext cx="3048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32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sz="6600" dirty="0"/>
          </a:p>
          <a:p>
            <a:pPr algn="ctr"/>
            <a:r>
              <a:rPr kumimoji="1" lang="en-US" altLang="ja-JP" sz="6600" dirty="0" smtClean="0"/>
              <a:t>Japan</a:t>
            </a:r>
            <a:endParaRPr kumimoji="1" lang="ja-JP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88544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ABC 2012 Spring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The largest Android User Community in Japan</a:t>
            </a:r>
          </a:p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 smtClean="0"/>
              <a:t>Japanese Android Engineer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13" y="2636912"/>
            <a:ext cx="7716327" cy="93358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645024"/>
            <a:ext cx="3818855" cy="35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5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NicoNico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Gakkai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The largest Otaku</a:t>
            </a:r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 conference in Japan.</a:t>
            </a:r>
            <a:endParaRPr lang="en-US" altLang="ja-JP" dirty="0"/>
          </a:p>
          <a:p>
            <a:r>
              <a:rPr lang="en-US" altLang="ja-JP" dirty="0" smtClean="0"/>
              <a:t>Target</a:t>
            </a:r>
            <a:endParaRPr lang="en-US" altLang="ja-JP" dirty="0"/>
          </a:p>
          <a:p>
            <a:pPr lvl="1"/>
            <a:r>
              <a:rPr lang="en-US" altLang="ja-JP" dirty="0" smtClean="0"/>
              <a:t>Japanese </a:t>
            </a:r>
            <a:r>
              <a:rPr lang="en-US" altLang="ja-JP" dirty="0"/>
              <a:t>DIY(</a:t>
            </a:r>
            <a:r>
              <a:rPr lang="en-US" altLang="ja-JP" dirty="0" err="1"/>
              <a:t>DIwO</a:t>
            </a:r>
            <a:r>
              <a:rPr lang="en-US" altLang="ja-JP" dirty="0"/>
              <a:t>) </a:t>
            </a:r>
            <a:endParaRPr lang="en-US" altLang="ja-JP" dirty="0" smtClean="0"/>
          </a:p>
          <a:p>
            <a:pPr marL="457200" lvl="1" indent="0">
              <a:buNone/>
            </a:pPr>
            <a:r>
              <a:rPr lang="ja-JP" altLang="en-US" dirty="0"/>
              <a:t>　</a:t>
            </a:r>
            <a:r>
              <a:rPr lang="ja-JP" altLang="en-US" dirty="0" smtClean="0"/>
              <a:t>　</a:t>
            </a:r>
            <a:r>
              <a:rPr lang="en-US" altLang="ja-JP" dirty="0" smtClean="0"/>
              <a:t>Engineer</a:t>
            </a:r>
            <a:endParaRPr lang="en-US" altLang="ja-JP" dirty="0"/>
          </a:p>
          <a:p>
            <a:pPr lvl="1"/>
            <a:endParaRPr lang="ja-JP" altLang="en-US" dirty="0"/>
          </a:p>
          <a:p>
            <a:endParaRPr kumimoji="1" lang="ja-JP" altLang="en-US" dirty="0"/>
          </a:p>
        </p:txBody>
      </p:sp>
      <p:pic>
        <p:nvPicPr>
          <p:cNvPr id="6146" name="Picture 2" descr="C:\Data\MyDocuments\Business\personal\Linaro\プレゼン\LC12.Q2\niconi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5" y="836712"/>
            <a:ext cx="9078913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98" y="3573016"/>
            <a:ext cx="4728202" cy="325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7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LinuxCon</a:t>
            </a:r>
            <a:r>
              <a:rPr kumimoji="1" lang="en-US" altLang="ja-JP" dirty="0" smtClean="0"/>
              <a:t> Japan 2012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 smtClean="0"/>
              <a:t>Linux Embedded Engineer</a:t>
            </a:r>
            <a:endParaRPr kumimoji="1" lang="ja-JP" altLang="en-US" dirty="0"/>
          </a:p>
        </p:txBody>
      </p:sp>
      <p:pic>
        <p:nvPicPr>
          <p:cNvPr id="7171" name="Picture 3" descr="C:\Data\MyDocuments\Business\personal\Linaro\プレゼン\LC12.Q2\linuxConSc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36114"/>
            <a:ext cx="5207855" cy="422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:\Data\MyDocuments\Business\personal\Linaro\プレゼン\LC12.Q2\linux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3068960"/>
            <a:ext cx="7002463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81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algn="ctr"/>
            <a:r>
              <a:rPr lang="en-US" altLang="ja-JP" sz="3600" dirty="0" smtClean="0"/>
              <a:t>One more thing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3757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Why do you work?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3200" dirty="0" smtClean="0"/>
          </a:p>
          <a:p>
            <a:pPr algn="ctr"/>
            <a:endParaRPr lang="en-US" altLang="ja-JP" sz="3200" dirty="0"/>
          </a:p>
          <a:p>
            <a:pPr algn="ctr"/>
            <a:endParaRPr lang="en-US" altLang="ja-JP" sz="3200" dirty="0" smtClean="0"/>
          </a:p>
          <a:p>
            <a:pPr algn="ctr"/>
            <a:r>
              <a:rPr lang="en-US" altLang="ja-JP" sz="6600" dirty="0" smtClean="0"/>
              <a:t>For money?</a:t>
            </a:r>
          </a:p>
          <a:p>
            <a:pPr lvl="1" algn="ctr"/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374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No</a:t>
            </a:r>
            <a:r>
              <a:rPr lang="en-US" altLang="ja-JP" dirty="0"/>
              <a:t> money economy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4400" dirty="0" smtClean="0"/>
              <a:t>The</a:t>
            </a:r>
            <a:r>
              <a:rPr lang="en-US" altLang="ja-JP" sz="4400" dirty="0"/>
              <a:t> money economy</a:t>
            </a:r>
            <a:r>
              <a:rPr kumimoji="1" lang="ja-JP" altLang="en-US" sz="4400" dirty="0" smtClean="0"/>
              <a:t> </a:t>
            </a:r>
            <a:r>
              <a:rPr kumimoji="1" lang="en-US" altLang="ja-JP" sz="4400" dirty="0" smtClean="0"/>
              <a:t>is made by </a:t>
            </a:r>
            <a:r>
              <a:rPr lang="en-US" altLang="ja-JP" sz="4400" dirty="0" smtClean="0">
                <a:solidFill>
                  <a:srgbClr val="FF0000"/>
                </a:solidFill>
              </a:rPr>
              <a:t>single value</a:t>
            </a:r>
            <a:r>
              <a:rPr kumimoji="1" lang="en-US" altLang="ja-JP" sz="4400" dirty="0" smtClean="0"/>
              <a:t>.</a:t>
            </a:r>
          </a:p>
          <a:p>
            <a:pPr lvl="1"/>
            <a:endParaRPr lang="en-US" altLang="ja-JP" sz="4000" dirty="0" smtClean="0"/>
          </a:p>
          <a:p>
            <a:pPr lvl="1"/>
            <a:r>
              <a:rPr lang="en-US" altLang="ja-JP" sz="4000" dirty="0" smtClean="0"/>
              <a:t>One thing has one price</a:t>
            </a:r>
          </a:p>
          <a:p>
            <a:pPr lvl="1"/>
            <a:r>
              <a:rPr lang="en-US" altLang="ja-JP" sz="4000" dirty="0" smtClean="0"/>
              <a:t>No physical thing has no price</a:t>
            </a:r>
          </a:p>
          <a:p>
            <a:pPr lvl="1"/>
            <a:endParaRPr lang="en-US" altLang="ja-JP" sz="2800" dirty="0"/>
          </a:p>
          <a:p>
            <a:pPr marL="457200" lvl="1" indent="0" algn="ctr">
              <a:buNone/>
            </a:pPr>
            <a:r>
              <a:rPr lang="en-US" altLang="ja-JP" sz="6000" dirty="0" smtClean="0"/>
              <a:t>True???</a:t>
            </a:r>
            <a:endParaRPr lang="en-US" altLang="ja-JP" sz="4000" dirty="0" smtClean="0"/>
          </a:p>
        </p:txBody>
      </p:sp>
    </p:spTree>
    <p:extLst>
      <p:ext uri="{BB962C8B-B14F-4D97-AF65-F5344CB8AC3E}">
        <p14:creationId xmlns:p14="http://schemas.microsoft.com/office/powerpoint/2010/main" val="58647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Ex: </a:t>
            </a:r>
            <a:r>
              <a:rPr kumimoji="1" lang="en-US" altLang="ja-JP" dirty="0" err="1" smtClean="0"/>
              <a:t>Simeji</a:t>
            </a:r>
            <a:r>
              <a:rPr kumimoji="1" lang="en-US" altLang="ja-JP" dirty="0" smtClean="0"/>
              <a:t>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056418" cy="5327650"/>
          </a:xfrm>
        </p:spPr>
        <p:txBody>
          <a:bodyPr/>
          <a:lstStyle/>
          <a:p>
            <a:r>
              <a:rPr kumimoji="1" lang="en-US" altLang="ja-JP" dirty="0" smtClean="0"/>
              <a:t>One of Android application</a:t>
            </a:r>
          </a:p>
          <a:p>
            <a:pPr lvl="1"/>
            <a:r>
              <a:rPr lang="en-US" altLang="ja-JP" dirty="0" smtClean="0"/>
              <a:t>Made by 2 Japanese guys.</a:t>
            </a:r>
          </a:p>
          <a:p>
            <a:pPr lvl="2"/>
            <a:r>
              <a:rPr kumimoji="1" lang="en-US" altLang="ja-JP" dirty="0" smtClean="0"/>
              <a:t>As hobby work.</a:t>
            </a:r>
          </a:p>
          <a:p>
            <a:pPr lvl="1"/>
            <a:r>
              <a:rPr lang="en-US" altLang="ja-JP" dirty="0" smtClean="0"/>
              <a:t>Taken over by </a:t>
            </a:r>
            <a:r>
              <a:rPr lang="ja-JP" altLang="en-US" dirty="0" smtClean="0"/>
              <a:t>百度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2-3M UDS</a:t>
            </a:r>
          </a:p>
          <a:p>
            <a:pPr lvl="1"/>
            <a:endParaRPr kumimoji="1" lang="en-US" altLang="ja-JP" dirty="0" smtClean="0"/>
          </a:p>
          <a:p>
            <a:r>
              <a:rPr lang="en-US" altLang="ja-JP" dirty="0" smtClean="0"/>
              <a:t>.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008" y="3549712"/>
            <a:ext cx="6198831" cy="298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5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Ex: </a:t>
            </a:r>
            <a:r>
              <a:rPr kumimoji="1" lang="en-US" altLang="ja-JP" dirty="0" err="1" smtClean="0"/>
              <a:t>Simeji</a:t>
            </a:r>
            <a:r>
              <a:rPr kumimoji="1" lang="en-US" altLang="ja-JP" dirty="0" smtClean="0"/>
              <a:t> 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056418" cy="5327650"/>
          </a:xfrm>
        </p:spPr>
        <p:txBody>
          <a:bodyPr/>
          <a:lstStyle/>
          <a:p>
            <a:r>
              <a:rPr lang="en-US" altLang="ja-JP" sz="3200" dirty="0" smtClean="0"/>
              <a:t>Why </a:t>
            </a:r>
            <a:r>
              <a:rPr lang="en-US" altLang="ja-JP" sz="3200" dirty="0"/>
              <a:t>did </a:t>
            </a:r>
            <a:r>
              <a:rPr lang="ja-JP" altLang="en-US" sz="3200" dirty="0"/>
              <a:t>百度 </a:t>
            </a:r>
            <a:r>
              <a:rPr lang="en-US" altLang="ja-JP" sz="3200" dirty="0"/>
              <a:t>take over it</a:t>
            </a:r>
            <a:r>
              <a:rPr lang="en-US" altLang="ja-JP" sz="3200" dirty="0" smtClean="0"/>
              <a:t>?</a:t>
            </a:r>
          </a:p>
          <a:p>
            <a:pPr lvl="1"/>
            <a:r>
              <a:rPr lang="en-US" altLang="ja-JP" sz="2800" dirty="0"/>
              <a:t>A</a:t>
            </a:r>
            <a:r>
              <a:rPr lang="en-US" altLang="ja-JP" sz="2800" dirty="0" smtClean="0"/>
              <a:t> </a:t>
            </a:r>
            <a:r>
              <a:rPr lang="en-US" altLang="ja-JP" sz="2800" dirty="0"/>
              <a:t>technology for input </a:t>
            </a:r>
            <a:r>
              <a:rPr lang="en-US" altLang="ja-JP" sz="2800" dirty="0" smtClean="0"/>
              <a:t>method</a:t>
            </a:r>
            <a:r>
              <a:rPr lang="en-US" altLang="ja-JP" sz="2800" dirty="0"/>
              <a:t>?</a:t>
            </a:r>
          </a:p>
          <a:p>
            <a:pPr lvl="2"/>
            <a:r>
              <a:rPr lang="en-US" altLang="ja-JP" sz="2400" dirty="0" smtClean="0"/>
              <a:t>Developers don’t have a technology for input method.</a:t>
            </a:r>
          </a:p>
          <a:p>
            <a:pPr lvl="3"/>
            <a:r>
              <a:rPr lang="en-US" altLang="ja-JP" sz="2000" dirty="0" smtClean="0"/>
              <a:t>Because base is </a:t>
            </a:r>
            <a:r>
              <a:rPr lang="en-US" altLang="ja-JP" sz="2000" dirty="0" err="1"/>
              <a:t>OpenIME</a:t>
            </a:r>
            <a:r>
              <a:rPr lang="en-US" altLang="ja-JP" sz="2000" dirty="0"/>
              <a:t> as engine</a:t>
            </a:r>
            <a:r>
              <a:rPr lang="en-US" altLang="ja-JP" sz="2000" dirty="0" smtClean="0"/>
              <a:t>.</a:t>
            </a:r>
            <a:endParaRPr kumimoji="1" lang="en-US" altLang="ja-JP" sz="2000" dirty="0"/>
          </a:p>
          <a:p>
            <a:pPr lvl="1"/>
            <a:r>
              <a:rPr kumimoji="1" lang="en-US" altLang="ja-JP" sz="2800" dirty="0" smtClean="0"/>
              <a:t>Installing user base?</a:t>
            </a:r>
          </a:p>
          <a:p>
            <a:pPr lvl="2"/>
            <a:r>
              <a:rPr lang="en-US" altLang="ja-JP" sz="2400" dirty="0" smtClean="0"/>
              <a:t>Only used by developers. No used by normal people.</a:t>
            </a:r>
            <a:endParaRPr kumimoji="1" lang="en-US" altLang="ja-JP" sz="2400" dirty="0"/>
          </a:p>
          <a:p>
            <a:r>
              <a:rPr kumimoji="1" lang="en-US" altLang="ja-JP" sz="3200" dirty="0" smtClean="0"/>
              <a:t>Their strong point</a:t>
            </a:r>
          </a:p>
          <a:p>
            <a:pPr lvl="1"/>
            <a:r>
              <a:rPr kumimoji="1" lang="en-US" altLang="ja-JP" sz="2800" dirty="0" smtClean="0"/>
              <a:t>One of </a:t>
            </a:r>
            <a:r>
              <a:rPr kumimoji="1" lang="en-US" altLang="ja-JP" sz="2800" b="1" dirty="0" smtClean="0"/>
              <a:t>most famous developer</a:t>
            </a:r>
            <a:r>
              <a:rPr kumimoji="1" lang="en-US" altLang="ja-JP" sz="2800" dirty="0" smtClean="0"/>
              <a:t> in Japanese Android Community.</a:t>
            </a:r>
          </a:p>
          <a:p>
            <a:pPr lvl="2"/>
            <a:r>
              <a:rPr lang="ja-JP" altLang="en-US" sz="2400" dirty="0" smtClean="0"/>
              <a:t>百度 </a:t>
            </a:r>
            <a:r>
              <a:rPr lang="en-US" altLang="ja-JP" sz="2400" dirty="0" smtClean="0"/>
              <a:t>wants to get respect in Japanese community.</a:t>
            </a:r>
            <a:endParaRPr kumimoji="1" lang="ja-JP" altLang="en-US" sz="2400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329" y="122089"/>
            <a:ext cx="2695669" cy="179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4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/>
              <a:t>This was </a:t>
            </a:r>
            <a:r>
              <a:rPr lang="en-US" altLang="ja-JP" dirty="0" smtClean="0"/>
              <a:t>predicted in 2006</a:t>
            </a:r>
            <a:endParaRPr lang="ja-JP" altLang="en-US" dirty="0" smtClean="0"/>
          </a:p>
        </p:txBody>
      </p:sp>
      <p:sp>
        <p:nvSpPr>
          <p:cNvPr id="67586" name="Rectangle 3"/>
          <p:cNvSpPr>
            <a:spLocks noGrp="1"/>
          </p:cNvSpPr>
          <p:nvPr>
            <p:ph type="body" idx="4294967295"/>
          </p:nvPr>
        </p:nvSpPr>
        <p:spPr>
          <a:xfrm>
            <a:off x="457199" y="1130531"/>
            <a:ext cx="8520545" cy="54671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ja-JP" sz="3600" dirty="0" smtClean="0"/>
              <a:t>IBM Global Innovation Outlook 2.0 (06’)</a:t>
            </a:r>
          </a:p>
          <a:p>
            <a:pPr lvl="2">
              <a:lnSpc>
                <a:spcPct val="90000"/>
              </a:lnSpc>
            </a:pPr>
            <a:r>
              <a:rPr lang="en-US" altLang="ja-JP" sz="1800" dirty="0">
                <a:hlinkClick r:id="rId3"/>
              </a:rPr>
              <a:t>http://</a:t>
            </a:r>
            <a:r>
              <a:rPr lang="en-US" altLang="ja-JP" sz="1800" dirty="0" smtClean="0">
                <a:hlinkClick r:id="rId3"/>
              </a:rPr>
              <a:t>domino.research.ibm.com/comm/www_innovate.nsf/pages/world.gio2004.html</a:t>
            </a:r>
            <a:endParaRPr lang="en-US" altLang="ja-JP" sz="1800" dirty="0" smtClean="0"/>
          </a:p>
          <a:p>
            <a:pPr lvl="2">
              <a:lnSpc>
                <a:spcPct val="90000"/>
              </a:lnSpc>
            </a:pPr>
            <a:endParaRPr lang="en-US" altLang="ja-JP" sz="2400" dirty="0" smtClean="0"/>
          </a:p>
          <a:p>
            <a:pPr lvl="1">
              <a:lnSpc>
                <a:spcPct val="90000"/>
              </a:lnSpc>
            </a:pPr>
            <a:r>
              <a:rPr lang="en-US" altLang="ja-JP" sz="3200" dirty="0"/>
              <a:t>The "one man company" </a:t>
            </a:r>
            <a:r>
              <a:rPr lang="en-US" altLang="ja-JP" sz="3200" dirty="0" smtClean="0"/>
              <a:t>will appear </a:t>
            </a:r>
            <a:r>
              <a:rPr lang="en-US" altLang="ja-JP" sz="3200" dirty="0"/>
              <a:t>billions</a:t>
            </a:r>
            <a:r>
              <a:rPr lang="en-US" altLang="ja-JP" sz="3200" dirty="0" smtClean="0"/>
              <a:t>.</a:t>
            </a:r>
          </a:p>
          <a:p>
            <a:pPr lvl="2">
              <a:lnSpc>
                <a:spcPct val="90000"/>
              </a:lnSpc>
            </a:pPr>
            <a:r>
              <a:rPr lang="en-US" altLang="ja-JP" sz="2400" dirty="0" smtClean="0"/>
              <a:t>Collaboration </a:t>
            </a:r>
            <a:r>
              <a:rPr lang="en-US" altLang="ja-JP" sz="2400" dirty="0"/>
              <a:t>environment </a:t>
            </a:r>
            <a:r>
              <a:rPr lang="en-US" altLang="ja-JP" sz="2400" dirty="0">
                <a:solidFill>
                  <a:srgbClr val="FF0000"/>
                </a:solidFill>
              </a:rPr>
              <a:t>based on a contribution</a:t>
            </a:r>
            <a:r>
              <a:rPr lang="en-US" altLang="ja-JP" sz="2400" dirty="0" smtClean="0"/>
              <a:t>.</a:t>
            </a:r>
          </a:p>
          <a:p>
            <a:pPr lvl="1">
              <a:lnSpc>
                <a:spcPct val="90000"/>
              </a:lnSpc>
            </a:pPr>
            <a:endParaRPr lang="en-US" altLang="ja-JP" sz="2800" dirty="0" smtClean="0"/>
          </a:p>
          <a:p>
            <a:pPr lvl="1">
              <a:lnSpc>
                <a:spcPct val="90000"/>
              </a:lnSpc>
            </a:pPr>
            <a:r>
              <a:rPr lang="en-US" altLang="ja-JP" sz="3200" dirty="0" smtClean="0"/>
              <a:t>The </a:t>
            </a:r>
            <a:r>
              <a:rPr lang="en-US" altLang="ja-JP" sz="3200" dirty="0"/>
              <a:t>role of a company </a:t>
            </a:r>
            <a:r>
              <a:rPr lang="en-US" altLang="ja-JP" sz="3200" dirty="0" smtClean="0"/>
              <a:t>is supporting to an </a:t>
            </a:r>
            <a:r>
              <a:rPr lang="en-US" altLang="ja-JP" sz="3200" dirty="0"/>
              <a:t>individual </a:t>
            </a:r>
            <a:r>
              <a:rPr lang="en-US" altLang="ja-JP" sz="3200" dirty="0" smtClean="0"/>
              <a:t>creator and group.</a:t>
            </a:r>
          </a:p>
          <a:p>
            <a:pPr lvl="2">
              <a:lnSpc>
                <a:spcPct val="90000"/>
              </a:lnSpc>
            </a:pPr>
            <a:r>
              <a:rPr lang="en-US" altLang="ja-JP" sz="2400" dirty="0" smtClean="0"/>
              <a:t>A new product is </a:t>
            </a:r>
            <a:r>
              <a:rPr lang="en-US" altLang="ja-JP" sz="2400" dirty="0" smtClean="0">
                <a:solidFill>
                  <a:srgbClr val="FF0000"/>
                </a:solidFill>
              </a:rPr>
              <a:t>made by them</a:t>
            </a:r>
            <a:r>
              <a:rPr lang="en-US" altLang="ja-JP" sz="2400" dirty="0" smtClean="0"/>
              <a:t>.</a:t>
            </a:r>
            <a:endParaRPr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3735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Why are they free?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3200" dirty="0" err="1" smtClean="0"/>
              <a:t>MAKE:style</a:t>
            </a:r>
            <a:r>
              <a:rPr lang="en-US" altLang="ja-JP" sz="3200" dirty="0" smtClean="0"/>
              <a:t> (Do It With Others Style)</a:t>
            </a:r>
          </a:p>
          <a:p>
            <a:pPr lvl="1"/>
            <a:r>
              <a:rPr lang="en-US" altLang="ja-JP" dirty="0" smtClean="0"/>
              <a:t>Hardware</a:t>
            </a:r>
            <a:endParaRPr lang="en-US" altLang="ja-JP" dirty="0"/>
          </a:p>
          <a:p>
            <a:pPr lvl="2"/>
            <a:r>
              <a:rPr lang="en-US" altLang="ja-JP" dirty="0" err="1">
                <a:hlinkClick r:id="rId3"/>
              </a:rPr>
              <a:t>beagleboard-xM</a:t>
            </a:r>
            <a:endParaRPr lang="en-US" altLang="ja-JP" dirty="0"/>
          </a:p>
          <a:p>
            <a:pPr lvl="2"/>
            <a:r>
              <a:rPr lang="en-US" altLang="ja-JP" dirty="0" err="1" smtClean="0">
                <a:hlinkClick r:id="rId4"/>
              </a:rPr>
              <a:t>Arduino</a:t>
            </a:r>
            <a:endParaRPr lang="en-US" altLang="ja-JP" dirty="0"/>
          </a:p>
          <a:p>
            <a:pPr lvl="2"/>
            <a:r>
              <a:rPr lang="en-US" altLang="ja-JP" dirty="0" err="1" smtClean="0">
                <a:hlinkClick r:id="rId5"/>
              </a:rPr>
              <a:t>Kinect</a:t>
            </a:r>
            <a:endParaRPr lang="en-US" altLang="ja-JP" dirty="0"/>
          </a:p>
          <a:p>
            <a:pPr lvl="1"/>
            <a:endParaRPr lang="en-US" altLang="ja-JP" dirty="0" smtClean="0"/>
          </a:p>
          <a:p>
            <a:pPr marL="0" indent="0">
              <a:buNone/>
            </a:pPr>
            <a:endParaRPr kumimoji="1" lang="en-US" altLang="ja-JP" sz="3600" dirty="0"/>
          </a:p>
          <a:p>
            <a:pPr marL="0" indent="0">
              <a:buNone/>
            </a:pPr>
            <a:endParaRPr lang="en-US" altLang="ja-JP" sz="3600" dirty="0" smtClean="0"/>
          </a:p>
          <a:p>
            <a:pPr marL="0" indent="0">
              <a:buNone/>
            </a:pPr>
            <a:endParaRPr kumimoji="1" lang="en-US" altLang="ja-JP" sz="3600" dirty="0"/>
          </a:p>
          <a:p>
            <a:pPr marL="0" indent="0">
              <a:buNone/>
            </a:pPr>
            <a:r>
              <a:rPr kumimoji="1" lang="ja-JP" altLang="en-US" sz="3600" dirty="0" smtClean="0"/>
              <a:t>　 </a:t>
            </a:r>
            <a:r>
              <a:rPr kumimoji="1" lang="en-US" altLang="ja-JP" sz="3600" dirty="0" smtClean="0"/>
              <a:t>Do It Yourself </a:t>
            </a:r>
            <a:r>
              <a:rPr kumimoji="1" lang="ja-JP" altLang="en-US" sz="3600" dirty="0" smtClean="0"/>
              <a:t>⇒</a:t>
            </a:r>
            <a:r>
              <a:rPr lang="en-US" altLang="ja-JP" sz="3600" dirty="0" smtClean="0"/>
              <a:t>Do It With Others!</a:t>
            </a:r>
            <a:endParaRPr kumimoji="1" lang="ja-JP" altLang="en-US" sz="3600" dirty="0"/>
          </a:p>
        </p:txBody>
      </p:sp>
      <p:pic>
        <p:nvPicPr>
          <p:cNvPr id="4" name="Picture 6" descr="MCj01984400000[1]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34086" y="3327710"/>
            <a:ext cx="1835441" cy="1832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コンテンツ プレースホルダー 2"/>
          <p:cNvSpPr txBox="1">
            <a:spLocks/>
          </p:cNvSpPr>
          <p:nvPr/>
        </p:nvSpPr>
        <p:spPr bwMode="auto">
          <a:xfrm>
            <a:off x="4481944" y="1574975"/>
            <a:ext cx="5443451" cy="2165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7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0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11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ja-JP" dirty="0" smtClean="0"/>
              <a:t>Software</a:t>
            </a:r>
          </a:p>
          <a:p>
            <a:pPr lvl="2"/>
            <a:r>
              <a:rPr lang="en-US" altLang="ja-JP" dirty="0" err="1" smtClean="0">
                <a:hlinkClick r:id="rId12"/>
              </a:rPr>
              <a:t>ofxDroidKinect</a:t>
            </a:r>
            <a:endParaRPr lang="en-US" altLang="ja-JP" dirty="0" smtClean="0"/>
          </a:p>
          <a:p>
            <a:pPr lvl="3"/>
            <a:r>
              <a:rPr lang="en-US" altLang="ja-JP" dirty="0" err="1" smtClean="0">
                <a:hlinkClick r:id="rId13"/>
              </a:rPr>
              <a:t>Linaro</a:t>
            </a:r>
            <a:r>
              <a:rPr lang="en-US" altLang="ja-JP" dirty="0" smtClean="0">
                <a:hlinkClick r:id="rId13"/>
              </a:rPr>
              <a:t> Kernel</a:t>
            </a:r>
            <a:endParaRPr lang="en-US" altLang="ja-JP" dirty="0" smtClean="0"/>
          </a:p>
          <a:p>
            <a:pPr lvl="3"/>
            <a:r>
              <a:rPr lang="en-US" altLang="ja-JP" dirty="0" smtClean="0">
                <a:hlinkClick r:id="rId14"/>
              </a:rPr>
              <a:t>Android</a:t>
            </a:r>
            <a:endParaRPr lang="en-US" altLang="ja-JP" dirty="0" smtClean="0"/>
          </a:p>
          <a:p>
            <a:pPr marL="0" indent="0">
              <a:buFont typeface="Times" pitchFamily="-96" charset="0"/>
              <a:buNone/>
            </a:pPr>
            <a:endParaRPr lang="en-US" altLang="ja-JP" dirty="0" smtClean="0"/>
          </a:p>
          <a:p>
            <a:pPr marL="0" indent="0">
              <a:buFont typeface="Times" pitchFamily="-96" charset="0"/>
              <a:buNone/>
            </a:pPr>
            <a:r>
              <a:rPr lang="ja-JP" altLang="en-US" sz="3600" dirty="0" smtClean="0"/>
              <a:t>　</a:t>
            </a:r>
            <a:endParaRPr lang="ja-JP" altLang="en-US" sz="3600" dirty="0"/>
          </a:p>
        </p:txBody>
      </p:sp>
      <p:sp>
        <p:nvSpPr>
          <p:cNvPr id="6" name="AutoShape 13"/>
          <p:cNvSpPr>
            <a:spLocks noChangeArrowheads="1"/>
          </p:cNvSpPr>
          <p:nvPr/>
        </p:nvSpPr>
        <p:spPr bwMode="auto">
          <a:xfrm rot="-1458812">
            <a:off x="2311401" y="3680708"/>
            <a:ext cx="676275" cy="1398588"/>
          </a:xfrm>
          <a:prstGeom prst="downArrow">
            <a:avLst>
              <a:gd name="adj1" fmla="val 54509"/>
              <a:gd name="adj2" fmla="val 751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ja-JP" altLang="en-US"/>
          </a:p>
        </p:txBody>
      </p:sp>
      <p:sp>
        <p:nvSpPr>
          <p:cNvPr id="7" name="AutoShape 19"/>
          <p:cNvSpPr>
            <a:spLocks noChangeArrowheads="1"/>
          </p:cNvSpPr>
          <p:nvPr/>
        </p:nvSpPr>
        <p:spPr bwMode="auto">
          <a:xfrm rot="1109032">
            <a:off x="6323135" y="3674637"/>
            <a:ext cx="676275" cy="1398587"/>
          </a:xfrm>
          <a:prstGeom prst="downArrow">
            <a:avLst>
              <a:gd name="adj1" fmla="val 54509"/>
              <a:gd name="adj2" fmla="val 7515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2746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879874"/>
            <a:ext cx="7772400" cy="5327650"/>
          </a:xfrm>
        </p:spPr>
        <p:txBody>
          <a:bodyPr/>
          <a:lstStyle/>
          <a:p>
            <a:pPr algn="ctr"/>
            <a:endParaRPr kumimoji="1" lang="en-US" altLang="ja-JP" sz="4400" dirty="0" smtClean="0"/>
          </a:p>
          <a:p>
            <a:pPr algn="ctr"/>
            <a:endParaRPr lang="en-US" altLang="ja-JP" sz="4400" dirty="0"/>
          </a:p>
          <a:p>
            <a:pPr algn="ctr"/>
            <a:endParaRPr kumimoji="1" lang="en-US" altLang="ja-JP" sz="4400" dirty="0" smtClean="0"/>
          </a:p>
          <a:p>
            <a:pPr algn="ctr"/>
            <a:r>
              <a:rPr kumimoji="1" lang="en-US" altLang="ja-JP" sz="4400" dirty="0" smtClean="0"/>
              <a:t>Thank you!</a:t>
            </a:r>
            <a:endParaRPr kumimoji="1"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98903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Prop">
  <a:themeElements>
    <a:clrScheme name="sipr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16909</TotalTime>
  <Words>2896</Words>
  <Application>Microsoft Office PowerPoint</Application>
  <PresentationFormat>画面に合わせる (4:3)</PresentationFormat>
  <Paragraphs>721</Paragraphs>
  <Slides>68</Slides>
  <Notes>48</Notes>
  <HiddenSlides>0</HiddenSlides>
  <MMClips>1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68</vt:i4>
      </vt:variant>
    </vt:vector>
  </HeadingPairs>
  <TitlesOfParts>
    <vt:vector size="69" baseType="lpstr">
      <vt:lpstr>SIProp</vt:lpstr>
      <vt:lpstr>Content-Centric Embedded ～Treasure Hunting Robot～</vt:lpstr>
      <vt:lpstr>Agenda</vt:lpstr>
      <vt:lpstr>My Bio</vt:lpstr>
      <vt:lpstr>Current work</vt:lpstr>
      <vt:lpstr>Japan Android Group : 2008-</vt:lpstr>
      <vt:lpstr>Linaro: 2010-</vt:lpstr>
      <vt:lpstr>Android’s tools</vt:lpstr>
      <vt:lpstr>Today’s Topic</vt:lpstr>
      <vt:lpstr>What do you want to make?</vt:lpstr>
      <vt:lpstr>Need a lot of money…</vt:lpstr>
      <vt:lpstr>Treasure Hunting Robot</vt:lpstr>
      <vt:lpstr>Hardwares &amp; Softwares</vt:lpstr>
      <vt:lpstr>Important point</vt:lpstr>
      <vt:lpstr>Content-Centric Embedded</vt:lpstr>
      <vt:lpstr>What do you want to make?</vt:lpstr>
      <vt:lpstr>Auto Chasing Turtle</vt:lpstr>
      <vt:lpstr>Summary</vt:lpstr>
      <vt:lpstr>Movie</vt:lpstr>
      <vt:lpstr>Hardwares &amp; Softwares</vt:lpstr>
      <vt:lpstr>PowerPoint プレゼンテーション</vt:lpstr>
      <vt:lpstr>3 Points for Developing</vt:lpstr>
      <vt:lpstr>Detect the face</vt:lpstr>
      <vt:lpstr>How to recognizing a human’s face</vt:lpstr>
      <vt:lpstr>3 Points for Developing</vt:lpstr>
      <vt:lpstr>Calculate the course</vt:lpstr>
      <vt:lpstr>Calculate the course</vt:lpstr>
      <vt:lpstr>3 Points for Developing</vt:lpstr>
      <vt:lpstr>Calculate the distance</vt:lpstr>
      <vt:lpstr>Calculate the distance</vt:lpstr>
      <vt:lpstr>Treasure Hunting Robot</vt:lpstr>
      <vt:lpstr>Summary</vt:lpstr>
      <vt:lpstr>Manual</vt:lpstr>
      <vt:lpstr>Hardwares &amp; Softwares</vt:lpstr>
      <vt:lpstr>Hardwares’ photo</vt:lpstr>
      <vt:lpstr>Softwares’ photo</vt:lpstr>
      <vt:lpstr>PowerPoint プレゼンテーション</vt:lpstr>
      <vt:lpstr>Made by ofxDroidLinaro 1/2</vt:lpstr>
      <vt:lpstr>Made by ofxDroidLinaro 2/2</vt:lpstr>
      <vt:lpstr>Download source code</vt:lpstr>
      <vt:lpstr>PowerPoint プレゼンテーション</vt:lpstr>
      <vt:lpstr>PowerPoint プレゼンテーション</vt:lpstr>
      <vt:lpstr>Mini Maker Faire 2012 ShenZhen</vt:lpstr>
      <vt:lpstr>Ma An Shan Univ.</vt:lpstr>
      <vt:lpstr>PowerPoint プレゼンテーション</vt:lpstr>
      <vt:lpstr>OSDC.tw 2012 (Apr/2012)</vt:lpstr>
      <vt:lpstr>COSCUP 2011&amp;2012 (Aug)</vt:lpstr>
      <vt:lpstr>Computex 2011&amp;2012 (June)</vt:lpstr>
      <vt:lpstr>Yuan Pei Univ.</vt:lpstr>
      <vt:lpstr>PowerPoint プレゼンテーション</vt:lpstr>
      <vt:lpstr>Mini Maker Faire 2012 Singapore</vt:lpstr>
      <vt:lpstr>PowerPoint プレゼンテーション</vt:lpstr>
      <vt:lpstr>Mini Maker Faire 2012 Hong Kong</vt:lpstr>
      <vt:lpstr>PowerPoint プレゼンテーション</vt:lpstr>
      <vt:lpstr>Linaro Demo Friday 2012.Q2</vt:lpstr>
      <vt:lpstr>Embedded Linux Con 2012</vt:lpstr>
      <vt:lpstr>Maker Faire 2012 BayArea</vt:lpstr>
      <vt:lpstr>PowerPoint プレゼンテーション</vt:lpstr>
      <vt:lpstr>ABC 2012 Spring</vt:lpstr>
      <vt:lpstr>NicoNico Gakkai</vt:lpstr>
      <vt:lpstr>LinuxCon Japan 2012</vt:lpstr>
      <vt:lpstr>PowerPoint プレゼンテーション</vt:lpstr>
      <vt:lpstr>Why do you work?</vt:lpstr>
      <vt:lpstr>No money economy</vt:lpstr>
      <vt:lpstr>Ex: Simeji 1/2</vt:lpstr>
      <vt:lpstr>Ex: Simeji 2/2</vt:lpstr>
      <vt:lpstr>This was predicted in 2006</vt:lpstr>
      <vt:lpstr>Why are they free?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</dc:creator>
  <cp:lastModifiedBy>noritsuna</cp:lastModifiedBy>
  <cp:revision>1168</cp:revision>
  <cp:lastPrinted>2011-08-14T07:58:02Z</cp:lastPrinted>
  <dcterms:created xsi:type="dcterms:W3CDTF">2011-03-17T08:34:24Z</dcterms:created>
  <dcterms:modified xsi:type="dcterms:W3CDTF">2012-08-20T15:50:49Z</dcterms:modified>
</cp:coreProperties>
</file>