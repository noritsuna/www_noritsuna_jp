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96" r:id="rId3"/>
    <p:sldId id="297" r:id="rId4"/>
    <p:sldId id="307" r:id="rId5"/>
    <p:sldId id="308" r:id="rId6"/>
    <p:sldId id="271" r:id="rId7"/>
    <p:sldId id="318" r:id="rId8"/>
    <p:sldId id="272" r:id="rId9"/>
    <p:sldId id="273" r:id="rId10"/>
    <p:sldId id="317" r:id="rId11"/>
    <p:sldId id="310" r:id="rId12"/>
    <p:sldId id="320" r:id="rId13"/>
    <p:sldId id="309" r:id="rId14"/>
    <p:sldId id="299" r:id="rId15"/>
    <p:sldId id="300" r:id="rId16"/>
    <p:sldId id="266" r:id="rId17"/>
    <p:sldId id="288" r:id="rId18"/>
    <p:sldId id="290" r:id="rId19"/>
    <p:sldId id="291" r:id="rId20"/>
    <p:sldId id="301" r:id="rId21"/>
    <p:sldId id="293" r:id="rId22"/>
    <p:sldId id="305" r:id="rId23"/>
    <p:sldId id="302" r:id="rId24"/>
    <p:sldId id="303" r:id="rId25"/>
    <p:sldId id="278" r:id="rId26"/>
    <p:sldId id="279" r:id="rId27"/>
    <p:sldId id="269" r:id="rId28"/>
    <p:sldId id="294" r:id="rId29"/>
    <p:sldId id="265" r:id="rId30"/>
    <p:sldId id="314" r:id="rId31"/>
    <p:sldId id="286" r:id="rId32"/>
    <p:sldId id="311" r:id="rId33"/>
    <p:sldId id="313" r:id="rId34"/>
    <p:sldId id="315" r:id="rId35"/>
    <p:sldId id="316" r:id="rId36"/>
    <p:sldId id="276" r:id="rId37"/>
    <p:sldId id="280" r:id="rId38"/>
  </p:sldIdLst>
  <p:sldSz cx="9144000" cy="6858000" type="screen4x3"/>
  <p:notesSz cx="6805613" cy="9939338"/>
  <p:defaultTextStyle>
    <a:defPPr>
      <a:defRPr lang="ja-JP"/>
    </a:defPPr>
    <a:lvl1pPr algn="l" rtl="0" fontAlgn="base">
      <a:spcBef>
        <a:spcPct val="0"/>
      </a:spcBef>
      <a:spcAft>
        <a:spcPct val="0"/>
      </a:spcAft>
      <a:defRPr kumimoji="1" sz="2400" kern="1200">
        <a:solidFill>
          <a:schemeClr val="tx1"/>
        </a:solidFill>
        <a:latin typeface="Arial" charset="0"/>
        <a:ea typeface="ＭＳ Ｐゴシック" pitchFamily="-96" charset="-128"/>
        <a:cs typeface="+mn-cs"/>
      </a:defRPr>
    </a:lvl1pPr>
    <a:lvl2pPr marL="457200" algn="l" rtl="0" fontAlgn="base">
      <a:spcBef>
        <a:spcPct val="0"/>
      </a:spcBef>
      <a:spcAft>
        <a:spcPct val="0"/>
      </a:spcAft>
      <a:defRPr kumimoji="1" sz="2400" kern="1200">
        <a:solidFill>
          <a:schemeClr val="tx1"/>
        </a:solidFill>
        <a:latin typeface="Arial" charset="0"/>
        <a:ea typeface="ＭＳ Ｐゴシック" pitchFamily="-96" charset="-128"/>
        <a:cs typeface="+mn-cs"/>
      </a:defRPr>
    </a:lvl2pPr>
    <a:lvl3pPr marL="914400" algn="l" rtl="0" fontAlgn="base">
      <a:spcBef>
        <a:spcPct val="0"/>
      </a:spcBef>
      <a:spcAft>
        <a:spcPct val="0"/>
      </a:spcAft>
      <a:defRPr kumimoji="1" sz="2400" kern="1200">
        <a:solidFill>
          <a:schemeClr val="tx1"/>
        </a:solidFill>
        <a:latin typeface="Arial" charset="0"/>
        <a:ea typeface="ＭＳ Ｐゴシック" pitchFamily="-96" charset="-128"/>
        <a:cs typeface="+mn-cs"/>
      </a:defRPr>
    </a:lvl3pPr>
    <a:lvl4pPr marL="1371600" algn="l" rtl="0" fontAlgn="base">
      <a:spcBef>
        <a:spcPct val="0"/>
      </a:spcBef>
      <a:spcAft>
        <a:spcPct val="0"/>
      </a:spcAft>
      <a:defRPr kumimoji="1" sz="2400" kern="1200">
        <a:solidFill>
          <a:schemeClr val="tx1"/>
        </a:solidFill>
        <a:latin typeface="Arial" charset="0"/>
        <a:ea typeface="ＭＳ Ｐゴシック" pitchFamily="-96" charset="-128"/>
        <a:cs typeface="+mn-cs"/>
      </a:defRPr>
    </a:lvl4pPr>
    <a:lvl5pPr marL="1828800" algn="l" rtl="0" fontAlgn="base">
      <a:spcBef>
        <a:spcPct val="0"/>
      </a:spcBef>
      <a:spcAft>
        <a:spcPct val="0"/>
      </a:spcAft>
      <a:defRPr kumimoji="1" sz="2400" kern="1200">
        <a:solidFill>
          <a:schemeClr val="tx1"/>
        </a:solidFill>
        <a:latin typeface="Arial" charset="0"/>
        <a:ea typeface="ＭＳ Ｐゴシック" pitchFamily="-96" charset="-128"/>
        <a:cs typeface="+mn-cs"/>
      </a:defRPr>
    </a:lvl5pPr>
    <a:lvl6pPr marL="2286000" algn="l" defTabSz="914400" rtl="0" eaLnBrk="1" latinLnBrk="0" hangingPunct="1">
      <a:defRPr kumimoji="1" sz="2400" kern="1200">
        <a:solidFill>
          <a:schemeClr val="tx1"/>
        </a:solidFill>
        <a:latin typeface="Arial" charset="0"/>
        <a:ea typeface="ＭＳ Ｐゴシック" pitchFamily="-96" charset="-128"/>
        <a:cs typeface="+mn-cs"/>
      </a:defRPr>
    </a:lvl6pPr>
    <a:lvl7pPr marL="2743200" algn="l" defTabSz="914400" rtl="0" eaLnBrk="1" latinLnBrk="0" hangingPunct="1">
      <a:defRPr kumimoji="1" sz="2400" kern="1200">
        <a:solidFill>
          <a:schemeClr val="tx1"/>
        </a:solidFill>
        <a:latin typeface="Arial" charset="0"/>
        <a:ea typeface="ＭＳ Ｐゴシック" pitchFamily="-96" charset="-128"/>
        <a:cs typeface="+mn-cs"/>
      </a:defRPr>
    </a:lvl7pPr>
    <a:lvl8pPr marL="3200400" algn="l" defTabSz="914400" rtl="0" eaLnBrk="1" latinLnBrk="0" hangingPunct="1">
      <a:defRPr kumimoji="1" sz="2400" kern="1200">
        <a:solidFill>
          <a:schemeClr val="tx1"/>
        </a:solidFill>
        <a:latin typeface="Arial" charset="0"/>
        <a:ea typeface="ＭＳ Ｐゴシック" pitchFamily="-96" charset="-128"/>
        <a:cs typeface="+mn-cs"/>
      </a:defRPr>
    </a:lvl8pPr>
    <a:lvl9pPr marL="3657600" algn="l" defTabSz="914400" rtl="0" eaLnBrk="1" latinLnBrk="0" hangingPunct="1">
      <a:defRPr kumimoji="1" sz="2400" kern="1200">
        <a:solidFill>
          <a:schemeClr val="tx1"/>
        </a:solidFill>
        <a:latin typeface="Arial" charset="0"/>
        <a:ea typeface="ＭＳ Ｐゴシック" pitchFamily="-96"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0"/>
      </p:ext>
    </p:extLst>
  </p:showPr>
  <p:clrMru>
    <a:srgbClr val="FFFFCC"/>
    <a:srgbClr val="FFCCFF"/>
    <a:srgbClr val="0080FF"/>
    <a:srgbClr val="FF0000"/>
    <a:srgbClr val="FF6FCF"/>
    <a:srgbClr val="E8E8E8"/>
    <a:srgbClr val="CCFFCC"/>
    <a:srgbClr val="FFFF99"/>
    <a:srgbClr val="C0C0C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64" autoAdjust="0"/>
    <p:restoredTop sz="75704" autoAdjust="0"/>
  </p:normalViewPr>
  <p:slideViewPr>
    <p:cSldViewPr snapToGrid="0">
      <p:cViewPr varScale="1">
        <p:scale>
          <a:sx n="55" d="100"/>
          <a:sy n="55" d="100"/>
        </p:scale>
        <p:origin x="-288"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026"/>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ja-JP"/>
          </a:p>
        </p:txBody>
      </p:sp>
      <p:sp>
        <p:nvSpPr>
          <p:cNvPr id="11267" name="Rectangle 1027"/>
          <p:cNvSpPr>
            <a:spLocks noGrp="1" noChangeArrowheads="1"/>
          </p:cNvSpPr>
          <p:nvPr>
            <p:ph type="dt" idx="1"/>
          </p:nvPr>
        </p:nvSpPr>
        <p:spPr bwMode="auto">
          <a:xfrm>
            <a:off x="3854450" y="0"/>
            <a:ext cx="2949575" cy="4968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ja-JP"/>
          </a:p>
        </p:txBody>
      </p:sp>
      <p:sp>
        <p:nvSpPr>
          <p:cNvPr id="11268" name="Rectangle 1028"/>
          <p:cNvSpPr>
            <a:spLocks noGrp="1" noRot="1" noChangeAspect="1" noChangeArrowheads="1" noTextEdit="1"/>
          </p:cNvSpPr>
          <p:nvPr>
            <p:ph type="sldImg" idx="2"/>
          </p:nvPr>
        </p:nvSpPr>
        <p:spPr bwMode="auto">
          <a:xfrm>
            <a:off x="920750" y="746125"/>
            <a:ext cx="4967288" cy="3725863"/>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11269" name="Rectangle 1029"/>
          <p:cNvSpPr>
            <a:spLocks noGrp="1" noChangeArrowheads="1"/>
          </p:cNvSpPr>
          <p:nvPr>
            <p:ph type="body" sz="quarter" idx="3"/>
          </p:nvPr>
        </p:nvSpPr>
        <p:spPr bwMode="auto">
          <a:xfrm>
            <a:off x="681038" y="4721225"/>
            <a:ext cx="5443537" cy="44719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11270" name="Rectangle 1030"/>
          <p:cNvSpPr>
            <a:spLocks noGrp="1" noChangeArrowheads="1"/>
          </p:cNvSpPr>
          <p:nvPr>
            <p:ph type="ftr" sz="quarter" idx="4"/>
          </p:nvPr>
        </p:nvSpPr>
        <p:spPr bwMode="auto">
          <a:xfrm>
            <a:off x="0" y="9440863"/>
            <a:ext cx="2949575" cy="496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ja-JP"/>
          </a:p>
        </p:txBody>
      </p:sp>
      <p:sp>
        <p:nvSpPr>
          <p:cNvPr id="11271" name="Rectangle 1031"/>
          <p:cNvSpPr>
            <a:spLocks noGrp="1" noChangeArrowheads="1"/>
          </p:cNvSpPr>
          <p:nvPr>
            <p:ph type="sldNum" sz="quarter" idx="5"/>
          </p:nvPr>
        </p:nvSpPr>
        <p:spPr bwMode="auto">
          <a:xfrm>
            <a:off x="3854450" y="9440863"/>
            <a:ext cx="2949575" cy="496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D8A48290-AC86-4EA9-8888-462A7AC87258}" type="slidenum">
              <a:rPr lang="en-US" altLang="ja-JP"/>
              <a:pPr/>
              <a:t>&lt;#&gt;</a:t>
            </a:fld>
            <a:endParaRPr lang="en-US" altLang="ja-JP"/>
          </a:p>
        </p:txBody>
      </p:sp>
    </p:spTree>
    <p:extLst>
      <p:ext uri="{BB962C8B-B14F-4D97-AF65-F5344CB8AC3E}">
        <p14:creationId xmlns="" xmlns:p14="http://schemas.microsoft.com/office/powerpoint/2010/main" val="148753251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ＭＳ Ｐゴシック" pitchFamily="-96" charset="-128"/>
        <a:cs typeface="+mn-cs"/>
      </a:defRPr>
    </a:lvl1pPr>
    <a:lvl2pPr marL="457200" algn="l" rtl="0" fontAlgn="base">
      <a:spcBef>
        <a:spcPct val="30000"/>
      </a:spcBef>
      <a:spcAft>
        <a:spcPct val="0"/>
      </a:spcAft>
      <a:defRPr kumimoji="1" sz="1200" kern="1200">
        <a:solidFill>
          <a:schemeClr val="tx1"/>
        </a:solidFill>
        <a:latin typeface="Arial" charset="0"/>
        <a:ea typeface="ＭＳ Ｐゴシック" pitchFamily="-96" charset="-128"/>
        <a:cs typeface="+mn-cs"/>
      </a:defRPr>
    </a:lvl2pPr>
    <a:lvl3pPr marL="914400" algn="l" rtl="0" fontAlgn="base">
      <a:spcBef>
        <a:spcPct val="30000"/>
      </a:spcBef>
      <a:spcAft>
        <a:spcPct val="0"/>
      </a:spcAft>
      <a:defRPr kumimoji="1" sz="1200" kern="1200">
        <a:solidFill>
          <a:schemeClr val="tx1"/>
        </a:solidFill>
        <a:latin typeface="Arial" charset="0"/>
        <a:ea typeface="ＭＳ Ｐゴシック" pitchFamily="-96" charset="-128"/>
        <a:cs typeface="+mn-cs"/>
      </a:defRPr>
    </a:lvl3pPr>
    <a:lvl4pPr marL="1371600" algn="l" rtl="0" fontAlgn="base">
      <a:spcBef>
        <a:spcPct val="30000"/>
      </a:spcBef>
      <a:spcAft>
        <a:spcPct val="0"/>
      </a:spcAft>
      <a:defRPr kumimoji="1" sz="1200" kern="1200">
        <a:solidFill>
          <a:schemeClr val="tx1"/>
        </a:solidFill>
        <a:latin typeface="Arial" charset="0"/>
        <a:ea typeface="ＭＳ Ｐゴシック" pitchFamily="-96" charset="-128"/>
        <a:cs typeface="+mn-cs"/>
      </a:defRPr>
    </a:lvl4pPr>
    <a:lvl5pPr marL="1828800" algn="l" rtl="0" fontAlgn="base">
      <a:spcBef>
        <a:spcPct val="30000"/>
      </a:spcBef>
      <a:spcAft>
        <a:spcPct val="0"/>
      </a:spcAft>
      <a:defRPr kumimoji="1" sz="1200" kern="1200">
        <a:solidFill>
          <a:schemeClr val="tx1"/>
        </a:solidFill>
        <a:latin typeface="Arial" charset="0"/>
        <a:ea typeface="ＭＳ Ｐゴシック" pitchFamily="-96"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9CC624E2-D5BE-49FF-A63A-79135793D79B}" type="slidenum">
              <a:rPr lang="en-US" altLang="ja-JP"/>
              <a:pPr/>
              <a:t>1</a:t>
            </a:fld>
            <a:endParaRPr lang="en-US" altLang="ja-JP"/>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自己紹介とプロジェクトについての説明。</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a:t>
            </a:fld>
            <a:endParaRPr lang="en-US"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地震と津波のこと。ここでは３・１１に起きた地震と追って発生した津波のことを話す。２万人以上の死者・行方不明者と１２万人以上の避難民がいます。</a:t>
            </a:r>
            <a:endParaRPr kumimoji="1" lang="en-US" altLang="ja-JP" dirty="0" smtClean="0"/>
          </a:p>
          <a:p>
            <a:r>
              <a:rPr lang="ja-JP" altLang="en-US" dirty="0" smtClean="0"/>
              <a:t>更に福島原発はメルトダウンを起こして、経済的な損失、工場、半導体工場も壊れた。風評被害</a:t>
            </a:r>
            <a:r>
              <a:rPr lang="en-US" altLang="ja-JP" dirty="0" smtClean="0"/>
              <a:t>(</a:t>
            </a:r>
            <a:r>
              <a:rPr lang="en-US" altLang="ja-JP" dirty="0" err="1" smtClean="0"/>
              <a:t>rumours</a:t>
            </a:r>
            <a:r>
              <a:rPr lang="en-US" altLang="ja-JP" baseline="0" dirty="0" smtClean="0"/>
              <a:t> damage)</a:t>
            </a:r>
            <a:r>
              <a:rPr lang="ja-JP" altLang="en-US" baseline="0" dirty="0" smtClean="0"/>
              <a:t>も起き、脱原発といった議論も起きている。</a:t>
            </a:r>
            <a:endParaRPr lang="en-US" altLang="ja-JP" baseline="0" dirty="0" smtClean="0"/>
          </a:p>
          <a:p>
            <a:r>
              <a:rPr lang="ja-JP" altLang="en-US" baseline="0" dirty="0" smtClean="0"/>
              <a:t>ただ、そういった議論を重ねて、日本を良くしようとする気持ちで一つになって、必ずこの危機を</a:t>
            </a:r>
            <a:r>
              <a:rPr lang="ja-JP" altLang="en-US" baseline="0" dirty="0" smtClean="0"/>
              <a:t>乗り越えられて今までにない新しい世界を作ろうとしてて、そこでコロンビアのみなさん・世界のみなさんの協力していけたらと思っています。</a:t>
            </a:r>
            <a:endParaRPr lang="en-US" altLang="ja-JP" baseline="0" dirty="0" smtClean="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3</a:t>
            </a:fld>
            <a:endParaRPr lang="en-US"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97A1FB53-9BA5-43BF-9D8E-E6B45453DEA2}" type="slidenum">
              <a:rPr lang="en-US" altLang="ja-JP"/>
              <a:pPr/>
              <a:t>4</a:t>
            </a:fld>
            <a:endParaRPr lang="en-US" altLang="ja-JP"/>
          </a:p>
        </p:txBody>
      </p:sp>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p:txBody>
          <a:bodyPr/>
          <a:lstStyle/>
          <a:p>
            <a:r>
              <a:rPr lang="ja-JP" altLang="en-US" dirty="0" smtClean="0"/>
              <a:t>アジェンダの説明。簡単に。</a:t>
            </a:r>
            <a:endParaRPr lang="ja-JP"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画像を大きくおいて、ロボットの振る舞いは別で用意しました。</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5</a:t>
            </a:fld>
            <a:endParaRPr lang="en-US" altLang="ja-J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ロボの動作パターンを話す。ここ、もしくは次のページで動画を再生して実際の物を見せる。</a:t>
            </a:r>
            <a:endParaRPr kumimoji="1" lang="en-US" altLang="ja-JP" dirty="0" smtClean="0"/>
          </a:p>
          <a:p>
            <a:r>
              <a:rPr kumimoji="1" lang="ja-JP" altLang="en-US" dirty="0" smtClean="0"/>
              <a:t>文字だけのページはキツイから、このページは</a:t>
            </a:r>
            <a:r>
              <a:rPr kumimoji="1" lang="ja-JP" altLang="en-US" dirty="0" err="1" smtClean="0"/>
              <a:t>無しでも</a:t>
            </a:r>
            <a:r>
              <a:rPr kumimoji="1" lang="ja-JP" altLang="en-US" dirty="0" smtClean="0"/>
              <a:t>良いかも。</a:t>
            </a:r>
            <a:endParaRPr kumimoji="1" lang="en-US" altLang="ja-JP" dirty="0" smtClean="0"/>
          </a:p>
          <a:p>
            <a:r>
              <a:rPr kumimoji="1" lang="ja-JP" altLang="en-US" dirty="0" smtClean="0"/>
              <a:t>ここでデモ</a:t>
            </a:r>
            <a:endParaRPr kumimoji="1" lang="en-US" altLang="ja-JP" dirty="0" smtClean="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6</a:t>
            </a:fld>
            <a:endParaRPr lang="en-US" altLang="ja-JP"/>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実際にはこのように動きます</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7</a:t>
            </a:fld>
            <a:endParaRPr lang="en-US" altLang="ja-J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さっきの動画と、ソースコードはこちら。といった感じで簡単に流す。</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8</a:t>
            </a:fld>
            <a:endParaRPr lang="en-US" altLang="ja-J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ここは簡単でＯＫかも。</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9</a:t>
            </a:fld>
            <a:endParaRPr lang="en-US" altLang="ja-JP"/>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en-US" altLang="ja-JP" dirty="0" smtClean="0"/>
              <a:t>DENSUKE</a:t>
            </a:r>
            <a:r>
              <a:rPr kumimoji="1" lang="ja-JP" altLang="en-US" dirty="0" smtClean="0"/>
              <a:t>プロジェクトは、家庭用ヘルスケアペットロボットを作成することを</a:t>
            </a:r>
            <a:endParaRPr kumimoji="1" lang="en-US" altLang="ja-JP" dirty="0" smtClean="0"/>
          </a:p>
          <a:p>
            <a:r>
              <a:rPr kumimoji="1" lang="ja-JP" altLang="en-US" dirty="0" smtClean="0"/>
              <a:t>目指しているプロジェクトです。</a:t>
            </a:r>
            <a:endParaRPr kumimoji="1" lang="en-US" altLang="ja-JP" dirty="0" smtClean="0"/>
          </a:p>
          <a:p>
            <a:r>
              <a:rPr kumimoji="1" lang="ja-JP" altLang="en-US" dirty="0" smtClean="0"/>
              <a:t>顔色認識や</a:t>
            </a:r>
            <a:r>
              <a:rPr kumimoji="1" lang="en-US" altLang="ja-JP" dirty="0" smtClean="0"/>
              <a:t>BMI</a:t>
            </a:r>
            <a:r>
              <a:rPr kumimoji="1" lang="ja-JP" altLang="en-US" dirty="0" smtClean="0"/>
              <a:t>（脳波チェッカー）による健康状態チェックしたりします。</a:t>
            </a:r>
            <a:endParaRPr kumimoji="1" lang="en-US" altLang="ja-JP" dirty="0" smtClean="0"/>
          </a:p>
          <a:p>
            <a:endParaRPr kumimoji="1" lang="en-US" altLang="ja-JP" dirty="0" smtClean="0"/>
          </a:p>
          <a:p>
            <a:r>
              <a:rPr kumimoji="1" lang="ja-JP" altLang="en-US" dirty="0" smtClean="0"/>
              <a:t>そのためには、かなりたくさんの先端技術開発をしなければならないため、</a:t>
            </a:r>
            <a:endParaRPr kumimoji="1" lang="en-US" altLang="ja-JP" dirty="0" smtClean="0"/>
          </a:p>
          <a:p>
            <a:r>
              <a:rPr kumimoji="1" lang="ja-JP" altLang="en-US" dirty="0" smtClean="0"/>
              <a:t>我々は、そのうちの一部をお手伝いする形で、参加しています。</a:t>
            </a:r>
            <a:endParaRPr kumimoji="1" lang="en-US" altLang="ja-JP" dirty="0" smtClean="0"/>
          </a:p>
          <a:p>
            <a:r>
              <a:rPr kumimoji="1" lang="ja-JP" altLang="en-US" dirty="0" smtClean="0"/>
              <a:t>このカメは、その一環です。</a:t>
            </a:r>
            <a:endParaRPr kumimoji="1" lang="en-US" altLang="ja-JP" dirty="0" smtClean="0"/>
          </a:p>
          <a:p>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10</a:t>
            </a:fld>
            <a:endParaRPr lang="en-US" altLang="ja-JP"/>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さらに、</a:t>
            </a:r>
            <a:r>
              <a:rPr kumimoji="1" lang="en-US" altLang="ja-JP" dirty="0" smtClean="0"/>
              <a:t>DENSUKE</a:t>
            </a:r>
            <a:r>
              <a:rPr kumimoji="1" lang="ja-JP" altLang="en-US" dirty="0" smtClean="0"/>
              <a:t>プロジェクトは、一般社団法人である</a:t>
            </a:r>
            <a:r>
              <a:rPr kumimoji="1" lang="en-US" altLang="ja-JP" dirty="0" smtClean="0"/>
              <a:t>OESF</a:t>
            </a:r>
            <a:r>
              <a:rPr kumimoji="1" lang="ja-JP" altLang="en-US" dirty="0" smtClean="0"/>
              <a:t>の</a:t>
            </a:r>
            <a:r>
              <a:rPr kumimoji="1" lang="en-US" altLang="ja-JP" dirty="0" smtClean="0"/>
              <a:t>Future</a:t>
            </a:r>
            <a:r>
              <a:rPr kumimoji="1" lang="ja-JP" altLang="en-US" dirty="0" smtClean="0"/>
              <a:t> </a:t>
            </a:r>
            <a:r>
              <a:rPr kumimoji="1" lang="en-US" altLang="ja-JP" dirty="0" smtClean="0"/>
              <a:t>Systems</a:t>
            </a:r>
            <a:r>
              <a:rPr kumimoji="1" lang="ja-JP" altLang="en-US" dirty="0" smtClean="0"/>
              <a:t> </a:t>
            </a:r>
            <a:r>
              <a:rPr kumimoji="1" lang="en-US" altLang="ja-JP" dirty="0" smtClean="0"/>
              <a:t>WG</a:t>
            </a:r>
          </a:p>
          <a:p>
            <a:r>
              <a:rPr kumimoji="1" lang="ja-JP" altLang="en-US" dirty="0" smtClean="0"/>
              <a:t>として活動しており、さまざまなパートナーシップ制度のもと、運営されています。</a:t>
            </a:r>
            <a:endParaRPr kumimoji="1" lang="en-US" altLang="ja-JP" dirty="0" smtClean="0"/>
          </a:p>
          <a:p>
            <a:r>
              <a:rPr kumimoji="1" lang="ja-JP" altLang="en-US" dirty="0" smtClean="0"/>
              <a:t>（興味のある方は、アクセスしてみてください。資料などが用意されています。）</a:t>
            </a:r>
            <a:endParaRPr kumimoji="1" lang="en-US" altLang="ja-JP" dirty="0" smtClean="0"/>
          </a:p>
          <a:p>
            <a:endParaRPr kumimoji="1" lang="en-US" altLang="ja-JP" dirty="0" smtClean="0"/>
          </a:p>
          <a:p>
            <a:r>
              <a:rPr kumimoji="1" lang="ja-JP" altLang="en-US" dirty="0" smtClean="0"/>
              <a:t>そして、この</a:t>
            </a:r>
            <a:r>
              <a:rPr kumimoji="1" lang="en-US" altLang="ja-JP" dirty="0" smtClean="0"/>
              <a:t>DENSUKE</a:t>
            </a:r>
            <a:r>
              <a:rPr kumimoji="1" lang="ja-JP" altLang="en-US" dirty="0" smtClean="0"/>
              <a:t>プロジェクトのリーダーは、あの</a:t>
            </a:r>
            <a:r>
              <a:rPr kumimoji="1" lang="en-US" altLang="ja-JP" dirty="0" smtClean="0"/>
              <a:t>AIBO</a:t>
            </a:r>
            <a:r>
              <a:rPr kumimoji="1" lang="ja-JP" altLang="en-US" dirty="0" smtClean="0"/>
              <a:t>の開発責任者である、</a:t>
            </a:r>
            <a:endParaRPr kumimoji="1" lang="en-US" altLang="ja-JP" dirty="0" smtClean="0"/>
          </a:p>
          <a:p>
            <a:r>
              <a:rPr kumimoji="1" lang="ja-JP" altLang="en-US" dirty="0" smtClean="0"/>
              <a:t>大槻正（おおつきただし）さんです。</a:t>
            </a:r>
            <a:endParaRPr kumimoji="1" lang="en-US" altLang="ja-JP" dirty="0" smtClean="0"/>
          </a:p>
          <a:p>
            <a:r>
              <a:rPr kumimoji="1" lang="en-US" altLang="ja-JP" dirty="0" smtClean="0"/>
              <a:t>AIBO</a:t>
            </a:r>
            <a:r>
              <a:rPr kumimoji="1" lang="ja-JP" altLang="en-US" dirty="0" smtClean="0"/>
              <a:t>で培った経験を生かして、本プロジェクトの実現に向けて、邁進されています。</a:t>
            </a:r>
            <a:endParaRPr kumimoji="1" lang="en-US" altLang="ja-JP" dirty="0" smtClean="0"/>
          </a:p>
          <a:p>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11</a:t>
            </a:fld>
            <a:endParaRPr lang="en-US" altLang="ja-JP"/>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ほとんどのアプリケーションは据え置き機を使ったものでしか利用されていない。僕たちは動いて外の世界で活動して刺激を受けているのに。据え置き機の問題があって、仮想世界を外に持ち出して利用する為の方法を考えないといけない。そして多くのアプリケーション、</a:t>
            </a:r>
            <a:r>
              <a:rPr kumimoji="1" lang="en-US" altLang="ja-JP" dirty="0" err="1" smtClean="0"/>
              <a:t>Wii</a:t>
            </a:r>
            <a:r>
              <a:rPr kumimoji="1" lang="en-US" altLang="ja-JP" dirty="0" smtClean="0"/>
              <a:t>/PS3</a:t>
            </a:r>
            <a:r>
              <a:rPr kumimoji="1" lang="ja-JP" altLang="en-US" dirty="0" err="1" smtClean="0"/>
              <a:t>や携</a:t>
            </a:r>
            <a:r>
              <a:rPr kumimoji="1" lang="ja-JP" altLang="en-US" dirty="0" smtClean="0"/>
              <a:t>帯電話のアプリケーションはセンサーデバイスを搭載して、僕たちの動きを使ったものが増えてきている。</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13</a:t>
            </a:fld>
            <a:endParaRPr lang="en-US" altLang="ja-JP"/>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もちろん</a:t>
            </a:r>
            <a:r>
              <a:rPr kumimoji="1" lang="en-US" altLang="ja-JP" dirty="0" smtClean="0"/>
              <a:t>KINECT</a:t>
            </a:r>
            <a:r>
              <a:rPr kumimoji="1" lang="ja-JP" altLang="en-US" dirty="0" smtClean="0"/>
              <a:t>も深度センサーを使った</a:t>
            </a:r>
            <a:r>
              <a:rPr kumimoji="1" lang="en-US" altLang="ja-JP" dirty="0" smtClean="0"/>
              <a:t>KINECT</a:t>
            </a:r>
            <a:r>
              <a:rPr kumimoji="1" lang="ja-JP" altLang="en-US" dirty="0" smtClean="0"/>
              <a:t>との距離を測定したり、人の骨格データを利用することができるが、これも</a:t>
            </a:r>
            <a:r>
              <a:rPr kumimoji="1" lang="en-US" altLang="ja-JP" dirty="0" smtClean="0"/>
              <a:t>XBOX</a:t>
            </a:r>
            <a:r>
              <a:rPr kumimoji="1" lang="ja-JP" altLang="en-US" dirty="0" smtClean="0"/>
              <a:t>という家の中で使う据え置きゲーム機をターゲットにしているため、モビリティの問題を解決することができない。仮想世界を僕たちが行動を主にする世界で体感することができれば、もっと面白い世界が広がるのでは？そこで、</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14</a:t>
            </a:fld>
            <a:endParaRPr lang="en-US" altLang="ja-JP"/>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そこでＫＩＮＥＣＴを移動できるロボットの上において、仮想世界をロボットを通じて感じることが出来るのでは？と。このロボットは人の顔を認識して追いかけてくるのは、まるでデジタルデータ、つまり仮想世界の物が“こちら側”（人が居る世界）へ近づいてきているような感覚があるでしょう。これからは携帯電話やタブレットにもこういったセンサーデバイスが搭載されて、もっと僕たちのアナログデータは仮想世界に持ち出すことが用意になるでしょう。</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15</a:t>
            </a:fld>
            <a:endParaRPr lang="en-US" altLang="ja-JP"/>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まず最初に構成要素の組み合わせで、この</a:t>
            </a:r>
            <a:r>
              <a:rPr kumimoji="1" lang="en-US" altLang="ja-JP" dirty="0" smtClean="0"/>
              <a:t>3</a:t>
            </a:r>
            <a:r>
              <a:rPr kumimoji="1" lang="ja-JP" altLang="en-US" dirty="0" err="1" smtClean="0"/>
              <a:t>つを</a:t>
            </a:r>
            <a:r>
              <a:rPr kumimoji="1" lang="ja-JP" altLang="en-US" dirty="0" smtClean="0"/>
              <a:t>使っているという話で、</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17</a:t>
            </a:fld>
            <a:endParaRPr lang="en-US" altLang="ja-JP"/>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最初に作ったものは</a:t>
            </a:r>
            <a:r>
              <a:rPr kumimoji="1" lang="en-US" altLang="ja-JP" dirty="0" err="1" smtClean="0"/>
              <a:t>ofxDroidKinect</a:t>
            </a:r>
            <a:r>
              <a:rPr kumimoji="1" lang="ja-JP" altLang="en-US" dirty="0" smtClean="0"/>
              <a:t>がベースになっているという話をする。ここで動画も見せること！！</a:t>
            </a:r>
            <a:endParaRPr kumimoji="1" lang="en-US" altLang="ja-JP" dirty="0" smtClean="0"/>
          </a:p>
          <a:p>
            <a:r>
              <a:rPr kumimoji="1" lang="en-US" altLang="ja-JP" dirty="0" smtClean="0"/>
              <a:t>http://www.youtube.com/watch?v=uJuQMOu0JOc</a:t>
            </a:r>
            <a:r>
              <a:rPr kumimoji="1" lang="ja-JP" altLang="en-US" dirty="0" smtClean="0"/>
              <a:t>（ラーメン屋でデモしていた）</a:t>
            </a:r>
            <a:endParaRPr kumimoji="1" lang="en-US" altLang="ja-JP" dirty="0" smtClean="0"/>
          </a:p>
          <a:p>
            <a:r>
              <a:rPr kumimoji="1" lang="en-US" altLang="ja-JP" dirty="0" smtClean="0"/>
              <a:t>http://www.youtube.com/watch?v=8oOhwgDmeXo</a:t>
            </a:r>
            <a:r>
              <a:rPr kumimoji="1" lang="ja-JP" altLang="en-US" dirty="0" smtClean="0"/>
              <a:t>（こっちは自宅で撮った）</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18</a:t>
            </a:fld>
            <a:endParaRPr lang="en-US" altLang="ja-JP"/>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ここでこの基礎を構成している物についての説明をしなければなりません。これは</a:t>
            </a:r>
            <a:r>
              <a:rPr kumimoji="1" lang="en-US" altLang="ja-JP" dirty="0" err="1" smtClean="0"/>
              <a:t>openframeworks</a:t>
            </a:r>
            <a:r>
              <a:rPr kumimoji="1" lang="ja-JP" altLang="en-US" dirty="0" smtClean="0"/>
              <a:t>と</a:t>
            </a:r>
            <a:r>
              <a:rPr kumimoji="1" lang="en-US" altLang="ja-JP" dirty="0" err="1" smtClean="0"/>
              <a:t>Linaro</a:t>
            </a:r>
            <a:r>
              <a:rPr kumimoji="1" lang="en-US" altLang="ja-JP" dirty="0" smtClean="0"/>
              <a:t>/Android</a:t>
            </a:r>
            <a:r>
              <a:rPr kumimoji="1" lang="ja-JP" altLang="en-US" dirty="0" smtClean="0"/>
              <a:t>から構成されています。</a:t>
            </a:r>
            <a:r>
              <a:rPr kumimoji="1" lang="en-US" altLang="ja-JP" dirty="0" err="1" smtClean="0"/>
              <a:t>openFrameworks</a:t>
            </a:r>
            <a:r>
              <a:rPr kumimoji="1" lang="ja-JP" altLang="en-US" dirty="0" smtClean="0"/>
              <a:t>はマルチメディアのデータを用意に扱うためのフレームワークで、ゲームやインタラクティブアートの世界でよく使われています。とかなん</a:t>
            </a:r>
            <a:r>
              <a:rPr kumimoji="1" lang="ja-JP" altLang="en-US" dirty="0" err="1" smtClean="0"/>
              <a:t>ちゃら。</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19</a:t>
            </a:fld>
            <a:endParaRPr lang="en-US" altLang="ja-JP"/>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構成図について。実際の通信も含めて話す。</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20</a:t>
            </a:fld>
            <a:endParaRPr lang="en-US" altLang="ja-JP"/>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基本の３動作について話す。</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21</a:t>
            </a:fld>
            <a:endParaRPr lang="en-US" altLang="ja-JP"/>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顔認識とは何か？といった事に言及する。初にこの中で重要な顔認識についての話をしましょう。顔認識では</a:t>
            </a:r>
            <a:r>
              <a:rPr kumimoji="1" lang="en-US" altLang="ja-JP" dirty="0" smtClean="0"/>
              <a:t>KINECT</a:t>
            </a:r>
            <a:r>
              <a:rPr kumimoji="1" lang="ja-JP" altLang="en-US" dirty="0" smtClean="0"/>
              <a:t>のカメラを使っています。</a:t>
            </a:r>
            <a:r>
              <a:rPr kumimoji="1" lang="en-US" altLang="ja-JP" dirty="0" smtClean="0"/>
              <a:t>KINECT</a:t>
            </a:r>
            <a:r>
              <a:rPr kumimoji="1" lang="ja-JP" altLang="en-US" dirty="0" smtClean="0"/>
              <a:t>のカメラは</a:t>
            </a:r>
            <a:r>
              <a:rPr kumimoji="1" lang="en-US" altLang="ja-JP" dirty="0" smtClean="0"/>
              <a:t>RGB 640x480</a:t>
            </a:r>
            <a:r>
              <a:rPr kumimoji="1" lang="ja-JP" altLang="en-US" dirty="0" smtClean="0"/>
              <a:t>サイズの画像として利用できて、その画像の中から顔を特定しています。</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22</a:t>
            </a:fld>
            <a:endParaRPr lang="en-US" altLang="ja-JP"/>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顔の認識には特徴点を使った解析が一般的です。特徴点というのは、例えば「目、鼻、口、輪郭」があれば顔として対象の部分を顔として特定します。他にも顔認識には統計的なデータを使うようなこともできます。例えば笑っている顔のデータを集めることで、笑っている時と特定することもできるでしょう。ただ、統計的なデータを使う時は少し問題があって、地域によって人の顔が異なる点です。例えば日本人だけのデータを集めると、日本人の顔の場合は顔を容易に特定できますが、海外の人を対象とする場合、顔認識のヒット率が下がります。もちろん特徴点だけの分析の場合は、おおまかに顔を検出することができるでしょう。</a:t>
            </a:r>
            <a:endParaRPr kumimoji="1" lang="en-US" altLang="ja-JP" dirty="0" smtClean="0"/>
          </a:p>
          <a:p>
            <a:r>
              <a:rPr kumimoji="1" lang="ja-JP" altLang="en-US" dirty="0" smtClean="0"/>
              <a:t>例えば、</a:t>
            </a:r>
            <a:r>
              <a:rPr kumimoji="1" lang="en-US" altLang="ja-JP" dirty="0" err="1" smtClean="0"/>
              <a:t>flickr</a:t>
            </a:r>
            <a:r>
              <a:rPr kumimoji="1" lang="ja-JP" altLang="en-US" dirty="0" smtClean="0"/>
              <a:t>から笑顔の写真と、その写真の人がどの地域の人か分って、その写真データを統計的に使うと、地域毎に顔のヒット率を上げることもできるでしょう。</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23</a:t>
            </a:fld>
            <a:endParaRPr lang="en-US" altLang="ja-JP"/>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pPr marL="334963" indent="-334963">
              <a:spcBef>
                <a:spcPts val="488"/>
              </a:spcBef>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kumimoji="1" lang="ja-JP" altLang="en-US" dirty="0" smtClean="0"/>
              <a:t>実際の制御について話す。</a:t>
            </a:r>
            <a:r>
              <a:rPr lang="en-GB" altLang="ja-JP" dirty="0" smtClean="0">
                <a:solidFill>
                  <a:srgbClr val="000000"/>
                </a:solidFill>
                <a:latin typeface="ＭＳ Ｐゴシック" charset="-128"/>
              </a:rPr>
              <a:t>	</a:t>
            </a:r>
          </a:p>
          <a:p>
            <a:pPr marL="334963" indent="-334963">
              <a:spcBef>
                <a:spcPts val="488"/>
              </a:spcBef>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US" altLang="ja-JP" dirty="0" smtClean="0">
                <a:solidFill>
                  <a:srgbClr val="000000"/>
                </a:solidFill>
                <a:latin typeface="ＭＳ Ｐゴシック" charset="-128"/>
              </a:rPr>
              <a:t>KINECT</a:t>
            </a:r>
            <a:r>
              <a:rPr lang="ja-JP" altLang="en-US" dirty="0" smtClean="0">
                <a:solidFill>
                  <a:srgbClr val="000000"/>
                </a:solidFill>
                <a:latin typeface="ＭＳ Ｐゴシック" charset="-128"/>
              </a:rPr>
              <a:t>から得られる全フレームを対象としてはいません。</a:t>
            </a:r>
            <a:r>
              <a:rPr lang="en-US" altLang="ja-JP" dirty="0" smtClean="0">
                <a:solidFill>
                  <a:srgbClr val="000000"/>
                </a:solidFill>
                <a:latin typeface="ＭＳ Ｐゴシック" charset="-128"/>
              </a:rPr>
              <a:t>10frame</a:t>
            </a:r>
            <a:r>
              <a:rPr lang="ja-JP" altLang="en-US" dirty="0" smtClean="0">
                <a:solidFill>
                  <a:srgbClr val="000000"/>
                </a:solidFill>
                <a:latin typeface="ＭＳ Ｐゴシック" charset="-128"/>
              </a:rPr>
              <a:t>毎に顔認識の処理はしていて、顔認識用のスレッドと、</a:t>
            </a:r>
            <a:r>
              <a:rPr lang="en-US" altLang="ja-JP" dirty="0" smtClean="0">
                <a:solidFill>
                  <a:srgbClr val="000000"/>
                </a:solidFill>
                <a:latin typeface="ＭＳ Ｐゴシック" charset="-128"/>
              </a:rPr>
              <a:t>KINECT</a:t>
            </a:r>
            <a:r>
              <a:rPr lang="ja-JP" altLang="en-US" dirty="0" smtClean="0">
                <a:solidFill>
                  <a:srgbClr val="000000"/>
                </a:solidFill>
                <a:latin typeface="ＭＳ Ｐゴシック" charset="-128"/>
              </a:rPr>
              <a:t>の画像を出力して</a:t>
            </a:r>
            <a:r>
              <a:rPr lang="en-US" altLang="ja-JP" dirty="0" err="1" smtClean="0">
                <a:solidFill>
                  <a:srgbClr val="000000"/>
                </a:solidFill>
                <a:latin typeface="ＭＳ Ｐゴシック" charset="-128"/>
              </a:rPr>
              <a:t>iPad</a:t>
            </a:r>
            <a:r>
              <a:rPr lang="ja-JP" altLang="en-US" dirty="0" smtClean="0">
                <a:solidFill>
                  <a:srgbClr val="000000"/>
                </a:solidFill>
                <a:latin typeface="ＭＳ Ｐゴシック" charset="-128"/>
              </a:rPr>
              <a:t>で見えるようにしている処理の</a:t>
            </a:r>
            <a:r>
              <a:rPr lang="en-US" altLang="ja-JP" dirty="0" smtClean="0">
                <a:solidFill>
                  <a:srgbClr val="000000"/>
                </a:solidFill>
                <a:latin typeface="ＭＳ Ｐゴシック" charset="-128"/>
              </a:rPr>
              <a:t>2</a:t>
            </a:r>
            <a:r>
              <a:rPr lang="ja-JP" altLang="en-US" dirty="0" err="1" smtClean="0">
                <a:solidFill>
                  <a:srgbClr val="000000"/>
                </a:solidFill>
                <a:latin typeface="ＭＳ Ｐゴシック" charset="-128"/>
              </a:rPr>
              <a:t>つの</a:t>
            </a:r>
            <a:r>
              <a:rPr lang="en-GB" altLang="ja-JP" dirty="0" err="1" smtClean="0">
                <a:solidFill>
                  <a:srgbClr val="000000"/>
                </a:solidFill>
                <a:latin typeface="ＭＳ Ｐゴシック" charset="-128"/>
              </a:rPr>
              <a:t>マルチスレッド</a:t>
            </a:r>
            <a:r>
              <a:rPr lang="ja-JP" altLang="en-US" dirty="0" smtClean="0">
                <a:solidFill>
                  <a:srgbClr val="000000"/>
                </a:solidFill>
                <a:latin typeface="ＭＳ Ｐゴシック" charset="-128"/>
              </a:rPr>
              <a:t>処理をしています。これは出来るだけリアルタイムで</a:t>
            </a:r>
            <a:r>
              <a:rPr lang="en-US" altLang="ja-JP" dirty="0" err="1" smtClean="0">
                <a:solidFill>
                  <a:srgbClr val="000000"/>
                </a:solidFill>
                <a:latin typeface="ＭＳ Ｐゴシック" charset="-128"/>
              </a:rPr>
              <a:t>iPad</a:t>
            </a:r>
            <a:r>
              <a:rPr lang="ja-JP" altLang="en-US" dirty="0" smtClean="0">
                <a:solidFill>
                  <a:srgbClr val="000000"/>
                </a:solidFill>
                <a:latin typeface="ＭＳ Ｐゴシック" charset="-128"/>
              </a:rPr>
              <a:t>で画像を見ながら顔認識もさせる為です。</a:t>
            </a:r>
            <a:endParaRPr lang="en-US" altLang="ja-JP" dirty="0" smtClean="0">
              <a:solidFill>
                <a:srgbClr val="000000"/>
              </a:solidFill>
              <a:latin typeface="ＭＳ Ｐゴシック" charset="-128"/>
            </a:endParaRPr>
          </a:p>
          <a:p>
            <a:pPr marL="334963" indent="-334963">
              <a:spcBef>
                <a:spcPts val="488"/>
              </a:spcBef>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ja-JP" altLang="en-US" dirty="0" smtClean="0">
                <a:solidFill>
                  <a:srgbClr val="000000"/>
                </a:solidFill>
                <a:latin typeface="ＭＳ Ｐゴシック" charset="-128"/>
              </a:rPr>
              <a:t>もし</a:t>
            </a:r>
            <a:r>
              <a:rPr lang="en-GB" altLang="ja-JP" dirty="0" err="1" smtClean="0">
                <a:solidFill>
                  <a:srgbClr val="000000"/>
                </a:solidFill>
                <a:latin typeface="ＭＳ Ｐゴシック" charset="-128"/>
              </a:rPr>
              <a:t>顔を認識できなかったら</a:t>
            </a:r>
            <a:r>
              <a:rPr lang="en-GB" altLang="ja-JP" dirty="0" smtClean="0">
                <a:solidFill>
                  <a:srgbClr val="000000"/>
                </a:solidFill>
                <a:latin typeface="ＭＳ Ｐゴシック" charset="-128"/>
              </a:rPr>
              <a:t>？</a:t>
            </a:r>
            <a:r>
              <a:rPr lang="ja-JP" altLang="en-US" dirty="0" err="1" smtClean="0">
                <a:solidFill>
                  <a:srgbClr val="000000"/>
                </a:solidFill>
                <a:latin typeface="ＭＳ Ｐゴシック" charset="-128"/>
              </a:rPr>
              <a:t>、</a:t>
            </a:r>
            <a:r>
              <a:rPr lang="en-GB" altLang="ja-JP" dirty="0" err="1" smtClean="0">
                <a:solidFill>
                  <a:srgbClr val="000000"/>
                </a:solidFill>
                <a:latin typeface="ＭＳ Ｐゴシック" charset="-128"/>
              </a:rPr>
              <a:t>ロボットをターンさせて周囲をサーチさせ</a:t>
            </a:r>
            <a:r>
              <a:rPr lang="ja-JP" altLang="en-US" dirty="0" smtClean="0">
                <a:solidFill>
                  <a:srgbClr val="000000"/>
                </a:solidFill>
                <a:latin typeface="ＭＳ Ｐゴシック" charset="-128"/>
              </a:rPr>
              <a:t>ています。もし更に</a:t>
            </a:r>
            <a:r>
              <a:rPr lang="en-GB" altLang="ja-JP" dirty="0" err="1" smtClean="0">
                <a:solidFill>
                  <a:srgbClr val="000000"/>
                </a:solidFill>
                <a:latin typeface="ＭＳ Ｐゴシック" charset="-128"/>
              </a:rPr>
              <a:t>特徴点の分析をすることで、特定の人を追いかけていくことも</a:t>
            </a:r>
            <a:r>
              <a:rPr lang="ja-JP" altLang="en-US" dirty="0" smtClean="0">
                <a:solidFill>
                  <a:srgbClr val="000000"/>
                </a:solidFill>
                <a:latin typeface="ＭＳ Ｐゴシック" charset="-128"/>
              </a:rPr>
              <a:t>できると考えています。</a:t>
            </a:r>
            <a:endParaRPr lang="en-GB" altLang="ja-JP" dirty="0" smtClean="0">
              <a:solidFill>
                <a:srgbClr val="000000"/>
              </a:solidFill>
              <a:latin typeface="ＭＳ Ｐゴシック" charset="-128"/>
            </a:endParaRPr>
          </a:p>
          <a:p>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24</a:t>
            </a:fld>
            <a:endParaRPr lang="en-US" altLang="ja-JP"/>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顔の中心点を利用して、</a:t>
            </a:r>
            <a:r>
              <a:rPr kumimoji="1" lang="en-US" altLang="ja-JP" dirty="0" err="1" smtClean="0"/>
              <a:t>Kinect</a:t>
            </a:r>
            <a:r>
              <a:rPr kumimoji="1" lang="ja-JP" altLang="en-US" dirty="0" smtClean="0"/>
              <a:t>の</a:t>
            </a:r>
            <a:r>
              <a:rPr kumimoji="1" lang="en-US" altLang="ja-JP" dirty="0" smtClean="0"/>
              <a:t>640x480</a:t>
            </a:r>
            <a:r>
              <a:rPr kumimoji="1" lang="ja-JP" altLang="en-US" dirty="0" smtClean="0"/>
              <a:t>画像を</a:t>
            </a:r>
            <a:r>
              <a:rPr kumimoji="1" lang="en-US" altLang="ja-JP" dirty="0" smtClean="0"/>
              <a:t>4</a:t>
            </a:r>
            <a:r>
              <a:rPr kumimoji="1" lang="ja-JP" altLang="en-US" dirty="0" smtClean="0"/>
              <a:t>区画に分割して、顔の中心点との相対的な位置からコースを決定する。</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25</a:t>
            </a:fld>
            <a:endParaRPr lang="en-US" altLang="ja-JP"/>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顔の中心点をターゲットにして、</a:t>
            </a:r>
            <a:r>
              <a:rPr kumimoji="1" lang="en-US" altLang="ja-JP" dirty="0" smtClean="0"/>
              <a:t>640x480</a:t>
            </a:r>
            <a:r>
              <a:rPr kumimoji="1" lang="ja-JP" altLang="en-US" dirty="0" smtClean="0"/>
              <a:t>画像との相対的な位置を</a:t>
            </a:r>
            <a:r>
              <a:rPr kumimoji="1" lang="en-US" altLang="ja-JP" dirty="0" smtClean="0"/>
              <a:t>12</a:t>
            </a:r>
            <a:r>
              <a:rPr kumimoji="1" lang="ja-JP" altLang="en-US" dirty="0" smtClean="0"/>
              <a:t>分割して、仰角を特定する。</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26</a:t>
            </a:fld>
            <a:endParaRPr lang="en-US" altLang="ja-JP"/>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顔の矩形画像の中心点をターゲットにして距離を測定する話。</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27</a:t>
            </a:fld>
            <a:endParaRPr lang="en-US" altLang="ja-JP"/>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en-US" altLang="ja-JP" dirty="0" smtClean="0"/>
              <a:t>10over-fps</a:t>
            </a:r>
            <a:r>
              <a:rPr kumimoji="1" lang="ja-JP" altLang="en-US" dirty="0" smtClean="0"/>
              <a:t>位しか出ない問題。顔認識はそんなに早くない。顔認識は精度も重要。横向きだったり縦だったり必ずしも真正面の顔だけとは限らないし、顔の一部分だけといった場合もある、</a:t>
            </a:r>
            <a:r>
              <a:rPr kumimoji="1" lang="en-US" altLang="ja-JP" dirty="0" smtClean="0"/>
              <a:t>―&gt;</a:t>
            </a:r>
            <a:r>
              <a:rPr kumimoji="1" lang="en-US" altLang="ja-JP" dirty="0" err="1" smtClean="0"/>
              <a:t>openCV</a:t>
            </a:r>
            <a:r>
              <a:rPr kumimoji="1" lang="ja-JP" altLang="en-US" dirty="0" smtClean="0"/>
              <a:t>とかのソリューションも必要。</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28</a:t>
            </a:fld>
            <a:endParaRPr lang="en-US" altLang="ja-JP"/>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ハード編ですので、かめです！かめ！！！</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30</a:t>
            </a:fld>
            <a:endParaRPr lang="en-US" altLang="ja-JP"/>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カメの動きの基本処理の話。</a:t>
            </a:r>
            <a:endParaRPr kumimoji="1" lang="en-US" altLang="ja-JP" dirty="0" smtClean="0"/>
          </a:p>
          <a:p>
            <a:r>
              <a:rPr kumimoji="1" lang="ja-JP" altLang="en-US" dirty="0" smtClean="0"/>
              <a:t>「斜めに前に出す。」という</a:t>
            </a:r>
            <a:endParaRPr kumimoji="1" lang="en-US" altLang="ja-JP" dirty="0" smtClean="0"/>
          </a:p>
          <a:p>
            <a:endParaRPr kumimoji="1" lang="en-US" altLang="ja-JP" dirty="0" smtClean="0"/>
          </a:p>
          <a:p>
            <a:r>
              <a:rPr kumimoji="1" lang="ja-JP" altLang="en-US" dirty="0" smtClean="0"/>
              <a:t>時間があれば、各項目を深掘りする。</a:t>
            </a:r>
            <a:endParaRPr kumimoji="1" lang="ja-JP" altLang="en-US" dirty="0"/>
          </a:p>
        </p:txBody>
      </p:sp>
      <p:sp>
        <p:nvSpPr>
          <p:cNvPr id="4" name="スライド番号プレースホルダー 3"/>
          <p:cNvSpPr>
            <a:spLocks noGrp="1"/>
          </p:cNvSpPr>
          <p:nvPr>
            <p:ph type="sldNum" sz="quarter" idx="10"/>
          </p:nvPr>
        </p:nvSpPr>
        <p:spPr/>
        <p:txBody>
          <a:bodyPr/>
          <a:lstStyle/>
          <a:p>
            <a:fld id="{D8A48290-AC86-4EA9-8888-462A7AC87258}" type="slidenum">
              <a:rPr lang="en-US" altLang="ja-JP" smtClean="0"/>
              <a:pPr/>
              <a:t>31</a:t>
            </a:fld>
            <a:endParaRPr lang="en-US" altLang="ja-JP"/>
          </a:p>
        </p:txBody>
      </p:sp>
    </p:spTree>
    <p:extLst>
      <p:ext uri="{BB962C8B-B14F-4D97-AF65-F5344CB8AC3E}">
        <p14:creationId xmlns="" xmlns:p14="http://schemas.microsoft.com/office/powerpoint/2010/main" val="4104274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ja-JP" altLang="en-US" sz="1200" b="0" i="0" kern="1200" dirty="0" smtClean="0">
                <a:solidFill>
                  <a:schemeClr val="tx1"/>
                </a:solidFill>
                <a:effectLst/>
                <a:latin typeface="Arial" charset="0"/>
                <a:ea typeface="ＭＳ Ｐゴシック" pitchFamily="-96" charset="-128"/>
                <a:cs typeface="+mn-cs"/>
              </a:rPr>
              <a:t>たとえば、２足歩行ロボットは、大体</a:t>
            </a:r>
            <a:r>
              <a:rPr kumimoji="1" lang="en-US" altLang="ja-JP" sz="1200" b="0" i="0" kern="1200" dirty="0" smtClean="0">
                <a:solidFill>
                  <a:schemeClr val="tx1"/>
                </a:solidFill>
                <a:effectLst/>
                <a:latin typeface="Arial" charset="0"/>
                <a:ea typeface="ＭＳ Ｐゴシック" pitchFamily="-96" charset="-128"/>
                <a:cs typeface="+mn-cs"/>
              </a:rPr>
              <a:t>300m</a:t>
            </a:r>
            <a:r>
              <a:rPr kumimoji="1" lang="ja-JP" altLang="en-US" sz="1200" b="0" i="0" kern="1200" dirty="0" smtClean="0">
                <a:solidFill>
                  <a:schemeClr val="tx1"/>
                </a:solidFill>
                <a:effectLst/>
                <a:latin typeface="Arial" charset="0"/>
                <a:ea typeface="ＭＳ Ｐゴシック" pitchFamily="-96" charset="-128"/>
                <a:cs typeface="+mn-cs"/>
              </a:rPr>
              <a:t>秒で完全に倒れる。</a:t>
            </a:r>
            <a:endParaRPr kumimoji="1" lang="en-US" altLang="ja-JP" sz="1200" b="0" i="0" kern="1200" dirty="0" smtClean="0">
              <a:solidFill>
                <a:schemeClr val="tx1"/>
              </a:solidFill>
              <a:effectLst/>
              <a:latin typeface="Arial" charset="0"/>
              <a:ea typeface="ＭＳ Ｐゴシック" pitchFamily="-96" charset="-128"/>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kumimoji="1" lang="ja-JP" altLang="en-US" sz="1200" b="0" i="0" kern="1200" dirty="0" smtClean="0">
                <a:solidFill>
                  <a:schemeClr val="tx1"/>
                </a:solidFill>
                <a:effectLst/>
                <a:latin typeface="Arial" charset="0"/>
                <a:ea typeface="ＭＳ Ｐゴシック" pitchFamily="-96" charset="-128"/>
                <a:cs typeface="+mn-cs"/>
              </a:rPr>
              <a:t>そして、倒れそうになった時、</a:t>
            </a:r>
            <a:r>
              <a:rPr kumimoji="1" lang="en-US" altLang="ja-JP" sz="1200" b="0" i="0" kern="1200" dirty="0" smtClean="0">
                <a:solidFill>
                  <a:schemeClr val="tx1"/>
                </a:solidFill>
                <a:effectLst/>
                <a:latin typeface="Arial" charset="0"/>
                <a:ea typeface="ＭＳ Ｐゴシック" pitchFamily="-96" charset="-128"/>
                <a:cs typeface="+mn-cs"/>
              </a:rPr>
              <a:t>240m</a:t>
            </a:r>
            <a:r>
              <a:rPr kumimoji="1" lang="ja-JP" altLang="en-US" sz="1200" b="0" i="0" kern="1200" dirty="0" smtClean="0">
                <a:solidFill>
                  <a:schemeClr val="tx1"/>
                </a:solidFill>
                <a:effectLst/>
                <a:latin typeface="Arial" charset="0"/>
                <a:ea typeface="ＭＳ Ｐゴシック" pitchFamily="-96" charset="-128"/>
                <a:cs typeface="+mn-cs"/>
              </a:rPr>
              <a:t>秒までに復元処理をやらなければいけない。</a:t>
            </a:r>
            <a:endParaRPr kumimoji="1" lang="ja-JP" altLang="en-US" dirty="0" smtClean="0"/>
          </a:p>
          <a:p>
            <a:r>
              <a:rPr kumimoji="1" lang="ja-JP" altLang="en-US" dirty="0" smtClean="0"/>
              <a:t>すなわち、</a:t>
            </a:r>
            <a:r>
              <a:rPr kumimoji="1" lang="en-US" altLang="ja-JP" dirty="0" smtClean="0"/>
              <a:t>60ms</a:t>
            </a:r>
            <a:r>
              <a:rPr kumimoji="1" lang="ja-JP" altLang="en-US" dirty="0" smtClean="0"/>
              <a:t>しか余裕がない。（一コマンド処理に</a:t>
            </a:r>
            <a:r>
              <a:rPr kumimoji="1" lang="en-US" altLang="ja-JP" dirty="0" smtClean="0"/>
              <a:t>10</a:t>
            </a:r>
            <a:r>
              <a:rPr kumimoji="1" lang="ja-JP" altLang="en-US" dirty="0" smtClean="0"/>
              <a:t>数ミリ秒）</a:t>
            </a:r>
            <a:endParaRPr kumimoji="1" lang="en-US" altLang="ja-JP" dirty="0" smtClean="0"/>
          </a:p>
          <a:p>
            <a:r>
              <a:rPr kumimoji="1" lang="ja-JP" altLang="en-US" dirty="0" smtClean="0"/>
              <a:t>そのため、もし、同時にサーボが制御できなければ、倒れてしまう。</a:t>
            </a:r>
            <a:r>
              <a:rPr kumimoji="1" lang="en-US" altLang="ja-JP" dirty="0" smtClean="0"/>
              <a:t>.</a:t>
            </a:r>
          </a:p>
          <a:p>
            <a:endParaRPr kumimoji="1" lang="en-US" altLang="ja-JP" dirty="0" smtClean="0"/>
          </a:p>
        </p:txBody>
      </p:sp>
      <p:sp>
        <p:nvSpPr>
          <p:cNvPr id="4" name="スライド番号プレースホルダー 3"/>
          <p:cNvSpPr>
            <a:spLocks noGrp="1"/>
          </p:cNvSpPr>
          <p:nvPr>
            <p:ph type="sldNum" sz="quarter" idx="10"/>
          </p:nvPr>
        </p:nvSpPr>
        <p:spPr/>
        <p:txBody>
          <a:bodyPr/>
          <a:lstStyle/>
          <a:p>
            <a:fld id="{D8A48290-AC86-4EA9-8888-462A7AC87258}" type="slidenum">
              <a:rPr lang="en-US" altLang="ja-JP" smtClean="0"/>
              <a:pPr/>
              <a:t>32</a:t>
            </a:fld>
            <a:endParaRPr lang="en-US" altLang="ja-JP"/>
          </a:p>
        </p:txBody>
      </p:sp>
    </p:spTree>
    <p:extLst>
      <p:ext uri="{BB962C8B-B14F-4D97-AF65-F5344CB8AC3E}">
        <p14:creationId xmlns="" xmlns:p14="http://schemas.microsoft.com/office/powerpoint/2010/main" val="7182053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加速度センサーです。</a:t>
            </a:r>
            <a:endParaRPr kumimoji="1" lang="en-US" altLang="ja-JP" dirty="0" smtClean="0"/>
          </a:p>
          <a:p>
            <a:r>
              <a:rPr kumimoji="1" lang="ja-JP" altLang="en-US" dirty="0" smtClean="0"/>
              <a:t>例えば、２足歩行ロボを倒れないようにする方法は、大きく２つある。</a:t>
            </a:r>
            <a:endParaRPr kumimoji="1" lang="en-US" altLang="ja-JP" dirty="0" smtClean="0"/>
          </a:p>
          <a:p>
            <a:r>
              <a:rPr kumimoji="1" lang="ja-JP" altLang="en-US" dirty="0" smtClean="0"/>
              <a:t>ひとつは、ロボの形を確定させてしまい、事前にどこまでサーボ動かすと</a:t>
            </a:r>
            <a:endParaRPr kumimoji="1" lang="en-US" altLang="ja-JP" dirty="0" smtClean="0"/>
          </a:p>
          <a:p>
            <a:r>
              <a:rPr kumimoji="1" lang="ja-JP" altLang="en-US" dirty="0" smtClean="0"/>
              <a:t>倒れるのか</a:t>
            </a:r>
            <a:r>
              <a:rPr kumimoji="1" lang="en-US" altLang="ja-JP" dirty="0" smtClean="0"/>
              <a:t>?</a:t>
            </a:r>
            <a:r>
              <a:rPr kumimoji="1" lang="ja-JP" altLang="en-US" dirty="0" smtClean="0"/>
              <a:t>を計算しておく方法。</a:t>
            </a:r>
            <a:endParaRPr kumimoji="1" lang="en-US" altLang="ja-JP" dirty="0" smtClean="0"/>
          </a:p>
          <a:p>
            <a:r>
              <a:rPr kumimoji="1" lang="ja-JP" altLang="en-US" dirty="0" smtClean="0"/>
              <a:t>もうひとつは、このような加速度センサーなどを用いて、どんな状態からでも</a:t>
            </a:r>
            <a:endParaRPr kumimoji="1" lang="en-US" altLang="ja-JP" dirty="0" smtClean="0"/>
          </a:p>
          <a:p>
            <a:r>
              <a:rPr kumimoji="1" lang="ja-JP" altLang="en-US" dirty="0" smtClean="0"/>
              <a:t>立て直しが出来るようにする方法です。</a:t>
            </a:r>
            <a:endParaRPr kumimoji="1" lang="en-US" altLang="ja-JP" dirty="0" smtClean="0"/>
          </a:p>
          <a:p>
            <a:r>
              <a:rPr kumimoji="1" lang="ja-JP" altLang="en-US" dirty="0" smtClean="0"/>
              <a:t>もちろん、普通は後者を目指すことになります。</a:t>
            </a:r>
            <a:endParaRPr kumimoji="1" lang="en-US" altLang="ja-JP" dirty="0" smtClean="0"/>
          </a:p>
          <a:p>
            <a:r>
              <a:rPr kumimoji="1" lang="ja-JP" altLang="en-US" dirty="0" smtClean="0"/>
              <a:t>そして、さらに精度を上げようとするならば、ジャイロセンサーや</a:t>
            </a:r>
            <a:r>
              <a:rPr kumimoji="1" lang="en-US" altLang="ja-JP" dirty="0" err="1" smtClean="0"/>
              <a:t>Kinect</a:t>
            </a:r>
            <a:r>
              <a:rPr kumimoji="1" lang="ja-JP" altLang="en-US" dirty="0" smtClean="0"/>
              <a:t>の</a:t>
            </a:r>
            <a:endParaRPr kumimoji="1" lang="en-US" altLang="ja-JP" dirty="0" smtClean="0"/>
          </a:p>
          <a:p>
            <a:r>
              <a:rPr kumimoji="1" lang="ja-JP" altLang="en-US" dirty="0" smtClean="0"/>
              <a:t>距離センサーに依る障害物判定などを、組み合わせることになります。</a:t>
            </a:r>
            <a:endParaRPr kumimoji="1" lang="en-US" altLang="ja-JP" dirty="0" smtClean="0"/>
          </a:p>
          <a:p>
            <a:r>
              <a:rPr kumimoji="1" lang="ja-JP" altLang="en-US" dirty="0" smtClean="0"/>
              <a:t>すなわち、色々やろうとすると、センサーはどんどんと増えていくのです。</a:t>
            </a:r>
            <a:endParaRPr kumimoji="1" lang="en-US" altLang="ja-JP" dirty="0" smtClean="0"/>
          </a:p>
          <a:p>
            <a:r>
              <a:rPr kumimoji="1" lang="ja-JP" altLang="en-US" dirty="0" smtClean="0"/>
              <a:t>人間も、いっぱい持っていますよね？</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D8A48290-AC86-4EA9-8888-462A7AC87258}" type="slidenum">
              <a:rPr lang="en-US" altLang="ja-JP" smtClean="0"/>
              <a:pPr/>
              <a:t>33</a:t>
            </a:fld>
            <a:endParaRPr lang="en-US" altLang="ja-JP"/>
          </a:p>
        </p:txBody>
      </p:sp>
    </p:spTree>
    <p:extLst>
      <p:ext uri="{BB962C8B-B14F-4D97-AF65-F5344CB8AC3E}">
        <p14:creationId xmlns="" xmlns:p14="http://schemas.microsoft.com/office/powerpoint/2010/main" val="37269260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でも、それを統合</a:t>
            </a:r>
            <a:r>
              <a:rPr kumimoji="1" lang="ja-JP" altLang="en-US" dirty="0" smtClean="0"/>
              <a:t>する処理だけで、メイン</a:t>
            </a:r>
            <a:r>
              <a:rPr kumimoji="1" lang="en-US" altLang="ja-JP" dirty="0" smtClean="0"/>
              <a:t>CPU</a:t>
            </a:r>
            <a:r>
              <a:rPr kumimoji="1" lang="ja-JP" altLang="en-US" dirty="0" smtClean="0"/>
              <a:t>は</a:t>
            </a:r>
            <a:r>
              <a:rPr kumimoji="1" lang="ja-JP" altLang="en-US" dirty="0" smtClean="0"/>
              <a:t>手一杯になります。</a:t>
            </a:r>
            <a:endParaRPr kumimoji="1" lang="en-US" altLang="ja-JP" dirty="0" smtClean="0"/>
          </a:p>
          <a:p>
            <a:endParaRPr kumimoji="1" lang="en-US" altLang="ja-JP" dirty="0" smtClean="0"/>
          </a:p>
          <a:p>
            <a:r>
              <a:rPr kumimoji="1" lang="ja-JP" altLang="en-US" dirty="0" smtClean="0"/>
              <a:t>しかし、１～２年前までは、個人が手軽に使え、モバイル出来るような</a:t>
            </a:r>
            <a:endParaRPr kumimoji="1" lang="en-US" altLang="ja-JP" dirty="0" smtClean="0"/>
          </a:p>
          <a:p>
            <a:r>
              <a:rPr kumimoji="1" lang="ja-JP" altLang="en-US" dirty="0" smtClean="0"/>
              <a:t>ものはありませんでした。</a:t>
            </a:r>
            <a:endParaRPr kumimoji="1" lang="en-US" altLang="ja-JP" dirty="0" smtClean="0"/>
          </a:p>
          <a:p>
            <a:r>
              <a:rPr kumimoji="1" lang="ja-JP" altLang="en-US" dirty="0" smtClean="0"/>
              <a:t>が、最近、今回利用した</a:t>
            </a:r>
            <a:r>
              <a:rPr kumimoji="1" lang="en-US" altLang="ja-JP" dirty="0" err="1" smtClean="0"/>
              <a:t>beagleboard</a:t>
            </a:r>
            <a:r>
              <a:rPr kumimoji="1" lang="ja-JP" altLang="en-US" dirty="0" err="1" smtClean="0"/>
              <a:t>のような</a:t>
            </a:r>
            <a:r>
              <a:rPr kumimoji="1" lang="ja-JP" altLang="en-US" dirty="0" smtClean="0"/>
              <a:t>ものが登場してきています。</a:t>
            </a:r>
            <a:endParaRPr kumimoji="1" lang="en-US" altLang="ja-JP" dirty="0" smtClean="0"/>
          </a:p>
          <a:p>
            <a:r>
              <a:rPr kumimoji="1" lang="ja-JP" altLang="en-US" dirty="0" smtClean="0"/>
              <a:t>これは、最新の「</a:t>
            </a:r>
            <a:r>
              <a:rPr kumimoji="1" lang="en-US" altLang="ja-JP" dirty="0" smtClean="0"/>
              <a:t>snowball</a:t>
            </a:r>
            <a:r>
              <a:rPr kumimoji="1" lang="ja-JP" altLang="en-US" dirty="0" smtClean="0"/>
              <a:t>」というもので、</a:t>
            </a:r>
            <a:r>
              <a:rPr kumimoji="1" lang="en-US" altLang="ja-JP" dirty="0" smtClean="0"/>
              <a:t>Dual</a:t>
            </a:r>
            <a:r>
              <a:rPr kumimoji="1" lang="ja-JP" altLang="en-US" dirty="0" smtClean="0"/>
              <a:t>コアや</a:t>
            </a:r>
            <a:r>
              <a:rPr kumimoji="1" lang="en-US" altLang="ja-JP" dirty="0" smtClean="0"/>
              <a:t>GUP</a:t>
            </a:r>
            <a:r>
              <a:rPr kumimoji="1" lang="ja-JP" altLang="en-US" dirty="0" err="1" smtClean="0"/>
              <a:t>、</a:t>
            </a:r>
            <a:r>
              <a:rPr kumimoji="1" lang="ja-JP" altLang="en-US" dirty="0" smtClean="0"/>
              <a:t>加速度センサー</a:t>
            </a:r>
            <a:endParaRPr kumimoji="1" lang="en-US" altLang="ja-JP" dirty="0" smtClean="0"/>
          </a:p>
          <a:p>
            <a:r>
              <a:rPr kumimoji="1" lang="ja-JP" altLang="en-US" dirty="0" smtClean="0"/>
              <a:t>ブルートゥースなどが載っています。</a:t>
            </a:r>
            <a:endParaRPr kumimoji="1" lang="en-US" altLang="ja-JP" dirty="0" smtClean="0"/>
          </a:p>
          <a:p>
            <a:endParaRPr kumimoji="1" lang="en-US" altLang="ja-JP" dirty="0" smtClean="0"/>
          </a:p>
          <a:p>
            <a:r>
              <a:rPr kumimoji="1" lang="ja-JP" altLang="en-US" dirty="0" smtClean="0"/>
              <a:t>さらに、来年以降のトレンドでは、</a:t>
            </a:r>
            <a:r>
              <a:rPr kumimoji="1" lang="en-US" altLang="ja-JP" dirty="0" smtClean="0"/>
              <a:t>GPGPU</a:t>
            </a:r>
            <a:r>
              <a:rPr kumimoji="1" lang="ja-JP" altLang="en-US" dirty="0" smtClean="0"/>
              <a:t>や</a:t>
            </a:r>
            <a:r>
              <a:rPr kumimoji="1" lang="en-US" altLang="ja-JP" dirty="0" smtClean="0"/>
              <a:t>FPGA</a:t>
            </a:r>
            <a:r>
              <a:rPr kumimoji="1" lang="ja-JP" altLang="en-US" dirty="0" err="1" smtClean="0"/>
              <a:t>まで</a:t>
            </a:r>
            <a:r>
              <a:rPr kumimoji="1" lang="ja-JP" altLang="en-US" dirty="0" smtClean="0"/>
              <a:t>搭載されるように</a:t>
            </a:r>
            <a:endParaRPr kumimoji="1" lang="en-US" altLang="ja-JP" dirty="0" smtClean="0"/>
          </a:p>
          <a:p>
            <a:r>
              <a:rPr kumimoji="1" lang="ja-JP" altLang="en-US" dirty="0" smtClean="0"/>
              <a:t>なり、さらに、</a:t>
            </a:r>
            <a:r>
              <a:rPr kumimoji="1" lang="en-US" altLang="ja-JP" dirty="0" smtClean="0"/>
              <a:t>Analog</a:t>
            </a:r>
            <a:r>
              <a:rPr kumimoji="1" lang="ja-JP" altLang="en-US" dirty="0" smtClean="0"/>
              <a:t>データ（センサーでーた）の処理に強くなります。</a:t>
            </a:r>
            <a:endParaRPr kumimoji="1" lang="en-US" altLang="ja-JP" dirty="0" smtClean="0"/>
          </a:p>
          <a:p>
            <a:r>
              <a:rPr kumimoji="1" lang="en-US" altLang="ja-JP" dirty="0" smtClean="0"/>
              <a:t>GPGPU</a:t>
            </a:r>
            <a:r>
              <a:rPr kumimoji="1" lang="ja-JP" altLang="en-US" dirty="0" smtClean="0"/>
              <a:t>は、</a:t>
            </a:r>
            <a:r>
              <a:rPr kumimoji="1" lang="en-US" altLang="ja-JP" dirty="0" smtClean="0"/>
              <a:t>SIMD</a:t>
            </a:r>
            <a:r>
              <a:rPr kumimoji="1" lang="ja-JP" altLang="en-US" dirty="0" smtClean="0"/>
              <a:t>タイプのプロセッサーで並列計算に優れており、</a:t>
            </a:r>
            <a:endParaRPr kumimoji="1" lang="en-US" altLang="ja-JP" dirty="0" smtClean="0"/>
          </a:p>
          <a:p>
            <a:r>
              <a:rPr kumimoji="1" lang="en-US" altLang="ja-JP" dirty="0" smtClean="0"/>
              <a:t>FPGA</a:t>
            </a:r>
            <a:r>
              <a:rPr kumimoji="1" lang="ja-JP" altLang="en-US" dirty="0" smtClean="0"/>
              <a:t>は、回路を自由に設計することが出来る</a:t>
            </a:r>
            <a:r>
              <a:rPr kumimoji="1" lang="en-US" altLang="ja-JP" dirty="0" smtClean="0"/>
              <a:t>CPU</a:t>
            </a:r>
            <a:r>
              <a:rPr kumimoji="1" lang="ja-JP" altLang="en-US" dirty="0" smtClean="0"/>
              <a:t>という感じの物です。</a:t>
            </a:r>
            <a:endParaRPr kumimoji="1" lang="en-US" altLang="ja-JP" dirty="0" smtClean="0"/>
          </a:p>
          <a:p>
            <a:r>
              <a:rPr kumimoji="1" lang="ja-JP" altLang="en-US" dirty="0" smtClean="0"/>
              <a:t>そのため、顔認識処理の回路を設計し、</a:t>
            </a:r>
            <a:r>
              <a:rPr kumimoji="1" lang="en-US" altLang="ja-JP" dirty="0" smtClean="0"/>
              <a:t>FPGA</a:t>
            </a:r>
            <a:r>
              <a:rPr kumimoji="1" lang="ja-JP" altLang="en-US" dirty="0" smtClean="0"/>
              <a:t>に設定することで、</a:t>
            </a:r>
            <a:endParaRPr kumimoji="1" lang="en-US" altLang="ja-JP" dirty="0" smtClean="0"/>
          </a:p>
          <a:p>
            <a:r>
              <a:rPr kumimoji="1" lang="ja-JP" altLang="en-US" dirty="0" smtClean="0"/>
              <a:t>顔認識プロセッサーとして、利用することが出来るものです。</a:t>
            </a:r>
            <a:endParaRPr kumimoji="1" lang="en-US" altLang="ja-JP" dirty="0" smtClean="0"/>
          </a:p>
          <a:p>
            <a:r>
              <a:rPr kumimoji="1" lang="ja-JP" altLang="en-US" dirty="0" smtClean="0"/>
              <a:t>これを、必要な処理に合わせて、回路をダイナミックに変えていくことにより</a:t>
            </a:r>
            <a:endParaRPr kumimoji="1" lang="en-US" altLang="ja-JP" dirty="0" smtClean="0"/>
          </a:p>
          <a:p>
            <a:r>
              <a:rPr kumimoji="1" lang="ja-JP" altLang="en-US" dirty="0" smtClean="0"/>
              <a:t>専用の</a:t>
            </a:r>
            <a:r>
              <a:rPr kumimoji="1" lang="en-US" altLang="ja-JP" dirty="0" smtClean="0"/>
              <a:t>ASIC</a:t>
            </a:r>
            <a:r>
              <a:rPr kumimoji="1" lang="ja-JP" altLang="en-US" dirty="0" smtClean="0"/>
              <a:t>を用意すること無く、ハードウェア処理が可能のなります。</a:t>
            </a:r>
            <a:endParaRPr kumimoji="1" lang="en-US" altLang="ja-JP" dirty="0" smtClean="0"/>
          </a:p>
          <a:p>
            <a:endParaRPr kumimoji="1" lang="ja-JP" altLang="en-US" dirty="0"/>
          </a:p>
        </p:txBody>
      </p:sp>
      <p:sp>
        <p:nvSpPr>
          <p:cNvPr id="4" name="スライド番号プレースホルダー 3"/>
          <p:cNvSpPr>
            <a:spLocks noGrp="1"/>
          </p:cNvSpPr>
          <p:nvPr>
            <p:ph type="sldNum" sz="quarter" idx="10"/>
          </p:nvPr>
        </p:nvSpPr>
        <p:spPr/>
        <p:txBody>
          <a:bodyPr/>
          <a:lstStyle/>
          <a:p>
            <a:fld id="{D8A48290-AC86-4EA9-8888-462A7AC87258}" type="slidenum">
              <a:rPr lang="en-US" altLang="ja-JP" smtClean="0"/>
              <a:pPr/>
              <a:t>34</a:t>
            </a:fld>
            <a:endParaRPr lang="en-US" altLang="ja-JP"/>
          </a:p>
        </p:txBody>
      </p:sp>
    </p:spTree>
    <p:extLst>
      <p:ext uri="{BB962C8B-B14F-4D97-AF65-F5344CB8AC3E}">
        <p14:creationId xmlns="" xmlns:p14="http://schemas.microsoft.com/office/powerpoint/2010/main" val="344730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ただ、これらのハードウェアを動かすには、各種センサーのドライバ開発や</a:t>
            </a:r>
            <a:endParaRPr kumimoji="1" lang="en-US" altLang="ja-JP" dirty="0" smtClean="0"/>
          </a:p>
          <a:p>
            <a:r>
              <a:rPr kumimoji="1" lang="ja-JP" altLang="en-US" dirty="0" smtClean="0"/>
              <a:t>オプティマイズをきちんと行わないと、期待した動作になりません。</a:t>
            </a:r>
            <a:endParaRPr kumimoji="1" lang="en-US" altLang="ja-JP" dirty="0" smtClean="0"/>
          </a:p>
          <a:p>
            <a:endParaRPr kumimoji="1" lang="en-US" altLang="ja-JP" dirty="0" smtClean="0"/>
          </a:p>
          <a:p>
            <a:r>
              <a:rPr kumimoji="1" lang="ja-JP" altLang="en-US" dirty="0" smtClean="0"/>
              <a:t>そこで、去年に</a:t>
            </a:r>
            <a:r>
              <a:rPr kumimoji="1" lang="en-US" altLang="ja-JP" dirty="0" err="1" smtClean="0"/>
              <a:t>Linaro</a:t>
            </a:r>
            <a:r>
              <a:rPr kumimoji="1" lang="ja-JP" altLang="en-US" dirty="0" smtClean="0"/>
              <a:t>プロジェクトという</a:t>
            </a:r>
            <a:r>
              <a:rPr kumimoji="1" lang="en-US" altLang="ja-JP" dirty="0" smtClean="0"/>
              <a:t>OSS</a:t>
            </a:r>
            <a:r>
              <a:rPr kumimoji="1" lang="ja-JP" altLang="en-US" dirty="0" smtClean="0"/>
              <a:t>が立ち上がり、この手の</a:t>
            </a:r>
            <a:r>
              <a:rPr kumimoji="1" lang="en-US" altLang="ja-JP" dirty="0" err="1" smtClean="0"/>
              <a:t>SoC</a:t>
            </a:r>
            <a:r>
              <a:rPr kumimoji="1" lang="ja-JP" altLang="en-US" dirty="0" smtClean="0"/>
              <a:t>用の</a:t>
            </a:r>
            <a:endParaRPr kumimoji="1" lang="en-US" altLang="ja-JP" dirty="0" smtClean="0"/>
          </a:p>
          <a:p>
            <a:r>
              <a:rPr kumimoji="1" lang="ja-JP" altLang="en-US" dirty="0" smtClean="0"/>
              <a:t>ドライバやオプティマイズを行っています。</a:t>
            </a:r>
            <a:endParaRPr kumimoji="1" lang="en-US" altLang="ja-JP" dirty="0" smtClean="0"/>
          </a:p>
          <a:p>
            <a:r>
              <a:rPr kumimoji="1" lang="ja-JP" altLang="en-US" dirty="0" smtClean="0"/>
              <a:t>我々は、そこのコミッターとして、</a:t>
            </a:r>
            <a:r>
              <a:rPr kumimoji="1" lang="en-US" altLang="ja-JP" dirty="0" smtClean="0"/>
              <a:t>Android</a:t>
            </a:r>
            <a:r>
              <a:rPr kumimoji="1" lang="ja-JP" altLang="en-US" dirty="0" smtClean="0"/>
              <a:t>周りのサポートを行っています。</a:t>
            </a:r>
            <a:endParaRPr kumimoji="1" lang="en-US" altLang="ja-JP" dirty="0" smtClean="0"/>
          </a:p>
          <a:p>
            <a:endParaRPr kumimoji="1" lang="en-US" altLang="ja-JP" dirty="0" smtClean="0"/>
          </a:p>
          <a:p>
            <a:r>
              <a:rPr kumimoji="1" lang="ja-JP" altLang="en-US" dirty="0" smtClean="0"/>
              <a:t>ちなみに、そこのコンペティションに、このカメさんを出しまして、１位になりました。</a:t>
            </a:r>
            <a:endParaRPr kumimoji="1" lang="en-US" altLang="ja-JP" dirty="0" smtClean="0"/>
          </a:p>
          <a:p>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35</a:t>
            </a:fld>
            <a:endParaRPr lang="en-US" altLang="ja-JP"/>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en-US" altLang="ja-JP" dirty="0" smtClean="0"/>
              <a:t>2A</a:t>
            </a:r>
            <a:r>
              <a:rPr kumimoji="1" lang="ja-JP" altLang="en-US" dirty="0" smtClean="0"/>
              <a:t>必要なので、一生懸命必要な部品を集めました。</a:t>
            </a:r>
            <a:endParaRPr kumimoji="1" lang="en-US" altLang="ja-JP" dirty="0" smtClean="0"/>
          </a:p>
          <a:p>
            <a:endParaRPr kumimoji="1" lang="en-US" altLang="ja-JP" dirty="0" smtClean="0"/>
          </a:p>
          <a:p>
            <a:r>
              <a:rPr kumimoji="1" lang="en-US" altLang="ja-JP" dirty="0" smtClean="0"/>
              <a:t>※</a:t>
            </a:r>
            <a:r>
              <a:rPr kumimoji="1" lang="ja-JP" altLang="en-US" dirty="0" smtClean="0"/>
              <a:t>ここは、</a:t>
            </a:r>
            <a:r>
              <a:rPr kumimoji="1" lang="en-US" altLang="ja-JP" dirty="0" smtClean="0"/>
              <a:t>ABC</a:t>
            </a:r>
            <a:r>
              <a:rPr kumimoji="1" lang="ja-JP" altLang="en-US" dirty="0" smtClean="0"/>
              <a:t>では削除しても良いかも。</a:t>
            </a:r>
            <a:endParaRPr kumimoji="1" lang="ja-JP" altLang="en-US" dirty="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36</a:t>
            </a:fld>
            <a:endParaRPr lang="en-US" altLang="ja-JP"/>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r>
              <a:rPr kumimoji="1" lang="ja-JP" altLang="en-US" dirty="0" smtClean="0"/>
              <a:t>我々は、</a:t>
            </a:r>
            <a:r>
              <a:rPr kumimoji="1" lang="en-US" altLang="ja-JP" dirty="0" smtClean="0"/>
              <a:t>DI</a:t>
            </a:r>
            <a:r>
              <a:rPr kumimoji="1" lang="ja-JP" altLang="en-US" dirty="0" err="1" smtClean="0"/>
              <a:t>ｗ</a:t>
            </a:r>
            <a:r>
              <a:rPr kumimoji="1" lang="en-US" altLang="ja-JP" dirty="0" smtClean="0"/>
              <a:t>O</a:t>
            </a:r>
            <a:r>
              <a:rPr kumimoji="1" lang="ja-JP" altLang="en-US" dirty="0" smtClean="0"/>
              <a:t>の精神で活動しています。</a:t>
            </a:r>
            <a:endParaRPr kumimoji="1" lang="en-US" altLang="ja-JP" dirty="0" smtClean="0"/>
          </a:p>
          <a:p>
            <a:r>
              <a:rPr kumimoji="1" lang="ja-JP" altLang="en-US" dirty="0" smtClean="0"/>
              <a:t>今回のカメも、色々なプロジェクトの成果を利用して、作成されています。</a:t>
            </a:r>
            <a:endParaRPr kumimoji="1" lang="en-US" altLang="ja-JP" dirty="0" smtClean="0"/>
          </a:p>
          <a:p>
            <a:r>
              <a:rPr kumimoji="1" lang="ja-JP" altLang="en-US" dirty="0" smtClean="0"/>
              <a:t>すなわち、いまや、一個人や一企業で作れるものというものは、無いといっても</a:t>
            </a:r>
            <a:endParaRPr kumimoji="1" lang="en-US" altLang="ja-JP" dirty="0" smtClean="0"/>
          </a:p>
          <a:p>
            <a:r>
              <a:rPr kumimoji="1" lang="ja-JP" altLang="en-US" dirty="0" smtClean="0"/>
              <a:t>過言ではないでしょう。</a:t>
            </a:r>
            <a:endParaRPr kumimoji="1" lang="en-US" altLang="ja-JP" dirty="0" smtClean="0"/>
          </a:p>
          <a:p>
            <a:r>
              <a:rPr kumimoji="1" lang="ja-JP" altLang="en-US" dirty="0" smtClean="0"/>
              <a:t>そして、それに気がついた個人や企業が、目指すべき大きな世界を作るために</a:t>
            </a:r>
            <a:endParaRPr kumimoji="1" lang="en-US" altLang="ja-JP" dirty="0" smtClean="0"/>
          </a:p>
          <a:p>
            <a:r>
              <a:rPr kumimoji="1" lang="ja-JP" altLang="en-US" dirty="0" smtClean="0"/>
              <a:t>世界中の人々とコラボレーションするために、自分の成果を公開し、その成果が</a:t>
            </a:r>
            <a:endParaRPr kumimoji="1" lang="en-US" altLang="ja-JP" dirty="0" smtClean="0"/>
          </a:p>
          <a:p>
            <a:r>
              <a:rPr kumimoji="1" lang="ja-JP" altLang="en-US" dirty="0" smtClean="0"/>
              <a:t>めぐりめぐって自分に戻ってくるという「</a:t>
            </a:r>
            <a:r>
              <a:rPr kumimoji="1" lang="en-US" altLang="ja-JP" dirty="0" smtClean="0"/>
              <a:t>give and given(</a:t>
            </a:r>
            <a:r>
              <a:rPr kumimoji="1" lang="ja-JP" altLang="en-US" dirty="0" smtClean="0"/>
              <a:t>与え与えられる</a:t>
            </a:r>
            <a:r>
              <a:rPr kumimoji="1" lang="en-US" altLang="ja-JP" dirty="0" smtClean="0"/>
              <a:t>)</a:t>
            </a:r>
            <a:r>
              <a:rPr kumimoji="1" lang="ja-JP" altLang="en-US" dirty="0" smtClean="0"/>
              <a:t>」世界と</a:t>
            </a:r>
            <a:endParaRPr kumimoji="1" lang="en-US" altLang="ja-JP" dirty="0" smtClean="0"/>
          </a:p>
          <a:p>
            <a:r>
              <a:rPr kumimoji="1" lang="ja-JP" altLang="en-US" dirty="0" smtClean="0"/>
              <a:t>なりつつあります。</a:t>
            </a:r>
            <a:endParaRPr kumimoji="1" lang="en-US" altLang="ja-JP" dirty="0" smtClean="0"/>
          </a:p>
          <a:p>
            <a:r>
              <a:rPr kumimoji="1" lang="ja-JP" altLang="en-US" dirty="0" smtClean="0"/>
              <a:t>（すなわち、貰うだけの人には与えられないのです。）</a:t>
            </a:r>
            <a:endParaRPr kumimoji="1" lang="en-US" altLang="ja-JP" dirty="0" smtClean="0"/>
          </a:p>
          <a:p>
            <a:r>
              <a:rPr kumimoji="1" lang="ja-JP" altLang="en-US" dirty="0" smtClean="0"/>
              <a:t>これは、裏を返せば、一個人でも、世界的にインパクトを与えることが可能と</a:t>
            </a:r>
            <a:endParaRPr kumimoji="1" lang="en-US" altLang="ja-JP" dirty="0" smtClean="0"/>
          </a:p>
          <a:p>
            <a:r>
              <a:rPr kumimoji="1" lang="ja-JP" altLang="en-US" dirty="0" smtClean="0"/>
              <a:t>なったということであり、組織に所属している意味がだんだんと薄れていることを</a:t>
            </a:r>
            <a:endParaRPr kumimoji="1" lang="en-US" altLang="ja-JP" dirty="0" smtClean="0"/>
          </a:p>
          <a:p>
            <a:r>
              <a:rPr kumimoji="1" lang="ja-JP" altLang="en-US" dirty="0" smtClean="0"/>
              <a:t>意味しています。</a:t>
            </a:r>
            <a:endParaRPr kumimoji="1" lang="en-US" altLang="ja-JP" dirty="0" smtClean="0"/>
          </a:p>
          <a:p>
            <a:r>
              <a:rPr kumimoji="1" lang="ja-JP" altLang="en-US" dirty="0" smtClean="0"/>
              <a:t>今回、我々がこのキャンパスパーティーに呼んでいただけたのも、</a:t>
            </a:r>
            <a:endParaRPr kumimoji="1" lang="en-US" altLang="ja-JP" dirty="0" smtClean="0"/>
          </a:p>
          <a:p>
            <a:r>
              <a:rPr kumimoji="1" lang="ja-JP" altLang="en-US" dirty="0" smtClean="0"/>
              <a:t>「</a:t>
            </a:r>
            <a:r>
              <a:rPr kumimoji="1" lang="en-US" altLang="ja-JP" dirty="0" smtClean="0"/>
              <a:t>give and given(</a:t>
            </a:r>
            <a:r>
              <a:rPr kumimoji="1" lang="ja-JP" altLang="en-US" dirty="0" smtClean="0"/>
              <a:t>与え与えられる</a:t>
            </a:r>
            <a:r>
              <a:rPr kumimoji="1" lang="en-US" altLang="ja-JP" dirty="0" smtClean="0"/>
              <a:t>)</a:t>
            </a:r>
            <a:r>
              <a:rPr kumimoji="1" lang="ja-JP" altLang="en-US" dirty="0" smtClean="0"/>
              <a:t>」世界の一環だと考えています。</a:t>
            </a:r>
            <a:endParaRPr kumimoji="1" lang="en-US" altLang="ja-JP" dirty="0" smtClean="0"/>
          </a:p>
          <a:p>
            <a:endParaRPr kumimoji="1" lang="en-US" altLang="ja-JP" dirty="0" smtClean="0"/>
          </a:p>
        </p:txBody>
      </p:sp>
      <p:sp>
        <p:nvSpPr>
          <p:cNvPr id="4" name="スライド番号プレースホルダ 3"/>
          <p:cNvSpPr>
            <a:spLocks noGrp="1"/>
          </p:cNvSpPr>
          <p:nvPr>
            <p:ph type="sldNum" sz="quarter" idx="10"/>
          </p:nvPr>
        </p:nvSpPr>
        <p:spPr/>
        <p:txBody>
          <a:bodyPr/>
          <a:lstStyle/>
          <a:p>
            <a:fld id="{D8A48290-AC86-4EA9-8888-462A7AC87258}" type="slidenum">
              <a:rPr lang="en-US" altLang="ja-JP" smtClean="0"/>
              <a:pPr/>
              <a:t>37</a:t>
            </a:fld>
            <a:endParaRPr lang="en-US" altLang="ja-JP"/>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3" name="Rectangle 3"/>
          <p:cNvSpPr>
            <a:spLocks noGrp="1" noChangeArrowheads="1"/>
          </p:cNvSpPr>
          <p:nvPr>
            <p:ph type="ctrTitle"/>
          </p:nvPr>
        </p:nvSpPr>
        <p:spPr>
          <a:xfrm>
            <a:off x="533400" y="1196975"/>
            <a:ext cx="7772400" cy="1470025"/>
          </a:xfrm>
        </p:spPr>
        <p:txBody>
          <a:bodyPr/>
          <a:lstStyle>
            <a:lvl1pPr>
              <a:defRPr/>
            </a:lvl1pPr>
          </a:lstStyle>
          <a:p>
            <a:pPr lvl="0"/>
            <a:r>
              <a:rPr lang="ja-JP" altLang="en-US" noProof="0" smtClean="0"/>
              <a:t>マスター タイトルの書式設定</a:t>
            </a:r>
          </a:p>
        </p:txBody>
      </p:sp>
      <p:sp>
        <p:nvSpPr>
          <p:cNvPr id="10244" name="Rectangle 4"/>
          <p:cNvSpPr>
            <a:spLocks noGrp="1" noChangeArrowheads="1"/>
          </p:cNvSpPr>
          <p:nvPr>
            <p:ph type="subTitle" idx="1"/>
          </p:nvPr>
        </p:nvSpPr>
        <p:spPr>
          <a:xfrm>
            <a:off x="533400" y="2924175"/>
            <a:ext cx="4105275" cy="1752600"/>
          </a:xfrm>
        </p:spPr>
        <p:txBody>
          <a:bodyPr/>
          <a:lstStyle>
            <a:lvl1pPr marL="0" indent="0">
              <a:buFont typeface="Times" pitchFamily="-96" charset="0"/>
              <a:buNone/>
              <a:defRPr sz="2400"/>
            </a:lvl1pPr>
          </a:lstStyle>
          <a:p>
            <a:pPr lvl="0"/>
            <a:r>
              <a:rPr lang="ja-JP" altLang="en-US" noProof="0" smtClean="0"/>
              <a:t>マスター サブタイトルの書式設定</a:t>
            </a:r>
          </a:p>
        </p:txBody>
      </p:sp>
      <p:sp>
        <p:nvSpPr>
          <p:cNvPr id="10245" name="Rectangle 5"/>
          <p:cNvSpPr>
            <a:spLocks noGrp="1" noChangeArrowheads="1"/>
          </p:cNvSpPr>
          <p:nvPr>
            <p:ph type="dt" sz="half" idx="2"/>
          </p:nvPr>
        </p:nvSpPr>
        <p:spPr bwMode="auto">
          <a:xfrm>
            <a:off x="3563938" y="6589713"/>
            <a:ext cx="1090612" cy="268287"/>
          </a:xfrm>
          <a:prstGeom prst="rect">
            <a:avLst/>
          </a:prstGeo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900">
                <a:latin typeface="+mn-lt"/>
              </a:defRPr>
            </a:lvl1pPr>
          </a:lstStyle>
          <a:p>
            <a:endParaRPr lang="en-US" altLang="ja-JP"/>
          </a:p>
        </p:txBody>
      </p:sp>
      <p:sp>
        <p:nvSpPr>
          <p:cNvPr id="10246" name="Rectangle 6"/>
          <p:cNvSpPr>
            <a:spLocks noGrp="1" noChangeArrowheads="1"/>
          </p:cNvSpPr>
          <p:nvPr>
            <p:ph type="ftr" sz="quarter" idx="3"/>
          </p:nvPr>
        </p:nvSpPr>
        <p:spPr bwMode="auto">
          <a:xfrm>
            <a:off x="4643438" y="6596063"/>
            <a:ext cx="4033837" cy="288925"/>
          </a:xfrm>
          <a:prstGeom prst="rect">
            <a:avLst/>
          </a:prstGeo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00">
                <a:latin typeface="+mn-lt"/>
              </a:defRPr>
            </a:lvl1pPr>
          </a:lstStyle>
          <a:p>
            <a:r>
              <a:rPr lang="en-US" altLang="ja-JP"/>
              <a:t>©SIProp Project, 2006-2008</a:t>
            </a:r>
          </a:p>
        </p:txBody>
      </p:sp>
      <p:sp>
        <p:nvSpPr>
          <p:cNvPr id="10247" name="Rectangle 7"/>
          <p:cNvSpPr>
            <a:spLocks noGrp="1" noChangeArrowheads="1"/>
          </p:cNvSpPr>
          <p:nvPr>
            <p:ph type="sldNum" sz="quarter" idx="4"/>
          </p:nvPr>
        </p:nvSpPr>
        <p:spPr bwMode="auto">
          <a:xfrm>
            <a:off x="8701088" y="6578600"/>
            <a:ext cx="442912" cy="279400"/>
          </a:xfrm>
          <a:prstGeom prst="rect">
            <a:avLst/>
          </a:prstGeo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00">
                <a:latin typeface="+mn-lt"/>
              </a:defRPr>
            </a:lvl1pPr>
          </a:lstStyle>
          <a:p>
            <a:fld id="{A4EED0B2-1AD1-41B8-BF62-1208D4106CF1}" type="slidenum">
              <a:rPr lang="en-US" altLang="ja-JP"/>
              <a:pPr/>
              <a:t>&lt;#&gt;</a:t>
            </a:fld>
            <a:endParaRPr lang="en-US" altLang="ja-JP"/>
          </a:p>
        </p:txBody>
      </p:sp>
      <p:sp>
        <p:nvSpPr>
          <p:cNvPr id="10249" name="Rectangle 9"/>
          <p:cNvSpPr>
            <a:spLocks noChangeArrowheads="1"/>
          </p:cNvSpPr>
          <p:nvPr/>
        </p:nvSpPr>
        <p:spPr bwMode="auto">
          <a:xfrm>
            <a:off x="0" y="2743200"/>
            <a:ext cx="9144000" cy="71438"/>
          </a:xfrm>
          <a:prstGeom prst="rect">
            <a:avLst/>
          </a:prstGeom>
          <a:gradFill rotWithShape="0">
            <a:gsLst>
              <a:gs pos="0">
                <a:schemeClr val="bg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pic>
        <p:nvPicPr>
          <p:cNvPr id="10255" name="Picture 15" descr="siprop-bar"/>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0" y="0"/>
            <a:ext cx="381000" cy="6858000"/>
          </a:xfrm>
          <a:prstGeom prst="rect">
            <a:avLst/>
          </a:prstGeom>
          <a:noFill/>
          <a:extLst>
            <a:ext uri="{909E8E84-426E-40DD-AFC4-6F175D3DCCD1}">
              <a14:hiddenFill xmlns="" xmlns:a14="http://schemas.microsoft.com/office/drawing/2010/main">
                <a:solidFill>
                  <a:srgbClr val="FFFFFF"/>
                </a:solidFill>
              </a14:hiddenFill>
            </a:ext>
          </a:extLst>
        </p:spPr>
      </p:pic>
      <p:pic>
        <p:nvPicPr>
          <p:cNvPr id="10256" name="Picture 16" descr="siprop-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1750" y="2844800"/>
            <a:ext cx="349250" cy="1169988"/>
          </a:xfrm>
          <a:prstGeom prst="rect">
            <a:avLst/>
          </a:prstGeom>
          <a:noFill/>
          <a:extLst>
            <a:ext uri="{909E8E84-426E-40DD-AFC4-6F175D3DCCD1}">
              <a14:hiddenFill xmlns="" xmlns:a14="http://schemas.microsoft.com/office/drawing/2010/main">
                <a:solidFill>
                  <a:srgbClr val="FFFFFF"/>
                </a:solidFill>
              </a14:hiddenFill>
            </a:ext>
          </a:extLst>
        </p:spPr>
      </p:pic>
      <p:pic>
        <p:nvPicPr>
          <p:cNvPr id="10257" name="Picture 17" descr="siprop-logo"/>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5334000" y="4343400"/>
            <a:ext cx="3622675" cy="2097088"/>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Tree>
    <p:extLst>
      <p:ext uri="{BB962C8B-B14F-4D97-AF65-F5344CB8AC3E}">
        <p14:creationId xmlns="" xmlns:p14="http://schemas.microsoft.com/office/powerpoint/2010/main" val="1768110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smtClean="0"/>
              <a:t>マスター テキストの書式設定</a:t>
            </a:r>
          </a:p>
        </p:txBody>
      </p:sp>
    </p:spTree>
    <p:extLst>
      <p:ext uri="{BB962C8B-B14F-4D97-AF65-F5344CB8AC3E}">
        <p14:creationId xmlns="" xmlns:p14="http://schemas.microsoft.com/office/powerpoint/2010/main" val="117167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コンテンツ プレースホルダー 2"/>
          <p:cNvSpPr>
            <a:spLocks noGrp="1"/>
          </p:cNvSpPr>
          <p:nvPr>
            <p:ph sz="half" idx="1"/>
          </p:nvPr>
        </p:nvSpPr>
        <p:spPr>
          <a:xfrm>
            <a:off x="838200" y="1125538"/>
            <a:ext cx="3810000"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800600" y="1125538"/>
            <a:ext cx="3810000"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Tree>
    <p:extLst>
      <p:ext uri="{BB962C8B-B14F-4D97-AF65-F5344CB8AC3E}">
        <p14:creationId xmlns="" xmlns:p14="http://schemas.microsoft.com/office/powerpoint/2010/main" val="1664008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smtClean="0"/>
              <a:t>マスター タイトルの書式設定</a:t>
            </a:r>
            <a:endParaRPr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Tree>
    <p:extLst>
      <p:ext uri="{BB962C8B-B14F-4D97-AF65-F5344CB8AC3E}">
        <p14:creationId xmlns="" xmlns:p14="http://schemas.microsoft.com/office/powerpoint/2010/main" val="386012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Tree>
    <p:extLst>
      <p:ext uri="{BB962C8B-B14F-4D97-AF65-F5344CB8AC3E}">
        <p14:creationId xmlns="" xmlns:p14="http://schemas.microsoft.com/office/powerpoint/2010/main" val="2121356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331247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マスター タイトルの書式設定</a:t>
            </a:r>
            <a:endParaRPr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Tree>
    <p:extLst>
      <p:ext uri="{BB962C8B-B14F-4D97-AF65-F5344CB8AC3E}">
        <p14:creationId xmlns="" xmlns:p14="http://schemas.microsoft.com/office/powerpoint/2010/main" val="1251158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マスター タイトルの書式設定</a:t>
            </a:r>
            <a:endParaRPr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smtClean="0"/>
              <a:t>アイコンをクリックして図を追加</a:t>
            </a:r>
            <a:endParaRPr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Tree>
    <p:extLst>
      <p:ext uri="{BB962C8B-B14F-4D97-AF65-F5344CB8AC3E}">
        <p14:creationId xmlns="" xmlns:p14="http://schemas.microsoft.com/office/powerpoint/2010/main" val="1572440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Tree>
    <p:extLst>
      <p:ext uri="{BB962C8B-B14F-4D97-AF65-F5344CB8AC3E}">
        <p14:creationId xmlns="" xmlns:p14="http://schemas.microsoft.com/office/powerpoint/2010/main" val="11410371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67500" y="0"/>
            <a:ext cx="1943100" cy="6453188"/>
          </a:xfrm>
        </p:spPr>
        <p:txBody>
          <a:bodyPr vert="eaVert"/>
          <a:lstStyle/>
          <a:p>
            <a:r>
              <a:rPr lang="ja-JP" altLang="en-US" smtClean="0"/>
              <a:t>マスター タイトルの書式設定</a:t>
            </a:r>
            <a:endParaRPr lang="ja-JP" altLang="en-US"/>
          </a:p>
        </p:txBody>
      </p:sp>
      <p:sp>
        <p:nvSpPr>
          <p:cNvPr id="3" name="縦書きテキスト プレースホルダー 2"/>
          <p:cNvSpPr>
            <a:spLocks noGrp="1"/>
          </p:cNvSpPr>
          <p:nvPr>
            <p:ph type="body" orient="vert" idx="1"/>
          </p:nvPr>
        </p:nvSpPr>
        <p:spPr>
          <a:xfrm>
            <a:off x="836613" y="0"/>
            <a:ext cx="5678487" cy="6453188"/>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Tree>
    <p:extLst>
      <p:ext uri="{BB962C8B-B14F-4D97-AF65-F5344CB8AC3E}">
        <p14:creationId xmlns="" xmlns:p14="http://schemas.microsoft.com/office/powerpoint/2010/main" val="1719388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image" Target="../media/image7.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2" name="Rectangle 18"/>
          <p:cNvSpPr>
            <a:spLocks noChangeArrowheads="1"/>
          </p:cNvSpPr>
          <p:nvPr/>
        </p:nvSpPr>
        <p:spPr bwMode="auto">
          <a:xfrm>
            <a:off x="0" y="838200"/>
            <a:ext cx="9144000" cy="71438"/>
          </a:xfrm>
          <a:prstGeom prst="rect">
            <a:avLst/>
          </a:prstGeom>
          <a:gradFill rotWithShape="0">
            <a:gsLst>
              <a:gs pos="0">
                <a:schemeClr val="bg2"/>
              </a:gs>
              <a:gs pos="100000">
                <a:srgbClr val="FFFFFF"/>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026" name="Rectangle 2"/>
          <p:cNvSpPr>
            <a:spLocks noGrp="1" noChangeArrowheads="1"/>
          </p:cNvSpPr>
          <p:nvPr>
            <p:ph type="title"/>
          </p:nvPr>
        </p:nvSpPr>
        <p:spPr bwMode="auto">
          <a:xfrm>
            <a:off x="836613" y="0"/>
            <a:ext cx="7772400" cy="9080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smtClean="0"/>
              <a:t>マスタ タイトルの書式設定</a:t>
            </a:r>
          </a:p>
        </p:txBody>
      </p:sp>
      <p:sp>
        <p:nvSpPr>
          <p:cNvPr id="1027" name="Rectangle 3"/>
          <p:cNvSpPr>
            <a:spLocks noGrp="1" noChangeArrowheads="1"/>
          </p:cNvSpPr>
          <p:nvPr>
            <p:ph type="body" idx="1"/>
          </p:nvPr>
        </p:nvSpPr>
        <p:spPr bwMode="auto">
          <a:xfrm>
            <a:off x="838200" y="1125538"/>
            <a:ext cx="7772400" cy="53276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p>
        </p:txBody>
      </p:sp>
      <p:sp>
        <p:nvSpPr>
          <p:cNvPr id="1035" name="Rectangle 11"/>
          <p:cNvSpPr>
            <a:spLocks noChangeArrowheads="1"/>
          </p:cNvSpPr>
          <p:nvPr/>
        </p:nvSpPr>
        <p:spPr bwMode="auto">
          <a:xfrm>
            <a:off x="3563938" y="6589713"/>
            <a:ext cx="1090612" cy="26828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p>
            <a:endParaRPr lang="en-US" altLang="ja-JP" sz="900">
              <a:latin typeface="ＭＳ Ｐゴシック" pitchFamily="-96" charset="-128"/>
            </a:endParaRPr>
          </a:p>
        </p:txBody>
      </p:sp>
      <p:sp>
        <p:nvSpPr>
          <p:cNvPr id="1036" name="Rectangle 12"/>
          <p:cNvSpPr>
            <a:spLocks noChangeArrowheads="1"/>
          </p:cNvSpPr>
          <p:nvPr/>
        </p:nvSpPr>
        <p:spPr bwMode="auto">
          <a:xfrm>
            <a:off x="4643438" y="6596063"/>
            <a:ext cx="4033837" cy="2889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p>
            <a:pPr algn="r"/>
            <a:r>
              <a:rPr lang="en-US" altLang="ja-JP" sz="1000">
                <a:latin typeface="ＭＳ Ｐゴシック" pitchFamily="-96" charset="-128"/>
              </a:rPr>
              <a:t>©SIProp Project, 2006-2008</a:t>
            </a:r>
          </a:p>
        </p:txBody>
      </p:sp>
      <p:sp>
        <p:nvSpPr>
          <p:cNvPr id="1037" name="Rectangle 13"/>
          <p:cNvSpPr>
            <a:spLocks noChangeArrowheads="1"/>
          </p:cNvSpPr>
          <p:nvPr/>
        </p:nvSpPr>
        <p:spPr bwMode="auto">
          <a:xfrm>
            <a:off x="8701088" y="6578600"/>
            <a:ext cx="442912" cy="2794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p>
            <a:pPr algn="r"/>
            <a:fld id="{0D11CA58-1024-4106-85EA-DB74BC33B2B6}" type="slidenum">
              <a:rPr lang="en-US" altLang="ja-JP" sz="1000">
                <a:latin typeface="ＭＳ Ｐゴシック" pitchFamily="-96" charset="-128"/>
              </a:rPr>
              <a:pPr algn="r"/>
              <a:t>&lt;#&gt;</a:t>
            </a:fld>
            <a:endParaRPr lang="en-US" altLang="ja-JP" sz="1000">
              <a:latin typeface="ＭＳ Ｐゴシック" pitchFamily="-96" charset="-128"/>
            </a:endParaRPr>
          </a:p>
        </p:txBody>
      </p:sp>
      <p:pic>
        <p:nvPicPr>
          <p:cNvPr id="1044" name="Picture 20" descr="siprop-bar"/>
          <p:cNvPicPr>
            <a:picLocks noChangeAspect="1" noChangeArrowheads="1"/>
          </p:cNvPicPr>
          <p:nvPr/>
        </p:nvPicPr>
        <p:blipFill>
          <a:blip r:embed="rId13" cstate="print">
            <a:extLst>
              <a:ext uri="{28A0092B-C50C-407E-A947-70E740481C1C}">
                <a14:useLocalDpi xmlns="" xmlns:a14="http://schemas.microsoft.com/office/drawing/2010/main" val="0"/>
              </a:ext>
            </a:extLst>
          </a:blip>
          <a:srcRect/>
          <a:stretch>
            <a:fillRect/>
          </a:stretch>
        </p:blipFill>
        <p:spPr bwMode="auto">
          <a:xfrm>
            <a:off x="0" y="0"/>
            <a:ext cx="381000" cy="6858000"/>
          </a:xfrm>
          <a:prstGeom prst="rect">
            <a:avLst/>
          </a:prstGeom>
          <a:noFill/>
          <a:extLst>
            <a:ext uri="{909E8E84-426E-40DD-AFC4-6F175D3DCCD1}">
              <a14:hiddenFill xmlns="" xmlns:a14="http://schemas.microsoft.com/office/drawing/2010/main">
                <a:solidFill>
                  <a:srgbClr val="FFFFFF"/>
                </a:solidFill>
              </a14:hiddenFill>
            </a:ext>
          </a:extLst>
        </p:spPr>
      </p:pic>
      <p:pic>
        <p:nvPicPr>
          <p:cNvPr id="1045" name="Picture 21" descr="siprop-logo"/>
          <p:cNvPicPr>
            <a:picLocks noChangeAspect="1" noChangeArrowheads="1"/>
          </p:cNvPicPr>
          <p:nvPr/>
        </p:nvPicPr>
        <p:blipFill>
          <a:blip r:embed="rId14" cstate="print">
            <a:extLst>
              <a:ext uri="{28A0092B-C50C-407E-A947-70E740481C1C}">
                <a14:useLocalDpi xmlns="" xmlns:a14="http://schemas.microsoft.com/office/drawing/2010/main" val="0"/>
              </a:ext>
            </a:extLst>
          </a:blip>
          <a:srcRect/>
          <a:stretch>
            <a:fillRect/>
          </a:stretch>
        </p:blipFill>
        <p:spPr bwMode="auto">
          <a:xfrm>
            <a:off x="7789863" y="0"/>
            <a:ext cx="1354137" cy="784225"/>
          </a:xfrm>
          <a:prstGeom prst="rect">
            <a:avLst/>
          </a:prstGeom>
          <a:noFill/>
          <a:extLst>
            <a:ext uri="{909E8E84-426E-40DD-AFC4-6F175D3DCCD1}">
              <a14:hiddenFill xmlns="" xmlns:a14="http://schemas.microsoft.com/office/drawing/2010/main">
                <a:solidFill>
                  <a:srgbClr val="FFFFFF"/>
                </a:solidFill>
              </a14:hiddenFill>
            </a:ext>
          </a:extLst>
        </p:spPr>
      </p:pic>
      <p:pic>
        <p:nvPicPr>
          <p:cNvPr id="1046" name="Picture 22" descr="siprop-white"/>
          <p:cNvPicPr>
            <a:picLocks noChangeAspect="1" noChangeArrowheads="1"/>
          </p:cNvPicPr>
          <p:nvPr/>
        </p:nvPicPr>
        <p:blipFill>
          <a:blip r:embed="rId15" cstate="print">
            <a:extLst>
              <a:ext uri="{28A0092B-C50C-407E-A947-70E740481C1C}">
                <a14:useLocalDpi xmlns="" xmlns:a14="http://schemas.microsoft.com/office/drawing/2010/main" val="0"/>
              </a:ext>
            </a:extLst>
          </a:blip>
          <a:srcRect/>
          <a:stretch>
            <a:fillRect/>
          </a:stretch>
        </p:blipFill>
        <p:spPr bwMode="auto">
          <a:xfrm>
            <a:off x="31750" y="2844800"/>
            <a:ext cx="349250" cy="1169988"/>
          </a:xfrm>
          <a:prstGeom prst="rect">
            <a:avLst/>
          </a:prstGeom>
          <a:noFill/>
          <a:extLst>
            <a:ext uri="{909E8E84-426E-40DD-AFC4-6F175D3DCCD1}">
              <a14:hiddenFill xmlns=""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kumimoji="1" sz="3600">
          <a:solidFill>
            <a:schemeClr val="tx2"/>
          </a:solidFill>
          <a:latin typeface="+mj-lt"/>
          <a:ea typeface="+mj-ea"/>
          <a:cs typeface="+mj-cs"/>
        </a:defRPr>
      </a:lvl1pPr>
      <a:lvl2pPr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2pPr>
      <a:lvl3pPr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3pPr>
      <a:lvl4pPr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4pPr>
      <a:lvl5pPr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5pPr>
      <a:lvl6pPr marL="457200"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6pPr>
      <a:lvl7pPr marL="914400"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7pPr>
      <a:lvl8pPr marL="1371600"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8pPr>
      <a:lvl9pPr marL="1828800" algn="l" rtl="0" eaLnBrk="1" fontAlgn="base" hangingPunct="1">
        <a:spcBef>
          <a:spcPct val="0"/>
        </a:spcBef>
        <a:spcAft>
          <a:spcPct val="0"/>
        </a:spcAft>
        <a:defRPr kumimoji="1" sz="3600">
          <a:solidFill>
            <a:schemeClr val="tx2"/>
          </a:solidFill>
          <a:latin typeface="ＭＳ Ｐゴシック" pitchFamily="-96" charset="-128"/>
          <a:ea typeface="ＭＳ Ｐゴシック" pitchFamily="-96" charset="-128"/>
        </a:defRPr>
      </a:lvl9pPr>
    </p:titleStyle>
    <p:bodyStyle>
      <a:lvl1pPr marL="342900" indent="-342900" algn="l" rtl="0" eaLnBrk="1" fontAlgn="base" hangingPunct="1">
        <a:spcBef>
          <a:spcPct val="20000"/>
        </a:spcBef>
        <a:spcAft>
          <a:spcPct val="0"/>
        </a:spcAft>
        <a:buFont typeface="Times" pitchFamily="-96" charset="0"/>
        <a:buBlip>
          <a:blip r:embed="rId16"/>
        </a:buBlip>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7"/>
        </a:buBlip>
        <a:defRPr kumimoji="1" sz="2400">
          <a:solidFill>
            <a:schemeClr val="tx1"/>
          </a:solidFill>
          <a:latin typeface="+mn-lt"/>
          <a:ea typeface="+mn-ea"/>
        </a:defRPr>
      </a:lvl2pPr>
      <a:lvl3pPr marL="1143000" indent="-228600" algn="l" rtl="0" eaLnBrk="1" fontAlgn="base" hangingPunct="1">
        <a:spcBef>
          <a:spcPct val="20000"/>
        </a:spcBef>
        <a:spcAft>
          <a:spcPct val="0"/>
        </a:spcAft>
        <a:buBlip>
          <a:blip r:embed="rId18"/>
        </a:buBlip>
        <a:defRPr kumimoji="1" sz="2000">
          <a:solidFill>
            <a:schemeClr val="tx1"/>
          </a:solidFill>
          <a:latin typeface="+mn-lt"/>
          <a:ea typeface="+mn-ea"/>
        </a:defRPr>
      </a:lvl3pPr>
      <a:lvl4pPr marL="1600200" indent="-228600" algn="l" rtl="0" eaLnBrk="1" fontAlgn="base" hangingPunct="1">
        <a:spcBef>
          <a:spcPct val="20000"/>
        </a:spcBef>
        <a:spcAft>
          <a:spcPct val="0"/>
        </a:spcAft>
        <a:buBlip>
          <a:blip r:embed="rId19"/>
        </a:buBlip>
        <a:defRPr kumimoji="1">
          <a:solidFill>
            <a:schemeClr val="tx1"/>
          </a:solidFill>
          <a:latin typeface="+mn-lt"/>
          <a:ea typeface="+mn-ea"/>
        </a:defRPr>
      </a:lvl4pPr>
      <a:lvl5pPr marL="2057400" indent="-228600" algn="l" rtl="0" eaLnBrk="1" fontAlgn="base" hangingPunct="1">
        <a:spcBef>
          <a:spcPct val="20000"/>
        </a:spcBef>
        <a:spcAft>
          <a:spcPct val="0"/>
        </a:spcAft>
        <a:buBlip>
          <a:blip r:embed="rId20"/>
        </a:buBlip>
        <a:defRPr kumimoji="1">
          <a:solidFill>
            <a:schemeClr val="tx1"/>
          </a:solidFill>
          <a:latin typeface="+mn-lt"/>
          <a:ea typeface="+mn-ea"/>
        </a:defRPr>
      </a:lvl5pPr>
      <a:lvl6pPr marL="2514600" indent="-228600" algn="l" rtl="0" eaLnBrk="1" fontAlgn="base" hangingPunct="1">
        <a:spcBef>
          <a:spcPct val="20000"/>
        </a:spcBef>
        <a:spcAft>
          <a:spcPct val="0"/>
        </a:spcAft>
        <a:buBlip>
          <a:blip r:embed="rId20"/>
        </a:buBlip>
        <a:defRPr kumimoji="1">
          <a:solidFill>
            <a:schemeClr val="tx1"/>
          </a:solidFill>
          <a:latin typeface="+mn-lt"/>
          <a:ea typeface="+mn-ea"/>
        </a:defRPr>
      </a:lvl6pPr>
      <a:lvl7pPr marL="2971800" indent="-228600" algn="l" rtl="0" eaLnBrk="1" fontAlgn="base" hangingPunct="1">
        <a:spcBef>
          <a:spcPct val="20000"/>
        </a:spcBef>
        <a:spcAft>
          <a:spcPct val="0"/>
        </a:spcAft>
        <a:buBlip>
          <a:blip r:embed="rId20"/>
        </a:buBlip>
        <a:defRPr kumimoji="1">
          <a:solidFill>
            <a:schemeClr val="tx1"/>
          </a:solidFill>
          <a:latin typeface="+mn-lt"/>
          <a:ea typeface="+mn-ea"/>
        </a:defRPr>
      </a:lvl7pPr>
      <a:lvl8pPr marL="3429000" indent="-228600" algn="l" rtl="0" eaLnBrk="1" fontAlgn="base" hangingPunct="1">
        <a:spcBef>
          <a:spcPct val="20000"/>
        </a:spcBef>
        <a:spcAft>
          <a:spcPct val="0"/>
        </a:spcAft>
        <a:buBlip>
          <a:blip r:embed="rId20"/>
        </a:buBlip>
        <a:defRPr kumimoji="1">
          <a:solidFill>
            <a:schemeClr val="tx1"/>
          </a:solidFill>
          <a:latin typeface="+mn-lt"/>
          <a:ea typeface="+mn-ea"/>
        </a:defRPr>
      </a:lvl8pPr>
      <a:lvl9pPr marL="3886200" indent="-228600" algn="l" rtl="0" eaLnBrk="1" fontAlgn="base" hangingPunct="1">
        <a:spcBef>
          <a:spcPct val="20000"/>
        </a:spcBef>
        <a:spcAft>
          <a:spcPct val="0"/>
        </a:spcAft>
        <a:buBlip>
          <a:blip r:embed="rId20"/>
        </a:buBlip>
        <a:defRPr kumimoji="1">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ideo" Target="file:///C:\Documents%20and%20Settings\usr0101078\&#12487;&#12473;&#12463;&#12488;&#12483;&#12503;\campusparty\movie1.wmv"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hyperlink" Target="http://www.youtube.com/watch?v=8EgfAk5RBVo" TargetMode="External"/><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6.png"/><Relationship Id="rId10" Type="http://schemas.openxmlformats.org/officeDocument/2006/relationships/image" Target="../media/image14.jpeg"/><Relationship Id="rId4" Type="http://schemas.openxmlformats.org/officeDocument/2006/relationships/image" Target="../media/image5.png"/><Relationship Id="rId9" Type="http://schemas.openxmlformats.org/officeDocument/2006/relationships/hyperlink" Target="http://www.siprop.org/ja/2.0/index.php?product/AutoChasingTurtle"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gif"/></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fswg.oesf.biz/" TargetMode="External"/><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9.png"/><Relationship Id="rId10" Type="http://schemas.openxmlformats.org/officeDocument/2006/relationships/image" Target="../media/image8.png"/><Relationship Id="rId4" Type="http://schemas.openxmlformats.org/officeDocument/2006/relationships/image" Target="../media/image18.jpeg"/><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video" Target="file:///C:\Documents%20and%20Settings\usr0101078\&#12487;&#12473;&#12463;&#12488;&#12483;&#12503;\campusparty\lavalvirtual.wmv" TargetMode="Externa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6.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ideo" Target="file:///C:\Documents%20and%20Settings\usr0101078\&#12487;&#12473;&#12463;&#12488;&#12483;&#12503;\campusparty\movie2.wmv" TargetMode="Externa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39.jpe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6.jpeg"/><Relationship Id="rId4" Type="http://schemas.openxmlformats.org/officeDocument/2006/relationships/image" Target="../media/image45.jpe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3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3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2.png"/><Relationship Id="rId7"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54.jpeg"/><Relationship Id="rId5" Type="http://schemas.openxmlformats.org/officeDocument/2006/relationships/image" Target="../media/image53.png"/><Relationship Id="rId10" Type="http://schemas.openxmlformats.org/officeDocument/2006/relationships/image" Target="../media/image8.png"/><Relationship Id="rId4" Type="http://schemas.openxmlformats.org/officeDocument/2006/relationships/image" Target="../media/image30.png"/><Relationship Id="rId9"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37.xml.rels><?xml version="1.0" encoding="UTF-8" standalone="yes"?>
<Relationships xmlns="http://schemas.openxmlformats.org/package/2006/relationships"><Relationship Id="rId8" Type="http://schemas.openxmlformats.org/officeDocument/2006/relationships/hyperlink" Target="https://github.com/OESF/Embedded-Master-ARM" TargetMode="External"/><Relationship Id="rId3" Type="http://schemas.openxmlformats.org/officeDocument/2006/relationships/hyperlink" Target="http://beagleboard.org/hardware-xM" TargetMode="External"/><Relationship Id="rId7" Type="http://schemas.openxmlformats.org/officeDocument/2006/relationships/hyperlink" Target="http://git.linaro.org/gitweb?p=people/jstultz/linux.git;a=summary"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www.noritsuna.com/archives/2011/01/openframeworks_kinect_android.html" TargetMode="External"/><Relationship Id="rId5" Type="http://schemas.openxmlformats.org/officeDocument/2006/relationships/hyperlink" Target="http://www.xbox.com/en-US/kinect" TargetMode="External"/><Relationship Id="rId4" Type="http://schemas.openxmlformats.org/officeDocument/2006/relationships/hyperlink" Target="http://kondo-robot.com/product/kondo-anima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3"/>
          </p:nvPr>
        </p:nvSpPr>
        <p:spPr/>
        <p:txBody>
          <a:bodyPr/>
          <a:lstStyle/>
          <a:p>
            <a:r>
              <a:rPr lang="en-US" altLang="ja-JP"/>
              <a:t>©SIProp Project, 2006-2008</a:t>
            </a:r>
          </a:p>
        </p:txBody>
      </p:sp>
      <p:sp>
        <p:nvSpPr>
          <p:cNvPr id="6" name="Rectangle 7"/>
          <p:cNvSpPr>
            <a:spLocks noGrp="1" noChangeArrowheads="1"/>
          </p:cNvSpPr>
          <p:nvPr>
            <p:ph type="sldNum" sz="quarter" idx="4"/>
          </p:nvPr>
        </p:nvSpPr>
        <p:spPr/>
        <p:txBody>
          <a:bodyPr/>
          <a:lstStyle/>
          <a:p>
            <a:fld id="{B79A9C6A-65CC-4899-81C6-8425C8FEAB2E}" type="slidenum">
              <a:rPr lang="en-US" altLang="ja-JP"/>
              <a:pPr/>
              <a:t>1</a:t>
            </a:fld>
            <a:endParaRPr lang="en-US" altLang="ja-JP"/>
          </a:p>
        </p:txBody>
      </p:sp>
      <p:sp>
        <p:nvSpPr>
          <p:cNvPr id="2053" name="Rectangle 5"/>
          <p:cNvSpPr>
            <a:spLocks noGrp="1" noChangeArrowheads="1"/>
          </p:cNvSpPr>
          <p:nvPr>
            <p:ph type="ctrTitle"/>
          </p:nvPr>
        </p:nvSpPr>
        <p:spPr>
          <a:xfrm>
            <a:off x="533400" y="1352550"/>
            <a:ext cx="8143056" cy="1143000"/>
          </a:xfrm>
        </p:spPr>
        <p:txBody>
          <a:bodyPr/>
          <a:lstStyle/>
          <a:p>
            <a:r>
              <a:rPr lang="en-US" altLang="ja-JP" sz="7200" dirty="0" smtClean="0"/>
              <a:t>Auto Chasing Turtle</a:t>
            </a:r>
            <a:endParaRPr lang="ja-JP" altLang="ja-JP" sz="7200" dirty="0"/>
          </a:p>
        </p:txBody>
      </p:sp>
      <p:sp>
        <p:nvSpPr>
          <p:cNvPr id="2054" name="Rectangle 6"/>
          <p:cNvSpPr>
            <a:spLocks noGrp="1" noChangeArrowheads="1"/>
          </p:cNvSpPr>
          <p:nvPr>
            <p:ph type="subTitle" idx="1"/>
          </p:nvPr>
        </p:nvSpPr>
        <p:spPr>
          <a:xfrm>
            <a:off x="611560" y="5373216"/>
            <a:ext cx="4105275" cy="1320552"/>
          </a:xfrm>
        </p:spPr>
        <p:txBody>
          <a:bodyPr/>
          <a:lstStyle/>
          <a:p>
            <a:r>
              <a:rPr lang="en-US" altLang="ja-JP" sz="3200" dirty="0" err="1"/>
              <a:t>Hirotaka</a:t>
            </a:r>
            <a:r>
              <a:rPr lang="en-US" altLang="ja-JP" sz="3200" dirty="0"/>
              <a:t> </a:t>
            </a:r>
            <a:r>
              <a:rPr lang="en-US" altLang="ja-JP" sz="3200" dirty="0" err="1"/>
              <a:t>Niisato</a:t>
            </a:r>
            <a:endParaRPr lang="en-US" altLang="ja-JP" sz="3200" dirty="0" smtClean="0"/>
          </a:p>
          <a:p>
            <a:r>
              <a:rPr lang="en-US" altLang="ja-JP" sz="3200" dirty="0" err="1" smtClean="0"/>
              <a:t>Noritsuna</a:t>
            </a:r>
            <a:r>
              <a:rPr lang="en-US" altLang="ja-JP" sz="3200" dirty="0" smtClean="0"/>
              <a:t> Imamura</a:t>
            </a:r>
            <a:endParaRPr lang="ja-JP" altLang="ja-JP"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About </a:t>
            </a:r>
            <a:r>
              <a:rPr kumimoji="1" lang="en-US" altLang="ja-JP" dirty="0" smtClean="0"/>
              <a:t>ourselves</a:t>
            </a:r>
            <a:endParaRPr kumimoji="1" lang="ja-JP" altLang="en-US" dirty="0"/>
          </a:p>
        </p:txBody>
      </p:sp>
      <p:sp>
        <p:nvSpPr>
          <p:cNvPr id="3" name="コンテンツ プレースホルダー 2"/>
          <p:cNvSpPr>
            <a:spLocks noGrp="1"/>
          </p:cNvSpPr>
          <p:nvPr>
            <p:ph idx="1"/>
          </p:nvPr>
        </p:nvSpPr>
        <p:spPr/>
        <p:txBody>
          <a:bodyPr/>
          <a:lstStyle/>
          <a:p>
            <a:r>
              <a:rPr kumimoji="1" lang="en-US" altLang="ja-JP" dirty="0" smtClean="0"/>
              <a:t>Ourselves</a:t>
            </a:r>
            <a:endParaRPr kumimoji="1" lang="en-US" altLang="ja-JP" dirty="0" smtClean="0"/>
          </a:p>
          <a:p>
            <a:pPr lvl="1"/>
            <a:r>
              <a:rPr lang="en-US" altLang="ja-JP" dirty="0" err="1" smtClean="0"/>
              <a:t>Hirotaka</a:t>
            </a:r>
            <a:r>
              <a:rPr lang="en-US" altLang="ja-JP" dirty="0" smtClean="0"/>
              <a:t> </a:t>
            </a:r>
            <a:r>
              <a:rPr lang="en-US" altLang="ja-JP" dirty="0" err="1" smtClean="0"/>
              <a:t>Niisato</a:t>
            </a:r>
            <a:r>
              <a:rPr lang="en-US" altLang="ja-JP" dirty="0" smtClean="0"/>
              <a:t>(@</a:t>
            </a:r>
            <a:r>
              <a:rPr lang="en-US" altLang="ja-JP" dirty="0" err="1" smtClean="0"/>
              <a:t>hirotakaster</a:t>
            </a:r>
            <a:r>
              <a:rPr lang="en-US" altLang="ja-JP" dirty="0" smtClean="0"/>
              <a:t>)</a:t>
            </a:r>
          </a:p>
          <a:p>
            <a:pPr lvl="1"/>
            <a:r>
              <a:rPr lang="en-US" altLang="ja-JP" dirty="0" err="1" smtClean="0"/>
              <a:t>Noritsuna</a:t>
            </a:r>
            <a:r>
              <a:rPr lang="en-US" altLang="ja-JP" dirty="0" smtClean="0"/>
              <a:t> Imamura(@</a:t>
            </a:r>
            <a:r>
              <a:rPr lang="en-US" altLang="ja-JP" dirty="0" err="1" smtClean="0"/>
              <a:t>noritsuna</a:t>
            </a:r>
            <a:r>
              <a:rPr lang="en-US" altLang="ja-JP" dirty="0" smtClean="0"/>
              <a:t>)</a:t>
            </a:r>
          </a:p>
          <a:p>
            <a:pPr lvl="1"/>
            <a:endParaRPr kumimoji="1" lang="en-US" altLang="ja-JP" dirty="0"/>
          </a:p>
          <a:p>
            <a:r>
              <a:rPr lang="en-US" altLang="ja-JP" dirty="0" smtClean="0"/>
              <a:t>About </a:t>
            </a:r>
            <a:r>
              <a:rPr lang="en-US" altLang="ja-JP" dirty="0" err="1" smtClean="0"/>
              <a:t>SIProp</a:t>
            </a:r>
            <a:r>
              <a:rPr lang="en-US" altLang="ja-JP" dirty="0" smtClean="0"/>
              <a:t> Project</a:t>
            </a:r>
          </a:p>
          <a:p>
            <a:pPr lvl="1"/>
            <a:r>
              <a:rPr lang="en-US" altLang="ja-JP" dirty="0" smtClean="0"/>
              <a:t>Open Source Software Project</a:t>
            </a:r>
          </a:p>
          <a:p>
            <a:pPr lvl="1"/>
            <a:r>
              <a:rPr lang="en-US" altLang="ja-JP" dirty="0" smtClean="0"/>
              <a:t>The world of media (communication medium) is extended.</a:t>
            </a:r>
          </a:p>
          <a:p>
            <a:pPr lvl="1">
              <a:buNone/>
            </a:pPr>
            <a:endParaRPr lang="en-US" altLang="ja-JP" dirty="0" smtClean="0"/>
          </a:p>
        </p:txBody>
      </p:sp>
      <p:pic>
        <p:nvPicPr>
          <p:cNvPr id="1027" name="Picture 3"/>
          <p:cNvPicPr>
            <a:picLocks noChangeAspect="1" noChangeArrowheads="1"/>
          </p:cNvPicPr>
          <p:nvPr/>
        </p:nvPicPr>
        <p:blipFill>
          <a:blip r:embed="rId3" cstate="print"/>
          <a:srcRect/>
          <a:stretch>
            <a:fillRect/>
          </a:stretch>
        </p:blipFill>
        <p:spPr bwMode="auto">
          <a:xfrm>
            <a:off x="1022985" y="4812983"/>
            <a:ext cx="7356699" cy="1770697"/>
          </a:xfrm>
          <a:prstGeom prst="rect">
            <a:avLst/>
          </a:prstGeom>
          <a:noFill/>
          <a:ln w="9525">
            <a:noFill/>
            <a:miter lim="800000"/>
            <a:headEnd/>
            <a:tailEnd/>
          </a:ln>
        </p:spPr>
      </p:pic>
    </p:spTree>
    <p:extLst>
      <p:ext uri="{BB962C8B-B14F-4D97-AF65-F5344CB8AC3E}">
        <p14:creationId xmlns="" xmlns:p14="http://schemas.microsoft.com/office/powerpoint/2010/main" val="16922927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3/11</a:t>
            </a:r>
            <a:endParaRPr kumimoji="1" lang="ja-JP" altLang="en-US" dirty="0"/>
          </a:p>
        </p:txBody>
      </p:sp>
      <p:pic>
        <p:nvPicPr>
          <p:cNvPr id="1027" name="Picture 3"/>
          <p:cNvPicPr>
            <a:picLocks noGrp="1" noChangeAspect="1" noChangeArrowheads="1"/>
          </p:cNvPicPr>
          <p:nvPr>
            <p:ph idx="1"/>
          </p:nvPr>
        </p:nvPicPr>
        <p:blipFill>
          <a:blip r:embed="rId3" cstate="print"/>
          <a:srcRect/>
          <a:stretch>
            <a:fillRect/>
          </a:stretch>
        </p:blipFill>
        <p:spPr bwMode="auto">
          <a:xfrm>
            <a:off x="381269" y="879647"/>
            <a:ext cx="4540673" cy="2895940"/>
          </a:xfrm>
          <a:prstGeom prst="rect">
            <a:avLst/>
          </a:prstGeom>
          <a:noFill/>
          <a:ln w="9525">
            <a:noFill/>
            <a:miter lim="800000"/>
            <a:headEnd/>
            <a:tailEnd/>
          </a:ln>
        </p:spPr>
      </p:pic>
      <p:pic>
        <p:nvPicPr>
          <p:cNvPr id="1028" name="Picture 4"/>
          <p:cNvPicPr>
            <a:picLocks noChangeAspect="1" noChangeArrowheads="1"/>
          </p:cNvPicPr>
          <p:nvPr/>
        </p:nvPicPr>
        <p:blipFill>
          <a:blip r:embed="rId4" cstate="print"/>
          <a:srcRect/>
          <a:stretch>
            <a:fillRect/>
          </a:stretch>
        </p:blipFill>
        <p:spPr bwMode="auto">
          <a:xfrm>
            <a:off x="4468761" y="3782733"/>
            <a:ext cx="4675239" cy="3075267"/>
          </a:xfrm>
          <a:prstGeom prst="rect">
            <a:avLst/>
          </a:prstGeom>
          <a:noFill/>
          <a:ln w="9525">
            <a:noFill/>
            <a:miter lim="800000"/>
            <a:headEnd/>
            <a:tailEnd/>
          </a:ln>
        </p:spPr>
      </p:pic>
      <p:sp>
        <p:nvSpPr>
          <p:cNvPr id="8" name="テキスト ボックス 7"/>
          <p:cNvSpPr txBox="1"/>
          <p:nvPr/>
        </p:nvSpPr>
        <p:spPr>
          <a:xfrm>
            <a:off x="834207" y="4336025"/>
            <a:ext cx="3143250" cy="1569660"/>
          </a:xfrm>
          <a:prstGeom prst="rect">
            <a:avLst/>
          </a:prstGeom>
          <a:noFill/>
        </p:spPr>
        <p:txBody>
          <a:bodyPr wrap="square" rtlCol="0">
            <a:spAutoFit/>
          </a:bodyPr>
          <a:lstStyle/>
          <a:p>
            <a:r>
              <a:rPr lang="en-US" altLang="ja-JP" sz="3200" dirty="0" smtClean="0"/>
              <a:t>Earthquake</a:t>
            </a:r>
          </a:p>
          <a:p>
            <a:r>
              <a:rPr kumimoji="1" lang="en-US" altLang="ja-JP" sz="3200" dirty="0" smtClean="0"/>
              <a:t>Tsunami</a:t>
            </a:r>
          </a:p>
          <a:p>
            <a:r>
              <a:rPr lang="en-US" altLang="ja-JP" sz="3200" dirty="0" smtClean="0"/>
              <a:t>Nuclear Plant</a:t>
            </a:r>
            <a:endParaRPr kumimoji="1" lang="ja-JP" altLang="en-US" sz="3200" dirty="0"/>
          </a:p>
        </p:txBody>
      </p:sp>
    </p:spTree>
    <p:extLst>
      <p:ext uri="{BB962C8B-B14F-4D97-AF65-F5344CB8AC3E}">
        <p14:creationId xmlns="" xmlns:p14="http://schemas.microsoft.com/office/powerpoint/2010/main" val="3676990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ja-JP" dirty="0"/>
              <a:t>A</a:t>
            </a:r>
            <a:r>
              <a:rPr lang="en-US" altLang="ja-JP" dirty="0" smtClean="0"/>
              <a:t>genda</a:t>
            </a:r>
            <a:endParaRPr lang="ja-JP" altLang="ja-JP" dirty="0"/>
          </a:p>
        </p:txBody>
      </p:sp>
      <p:sp>
        <p:nvSpPr>
          <p:cNvPr id="3075" name="Rectangle 3"/>
          <p:cNvSpPr>
            <a:spLocks noGrp="1" noChangeArrowheads="1"/>
          </p:cNvSpPr>
          <p:nvPr>
            <p:ph type="body" idx="1"/>
          </p:nvPr>
        </p:nvSpPr>
        <p:spPr/>
        <p:txBody>
          <a:bodyPr/>
          <a:lstStyle/>
          <a:p>
            <a:r>
              <a:rPr lang="en-US" altLang="ja-JP" dirty="0" smtClean="0"/>
              <a:t>Summary</a:t>
            </a:r>
          </a:p>
          <a:p>
            <a:endParaRPr lang="en-US" altLang="ja-JP" dirty="0" smtClean="0"/>
          </a:p>
          <a:p>
            <a:r>
              <a:rPr lang="en-US" altLang="ja-JP" dirty="0" smtClean="0"/>
              <a:t>Part “Software”</a:t>
            </a:r>
          </a:p>
          <a:p>
            <a:pPr lvl="1"/>
            <a:r>
              <a:rPr lang="en-US" altLang="ja-JP" dirty="0" smtClean="0"/>
              <a:t>Detect </a:t>
            </a:r>
            <a:r>
              <a:rPr lang="en-US" altLang="ja-JP" dirty="0" smtClean="0"/>
              <a:t>the face</a:t>
            </a:r>
          </a:p>
          <a:p>
            <a:pPr lvl="1"/>
            <a:r>
              <a:rPr lang="en-US" altLang="ja-JP" dirty="0" smtClean="0"/>
              <a:t>Calculate the course</a:t>
            </a:r>
          </a:p>
          <a:p>
            <a:pPr lvl="1"/>
            <a:r>
              <a:rPr lang="en-US" altLang="ja-JP" dirty="0" smtClean="0"/>
              <a:t>Calculate the distance</a:t>
            </a:r>
          </a:p>
          <a:p>
            <a:pPr>
              <a:buNone/>
            </a:pPr>
            <a:endParaRPr lang="en-US" altLang="ja-JP" dirty="0" smtClean="0"/>
          </a:p>
          <a:p>
            <a:r>
              <a:rPr lang="en-US" altLang="ja-JP" dirty="0" smtClean="0"/>
              <a:t>Part “Hardware</a:t>
            </a:r>
            <a:r>
              <a:rPr lang="en-US" altLang="ja-JP" dirty="0" smtClean="0"/>
              <a:t>”</a:t>
            </a:r>
          </a:p>
          <a:p>
            <a:pPr lvl="1"/>
            <a:r>
              <a:rPr lang="en-US" altLang="ja-JP" dirty="0" smtClean="0"/>
              <a:t>How to control the robot</a:t>
            </a:r>
          </a:p>
          <a:p>
            <a:pPr lvl="1"/>
            <a:r>
              <a:rPr lang="en-US" altLang="ja-JP" dirty="0" smtClean="0"/>
              <a:t>How to process the analog data</a:t>
            </a:r>
            <a:endParaRPr lang="en-US" altLang="ja-JP" dirty="0" smtClean="0"/>
          </a:p>
          <a:p>
            <a:pPr lvl="1"/>
            <a:r>
              <a:rPr lang="en-US" altLang="ja-JP" dirty="0" smtClean="0"/>
              <a:t>Need more power </a:t>
            </a:r>
            <a:r>
              <a:rPr lang="en-US" altLang="ja-JP" dirty="0" smtClean="0"/>
              <a:t>supply</a:t>
            </a:r>
            <a:endParaRPr lang="en-US" altLang="ja-JP" dirty="0" smtClean="0"/>
          </a:p>
          <a:p>
            <a:endParaRPr lang="ja-JP" altLang="ja-JP" dirty="0"/>
          </a:p>
        </p:txBody>
      </p:sp>
    </p:spTree>
    <p:extLst>
      <p:ext uri="{BB962C8B-B14F-4D97-AF65-F5344CB8AC3E}">
        <p14:creationId xmlns="" xmlns:p14="http://schemas.microsoft.com/office/powerpoint/2010/main" val="2249806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Summary</a:t>
            </a:r>
            <a:endParaRPr kumimoji="1" lang="ja-JP" altLang="en-US" dirty="0"/>
          </a:p>
        </p:txBody>
      </p:sp>
      <p:sp>
        <p:nvSpPr>
          <p:cNvPr id="3" name="コンテンツ プレースホルダー 2"/>
          <p:cNvSpPr>
            <a:spLocks noGrp="1"/>
          </p:cNvSpPr>
          <p:nvPr>
            <p:ph idx="1"/>
          </p:nvPr>
        </p:nvSpPr>
        <p:spPr>
          <a:xfrm>
            <a:off x="838200" y="908720"/>
            <a:ext cx="7772400" cy="5327650"/>
          </a:xfrm>
        </p:spPr>
        <p:txBody>
          <a:bodyPr/>
          <a:lstStyle/>
          <a:p>
            <a:r>
              <a:rPr lang="en-US" altLang="ja-JP" dirty="0"/>
              <a:t>This product is "Auto Chasing Turtle".</a:t>
            </a:r>
          </a:p>
          <a:p>
            <a:pPr lvl="1"/>
            <a:r>
              <a:rPr lang="en-US" altLang="ja-JP" dirty="0"/>
              <a:t>By autonomous control, this robot recognizes people's face and approaches to the detected human. </a:t>
            </a:r>
          </a:p>
          <a:p>
            <a:pPr lvl="1"/>
            <a:endParaRPr kumimoji="1" lang="en-US" altLang="ja-JP" dirty="0" smtClean="0"/>
          </a:p>
        </p:txBody>
      </p:sp>
      <p:pic>
        <p:nvPicPr>
          <p:cNvPr id="4" name="図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134392" y="2418060"/>
            <a:ext cx="7017813" cy="3925590"/>
          </a:xfrm>
          <a:prstGeom prst="rect">
            <a:avLst/>
          </a:prstGeom>
        </p:spPr>
      </p:pic>
    </p:spTree>
    <p:extLst>
      <p:ext uri="{BB962C8B-B14F-4D97-AF65-F5344CB8AC3E}">
        <p14:creationId xmlns="" xmlns:p14="http://schemas.microsoft.com/office/powerpoint/2010/main" val="11695310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a:blip r:embed="rId3" cstate="print">
            <a:lum bright="36000" contrast="-38000"/>
            <a:extLst>
              <a:ext uri="{28A0092B-C50C-407E-A947-70E740481C1C}">
                <a14:useLocalDpi xmlns="" xmlns:a14="http://schemas.microsoft.com/office/drawing/2010/main" val="0"/>
              </a:ext>
            </a:extLst>
          </a:blip>
          <a:stretch>
            <a:fillRect/>
          </a:stretch>
        </p:blipFill>
        <p:spPr>
          <a:xfrm>
            <a:off x="440074" y="1147201"/>
            <a:ext cx="8643833" cy="4835144"/>
          </a:xfrm>
          <a:prstGeom prst="rect">
            <a:avLst/>
          </a:prstGeom>
          <a:noFill/>
          <a:ln>
            <a:noFill/>
          </a:ln>
        </p:spPr>
      </p:pic>
      <p:sp>
        <p:nvSpPr>
          <p:cNvPr id="2" name="タイトル 1"/>
          <p:cNvSpPr>
            <a:spLocks noGrp="1"/>
          </p:cNvSpPr>
          <p:nvPr>
            <p:ph type="title"/>
          </p:nvPr>
        </p:nvSpPr>
        <p:spPr/>
        <p:txBody>
          <a:bodyPr/>
          <a:lstStyle/>
          <a:p>
            <a:r>
              <a:rPr lang="en-US" altLang="ja-JP" dirty="0" smtClean="0"/>
              <a:t>Robot behavior</a:t>
            </a:r>
            <a:endParaRPr kumimoji="1" lang="ja-JP" altLang="en-US" dirty="0"/>
          </a:p>
        </p:txBody>
      </p:sp>
      <p:sp>
        <p:nvSpPr>
          <p:cNvPr id="3" name="コンテンツ プレースホルダー 2"/>
          <p:cNvSpPr>
            <a:spLocks noGrp="1"/>
          </p:cNvSpPr>
          <p:nvPr>
            <p:ph idx="1"/>
          </p:nvPr>
        </p:nvSpPr>
        <p:spPr>
          <a:xfrm>
            <a:off x="171450" y="1265907"/>
            <a:ext cx="8972550" cy="5327650"/>
          </a:xfrm>
        </p:spPr>
        <p:txBody>
          <a:bodyPr/>
          <a:lstStyle/>
          <a:p>
            <a:pPr marL="914400" lvl="1" indent="-457200">
              <a:buFont typeface="+mj-lt"/>
              <a:buAutoNum type="arabicPeriod"/>
            </a:pPr>
            <a:r>
              <a:rPr lang="en-US" altLang="ja-JP" dirty="0" smtClean="0"/>
              <a:t>Rotate </a:t>
            </a:r>
            <a:r>
              <a:rPr lang="en-US" altLang="ja-JP" dirty="0"/>
              <a:t>and look for the human who becomes a target.</a:t>
            </a:r>
          </a:p>
          <a:p>
            <a:pPr marL="914400" lvl="1" indent="-457200">
              <a:buFont typeface="+mj-lt"/>
              <a:buAutoNum type="arabicPeriod"/>
            </a:pPr>
            <a:r>
              <a:rPr lang="en-US" altLang="ja-JP" dirty="0" smtClean="0"/>
              <a:t>Detect </a:t>
            </a:r>
            <a:r>
              <a:rPr lang="en-US" altLang="ja-JP" dirty="0"/>
              <a:t>the human with recognizing people's face by using RGB camera of </a:t>
            </a:r>
            <a:r>
              <a:rPr lang="en-US" altLang="ja-JP" dirty="0" err="1"/>
              <a:t>Kinect</a:t>
            </a:r>
            <a:r>
              <a:rPr lang="en-US" altLang="ja-JP" dirty="0"/>
              <a:t>.</a:t>
            </a:r>
          </a:p>
          <a:p>
            <a:pPr marL="914400" lvl="1" indent="-457200">
              <a:buFont typeface="+mj-lt"/>
              <a:buAutoNum type="arabicPeriod"/>
            </a:pPr>
            <a:r>
              <a:rPr lang="en-US" altLang="ja-JP" dirty="0" smtClean="0"/>
              <a:t>If </a:t>
            </a:r>
            <a:r>
              <a:rPr lang="en-US" altLang="ja-JP" dirty="0"/>
              <a:t>it can detect the human, it calculates the course which it should follow. And It direction is changed.</a:t>
            </a:r>
          </a:p>
          <a:p>
            <a:pPr marL="914400" lvl="1" indent="-457200">
              <a:buFont typeface="+mj-lt"/>
              <a:buAutoNum type="arabicPeriod"/>
            </a:pPr>
            <a:r>
              <a:rPr lang="en-US" altLang="ja-JP" dirty="0" smtClean="0"/>
              <a:t>Calculate </a:t>
            </a:r>
            <a:r>
              <a:rPr lang="en-US" altLang="ja-JP" dirty="0"/>
              <a:t>the distance to target by using Z(depth) camera of </a:t>
            </a:r>
            <a:r>
              <a:rPr lang="en-US" altLang="ja-JP" dirty="0" err="1"/>
              <a:t>Kinect</a:t>
            </a:r>
            <a:r>
              <a:rPr lang="en-US" altLang="ja-JP" dirty="0"/>
              <a:t>.</a:t>
            </a:r>
          </a:p>
          <a:p>
            <a:pPr marL="914400" lvl="1" indent="-457200">
              <a:buFont typeface="+mj-lt"/>
              <a:buAutoNum type="arabicPeriod"/>
            </a:pPr>
            <a:r>
              <a:rPr lang="en-US" altLang="ja-JP" dirty="0" smtClean="0"/>
              <a:t>Walk </a:t>
            </a:r>
            <a:r>
              <a:rPr lang="en-US" altLang="ja-JP" dirty="0"/>
              <a:t>toward to target</a:t>
            </a:r>
            <a:r>
              <a:rPr lang="en-US" altLang="ja-JP" dirty="0" smtClean="0"/>
              <a:t>.</a:t>
            </a:r>
          </a:p>
          <a:p>
            <a:pPr marL="914400" lvl="1" indent="-457200">
              <a:buFont typeface="+mj-lt"/>
              <a:buAutoNum type="arabicPeriod"/>
            </a:pPr>
            <a:r>
              <a:rPr lang="en-US" altLang="ja-JP" dirty="0" smtClean="0"/>
              <a:t>2-5 are repeated until it becomes a suitable distance. And if </a:t>
            </a:r>
            <a:r>
              <a:rPr lang="en-US" altLang="ja-JP" dirty="0" err="1" smtClean="0"/>
              <a:t>losts</a:t>
            </a:r>
            <a:r>
              <a:rPr lang="en-US" altLang="ja-JP" dirty="0" smtClean="0"/>
              <a:t> target, returns to 1.</a:t>
            </a:r>
          </a:p>
          <a:p>
            <a:pPr marL="914400" lvl="1" indent="-457200">
              <a:buFont typeface="+mj-lt"/>
              <a:buAutoNum type="arabicPeriod"/>
            </a:pPr>
            <a:r>
              <a:rPr lang="en-US" altLang="ja-JP" dirty="0" smtClean="0"/>
              <a:t>The scene that it is working in real time can be seen by </a:t>
            </a:r>
            <a:r>
              <a:rPr lang="en-US" altLang="ja-JP" dirty="0" err="1" smtClean="0"/>
              <a:t>iPad</a:t>
            </a:r>
            <a:r>
              <a:rPr lang="en-US" altLang="ja-JP" dirty="0" smtClean="0"/>
              <a:t>.</a:t>
            </a:r>
            <a:endParaRPr lang="en-US" altLang="ja-JP" dirty="0"/>
          </a:p>
        </p:txBody>
      </p:sp>
    </p:spTree>
    <p:extLst>
      <p:ext uri="{BB962C8B-B14F-4D97-AF65-F5344CB8AC3E}">
        <p14:creationId xmlns="" xmlns:p14="http://schemas.microsoft.com/office/powerpoint/2010/main" val="11695310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Movie</a:t>
            </a:r>
            <a:endParaRPr kumimoji="1" lang="ja-JP" altLang="en-US" dirty="0"/>
          </a:p>
        </p:txBody>
      </p:sp>
      <p:pic>
        <p:nvPicPr>
          <p:cNvPr id="10" name="movie1.wmv">
            <a:hlinkClick r:id="" action="ppaction://media"/>
          </p:cNvPr>
          <p:cNvPicPr>
            <a:picLocks noGrp="1" noRot="1" noChangeAspect="1"/>
          </p:cNvPicPr>
          <p:nvPr>
            <p:ph idx="1"/>
            <a:videoFile r:link="rId1"/>
          </p:nvPr>
        </p:nvPicPr>
        <p:blipFill>
          <a:blip r:embed="rId4" cstate="print"/>
          <a:stretch>
            <a:fillRect/>
          </a:stretch>
        </p:blipFill>
        <p:spPr>
          <a:xfrm>
            <a:off x="391173" y="883292"/>
            <a:ext cx="8752828" cy="5835218"/>
          </a:xfrm>
          <a:prstGeom prst="rect">
            <a:avLst/>
          </a:prstGeom>
        </p:spPr>
      </p:pic>
    </p:spTree>
    <p:extLst>
      <p:ext uri="{BB962C8B-B14F-4D97-AF65-F5344CB8AC3E}">
        <p14:creationId xmlns="" xmlns:p14="http://schemas.microsoft.com/office/powerpoint/2010/main" val="429196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2055"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2"/>
          <p:cNvSpPr txBox="1">
            <a:spLocks/>
          </p:cNvSpPr>
          <p:nvPr/>
        </p:nvSpPr>
        <p:spPr bwMode="auto">
          <a:xfrm>
            <a:off x="838200" y="1125538"/>
            <a:ext cx="7772400" cy="53276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itchFamily="-96" charset="0"/>
              <a:buBlip>
                <a:blip r:embed="rId3"/>
              </a:buBlip>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Blip>
                <a:blip r:embed="rId4"/>
              </a:buBlip>
              <a:defRPr kumimoji="1" sz="2400">
                <a:solidFill>
                  <a:schemeClr val="tx1"/>
                </a:solidFill>
                <a:latin typeface="+mn-lt"/>
                <a:ea typeface="+mn-ea"/>
              </a:defRPr>
            </a:lvl2pPr>
            <a:lvl3pPr marL="1143000" indent="-228600" algn="l" rtl="0" eaLnBrk="1" fontAlgn="base" hangingPunct="1">
              <a:spcBef>
                <a:spcPct val="20000"/>
              </a:spcBef>
              <a:spcAft>
                <a:spcPct val="0"/>
              </a:spcAft>
              <a:buBlip>
                <a:blip r:embed="rId5"/>
              </a:buBlip>
              <a:defRPr kumimoji="1" sz="2000">
                <a:solidFill>
                  <a:schemeClr val="tx1"/>
                </a:solidFill>
                <a:latin typeface="+mn-lt"/>
                <a:ea typeface="+mn-ea"/>
              </a:defRPr>
            </a:lvl3pPr>
            <a:lvl4pPr marL="1600200" indent="-228600" algn="l" rtl="0" eaLnBrk="1" fontAlgn="base" hangingPunct="1">
              <a:spcBef>
                <a:spcPct val="20000"/>
              </a:spcBef>
              <a:spcAft>
                <a:spcPct val="0"/>
              </a:spcAft>
              <a:buBlip>
                <a:blip r:embed="rId6"/>
              </a:buBlip>
              <a:defRPr kumimoji="1">
                <a:solidFill>
                  <a:schemeClr val="tx1"/>
                </a:solidFill>
                <a:latin typeface="+mn-lt"/>
                <a:ea typeface="+mn-ea"/>
              </a:defRPr>
            </a:lvl4pPr>
            <a:lvl5pPr marL="2057400" indent="-228600" algn="l" rtl="0" eaLnBrk="1" fontAlgn="base" hangingPunct="1">
              <a:spcBef>
                <a:spcPct val="20000"/>
              </a:spcBef>
              <a:spcAft>
                <a:spcPct val="0"/>
              </a:spcAft>
              <a:buBlip>
                <a:blip r:embed="rId7"/>
              </a:buBlip>
              <a:defRPr kumimoji="1">
                <a:solidFill>
                  <a:schemeClr val="tx1"/>
                </a:solidFill>
                <a:latin typeface="+mn-lt"/>
                <a:ea typeface="+mn-ea"/>
              </a:defRPr>
            </a:lvl5pPr>
            <a:lvl6pPr marL="2514600" indent="-228600" algn="l" rtl="0" eaLnBrk="1" fontAlgn="base" hangingPunct="1">
              <a:spcBef>
                <a:spcPct val="20000"/>
              </a:spcBef>
              <a:spcAft>
                <a:spcPct val="0"/>
              </a:spcAft>
              <a:buBlip>
                <a:blip r:embed="rId7"/>
              </a:buBlip>
              <a:defRPr kumimoji="1">
                <a:solidFill>
                  <a:schemeClr val="tx1"/>
                </a:solidFill>
                <a:latin typeface="+mn-lt"/>
                <a:ea typeface="+mn-ea"/>
              </a:defRPr>
            </a:lvl6pPr>
            <a:lvl7pPr marL="2971800" indent="-228600" algn="l" rtl="0" eaLnBrk="1" fontAlgn="base" hangingPunct="1">
              <a:spcBef>
                <a:spcPct val="20000"/>
              </a:spcBef>
              <a:spcAft>
                <a:spcPct val="0"/>
              </a:spcAft>
              <a:buBlip>
                <a:blip r:embed="rId7"/>
              </a:buBlip>
              <a:defRPr kumimoji="1">
                <a:solidFill>
                  <a:schemeClr val="tx1"/>
                </a:solidFill>
                <a:latin typeface="+mn-lt"/>
                <a:ea typeface="+mn-ea"/>
              </a:defRPr>
            </a:lvl7pPr>
            <a:lvl8pPr marL="3429000" indent="-228600" algn="l" rtl="0" eaLnBrk="1" fontAlgn="base" hangingPunct="1">
              <a:spcBef>
                <a:spcPct val="20000"/>
              </a:spcBef>
              <a:spcAft>
                <a:spcPct val="0"/>
              </a:spcAft>
              <a:buBlip>
                <a:blip r:embed="rId7"/>
              </a:buBlip>
              <a:defRPr kumimoji="1">
                <a:solidFill>
                  <a:schemeClr val="tx1"/>
                </a:solidFill>
                <a:latin typeface="+mn-lt"/>
                <a:ea typeface="+mn-ea"/>
              </a:defRPr>
            </a:lvl8pPr>
            <a:lvl9pPr marL="3886200" indent="-228600" algn="l" rtl="0" eaLnBrk="1" fontAlgn="base" hangingPunct="1">
              <a:spcBef>
                <a:spcPct val="20000"/>
              </a:spcBef>
              <a:spcAft>
                <a:spcPct val="0"/>
              </a:spcAft>
              <a:buBlip>
                <a:blip r:embed="rId7"/>
              </a:buBlip>
              <a:defRPr kumimoji="1">
                <a:solidFill>
                  <a:schemeClr val="tx1"/>
                </a:solidFill>
                <a:latin typeface="+mn-lt"/>
                <a:ea typeface="+mn-ea"/>
              </a:defRPr>
            </a:lvl9pPr>
          </a:lstStyle>
          <a:p>
            <a:r>
              <a:rPr lang="en-US" altLang="ja-JP" dirty="0" smtClean="0"/>
              <a:t>YouTube</a:t>
            </a:r>
          </a:p>
          <a:p>
            <a:pPr lvl="1"/>
            <a:r>
              <a:rPr lang="en-US" altLang="ja-JP" dirty="0" smtClean="0">
                <a:hlinkClick r:id="rId8"/>
              </a:rPr>
              <a:t>http://www.youtube.com/watch?v=8EgfAk5RBVo</a:t>
            </a:r>
            <a:endParaRPr lang="en-US" altLang="ja-JP" dirty="0"/>
          </a:p>
          <a:p>
            <a:r>
              <a:rPr lang="en-US" altLang="ja-JP" dirty="0" smtClean="0"/>
              <a:t>Source Code &amp; detail </a:t>
            </a:r>
            <a:r>
              <a:rPr lang="en-US" altLang="ja-JP" dirty="0"/>
              <a:t>explanation</a:t>
            </a:r>
            <a:endParaRPr lang="en-US" altLang="ja-JP" dirty="0" smtClean="0"/>
          </a:p>
          <a:p>
            <a:pPr lvl="1"/>
            <a:r>
              <a:rPr lang="en-US" altLang="ja-JP" dirty="0" smtClean="0">
                <a:hlinkClick r:id="rId9"/>
              </a:rPr>
              <a:t>http://www.siprop.org/ja/2.0/index.php?product%2FAutoChasingTurtle</a:t>
            </a:r>
            <a:endParaRPr lang="en-US" altLang="ja-JP" dirty="0" smtClean="0"/>
          </a:p>
          <a:p>
            <a:pPr lvl="1"/>
            <a:endParaRPr lang="en-US" altLang="ja-JP" dirty="0" smtClean="0"/>
          </a:p>
          <a:p>
            <a:endParaRPr lang="en-US" altLang="ja-JP" dirty="0" smtClean="0"/>
          </a:p>
          <a:p>
            <a:pPr lvl="1"/>
            <a:endParaRPr lang="en-US" altLang="ja-JP" dirty="0" smtClean="0"/>
          </a:p>
        </p:txBody>
      </p:sp>
      <p:sp>
        <p:nvSpPr>
          <p:cNvPr id="2" name="タイトル 1"/>
          <p:cNvSpPr>
            <a:spLocks noGrp="1"/>
          </p:cNvSpPr>
          <p:nvPr>
            <p:ph type="title"/>
          </p:nvPr>
        </p:nvSpPr>
        <p:spPr/>
        <p:txBody>
          <a:bodyPr/>
          <a:lstStyle/>
          <a:p>
            <a:r>
              <a:rPr lang="en-US" altLang="ja-JP" dirty="0" smtClean="0"/>
              <a:t>Movie</a:t>
            </a:r>
            <a:endParaRPr kumimoji="1" lang="ja-JP" altLang="en-US" dirty="0"/>
          </a:p>
        </p:txBody>
      </p:sp>
      <p:pic>
        <p:nvPicPr>
          <p:cNvPr id="7" name="図 6"/>
          <p:cNvPicPr>
            <a:picLocks noChangeAspect="1"/>
          </p:cNvPicPr>
          <p:nvPr/>
        </p:nvPicPr>
        <p:blipFill>
          <a:blip r:embed="rId10" cstate="print">
            <a:extLst>
              <a:ext uri="{28A0092B-C50C-407E-A947-70E740481C1C}">
                <a14:useLocalDpi xmlns="" xmlns:a14="http://schemas.microsoft.com/office/drawing/2010/main" val="0"/>
              </a:ext>
            </a:extLst>
          </a:blip>
          <a:stretch>
            <a:fillRect/>
          </a:stretch>
        </p:blipFill>
        <p:spPr>
          <a:xfrm>
            <a:off x="827584" y="4964385"/>
            <a:ext cx="3048000" cy="1704975"/>
          </a:xfrm>
          <a:prstGeom prst="rect">
            <a:avLst/>
          </a:prstGeom>
        </p:spPr>
      </p:pic>
      <p:pic>
        <p:nvPicPr>
          <p:cNvPr id="5" name="コンテンツ プレースホルダー 4"/>
          <p:cNvPicPr>
            <a:picLocks noGrp="1" noChangeAspect="1"/>
          </p:cNvPicPr>
          <p:nvPr>
            <p:ph idx="1"/>
          </p:nvPr>
        </p:nvPicPr>
        <p:blipFill>
          <a:blip r:embed="rId11" cstate="print">
            <a:extLst>
              <a:ext uri="{28A0092B-C50C-407E-A947-70E740481C1C}">
                <a14:useLocalDpi xmlns="" xmlns:a14="http://schemas.microsoft.com/office/drawing/2010/main" val="0"/>
              </a:ext>
            </a:extLst>
          </a:blip>
          <a:stretch>
            <a:fillRect/>
          </a:stretch>
        </p:blipFill>
        <p:spPr>
          <a:xfrm>
            <a:off x="3347864" y="4341418"/>
            <a:ext cx="3048000" cy="1704975"/>
          </a:xfrm>
        </p:spPr>
      </p:pic>
      <p:pic>
        <p:nvPicPr>
          <p:cNvPr id="6" name="図 5"/>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6012160" y="3524225"/>
            <a:ext cx="3048000" cy="1704975"/>
          </a:xfrm>
          <a:prstGeom prst="rect">
            <a:avLst/>
          </a:prstGeom>
        </p:spPr>
      </p:pic>
    </p:spTree>
    <p:extLst>
      <p:ext uri="{BB962C8B-B14F-4D97-AF65-F5344CB8AC3E}">
        <p14:creationId xmlns="" xmlns:p14="http://schemas.microsoft.com/office/powerpoint/2010/main" val="42919645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complete </a:t>
            </a:r>
            <a:r>
              <a:rPr lang="en-US" altLang="ja-JP" dirty="0" smtClean="0"/>
              <a:t>set parts</a:t>
            </a:r>
            <a:endParaRPr kumimoji="1" lang="ja-JP" altLang="en-US" dirty="0"/>
          </a:p>
        </p:txBody>
      </p:sp>
      <p:sp>
        <p:nvSpPr>
          <p:cNvPr id="3" name="コンテンツ プレースホルダー 2"/>
          <p:cNvSpPr>
            <a:spLocks noGrp="1"/>
          </p:cNvSpPr>
          <p:nvPr>
            <p:ph sz="half" idx="1"/>
          </p:nvPr>
        </p:nvSpPr>
        <p:spPr>
          <a:xfrm>
            <a:off x="838200" y="1125538"/>
            <a:ext cx="4021832" cy="5327650"/>
          </a:xfrm>
        </p:spPr>
        <p:txBody>
          <a:bodyPr/>
          <a:lstStyle/>
          <a:p>
            <a:r>
              <a:rPr lang="en-US" altLang="ja-JP" dirty="0" smtClean="0"/>
              <a:t>Robot</a:t>
            </a:r>
            <a:endParaRPr kumimoji="1" lang="en-US" altLang="ja-JP" dirty="0" smtClean="0"/>
          </a:p>
          <a:p>
            <a:pPr lvl="1"/>
            <a:r>
              <a:rPr lang="en-US" altLang="ja-JP" dirty="0" smtClean="0"/>
              <a:t>KONDO Animal 01</a:t>
            </a:r>
          </a:p>
          <a:p>
            <a:pPr lvl="1"/>
            <a:endParaRPr lang="en-US" altLang="ja-JP" dirty="0" smtClean="0"/>
          </a:p>
          <a:p>
            <a:r>
              <a:rPr lang="en-US" altLang="ja-JP" dirty="0" smtClean="0"/>
              <a:t>Controllers</a:t>
            </a:r>
          </a:p>
          <a:p>
            <a:pPr lvl="1"/>
            <a:r>
              <a:rPr lang="en-US" altLang="ja-JP" dirty="0" smtClean="0"/>
              <a:t>For servo</a:t>
            </a:r>
          </a:p>
          <a:p>
            <a:pPr lvl="2"/>
            <a:r>
              <a:rPr lang="en-US" altLang="ja-JP" dirty="0" smtClean="0"/>
              <a:t>RCB3</a:t>
            </a:r>
          </a:p>
          <a:p>
            <a:pPr lvl="1"/>
            <a:r>
              <a:rPr lang="en-US" altLang="ja-JP" dirty="0" smtClean="0"/>
              <a:t>For application</a:t>
            </a:r>
          </a:p>
          <a:p>
            <a:pPr lvl="2"/>
            <a:r>
              <a:rPr lang="en-US" altLang="ja-JP" dirty="0" err="1" smtClean="0"/>
              <a:t>B</a:t>
            </a:r>
            <a:r>
              <a:rPr kumimoji="1" lang="en-US" altLang="ja-JP" dirty="0" err="1" smtClean="0"/>
              <a:t>eagleboard-xM</a:t>
            </a:r>
            <a:endParaRPr kumimoji="1" lang="en-US" altLang="ja-JP" dirty="0" smtClean="0"/>
          </a:p>
          <a:p>
            <a:pPr lvl="3"/>
            <a:r>
              <a:rPr lang="en-US" altLang="ja-JP" dirty="0" err="1" smtClean="0"/>
              <a:t>Linaro</a:t>
            </a:r>
            <a:r>
              <a:rPr lang="en-US" altLang="ja-JP" dirty="0" smtClean="0"/>
              <a:t>-Kernel</a:t>
            </a:r>
          </a:p>
          <a:p>
            <a:pPr lvl="3"/>
            <a:r>
              <a:rPr lang="en-US" altLang="ja-JP" dirty="0" smtClean="0"/>
              <a:t>Android(Embedded Master)</a:t>
            </a:r>
          </a:p>
        </p:txBody>
      </p:sp>
      <p:sp>
        <p:nvSpPr>
          <p:cNvPr id="4" name="コンテンツ プレースホルダー 3"/>
          <p:cNvSpPr>
            <a:spLocks noGrp="1"/>
          </p:cNvSpPr>
          <p:nvPr>
            <p:ph sz="half" idx="2"/>
          </p:nvPr>
        </p:nvSpPr>
        <p:spPr>
          <a:xfrm>
            <a:off x="4860032" y="1125538"/>
            <a:ext cx="3750568" cy="5543822"/>
          </a:xfrm>
        </p:spPr>
        <p:txBody>
          <a:bodyPr/>
          <a:lstStyle/>
          <a:p>
            <a:r>
              <a:rPr lang="en-US" altLang="ja-JP" dirty="0" smtClean="0"/>
              <a:t>Sensors</a:t>
            </a:r>
          </a:p>
          <a:p>
            <a:pPr lvl="1"/>
            <a:r>
              <a:rPr lang="en-US" altLang="ja-JP" dirty="0" err="1" smtClean="0"/>
              <a:t>Kinect</a:t>
            </a:r>
            <a:endParaRPr lang="en-US" altLang="ja-JP" dirty="0" smtClean="0"/>
          </a:p>
          <a:p>
            <a:pPr lvl="2"/>
            <a:r>
              <a:rPr lang="en-US" altLang="ja-JP" dirty="0" smtClean="0"/>
              <a:t>RGB</a:t>
            </a:r>
            <a:r>
              <a:rPr lang="ja-JP" altLang="en-US" dirty="0" smtClean="0"/>
              <a:t> </a:t>
            </a:r>
            <a:r>
              <a:rPr lang="en-US" altLang="ja-JP" dirty="0" smtClean="0"/>
              <a:t>camera</a:t>
            </a:r>
          </a:p>
          <a:p>
            <a:pPr lvl="2"/>
            <a:r>
              <a:rPr lang="en-US" altLang="ja-JP" dirty="0" smtClean="0"/>
              <a:t>Z(Depth)</a:t>
            </a:r>
            <a:r>
              <a:rPr lang="ja-JP" altLang="en-US" dirty="0" smtClean="0"/>
              <a:t> </a:t>
            </a:r>
            <a:r>
              <a:rPr lang="en-US" altLang="ja-JP" dirty="0" smtClean="0"/>
              <a:t>camera</a:t>
            </a:r>
          </a:p>
          <a:p>
            <a:r>
              <a:rPr lang="en-US" altLang="ja-JP" dirty="0" smtClean="0"/>
              <a:t>Connect to outside</a:t>
            </a:r>
          </a:p>
          <a:p>
            <a:pPr lvl="1"/>
            <a:r>
              <a:rPr lang="en-US" altLang="ja-JP" dirty="0" smtClean="0"/>
              <a:t>Radio wave</a:t>
            </a:r>
          </a:p>
          <a:p>
            <a:pPr lvl="2"/>
            <a:r>
              <a:rPr lang="en-US" altLang="ja-JP" dirty="0" smtClean="0"/>
              <a:t>Wi-Fi router</a:t>
            </a:r>
          </a:p>
          <a:p>
            <a:pPr lvl="1"/>
            <a:r>
              <a:rPr lang="en-US" altLang="ja-JP" dirty="0" smtClean="0"/>
              <a:t>Viewer</a:t>
            </a:r>
          </a:p>
          <a:p>
            <a:pPr lvl="2"/>
            <a:r>
              <a:rPr lang="en-US" altLang="ja-JP" dirty="0" err="1" smtClean="0"/>
              <a:t>iPad</a:t>
            </a:r>
            <a:endParaRPr lang="en-US" altLang="ja-JP" dirty="0" smtClean="0"/>
          </a:p>
          <a:p>
            <a:r>
              <a:rPr lang="en-US" altLang="ja-JP" dirty="0" smtClean="0"/>
              <a:t>Power supply</a:t>
            </a:r>
          </a:p>
          <a:p>
            <a:pPr lvl="2"/>
            <a:r>
              <a:rPr lang="en-US" altLang="ja-JP" dirty="0" smtClean="0"/>
              <a:t>12V1A output</a:t>
            </a:r>
          </a:p>
          <a:p>
            <a:pPr lvl="2"/>
            <a:r>
              <a:rPr lang="en-US" altLang="ja-JP" dirty="0" smtClean="0"/>
              <a:t>10V1A output</a:t>
            </a:r>
          </a:p>
          <a:p>
            <a:pPr lvl="2"/>
            <a:r>
              <a:rPr lang="en-US" altLang="ja-JP" dirty="0" smtClean="0"/>
              <a:t>5V3A output</a:t>
            </a:r>
            <a:endParaRPr lang="ja-JP" altLang="en-US" dirty="0"/>
          </a:p>
        </p:txBody>
      </p:sp>
    </p:spTree>
    <p:extLst>
      <p:ext uri="{BB962C8B-B14F-4D97-AF65-F5344CB8AC3E}">
        <p14:creationId xmlns="" xmlns:p14="http://schemas.microsoft.com/office/powerpoint/2010/main" val="2878889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Why this project?</a:t>
            </a:r>
            <a:endParaRPr kumimoji="1" lang="ja-JP" altLang="en-US" dirty="0"/>
          </a:p>
        </p:txBody>
      </p:sp>
      <p:sp>
        <p:nvSpPr>
          <p:cNvPr id="3" name="コンテンツ プレースホルダー 2"/>
          <p:cNvSpPr>
            <a:spLocks noGrp="1"/>
          </p:cNvSpPr>
          <p:nvPr>
            <p:ph idx="1"/>
          </p:nvPr>
        </p:nvSpPr>
        <p:spPr>
          <a:xfrm>
            <a:off x="838199" y="1125538"/>
            <a:ext cx="8019361" cy="5327650"/>
          </a:xfrm>
        </p:spPr>
        <p:txBody>
          <a:bodyPr/>
          <a:lstStyle/>
          <a:p>
            <a:r>
              <a:rPr lang="en-US" altLang="ja-JP" dirty="0" smtClean="0"/>
              <a:t>DENSUKE project</a:t>
            </a:r>
          </a:p>
          <a:p>
            <a:pPr lvl="1"/>
            <a:r>
              <a:rPr lang="en-US" altLang="ja-JP" dirty="0" smtClean="0"/>
              <a:t>Mobile </a:t>
            </a:r>
            <a:r>
              <a:rPr lang="en-US" altLang="ja-JP" dirty="0"/>
              <a:t>Internet Device with Cyber-Pet User </a:t>
            </a:r>
            <a:r>
              <a:rPr lang="en-US" altLang="ja-JP" dirty="0" smtClean="0"/>
              <a:t>Interface</a:t>
            </a:r>
          </a:p>
          <a:p>
            <a:endParaRPr kumimoji="1" lang="en-US" altLang="ja-JP" dirty="0" smtClean="0"/>
          </a:p>
          <a:p>
            <a:endParaRPr kumimoji="1" lang="en-US" altLang="ja-JP" dirty="0"/>
          </a:p>
        </p:txBody>
      </p:sp>
      <p:pic>
        <p:nvPicPr>
          <p:cNvPr id="6" name="図 5"/>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693127" y="2368626"/>
            <a:ext cx="5854544" cy="3809594"/>
          </a:xfrm>
          <a:prstGeom prst="rect">
            <a:avLst/>
          </a:prstGeom>
        </p:spPr>
      </p:pic>
      <p:pic>
        <p:nvPicPr>
          <p:cNvPr id="5" name="図 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5439350" y="3384874"/>
            <a:ext cx="3619500" cy="3305175"/>
          </a:xfrm>
          <a:prstGeom prst="rect">
            <a:avLst/>
          </a:prstGeom>
        </p:spPr>
      </p:pic>
    </p:spTree>
    <p:extLst>
      <p:ext uri="{BB962C8B-B14F-4D97-AF65-F5344CB8AC3E}">
        <p14:creationId xmlns="" xmlns:p14="http://schemas.microsoft.com/office/powerpoint/2010/main" val="2631742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DENSUKE project</a:t>
            </a:r>
            <a:endParaRPr kumimoji="1" lang="ja-JP" altLang="en-US" dirty="0"/>
          </a:p>
        </p:txBody>
      </p:sp>
      <p:sp>
        <p:nvSpPr>
          <p:cNvPr id="3" name="コンテンツ プレースホルダー 2"/>
          <p:cNvSpPr>
            <a:spLocks noGrp="1"/>
          </p:cNvSpPr>
          <p:nvPr>
            <p:ph idx="1"/>
          </p:nvPr>
        </p:nvSpPr>
        <p:spPr>
          <a:xfrm>
            <a:off x="838200" y="1125538"/>
            <a:ext cx="7772400" cy="1904101"/>
          </a:xfrm>
        </p:spPr>
        <p:txBody>
          <a:bodyPr/>
          <a:lstStyle/>
          <a:p>
            <a:r>
              <a:rPr lang="en-US" altLang="ja-JP" dirty="0" smtClean="0"/>
              <a:t>OESF(Open Embedded Software Foundation)</a:t>
            </a:r>
            <a:r>
              <a:rPr lang="ja-JP" altLang="en-US" dirty="0" smtClean="0"/>
              <a:t>　</a:t>
            </a:r>
            <a:r>
              <a:rPr lang="en-US" altLang="ja-JP" dirty="0" smtClean="0"/>
              <a:t>Future Systems WG’s mission</a:t>
            </a:r>
            <a:endParaRPr kumimoji="1" lang="en-US" altLang="ja-JP" dirty="0" smtClean="0"/>
          </a:p>
          <a:p>
            <a:pPr lvl="1"/>
            <a:r>
              <a:rPr lang="en-US" altLang="ja-JP" dirty="0" smtClean="0">
                <a:hlinkClick r:id="rId3"/>
              </a:rPr>
              <a:t>http://fswg.oesf.biz/</a:t>
            </a:r>
            <a:endParaRPr lang="en-US" altLang="ja-JP" dirty="0" smtClean="0"/>
          </a:p>
          <a:p>
            <a:pPr marL="0" indent="0">
              <a:buNone/>
            </a:pPr>
            <a:endParaRPr kumimoji="1" lang="en-US" altLang="ja-JP" dirty="0" smtClean="0"/>
          </a:p>
          <a:p>
            <a:endParaRPr kumimoji="1" lang="en-US" altLang="ja-JP" dirty="0"/>
          </a:p>
        </p:txBody>
      </p:sp>
      <p:pic>
        <p:nvPicPr>
          <p:cNvPr id="4" name="図 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6372283" y="4555921"/>
            <a:ext cx="1474839" cy="2064774"/>
          </a:xfrm>
          <a:prstGeom prst="rect">
            <a:avLst/>
          </a:prstGeom>
        </p:spPr>
      </p:pic>
      <p:pic>
        <p:nvPicPr>
          <p:cNvPr id="6" name="図 5"/>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1141521" y="4060161"/>
            <a:ext cx="3827086" cy="2268096"/>
          </a:xfrm>
          <a:prstGeom prst="rect">
            <a:avLst/>
          </a:prstGeom>
        </p:spPr>
      </p:pic>
      <p:sp>
        <p:nvSpPr>
          <p:cNvPr id="7" name="コンテンツ プレースホルダー 2"/>
          <p:cNvSpPr txBox="1">
            <a:spLocks/>
          </p:cNvSpPr>
          <p:nvPr/>
        </p:nvSpPr>
        <p:spPr bwMode="auto">
          <a:xfrm>
            <a:off x="817723" y="3222861"/>
            <a:ext cx="2347511" cy="8373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itchFamily="-96" charset="0"/>
              <a:buBlip>
                <a:blip r:embed="rId6"/>
              </a:buBlip>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Blip>
                <a:blip r:embed="rId7"/>
              </a:buBlip>
              <a:defRPr kumimoji="1" sz="2400">
                <a:solidFill>
                  <a:schemeClr val="tx1"/>
                </a:solidFill>
                <a:latin typeface="+mn-lt"/>
                <a:ea typeface="+mn-ea"/>
              </a:defRPr>
            </a:lvl2pPr>
            <a:lvl3pPr marL="1143000" indent="-228600" algn="l" rtl="0" eaLnBrk="1" fontAlgn="base" hangingPunct="1">
              <a:spcBef>
                <a:spcPct val="20000"/>
              </a:spcBef>
              <a:spcAft>
                <a:spcPct val="0"/>
              </a:spcAft>
              <a:buBlip>
                <a:blip r:embed="rId8"/>
              </a:buBlip>
              <a:defRPr kumimoji="1" sz="2000">
                <a:solidFill>
                  <a:schemeClr val="tx1"/>
                </a:solidFill>
                <a:latin typeface="+mn-lt"/>
                <a:ea typeface="+mn-ea"/>
              </a:defRPr>
            </a:lvl3pPr>
            <a:lvl4pPr marL="1600200" indent="-228600" algn="l" rtl="0" eaLnBrk="1" fontAlgn="base" hangingPunct="1">
              <a:spcBef>
                <a:spcPct val="20000"/>
              </a:spcBef>
              <a:spcAft>
                <a:spcPct val="0"/>
              </a:spcAft>
              <a:buBlip>
                <a:blip r:embed="rId9"/>
              </a:buBlip>
              <a:defRPr kumimoji="1">
                <a:solidFill>
                  <a:schemeClr val="tx1"/>
                </a:solidFill>
                <a:latin typeface="+mn-lt"/>
                <a:ea typeface="+mn-ea"/>
              </a:defRPr>
            </a:lvl4pPr>
            <a:lvl5pPr marL="2057400" indent="-228600" algn="l" rtl="0" eaLnBrk="1" fontAlgn="base" hangingPunct="1">
              <a:spcBef>
                <a:spcPct val="20000"/>
              </a:spcBef>
              <a:spcAft>
                <a:spcPct val="0"/>
              </a:spcAft>
              <a:buBlip>
                <a:blip r:embed="rId10"/>
              </a:buBlip>
              <a:defRPr kumimoji="1">
                <a:solidFill>
                  <a:schemeClr val="tx1"/>
                </a:solidFill>
                <a:latin typeface="+mn-lt"/>
                <a:ea typeface="+mn-ea"/>
              </a:defRPr>
            </a:lvl5pPr>
            <a:lvl6pPr marL="2514600" indent="-228600" algn="l" rtl="0" eaLnBrk="1" fontAlgn="base" hangingPunct="1">
              <a:spcBef>
                <a:spcPct val="20000"/>
              </a:spcBef>
              <a:spcAft>
                <a:spcPct val="0"/>
              </a:spcAft>
              <a:buBlip>
                <a:blip r:embed="rId10"/>
              </a:buBlip>
              <a:defRPr kumimoji="1">
                <a:solidFill>
                  <a:schemeClr val="tx1"/>
                </a:solidFill>
                <a:latin typeface="+mn-lt"/>
                <a:ea typeface="+mn-ea"/>
              </a:defRPr>
            </a:lvl6pPr>
            <a:lvl7pPr marL="2971800" indent="-228600" algn="l" rtl="0" eaLnBrk="1" fontAlgn="base" hangingPunct="1">
              <a:spcBef>
                <a:spcPct val="20000"/>
              </a:spcBef>
              <a:spcAft>
                <a:spcPct val="0"/>
              </a:spcAft>
              <a:buBlip>
                <a:blip r:embed="rId10"/>
              </a:buBlip>
              <a:defRPr kumimoji="1">
                <a:solidFill>
                  <a:schemeClr val="tx1"/>
                </a:solidFill>
                <a:latin typeface="+mn-lt"/>
                <a:ea typeface="+mn-ea"/>
              </a:defRPr>
            </a:lvl7pPr>
            <a:lvl8pPr marL="3429000" indent="-228600" algn="l" rtl="0" eaLnBrk="1" fontAlgn="base" hangingPunct="1">
              <a:spcBef>
                <a:spcPct val="20000"/>
              </a:spcBef>
              <a:spcAft>
                <a:spcPct val="0"/>
              </a:spcAft>
              <a:buBlip>
                <a:blip r:embed="rId10"/>
              </a:buBlip>
              <a:defRPr kumimoji="1">
                <a:solidFill>
                  <a:schemeClr val="tx1"/>
                </a:solidFill>
                <a:latin typeface="+mn-lt"/>
                <a:ea typeface="+mn-ea"/>
              </a:defRPr>
            </a:lvl8pPr>
            <a:lvl9pPr marL="3886200" indent="-228600" algn="l" rtl="0" eaLnBrk="1" fontAlgn="base" hangingPunct="1">
              <a:spcBef>
                <a:spcPct val="20000"/>
              </a:spcBef>
              <a:spcAft>
                <a:spcPct val="0"/>
              </a:spcAft>
              <a:buBlip>
                <a:blip r:embed="rId10"/>
              </a:buBlip>
              <a:defRPr kumimoji="1">
                <a:solidFill>
                  <a:schemeClr val="tx1"/>
                </a:solidFill>
                <a:latin typeface="+mn-lt"/>
                <a:ea typeface="+mn-ea"/>
              </a:defRPr>
            </a:lvl9pPr>
          </a:lstStyle>
          <a:p>
            <a:r>
              <a:rPr lang="en-US" altLang="ja-JP" dirty="0"/>
              <a:t>P</a:t>
            </a:r>
            <a:r>
              <a:rPr lang="en-US" altLang="ja-JP" dirty="0" smtClean="0"/>
              <a:t>artners</a:t>
            </a:r>
          </a:p>
          <a:p>
            <a:endParaRPr lang="en-US" altLang="ja-JP" dirty="0"/>
          </a:p>
        </p:txBody>
      </p:sp>
      <p:sp>
        <p:nvSpPr>
          <p:cNvPr id="8" name="コンテンツ プレースホルダー 2"/>
          <p:cNvSpPr txBox="1">
            <a:spLocks/>
          </p:cNvSpPr>
          <p:nvPr/>
        </p:nvSpPr>
        <p:spPr bwMode="auto">
          <a:xfrm>
            <a:off x="5166911" y="3154923"/>
            <a:ext cx="3701667" cy="153826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itchFamily="-96" charset="0"/>
              <a:buBlip>
                <a:blip r:embed="rId6"/>
              </a:buBlip>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Blip>
                <a:blip r:embed="rId7"/>
              </a:buBlip>
              <a:defRPr kumimoji="1" sz="2400">
                <a:solidFill>
                  <a:schemeClr val="tx1"/>
                </a:solidFill>
                <a:latin typeface="+mn-lt"/>
                <a:ea typeface="+mn-ea"/>
              </a:defRPr>
            </a:lvl2pPr>
            <a:lvl3pPr marL="1143000" indent="-228600" algn="l" rtl="0" eaLnBrk="1" fontAlgn="base" hangingPunct="1">
              <a:spcBef>
                <a:spcPct val="20000"/>
              </a:spcBef>
              <a:spcAft>
                <a:spcPct val="0"/>
              </a:spcAft>
              <a:buBlip>
                <a:blip r:embed="rId8"/>
              </a:buBlip>
              <a:defRPr kumimoji="1" sz="2000">
                <a:solidFill>
                  <a:schemeClr val="tx1"/>
                </a:solidFill>
                <a:latin typeface="+mn-lt"/>
                <a:ea typeface="+mn-ea"/>
              </a:defRPr>
            </a:lvl3pPr>
            <a:lvl4pPr marL="1600200" indent="-228600" algn="l" rtl="0" eaLnBrk="1" fontAlgn="base" hangingPunct="1">
              <a:spcBef>
                <a:spcPct val="20000"/>
              </a:spcBef>
              <a:spcAft>
                <a:spcPct val="0"/>
              </a:spcAft>
              <a:buBlip>
                <a:blip r:embed="rId9"/>
              </a:buBlip>
              <a:defRPr kumimoji="1">
                <a:solidFill>
                  <a:schemeClr val="tx1"/>
                </a:solidFill>
                <a:latin typeface="+mn-lt"/>
                <a:ea typeface="+mn-ea"/>
              </a:defRPr>
            </a:lvl4pPr>
            <a:lvl5pPr marL="2057400" indent="-228600" algn="l" rtl="0" eaLnBrk="1" fontAlgn="base" hangingPunct="1">
              <a:spcBef>
                <a:spcPct val="20000"/>
              </a:spcBef>
              <a:spcAft>
                <a:spcPct val="0"/>
              </a:spcAft>
              <a:buBlip>
                <a:blip r:embed="rId10"/>
              </a:buBlip>
              <a:defRPr kumimoji="1">
                <a:solidFill>
                  <a:schemeClr val="tx1"/>
                </a:solidFill>
                <a:latin typeface="+mn-lt"/>
                <a:ea typeface="+mn-ea"/>
              </a:defRPr>
            </a:lvl5pPr>
            <a:lvl6pPr marL="2514600" indent="-228600" algn="l" rtl="0" eaLnBrk="1" fontAlgn="base" hangingPunct="1">
              <a:spcBef>
                <a:spcPct val="20000"/>
              </a:spcBef>
              <a:spcAft>
                <a:spcPct val="0"/>
              </a:spcAft>
              <a:buBlip>
                <a:blip r:embed="rId10"/>
              </a:buBlip>
              <a:defRPr kumimoji="1">
                <a:solidFill>
                  <a:schemeClr val="tx1"/>
                </a:solidFill>
                <a:latin typeface="+mn-lt"/>
                <a:ea typeface="+mn-ea"/>
              </a:defRPr>
            </a:lvl6pPr>
            <a:lvl7pPr marL="2971800" indent="-228600" algn="l" rtl="0" eaLnBrk="1" fontAlgn="base" hangingPunct="1">
              <a:spcBef>
                <a:spcPct val="20000"/>
              </a:spcBef>
              <a:spcAft>
                <a:spcPct val="0"/>
              </a:spcAft>
              <a:buBlip>
                <a:blip r:embed="rId10"/>
              </a:buBlip>
              <a:defRPr kumimoji="1">
                <a:solidFill>
                  <a:schemeClr val="tx1"/>
                </a:solidFill>
                <a:latin typeface="+mn-lt"/>
                <a:ea typeface="+mn-ea"/>
              </a:defRPr>
            </a:lvl7pPr>
            <a:lvl8pPr marL="3429000" indent="-228600" algn="l" rtl="0" eaLnBrk="1" fontAlgn="base" hangingPunct="1">
              <a:spcBef>
                <a:spcPct val="20000"/>
              </a:spcBef>
              <a:spcAft>
                <a:spcPct val="0"/>
              </a:spcAft>
              <a:buBlip>
                <a:blip r:embed="rId10"/>
              </a:buBlip>
              <a:defRPr kumimoji="1">
                <a:solidFill>
                  <a:schemeClr val="tx1"/>
                </a:solidFill>
                <a:latin typeface="+mn-lt"/>
                <a:ea typeface="+mn-ea"/>
              </a:defRPr>
            </a:lvl8pPr>
            <a:lvl9pPr marL="3886200" indent="-228600" algn="l" rtl="0" eaLnBrk="1" fontAlgn="base" hangingPunct="1">
              <a:spcBef>
                <a:spcPct val="20000"/>
              </a:spcBef>
              <a:spcAft>
                <a:spcPct val="0"/>
              </a:spcAft>
              <a:buBlip>
                <a:blip r:embed="rId10"/>
              </a:buBlip>
              <a:defRPr kumimoji="1">
                <a:solidFill>
                  <a:schemeClr val="tx1"/>
                </a:solidFill>
                <a:latin typeface="+mn-lt"/>
                <a:ea typeface="+mn-ea"/>
              </a:defRPr>
            </a:lvl9pPr>
          </a:lstStyle>
          <a:p>
            <a:r>
              <a:rPr lang="en-US" altLang="ja-JP" dirty="0" smtClean="0"/>
              <a:t>Project leader</a:t>
            </a:r>
          </a:p>
          <a:p>
            <a:pPr lvl="1"/>
            <a:r>
              <a:rPr lang="en-US" altLang="ja-JP" dirty="0" smtClean="0"/>
              <a:t>Mr. </a:t>
            </a:r>
            <a:r>
              <a:rPr lang="en-US" altLang="ja-JP" dirty="0" err="1" smtClean="0"/>
              <a:t>Ohtsuki</a:t>
            </a:r>
            <a:endParaRPr lang="en-US" altLang="ja-JP" dirty="0" smtClean="0"/>
          </a:p>
          <a:p>
            <a:pPr lvl="2"/>
            <a:r>
              <a:rPr lang="en-US" altLang="ja-JP" dirty="0" smtClean="0"/>
              <a:t>The Father of AIBO</a:t>
            </a:r>
            <a:endParaRPr lang="en-US" altLang="ja-JP" dirty="0"/>
          </a:p>
        </p:txBody>
      </p:sp>
    </p:spTree>
    <p:extLst>
      <p:ext uri="{BB962C8B-B14F-4D97-AF65-F5344CB8AC3E}">
        <p14:creationId xmlns="" xmlns:p14="http://schemas.microsoft.com/office/powerpoint/2010/main" val="229178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a:xfrm>
            <a:off x="1043608" y="2852936"/>
            <a:ext cx="7772400" cy="908050"/>
          </a:xfrm>
        </p:spPr>
        <p:txBody>
          <a:bodyPr/>
          <a:lstStyle/>
          <a:p>
            <a:r>
              <a:rPr lang="en-US" altLang="ja-JP" dirty="0" smtClean="0"/>
              <a:t>Detail of “KINECT Turtle world”</a:t>
            </a:r>
            <a:endParaRPr kumimoji="1" lang="ja-JP" altLang="en-US" dirty="0"/>
          </a:p>
        </p:txBody>
      </p:sp>
    </p:spTree>
    <p:extLst>
      <p:ext uri="{BB962C8B-B14F-4D97-AF65-F5344CB8AC3E}">
        <p14:creationId xmlns="" xmlns:p14="http://schemas.microsoft.com/office/powerpoint/2010/main" val="40776560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cstate="print"/>
          <a:srcRect/>
          <a:stretch>
            <a:fillRect/>
          </a:stretch>
        </p:blipFill>
        <p:spPr bwMode="auto">
          <a:xfrm>
            <a:off x="6301658" y="3366730"/>
            <a:ext cx="2842342" cy="2842342"/>
          </a:xfrm>
          <a:prstGeom prst="rect">
            <a:avLst/>
          </a:prstGeom>
          <a:noFill/>
          <a:ln w="9525">
            <a:noFill/>
            <a:miter lim="800000"/>
            <a:headEnd/>
            <a:tailEnd/>
          </a:ln>
        </p:spPr>
      </p:pic>
      <p:pic>
        <p:nvPicPr>
          <p:cNvPr id="2050" name="Picture 2"/>
          <p:cNvPicPr>
            <a:picLocks noChangeAspect="1" noChangeArrowheads="1"/>
          </p:cNvPicPr>
          <p:nvPr/>
        </p:nvPicPr>
        <p:blipFill>
          <a:blip r:embed="rId4" cstate="print"/>
          <a:srcRect/>
          <a:stretch>
            <a:fillRect/>
          </a:stretch>
        </p:blipFill>
        <p:spPr bwMode="auto">
          <a:xfrm>
            <a:off x="2698955" y="3641009"/>
            <a:ext cx="3586043" cy="2420579"/>
          </a:xfrm>
          <a:prstGeom prst="rect">
            <a:avLst/>
          </a:prstGeom>
          <a:noFill/>
          <a:ln w="9525">
            <a:noFill/>
            <a:miter lim="800000"/>
            <a:headEnd/>
            <a:tailEnd/>
          </a:ln>
        </p:spPr>
      </p:pic>
      <p:sp>
        <p:nvSpPr>
          <p:cNvPr id="2" name="タイトル 1"/>
          <p:cNvSpPr>
            <a:spLocks noGrp="1"/>
          </p:cNvSpPr>
          <p:nvPr>
            <p:ph type="title"/>
          </p:nvPr>
        </p:nvSpPr>
        <p:spPr/>
        <p:txBody>
          <a:bodyPr/>
          <a:lstStyle/>
          <a:p>
            <a:r>
              <a:rPr lang="en-US" altLang="ja-JP" dirty="0" smtClean="0"/>
              <a:t>Why KINECT and Robot ?</a:t>
            </a:r>
            <a:endParaRPr kumimoji="1" lang="ja-JP" altLang="en-US" dirty="0"/>
          </a:p>
        </p:txBody>
      </p:sp>
      <p:sp>
        <p:nvSpPr>
          <p:cNvPr id="3" name="コンテンツ プレースホルダー 2"/>
          <p:cNvSpPr>
            <a:spLocks noGrp="1"/>
          </p:cNvSpPr>
          <p:nvPr>
            <p:ph idx="1"/>
          </p:nvPr>
        </p:nvSpPr>
        <p:spPr>
          <a:xfrm>
            <a:off x="838200" y="980728"/>
            <a:ext cx="8054280" cy="5327650"/>
          </a:xfrm>
        </p:spPr>
        <p:txBody>
          <a:bodyPr/>
          <a:lstStyle/>
          <a:p>
            <a:endParaRPr lang="en-US" altLang="ja-JP" dirty="0" smtClean="0"/>
          </a:p>
          <a:p>
            <a:r>
              <a:rPr lang="en-US" altLang="ja-JP" dirty="0" smtClean="0"/>
              <a:t>Application have changed </a:t>
            </a:r>
          </a:p>
          <a:p>
            <a:pPr lvl="1"/>
            <a:r>
              <a:rPr lang="en-US" altLang="ja-JP" dirty="0" smtClean="0"/>
              <a:t>Game, Motion Controller, </a:t>
            </a:r>
            <a:r>
              <a:rPr lang="en-US" altLang="ja-JP" dirty="0" err="1" smtClean="0"/>
              <a:t>Nunchuk</a:t>
            </a:r>
            <a:endParaRPr lang="en-US" altLang="ja-JP" dirty="0" smtClean="0"/>
          </a:p>
          <a:p>
            <a:pPr lvl="1"/>
            <a:r>
              <a:rPr lang="en-US" altLang="ja-JP" dirty="0" smtClean="0"/>
              <a:t>Cell Phone, Tablet</a:t>
            </a:r>
          </a:p>
          <a:p>
            <a:pPr lvl="1"/>
            <a:endParaRPr lang="en-US" altLang="ja-JP" dirty="0" smtClean="0"/>
          </a:p>
          <a:p>
            <a:pPr lvl="1"/>
            <a:endParaRPr lang="en-US" altLang="ja-JP" dirty="0" smtClean="0"/>
          </a:p>
        </p:txBody>
      </p:sp>
      <p:pic>
        <p:nvPicPr>
          <p:cNvPr id="1027" name="Picture 3"/>
          <p:cNvPicPr>
            <a:picLocks noChangeAspect="1" noChangeArrowheads="1"/>
          </p:cNvPicPr>
          <p:nvPr/>
        </p:nvPicPr>
        <p:blipFill>
          <a:blip r:embed="rId5" cstate="print"/>
          <a:srcRect/>
          <a:stretch>
            <a:fillRect/>
          </a:stretch>
        </p:blipFill>
        <p:spPr bwMode="auto">
          <a:xfrm>
            <a:off x="624504" y="3566807"/>
            <a:ext cx="2487405" cy="2487405"/>
          </a:xfrm>
          <a:prstGeom prst="rect">
            <a:avLst/>
          </a:prstGeom>
          <a:noFill/>
          <a:ln w="9525">
            <a:noFill/>
            <a:miter lim="800000"/>
            <a:headEnd/>
            <a:tailEnd/>
          </a:ln>
        </p:spPr>
      </p:pic>
    </p:spTree>
    <p:extLst>
      <p:ext uri="{BB962C8B-B14F-4D97-AF65-F5344CB8AC3E}">
        <p14:creationId xmlns="" xmlns:p14="http://schemas.microsoft.com/office/powerpoint/2010/main" val="1352250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Why KINECT and Robot ?</a:t>
            </a:r>
            <a:endParaRPr kumimoji="1" lang="ja-JP" altLang="en-US" dirty="0"/>
          </a:p>
        </p:txBody>
      </p:sp>
      <p:sp>
        <p:nvSpPr>
          <p:cNvPr id="3" name="コンテンツ プレースホルダー 2"/>
          <p:cNvSpPr>
            <a:spLocks noGrp="1"/>
          </p:cNvSpPr>
          <p:nvPr>
            <p:ph idx="1"/>
          </p:nvPr>
        </p:nvSpPr>
        <p:spPr>
          <a:xfrm>
            <a:off x="838200" y="980728"/>
            <a:ext cx="8054280" cy="5327650"/>
          </a:xfrm>
        </p:spPr>
        <p:txBody>
          <a:bodyPr/>
          <a:lstStyle/>
          <a:p>
            <a:endParaRPr lang="en-US" altLang="ja-JP" dirty="0" smtClean="0"/>
          </a:p>
          <a:p>
            <a:r>
              <a:rPr lang="en-US" altLang="ja-JP" dirty="0" smtClean="0"/>
              <a:t>KINECT show the next future</a:t>
            </a:r>
            <a:endParaRPr lang="en-US" altLang="ja-JP" dirty="0"/>
          </a:p>
          <a:p>
            <a:pPr lvl="1"/>
            <a:r>
              <a:rPr lang="en-US" altLang="ja-JP" dirty="0" smtClean="0"/>
              <a:t>Camera, Depth censor.</a:t>
            </a:r>
          </a:p>
          <a:p>
            <a:pPr lvl="1"/>
            <a:r>
              <a:rPr lang="en-US" altLang="ja-JP" dirty="0" smtClean="0"/>
              <a:t>Recognition of human’s data.</a:t>
            </a:r>
          </a:p>
          <a:p>
            <a:pPr lvl="1"/>
            <a:r>
              <a:rPr lang="en-US" altLang="ja-JP" dirty="0" smtClean="0"/>
              <a:t>Mobility Problem ...</a:t>
            </a:r>
          </a:p>
          <a:p>
            <a:pPr lvl="1">
              <a:buNone/>
            </a:pPr>
            <a:endParaRPr lang="en-US" altLang="ja-JP" dirty="0"/>
          </a:p>
        </p:txBody>
      </p:sp>
      <p:pic>
        <p:nvPicPr>
          <p:cNvPr id="1028" name="Picture 4"/>
          <p:cNvPicPr>
            <a:picLocks noChangeAspect="1" noChangeArrowheads="1"/>
          </p:cNvPicPr>
          <p:nvPr/>
        </p:nvPicPr>
        <p:blipFill>
          <a:blip r:embed="rId3" cstate="print"/>
          <a:srcRect/>
          <a:stretch>
            <a:fillRect/>
          </a:stretch>
        </p:blipFill>
        <p:spPr bwMode="auto">
          <a:xfrm>
            <a:off x="5034041" y="3286608"/>
            <a:ext cx="3366040" cy="3366040"/>
          </a:xfrm>
          <a:prstGeom prst="rect">
            <a:avLst/>
          </a:prstGeom>
          <a:noFill/>
          <a:ln w="9525">
            <a:noFill/>
            <a:miter lim="800000"/>
            <a:headEnd/>
            <a:tailEnd/>
          </a:ln>
        </p:spPr>
      </p:pic>
      <p:pic>
        <p:nvPicPr>
          <p:cNvPr id="1029" name="Picture 5"/>
          <p:cNvPicPr>
            <a:picLocks noChangeAspect="1" noChangeArrowheads="1"/>
          </p:cNvPicPr>
          <p:nvPr/>
        </p:nvPicPr>
        <p:blipFill>
          <a:blip r:embed="rId4" cstate="print"/>
          <a:srcRect/>
          <a:stretch>
            <a:fillRect/>
          </a:stretch>
        </p:blipFill>
        <p:spPr bwMode="auto">
          <a:xfrm>
            <a:off x="1078260" y="3738804"/>
            <a:ext cx="3575571" cy="2135053"/>
          </a:xfrm>
          <a:prstGeom prst="rect">
            <a:avLst/>
          </a:prstGeom>
          <a:noFill/>
          <a:ln w="9525">
            <a:noFill/>
            <a:miter lim="800000"/>
            <a:headEnd/>
            <a:tailEnd/>
          </a:ln>
        </p:spPr>
      </p:pic>
    </p:spTree>
    <p:extLst>
      <p:ext uri="{BB962C8B-B14F-4D97-AF65-F5344CB8AC3E}">
        <p14:creationId xmlns="" xmlns:p14="http://schemas.microsoft.com/office/powerpoint/2010/main" val="1352250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8"/>
          <p:cNvPicPr>
            <a:picLocks noChangeAspect="1" noChangeArrowheads="1"/>
          </p:cNvPicPr>
          <p:nvPr/>
        </p:nvPicPr>
        <p:blipFill>
          <a:blip r:embed="rId3" cstate="print"/>
          <a:srcRect/>
          <a:stretch>
            <a:fillRect/>
          </a:stretch>
        </p:blipFill>
        <p:spPr bwMode="auto">
          <a:xfrm>
            <a:off x="6143626" y="4148122"/>
            <a:ext cx="2452688" cy="2452688"/>
          </a:xfrm>
          <a:prstGeom prst="rect">
            <a:avLst/>
          </a:prstGeom>
          <a:noFill/>
          <a:ln w="9525">
            <a:noFill/>
            <a:miter lim="800000"/>
            <a:headEnd/>
            <a:tailEnd/>
          </a:ln>
        </p:spPr>
      </p:pic>
      <p:sp>
        <p:nvSpPr>
          <p:cNvPr id="2" name="タイトル 1"/>
          <p:cNvSpPr>
            <a:spLocks noGrp="1"/>
          </p:cNvSpPr>
          <p:nvPr>
            <p:ph type="title"/>
          </p:nvPr>
        </p:nvSpPr>
        <p:spPr/>
        <p:txBody>
          <a:bodyPr/>
          <a:lstStyle/>
          <a:p>
            <a:r>
              <a:rPr lang="en-US" altLang="ja-JP" dirty="0" smtClean="0"/>
              <a:t>Why KINECT and Robot ?</a:t>
            </a:r>
            <a:endParaRPr kumimoji="1" lang="ja-JP" altLang="en-US" dirty="0"/>
          </a:p>
        </p:txBody>
      </p:sp>
      <p:sp>
        <p:nvSpPr>
          <p:cNvPr id="3" name="コンテンツ プレースホルダー 2"/>
          <p:cNvSpPr>
            <a:spLocks noGrp="1"/>
          </p:cNvSpPr>
          <p:nvPr>
            <p:ph idx="1"/>
          </p:nvPr>
        </p:nvSpPr>
        <p:spPr>
          <a:xfrm>
            <a:off x="838200" y="980728"/>
            <a:ext cx="8054280" cy="5327650"/>
          </a:xfrm>
        </p:spPr>
        <p:txBody>
          <a:bodyPr/>
          <a:lstStyle/>
          <a:p>
            <a:endParaRPr lang="en-US" altLang="ja-JP" dirty="0" smtClean="0"/>
          </a:p>
          <a:p>
            <a:r>
              <a:rPr lang="en-US" altLang="ja-JP" dirty="0" smtClean="0"/>
              <a:t>KINECT on Robot is result of mobility problem.</a:t>
            </a:r>
          </a:p>
          <a:p>
            <a:pPr>
              <a:buNone/>
            </a:pPr>
            <a:endParaRPr lang="en-US" altLang="ja-JP" dirty="0" smtClean="0"/>
          </a:p>
        </p:txBody>
      </p:sp>
      <p:sp>
        <p:nvSpPr>
          <p:cNvPr id="4" name="角丸四角形 3"/>
          <p:cNvSpPr/>
          <p:nvPr/>
        </p:nvSpPr>
        <p:spPr>
          <a:xfrm>
            <a:off x="913880" y="3028363"/>
            <a:ext cx="2160240" cy="122413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smtClean="0"/>
              <a:t>Camera data</a:t>
            </a:r>
          </a:p>
          <a:p>
            <a:r>
              <a:rPr kumimoji="1" lang="en-US" altLang="ja-JP" dirty="0" smtClean="0"/>
              <a:t>Depth censor</a:t>
            </a:r>
          </a:p>
        </p:txBody>
      </p:sp>
      <p:sp>
        <p:nvSpPr>
          <p:cNvPr id="5" name="右矢印 4"/>
          <p:cNvSpPr/>
          <p:nvPr/>
        </p:nvSpPr>
        <p:spPr>
          <a:xfrm>
            <a:off x="3218136" y="3460411"/>
            <a:ext cx="50405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 定義済み処理 5"/>
          <p:cNvSpPr/>
          <p:nvPr/>
        </p:nvSpPr>
        <p:spPr>
          <a:xfrm>
            <a:off x="3866208" y="3388403"/>
            <a:ext cx="1656184" cy="612648"/>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ja-JP" dirty="0" smtClean="0"/>
              <a:t>Analyze</a:t>
            </a:r>
            <a:endParaRPr kumimoji="1" lang="ja-JP" altLang="en-US" dirty="0"/>
          </a:p>
        </p:txBody>
      </p:sp>
      <p:sp>
        <p:nvSpPr>
          <p:cNvPr id="7" name="右矢印 6"/>
          <p:cNvSpPr/>
          <p:nvPr/>
        </p:nvSpPr>
        <p:spPr>
          <a:xfrm>
            <a:off x="5738416" y="3460411"/>
            <a:ext cx="50405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p:cNvSpPr/>
          <p:nvPr/>
        </p:nvSpPr>
        <p:spPr>
          <a:xfrm>
            <a:off x="6386488" y="3028363"/>
            <a:ext cx="2160240" cy="1224136"/>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r>
              <a:rPr lang="en-US" altLang="ja-JP" dirty="0" smtClean="0"/>
              <a:t>Robot movement</a:t>
            </a:r>
            <a:endParaRPr kumimoji="1" lang="en-US" altLang="ja-JP" dirty="0" smtClean="0"/>
          </a:p>
        </p:txBody>
      </p:sp>
      <p:sp>
        <p:nvSpPr>
          <p:cNvPr id="9" name="テキスト ボックス 8"/>
          <p:cNvSpPr txBox="1"/>
          <p:nvPr/>
        </p:nvSpPr>
        <p:spPr>
          <a:xfrm>
            <a:off x="1417936" y="2596315"/>
            <a:ext cx="1107996" cy="461665"/>
          </a:xfrm>
          <a:prstGeom prst="rect">
            <a:avLst/>
          </a:prstGeom>
          <a:noFill/>
        </p:spPr>
        <p:txBody>
          <a:bodyPr wrap="none" rtlCol="0">
            <a:spAutoFit/>
          </a:bodyPr>
          <a:lstStyle/>
          <a:p>
            <a:r>
              <a:rPr kumimoji="1" lang="en-US" altLang="ja-JP" dirty="0" smtClean="0"/>
              <a:t>INPUT</a:t>
            </a:r>
            <a:endParaRPr kumimoji="1" lang="ja-JP" altLang="en-US" dirty="0"/>
          </a:p>
        </p:txBody>
      </p:sp>
      <p:sp>
        <p:nvSpPr>
          <p:cNvPr id="10" name="テキスト ボックス 9"/>
          <p:cNvSpPr txBox="1"/>
          <p:nvPr/>
        </p:nvSpPr>
        <p:spPr>
          <a:xfrm>
            <a:off x="6674520" y="2596315"/>
            <a:ext cx="1449436" cy="461665"/>
          </a:xfrm>
          <a:prstGeom prst="rect">
            <a:avLst/>
          </a:prstGeom>
          <a:noFill/>
        </p:spPr>
        <p:txBody>
          <a:bodyPr wrap="none" rtlCol="0">
            <a:spAutoFit/>
          </a:bodyPr>
          <a:lstStyle/>
          <a:p>
            <a:r>
              <a:rPr kumimoji="1" lang="en-US" altLang="ja-JP" dirty="0" smtClean="0"/>
              <a:t>OUTPUT</a:t>
            </a:r>
            <a:endParaRPr kumimoji="1" lang="ja-JP" altLang="en-US" dirty="0"/>
          </a:p>
        </p:txBody>
      </p:sp>
      <p:pic>
        <p:nvPicPr>
          <p:cNvPr id="12" name="Picture 6"/>
          <p:cNvPicPr>
            <a:picLocks noChangeAspect="1" noChangeArrowheads="1"/>
          </p:cNvPicPr>
          <p:nvPr/>
        </p:nvPicPr>
        <p:blipFill>
          <a:blip r:embed="rId4" cstate="print"/>
          <a:srcRect/>
          <a:stretch>
            <a:fillRect/>
          </a:stretch>
        </p:blipFill>
        <p:spPr bwMode="auto">
          <a:xfrm>
            <a:off x="657226" y="4755650"/>
            <a:ext cx="3071813" cy="1536291"/>
          </a:xfrm>
          <a:prstGeom prst="rect">
            <a:avLst/>
          </a:prstGeom>
          <a:noFill/>
          <a:ln w="9525">
            <a:noFill/>
            <a:miter lim="800000"/>
            <a:headEnd/>
            <a:tailEnd/>
          </a:ln>
        </p:spPr>
      </p:pic>
    </p:spTree>
    <p:extLst>
      <p:ext uri="{BB962C8B-B14F-4D97-AF65-F5344CB8AC3E}">
        <p14:creationId xmlns="" xmlns:p14="http://schemas.microsoft.com/office/powerpoint/2010/main" val="1352250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a:xfrm>
            <a:off x="1043608" y="2852936"/>
            <a:ext cx="7772400" cy="908050"/>
          </a:xfrm>
        </p:spPr>
        <p:txBody>
          <a:bodyPr/>
          <a:lstStyle/>
          <a:p>
            <a:r>
              <a:rPr lang="en-US" altLang="ja-JP" dirty="0" smtClean="0"/>
              <a:t>Part “Software”</a:t>
            </a:r>
            <a:endParaRPr kumimoji="1" lang="ja-JP" altLang="en-US" dirty="0"/>
          </a:p>
        </p:txBody>
      </p:sp>
    </p:spTree>
    <p:extLst>
      <p:ext uri="{BB962C8B-B14F-4D97-AF65-F5344CB8AC3E}">
        <p14:creationId xmlns="" xmlns:p14="http://schemas.microsoft.com/office/powerpoint/2010/main" val="40776560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395536" y="1143001"/>
            <a:ext cx="8640960" cy="4843462"/>
          </a:xfrm>
        </p:spPr>
        <p:txBody>
          <a:bodyPr/>
          <a:lstStyle/>
          <a:p>
            <a:pPr marL="0" indent="0" algn="ctr">
              <a:buNone/>
            </a:pPr>
            <a:endParaRPr lang="en-US" altLang="ja-JP" sz="4000" b="1" dirty="0" smtClean="0"/>
          </a:p>
          <a:p>
            <a:pPr marL="0" indent="0" algn="ctr">
              <a:buNone/>
            </a:pPr>
            <a:r>
              <a:rPr lang="en-US" altLang="ja-JP" sz="4000" b="1" dirty="0" err="1" smtClean="0"/>
              <a:t>o</a:t>
            </a:r>
            <a:r>
              <a:rPr kumimoji="1" lang="en-US" altLang="ja-JP" sz="4000" b="1" dirty="0" err="1" smtClean="0"/>
              <a:t>penFrameworks</a:t>
            </a:r>
            <a:r>
              <a:rPr kumimoji="1" lang="en-US" altLang="ja-JP" sz="4000" b="1" dirty="0" smtClean="0"/>
              <a:t> </a:t>
            </a:r>
            <a:endParaRPr lang="en-US" altLang="ja-JP" sz="4000" b="1" dirty="0" smtClean="0"/>
          </a:p>
          <a:p>
            <a:pPr marL="0" indent="0" algn="ctr">
              <a:buNone/>
            </a:pPr>
            <a:r>
              <a:rPr kumimoji="1" lang="en-US" altLang="ja-JP" sz="4000" b="1" dirty="0" smtClean="0"/>
              <a:t>x</a:t>
            </a:r>
          </a:p>
          <a:p>
            <a:pPr marL="0" indent="0" algn="ctr">
              <a:buNone/>
            </a:pPr>
            <a:r>
              <a:rPr kumimoji="1" lang="en-US" altLang="ja-JP" sz="4000" b="1" dirty="0" smtClean="0"/>
              <a:t> </a:t>
            </a:r>
            <a:r>
              <a:rPr kumimoji="1" lang="en-US" altLang="ja-JP" sz="4000" b="1" dirty="0" err="1" smtClean="0"/>
              <a:t>Kinect</a:t>
            </a:r>
            <a:r>
              <a:rPr kumimoji="1" lang="en-US" altLang="ja-JP" sz="4000" b="1" dirty="0" smtClean="0"/>
              <a:t> </a:t>
            </a:r>
            <a:endParaRPr lang="en-US" altLang="ja-JP" sz="4000" b="1" dirty="0" smtClean="0"/>
          </a:p>
          <a:p>
            <a:pPr marL="0" indent="0" algn="ctr">
              <a:buNone/>
            </a:pPr>
            <a:r>
              <a:rPr lang="en-US" altLang="ja-JP" sz="4000" b="1" dirty="0" smtClean="0"/>
              <a:t>x</a:t>
            </a:r>
          </a:p>
          <a:p>
            <a:pPr marL="0" indent="0" algn="ctr">
              <a:buNone/>
            </a:pPr>
            <a:r>
              <a:rPr kumimoji="1" lang="en-US" altLang="ja-JP" sz="4000" b="1" dirty="0" smtClean="0"/>
              <a:t>Android</a:t>
            </a:r>
          </a:p>
        </p:txBody>
      </p:sp>
      <p:sp>
        <p:nvSpPr>
          <p:cNvPr id="4" name="タイトル 1"/>
          <p:cNvSpPr>
            <a:spLocks noGrp="1"/>
          </p:cNvSpPr>
          <p:nvPr>
            <p:ph type="title"/>
          </p:nvPr>
        </p:nvSpPr>
        <p:spPr>
          <a:xfrm>
            <a:off x="836613" y="0"/>
            <a:ext cx="7772400" cy="908050"/>
          </a:xfrm>
        </p:spPr>
        <p:txBody>
          <a:bodyPr/>
          <a:lstStyle/>
          <a:p>
            <a:r>
              <a:rPr lang="en-US" altLang="ja-JP" dirty="0" err="1" smtClean="0"/>
              <a:t>ofxDroidKinect</a:t>
            </a:r>
            <a:endParaRPr kumimoji="1" lang="ja-JP" altLang="en-US" dirty="0"/>
          </a:p>
        </p:txBody>
      </p:sp>
    </p:spTree>
    <p:extLst>
      <p:ext uri="{BB962C8B-B14F-4D97-AF65-F5344CB8AC3E}">
        <p14:creationId xmlns="" xmlns:p14="http://schemas.microsoft.com/office/powerpoint/2010/main" val="35175331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About </a:t>
            </a:r>
            <a:r>
              <a:rPr lang="en-US" altLang="ja-JP" dirty="0" err="1"/>
              <a:t>ofxDroidKinect</a:t>
            </a:r>
            <a:endParaRPr kumimoji="1" lang="ja-JP" altLang="en-US" dirty="0"/>
          </a:p>
        </p:txBody>
      </p:sp>
      <p:pic>
        <p:nvPicPr>
          <p:cNvPr id="6" name="lavalvirtual.wmv">
            <a:hlinkClick r:id="" action="ppaction://media"/>
          </p:cNvPr>
          <p:cNvPicPr>
            <a:picLocks noGrp="1" noRot="1" noChangeAspect="1"/>
          </p:cNvPicPr>
          <p:nvPr>
            <p:ph idx="1"/>
            <a:videoFile r:link="rId1"/>
          </p:nvPr>
        </p:nvPicPr>
        <p:blipFill>
          <a:blip r:embed="rId4" cstate="print"/>
          <a:stretch>
            <a:fillRect/>
          </a:stretch>
        </p:blipFill>
        <p:spPr>
          <a:xfrm>
            <a:off x="655320" y="891540"/>
            <a:ext cx="7955280" cy="5966460"/>
          </a:xfrm>
          <a:prstGeom prst="rect">
            <a:avLst/>
          </a:prstGeom>
        </p:spPr>
      </p:pic>
    </p:spTree>
    <p:extLst>
      <p:ext uri="{BB962C8B-B14F-4D97-AF65-F5344CB8AC3E}">
        <p14:creationId xmlns="" xmlns:p14="http://schemas.microsoft.com/office/powerpoint/2010/main" val="3911253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08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About </a:t>
            </a:r>
            <a:r>
              <a:rPr kumimoji="1" lang="en-US" altLang="ja-JP" dirty="0" err="1" smtClean="0"/>
              <a:t>ofxDroidKinect</a:t>
            </a:r>
            <a:endParaRPr kumimoji="1" lang="ja-JP" altLang="en-US" dirty="0"/>
          </a:p>
        </p:txBody>
      </p:sp>
      <p:sp>
        <p:nvSpPr>
          <p:cNvPr id="3" name="コンテンツ プレースホルダー 2"/>
          <p:cNvSpPr>
            <a:spLocks noGrp="1"/>
          </p:cNvSpPr>
          <p:nvPr>
            <p:ph idx="1"/>
          </p:nvPr>
        </p:nvSpPr>
        <p:spPr>
          <a:xfrm>
            <a:off x="838200" y="980728"/>
            <a:ext cx="8054280" cy="5327650"/>
          </a:xfrm>
        </p:spPr>
        <p:txBody>
          <a:bodyPr/>
          <a:lstStyle/>
          <a:p>
            <a:endParaRPr lang="en-US" altLang="ja-JP" dirty="0" smtClean="0"/>
          </a:p>
          <a:p>
            <a:r>
              <a:rPr lang="en-US" altLang="ja-JP" dirty="0" smtClean="0"/>
              <a:t>This is the Android Application Framework which runs on </a:t>
            </a:r>
            <a:r>
              <a:rPr lang="en-US" altLang="ja-JP" dirty="0" err="1" smtClean="0"/>
              <a:t>openFrameworks</a:t>
            </a:r>
            <a:r>
              <a:rPr lang="en-US" altLang="ja-JP" dirty="0" smtClean="0"/>
              <a:t> &amp; uses </a:t>
            </a:r>
            <a:r>
              <a:rPr lang="en-US" altLang="ja-JP" dirty="0" err="1" smtClean="0"/>
              <a:t>Kinect</a:t>
            </a:r>
            <a:r>
              <a:rPr lang="en-US" altLang="ja-JP" dirty="0" smtClean="0"/>
              <a:t>.</a:t>
            </a:r>
          </a:p>
          <a:p>
            <a:pPr lvl="2"/>
            <a:endParaRPr lang="en-US" altLang="ja-JP" dirty="0" smtClean="0"/>
          </a:p>
          <a:p>
            <a:pPr lvl="2"/>
            <a:endParaRPr lang="en-US" altLang="ja-JP" dirty="0"/>
          </a:p>
          <a:p>
            <a:r>
              <a:rPr lang="en-US" altLang="ja-JP" dirty="0" smtClean="0"/>
              <a:t>Using </a:t>
            </a:r>
            <a:r>
              <a:rPr lang="en-US" altLang="ja-JP" dirty="0" err="1" smtClean="0"/>
              <a:t>softwares</a:t>
            </a:r>
            <a:endParaRPr lang="en-US" altLang="ja-JP" dirty="0"/>
          </a:p>
          <a:p>
            <a:pPr lvl="1"/>
            <a:r>
              <a:rPr lang="en-US" altLang="ja-JP" dirty="0" err="1" smtClean="0"/>
              <a:t>openFrameworks</a:t>
            </a:r>
            <a:r>
              <a:rPr lang="en-US" altLang="ja-JP" dirty="0" smtClean="0"/>
              <a:t> for Android</a:t>
            </a:r>
          </a:p>
          <a:p>
            <a:pPr lvl="1"/>
            <a:r>
              <a:rPr lang="en-US" altLang="ja-JP" dirty="0" err="1" smtClean="0"/>
              <a:t>Linaro</a:t>
            </a:r>
            <a:r>
              <a:rPr lang="en-US" altLang="ja-JP" dirty="0" smtClean="0"/>
              <a:t> Android</a:t>
            </a:r>
          </a:p>
        </p:txBody>
      </p:sp>
      <p:pic>
        <p:nvPicPr>
          <p:cNvPr id="2052" name="Picture 4"/>
          <p:cNvPicPr>
            <a:picLocks noChangeAspect="1" noChangeArrowheads="1"/>
          </p:cNvPicPr>
          <p:nvPr/>
        </p:nvPicPr>
        <p:blipFill>
          <a:blip r:embed="rId3" cstate="print"/>
          <a:srcRect/>
          <a:stretch>
            <a:fillRect/>
          </a:stretch>
        </p:blipFill>
        <p:spPr bwMode="auto">
          <a:xfrm>
            <a:off x="5588101" y="4432550"/>
            <a:ext cx="1484212" cy="1484212"/>
          </a:xfrm>
          <a:prstGeom prst="rect">
            <a:avLst/>
          </a:prstGeom>
          <a:noFill/>
          <a:ln w="9525">
            <a:noFill/>
            <a:miter lim="800000"/>
            <a:headEnd/>
            <a:tailEnd/>
          </a:ln>
        </p:spPr>
      </p:pic>
      <p:pic>
        <p:nvPicPr>
          <p:cNvPr id="2053" name="Picture 5"/>
          <p:cNvPicPr>
            <a:picLocks noChangeAspect="1" noChangeArrowheads="1"/>
          </p:cNvPicPr>
          <p:nvPr/>
        </p:nvPicPr>
        <p:blipFill>
          <a:blip r:embed="rId4" cstate="print"/>
          <a:srcRect/>
          <a:stretch>
            <a:fillRect/>
          </a:stretch>
        </p:blipFill>
        <p:spPr bwMode="auto">
          <a:xfrm>
            <a:off x="1850277" y="4766890"/>
            <a:ext cx="1177044" cy="619497"/>
          </a:xfrm>
          <a:prstGeom prst="rect">
            <a:avLst/>
          </a:prstGeom>
          <a:noFill/>
          <a:ln w="9525">
            <a:noFill/>
            <a:miter lim="800000"/>
            <a:headEnd/>
            <a:tailEnd/>
          </a:ln>
        </p:spPr>
      </p:pic>
      <p:pic>
        <p:nvPicPr>
          <p:cNvPr id="2051" name="Picture 3"/>
          <p:cNvPicPr>
            <a:picLocks noChangeAspect="1" noChangeArrowheads="1"/>
          </p:cNvPicPr>
          <p:nvPr/>
        </p:nvPicPr>
        <p:blipFill>
          <a:blip r:embed="rId5" cstate="print"/>
          <a:srcRect/>
          <a:stretch>
            <a:fillRect/>
          </a:stretch>
        </p:blipFill>
        <p:spPr bwMode="auto">
          <a:xfrm>
            <a:off x="3378720" y="4619997"/>
            <a:ext cx="2107679" cy="1098118"/>
          </a:xfrm>
          <a:prstGeom prst="rect">
            <a:avLst/>
          </a:prstGeom>
          <a:noFill/>
          <a:ln w="9525">
            <a:noFill/>
            <a:miter lim="800000"/>
            <a:headEnd/>
            <a:tailEnd/>
          </a:ln>
        </p:spPr>
      </p:pic>
    </p:spTree>
    <p:extLst>
      <p:ext uri="{BB962C8B-B14F-4D97-AF65-F5344CB8AC3E}">
        <p14:creationId xmlns="" xmlns:p14="http://schemas.microsoft.com/office/powerpoint/2010/main" val="1352250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Control Robot and KINECT</a:t>
            </a:r>
            <a:endParaRPr kumimoji="1" lang="ja-JP" altLang="en-US" dirty="0"/>
          </a:p>
        </p:txBody>
      </p:sp>
      <p:sp>
        <p:nvSpPr>
          <p:cNvPr id="13" name="角丸四角形 12"/>
          <p:cNvSpPr/>
          <p:nvPr/>
        </p:nvSpPr>
        <p:spPr>
          <a:xfrm>
            <a:off x="3202707" y="3745607"/>
            <a:ext cx="3096344" cy="720080"/>
          </a:xfrm>
          <a:prstGeom prst="roundRect">
            <a:avLst/>
          </a:prstGeom>
          <a:solidFill>
            <a:srgbClr val="92D05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ja-JP" b="1" dirty="0" err="1" smtClean="0">
                <a:solidFill>
                  <a:sysClr val="windowText" lastClr="000000"/>
                </a:solidFill>
              </a:rPr>
              <a:t>Linaro</a:t>
            </a:r>
            <a:r>
              <a:rPr kumimoji="1" lang="en-US" altLang="ja-JP" b="1" dirty="0" smtClean="0">
                <a:solidFill>
                  <a:sysClr val="windowText" lastClr="000000"/>
                </a:solidFill>
              </a:rPr>
              <a:t> Android</a:t>
            </a:r>
            <a:endParaRPr kumimoji="1" lang="ja-JP" altLang="en-US" b="1" dirty="0">
              <a:solidFill>
                <a:sysClr val="windowText" lastClr="000000"/>
              </a:solidFill>
            </a:endParaRPr>
          </a:p>
        </p:txBody>
      </p:sp>
      <p:sp>
        <p:nvSpPr>
          <p:cNvPr id="14" name="角丸四角形 13"/>
          <p:cNvSpPr/>
          <p:nvPr/>
        </p:nvSpPr>
        <p:spPr>
          <a:xfrm>
            <a:off x="3202707" y="3025527"/>
            <a:ext cx="3096344" cy="720080"/>
          </a:xfrm>
          <a:prstGeom prst="roundRect">
            <a:avLst/>
          </a:prstGeom>
          <a:solidFill>
            <a:srgbClr val="92D05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ja-JP" b="1" dirty="0" err="1" smtClean="0">
                <a:solidFill>
                  <a:sysClr val="windowText" lastClr="000000"/>
                </a:solidFill>
              </a:rPr>
              <a:t>openFrameworks</a:t>
            </a:r>
            <a:endParaRPr kumimoji="1" lang="ja-JP" altLang="en-US" b="1" dirty="0">
              <a:solidFill>
                <a:sysClr val="windowText" lastClr="000000"/>
              </a:solidFill>
            </a:endParaRPr>
          </a:p>
        </p:txBody>
      </p:sp>
      <p:sp>
        <p:nvSpPr>
          <p:cNvPr id="15" name="角丸四角形 14"/>
          <p:cNvSpPr/>
          <p:nvPr/>
        </p:nvSpPr>
        <p:spPr>
          <a:xfrm>
            <a:off x="3202707" y="2305447"/>
            <a:ext cx="3096344" cy="720080"/>
          </a:xfrm>
          <a:prstGeom prst="roundRect">
            <a:avLst/>
          </a:prstGeom>
          <a:solidFill>
            <a:srgbClr val="92D050"/>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ja-JP" b="1" dirty="0" err="1" smtClean="0">
                <a:solidFill>
                  <a:sysClr val="windowText" lastClr="000000"/>
                </a:solidFill>
              </a:rPr>
              <a:t>ofxDroidKinect</a:t>
            </a:r>
            <a:endParaRPr kumimoji="1" lang="ja-JP" altLang="en-US" b="1" dirty="0">
              <a:solidFill>
                <a:sysClr val="windowText" lastClr="000000"/>
              </a:solidFill>
            </a:endParaRPr>
          </a:p>
        </p:txBody>
      </p:sp>
      <p:sp>
        <p:nvSpPr>
          <p:cNvPr id="18" name="下矢印 17"/>
          <p:cNvSpPr/>
          <p:nvPr/>
        </p:nvSpPr>
        <p:spPr>
          <a:xfrm>
            <a:off x="4498851" y="4609703"/>
            <a:ext cx="432048" cy="7200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左右矢印 25"/>
          <p:cNvSpPr/>
          <p:nvPr/>
        </p:nvSpPr>
        <p:spPr>
          <a:xfrm>
            <a:off x="6357937" y="3171825"/>
            <a:ext cx="985838" cy="47148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左矢印 26"/>
          <p:cNvSpPr/>
          <p:nvPr/>
        </p:nvSpPr>
        <p:spPr>
          <a:xfrm>
            <a:off x="2128838" y="3186113"/>
            <a:ext cx="914400" cy="47148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p:cNvSpPr/>
          <p:nvPr/>
        </p:nvSpPr>
        <p:spPr>
          <a:xfrm>
            <a:off x="771525" y="3100388"/>
            <a:ext cx="1343025" cy="61436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kumimoji="1" lang="en-US" altLang="ja-JP" dirty="0" smtClean="0"/>
              <a:t>Robot</a:t>
            </a:r>
            <a:endParaRPr kumimoji="1" lang="ja-JP" altLang="en-US" dirty="0"/>
          </a:p>
        </p:txBody>
      </p:sp>
      <p:sp>
        <p:nvSpPr>
          <p:cNvPr id="29" name="角丸四角形 28"/>
          <p:cNvSpPr/>
          <p:nvPr/>
        </p:nvSpPr>
        <p:spPr>
          <a:xfrm>
            <a:off x="7424738" y="3109913"/>
            <a:ext cx="1343025" cy="61436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kumimoji="1" lang="en-US" altLang="ja-JP" dirty="0" err="1" smtClean="0"/>
              <a:t>Kinect</a:t>
            </a:r>
            <a:endParaRPr kumimoji="1" lang="ja-JP" altLang="en-US" dirty="0"/>
          </a:p>
        </p:txBody>
      </p:sp>
      <p:sp>
        <p:nvSpPr>
          <p:cNvPr id="30" name="角丸四角形 29"/>
          <p:cNvSpPr/>
          <p:nvPr/>
        </p:nvSpPr>
        <p:spPr>
          <a:xfrm>
            <a:off x="4090988" y="5376863"/>
            <a:ext cx="1343025" cy="61436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kumimoji="1" lang="en-US" altLang="ja-JP" dirty="0" err="1" smtClean="0"/>
              <a:t>iPad</a:t>
            </a:r>
            <a:endParaRPr kumimoji="1" lang="ja-JP" altLang="en-US" dirty="0"/>
          </a:p>
        </p:txBody>
      </p:sp>
      <p:sp>
        <p:nvSpPr>
          <p:cNvPr id="31" name="テキスト ボックス 30"/>
          <p:cNvSpPr txBox="1"/>
          <p:nvPr/>
        </p:nvSpPr>
        <p:spPr>
          <a:xfrm>
            <a:off x="2228850" y="2828925"/>
            <a:ext cx="973343" cy="461665"/>
          </a:xfrm>
          <a:prstGeom prst="rect">
            <a:avLst/>
          </a:prstGeom>
          <a:noFill/>
        </p:spPr>
        <p:txBody>
          <a:bodyPr wrap="none" rtlCol="0">
            <a:spAutoFit/>
          </a:bodyPr>
          <a:lstStyle/>
          <a:p>
            <a:r>
              <a:rPr kumimoji="1" lang="en-US" altLang="ja-JP" dirty="0" smtClean="0"/>
              <a:t>Serial</a:t>
            </a:r>
            <a:endParaRPr kumimoji="1" lang="ja-JP" altLang="en-US" dirty="0"/>
          </a:p>
        </p:txBody>
      </p:sp>
      <p:sp>
        <p:nvSpPr>
          <p:cNvPr id="32" name="テキスト ボックス 31"/>
          <p:cNvSpPr txBox="1"/>
          <p:nvPr/>
        </p:nvSpPr>
        <p:spPr>
          <a:xfrm>
            <a:off x="6467475" y="2795587"/>
            <a:ext cx="817853" cy="461665"/>
          </a:xfrm>
          <a:prstGeom prst="rect">
            <a:avLst/>
          </a:prstGeom>
          <a:noFill/>
        </p:spPr>
        <p:txBody>
          <a:bodyPr wrap="none" rtlCol="0">
            <a:spAutoFit/>
          </a:bodyPr>
          <a:lstStyle/>
          <a:p>
            <a:r>
              <a:rPr kumimoji="1" lang="en-US" altLang="ja-JP" dirty="0" smtClean="0"/>
              <a:t>USB</a:t>
            </a:r>
            <a:endParaRPr kumimoji="1" lang="ja-JP" altLang="en-US" dirty="0"/>
          </a:p>
        </p:txBody>
      </p:sp>
      <p:sp>
        <p:nvSpPr>
          <p:cNvPr id="33" name="テキスト ボックス 32"/>
          <p:cNvSpPr txBox="1"/>
          <p:nvPr/>
        </p:nvSpPr>
        <p:spPr>
          <a:xfrm>
            <a:off x="4862512" y="4619625"/>
            <a:ext cx="697627" cy="461665"/>
          </a:xfrm>
          <a:prstGeom prst="rect">
            <a:avLst/>
          </a:prstGeom>
          <a:noFill/>
        </p:spPr>
        <p:txBody>
          <a:bodyPr wrap="none" rtlCol="0">
            <a:spAutoFit/>
          </a:bodyPr>
          <a:lstStyle/>
          <a:p>
            <a:r>
              <a:rPr kumimoji="1" lang="en-US" altLang="ja-JP" dirty="0" err="1" smtClean="0"/>
              <a:t>Wifi</a:t>
            </a:r>
            <a:endParaRPr kumimoji="1" lang="ja-JP" altLang="en-US" dirty="0"/>
          </a:p>
        </p:txBody>
      </p:sp>
    </p:spTree>
    <p:extLst>
      <p:ext uri="{BB962C8B-B14F-4D97-AF65-F5344CB8AC3E}">
        <p14:creationId xmlns="" xmlns:p14="http://schemas.microsoft.com/office/powerpoint/2010/main" val="1352250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Analyze KINECT data</a:t>
            </a:r>
            <a:endParaRPr kumimoji="1" lang="ja-JP" altLang="en-US" dirty="0"/>
          </a:p>
        </p:txBody>
      </p:sp>
      <p:sp>
        <p:nvSpPr>
          <p:cNvPr id="3" name="コンテンツ プレースホルダー 2"/>
          <p:cNvSpPr>
            <a:spLocks noGrp="1"/>
          </p:cNvSpPr>
          <p:nvPr>
            <p:ph idx="1"/>
          </p:nvPr>
        </p:nvSpPr>
        <p:spPr/>
        <p:txBody>
          <a:bodyPr/>
          <a:lstStyle/>
          <a:p>
            <a:pPr marL="334963" indent="-334963">
              <a:spcBef>
                <a:spcPts val="563"/>
              </a:spcBef>
              <a:buSzPct val="111000"/>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Detect the Face</a:t>
            </a:r>
          </a:p>
          <a:p>
            <a:pPr marL="334963"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US" altLang="ja-JP" dirty="0" smtClean="0"/>
              <a:t>Calculate the course</a:t>
            </a:r>
            <a:endParaRPr lang="en-GB" altLang="ja-JP" dirty="0" smtClean="0">
              <a:solidFill>
                <a:srgbClr val="000000"/>
              </a:solidFill>
              <a:latin typeface="ＭＳ Ｐゴシック" charset="-128"/>
            </a:endParaRPr>
          </a:p>
          <a:p>
            <a:pPr marL="334963"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US" altLang="ja-JP" dirty="0" smtClean="0"/>
              <a:t>Calculate the distance</a:t>
            </a:r>
            <a:endParaRPr lang="en-GB" altLang="ja-JP" dirty="0" smtClean="0">
              <a:solidFill>
                <a:srgbClr val="000000"/>
              </a:solidFill>
              <a:latin typeface="ＭＳ Ｐゴシック" charset="-128"/>
            </a:endParaRPr>
          </a:p>
        </p:txBody>
      </p:sp>
      <p:grpSp>
        <p:nvGrpSpPr>
          <p:cNvPr id="11" name="グループ化 10"/>
          <p:cNvGrpSpPr/>
          <p:nvPr/>
        </p:nvGrpSpPr>
        <p:grpSpPr>
          <a:xfrm>
            <a:off x="4729162" y="1357313"/>
            <a:ext cx="4143375" cy="5500687"/>
            <a:chOff x="5129213" y="1462088"/>
            <a:chExt cx="3414713" cy="4567236"/>
          </a:xfrm>
        </p:grpSpPr>
        <p:pic>
          <p:nvPicPr>
            <p:cNvPr id="1026" name="Picture 2"/>
            <p:cNvPicPr>
              <a:picLocks noChangeAspect="1" noChangeArrowheads="1"/>
            </p:cNvPicPr>
            <p:nvPr/>
          </p:nvPicPr>
          <p:blipFill>
            <a:blip r:embed="rId5" cstate="print"/>
            <a:srcRect/>
            <a:stretch>
              <a:fillRect/>
            </a:stretch>
          </p:blipFill>
          <p:spPr bwMode="auto">
            <a:xfrm>
              <a:off x="5129213" y="1462088"/>
              <a:ext cx="3414713" cy="3953069"/>
            </a:xfrm>
            <a:prstGeom prst="rect">
              <a:avLst/>
            </a:prstGeom>
            <a:noFill/>
            <a:ln w="9525">
              <a:noFill/>
              <a:miter lim="800000"/>
              <a:headEnd/>
              <a:tailEnd/>
            </a:ln>
          </p:spPr>
        </p:pic>
        <p:cxnSp>
          <p:nvCxnSpPr>
            <p:cNvPr id="8" name="直線矢印コネクタ 7"/>
            <p:cNvCxnSpPr/>
            <p:nvPr/>
          </p:nvCxnSpPr>
          <p:spPr>
            <a:xfrm rot="16200000" flipV="1">
              <a:off x="5443540" y="2328865"/>
              <a:ext cx="2671763" cy="2043110"/>
            </a:xfrm>
            <a:prstGeom prst="straightConnector1">
              <a:avLst/>
            </a:prstGeom>
            <a:ln w="57150">
              <a:tailEnd type="arrow"/>
            </a:ln>
          </p:spPr>
          <p:style>
            <a:lnRef idx="2">
              <a:schemeClr val="dk1"/>
            </a:lnRef>
            <a:fillRef idx="0">
              <a:schemeClr val="dk1"/>
            </a:fillRef>
            <a:effectRef idx="1">
              <a:schemeClr val="dk1"/>
            </a:effectRef>
            <a:fontRef idx="minor">
              <a:schemeClr val="tx1"/>
            </a:fontRef>
          </p:style>
        </p:cxnSp>
        <p:sp>
          <p:nvSpPr>
            <p:cNvPr id="17" name="テキスト ボックス 16"/>
            <p:cNvSpPr txBox="1"/>
            <p:nvPr/>
          </p:nvSpPr>
          <p:spPr>
            <a:xfrm>
              <a:off x="6729412" y="3043239"/>
              <a:ext cx="1128713" cy="369332"/>
            </a:xfrm>
            <a:prstGeom prst="rect">
              <a:avLst/>
            </a:prstGeom>
            <a:noFill/>
          </p:spPr>
          <p:txBody>
            <a:bodyPr wrap="square" rtlCol="0">
              <a:spAutoFit/>
            </a:bodyPr>
            <a:lstStyle/>
            <a:p>
              <a:r>
                <a:rPr kumimoji="1" lang="en-US" altLang="ja-JP" sz="1800" dirty="0" smtClean="0"/>
                <a:t>1. detect</a:t>
              </a:r>
              <a:endParaRPr kumimoji="1" lang="ja-JP" altLang="en-US" sz="1800" dirty="0"/>
            </a:p>
          </p:txBody>
        </p:sp>
        <p:sp>
          <p:nvSpPr>
            <p:cNvPr id="21" name="円弧 20"/>
            <p:cNvSpPr/>
            <p:nvPr/>
          </p:nvSpPr>
          <p:spPr>
            <a:xfrm rot="20241683">
              <a:off x="5772150" y="4457699"/>
              <a:ext cx="1871662" cy="1571625"/>
            </a:xfrm>
            <a:prstGeom prst="arc">
              <a:avLst>
                <a:gd name="adj1" fmla="val 16823623"/>
                <a:gd name="adj2" fmla="val 0"/>
              </a:avLst>
            </a:prstGeom>
            <a:ln w="57150">
              <a:head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22" name="テキスト ボックス 21"/>
            <p:cNvSpPr txBox="1"/>
            <p:nvPr/>
          </p:nvSpPr>
          <p:spPr>
            <a:xfrm>
              <a:off x="6272212" y="4681538"/>
              <a:ext cx="1281112" cy="369332"/>
            </a:xfrm>
            <a:prstGeom prst="rect">
              <a:avLst/>
            </a:prstGeom>
            <a:noFill/>
          </p:spPr>
          <p:txBody>
            <a:bodyPr wrap="square" rtlCol="0">
              <a:spAutoFit/>
            </a:bodyPr>
            <a:lstStyle/>
            <a:p>
              <a:r>
                <a:rPr kumimoji="1" lang="en-US" altLang="ja-JP" sz="1800" dirty="0" smtClean="0"/>
                <a:t>2. course</a:t>
              </a:r>
              <a:endParaRPr kumimoji="1" lang="ja-JP" altLang="en-US" sz="1800" dirty="0"/>
            </a:p>
          </p:txBody>
        </p:sp>
        <p:sp>
          <p:nvSpPr>
            <p:cNvPr id="27" name="テキスト ボックス 26"/>
            <p:cNvSpPr txBox="1"/>
            <p:nvPr/>
          </p:nvSpPr>
          <p:spPr>
            <a:xfrm>
              <a:off x="7196137" y="3609977"/>
              <a:ext cx="1304925" cy="369332"/>
            </a:xfrm>
            <a:prstGeom prst="rect">
              <a:avLst/>
            </a:prstGeom>
            <a:noFill/>
          </p:spPr>
          <p:txBody>
            <a:bodyPr wrap="square" rtlCol="0">
              <a:spAutoFit/>
            </a:bodyPr>
            <a:lstStyle/>
            <a:p>
              <a:r>
                <a:rPr kumimoji="1" lang="en-US" altLang="ja-JP" sz="1800" dirty="0" smtClean="0"/>
                <a:t>3. distance</a:t>
              </a:r>
              <a:endParaRPr kumimoji="1" lang="ja-JP" altLang="en-US" sz="1800" dirty="0"/>
            </a:p>
          </p:txBody>
        </p:sp>
      </p:grpSp>
    </p:spTree>
    <p:extLst>
      <p:ext uri="{BB962C8B-B14F-4D97-AF65-F5344CB8AC3E}">
        <p14:creationId xmlns="" xmlns:p14="http://schemas.microsoft.com/office/powerpoint/2010/main" val="6117434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Detect the face</a:t>
            </a:r>
            <a:endParaRPr kumimoji="1" lang="ja-JP" altLang="en-US" dirty="0"/>
          </a:p>
        </p:txBody>
      </p:sp>
      <p:sp>
        <p:nvSpPr>
          <p:cNvPr id="3" name="コンテンツ プレースホルダー 2"/>
          <p:cNvSpPr>
            <a:spLocks noGrp="1"/>
          </p:cNvSpPr>
          <p:nvPr>
            <p:ph idx="1"/>
          </p:nvPr>
        </p:nvSpPr>
        <p:spPr/>
        <p:txBody>
          <a:bodyPr/>
          <a:lstStyle/>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What’s data ?</a:t>
            </a:r>
          </a:p>
          <a:p>
            <a:pPr marL="735013" lvl="1"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640x480 RGB image, using KINECT’s camera, </a:t>
            </a:r>
          </a:p>
          <a:p>
            <a:pPr marL="735013" lvl="1" indent="-277813">
              <a:spcBef>
                <a:spcPts val="488"/>
              </a:spcBef>
              <a:buSzPct val="111000"/>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Characteristics of human face.</a:t>
            </a:r>
          </a:p>
          <a:p>
            <a:pPr marL="735013" lvl="1" indent="-277813">
              <a:spcBef>
                <a:spcPts val="488"/>
              </a:spcBef>
              <a:buSzPct val="111000"/>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735013" lvl="1" indent="-277813">
              <a:spcBef>
                <a:spcPts val="488"/>
              </a:spcBef>
              <a:buSzPct val="111000"/>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p:txBody>
      </p:sp>
      <p:pic>
        <p:nvPicPr>
          <p:cNvPr id="5" name="Picture 6"/>
          <p:cNvPicPr>
            <a:picLocks noChangeAspect="1" noChangeArrowheads="1"/>
          </p:cNvPicPr>
          <p:nvPr/>
        </p:nvPicPr>
        <p:blipFill>
          <a:blip r:embed="rId5" cstate="print"/>
          <a:srcRect/>
          <a:stretch>
            <a:fillRect/>
          </a:stretch>
        </p:blipFill>
        <p:spPr bwMode="auto">
          <a:xfrm>
            <a:off x="6460762" y="4688087"/>
            <a:ext cx="2683238" cy="1341955"/>
          </a:xfrm>
          <a:prstGeom prst="rect">
            <a:avLst/>
          </a:prstGeom>
          <a:noFill/>
          <a:ln w="9525">
            <a:noFill/>
            <a:miter lim="800000"/>
            <a:headEnd/>
            <a:tailEnd/>
          </a:ln>
        </p:spPr>
      </p:pic>
      <p:grpSp>
        <p:nvGrpSpPr>
          <p:cNvPr id="15" name="グループ化 14"/>
          <p:cNvGrpSpPr/>
          <p:nvPr/>
        </p:nvGrpSpPr>
        <p:grpSpPr>
          <a:xfrm>
            <a:off x="1295400" y="3352800"/>
            <a:ext cx="4596188" cy="3196777"/>
            <a:chOff x="2187862" y="3159802"/>
            <a:chExt cx="3629025" cy="2667000"/>
          </a:xfrm>
        </p:grpSpPr>
        <p:pic>
          <p:nvPicPr>
            <p:cNvPr id="4099" name="Picture 3"/>
            <p:cNvPicPr>
              <a:picLocks noChangeAspect="1" noChangeArrowheads="1"/>
            </p:cNvPicPr>
            <p:nvPr/>
          </p:nvPicPr>
          <p:blipFill>
            <a:blip r:embed="rId6" cstate="print"/>
            <a:srcRect/>
            <a:stretch>
              <a:fillRect/>
            </a:stretch>
          </p:blipFill>
          <p:spPr bwMode="auto">
            <a:xfrm>
              <a:off x="2187862" y="3159802"/>
              <a:ext cx="3629025" cy="2667000"/>
            </a:xfrm>
            <a:prstGeom prst="rect">
              <a:avLst/>
            </a:prstGeom>
            <a:noFill/>
            <a:ln w="9525">
              <a:noFill/>
              <a:miter lim="800000"/>
              <a:headEnd/>
              <a:tailEnd/>
            </a:ln>
          </p:spPr>
        </p:pic>
        <p:sp>
          <p:nvSpPr>
            <p:cNvPr id="10" name="正方形/長方形 9"/>
            <p:cNvSpPr/>
            <p:nvPr/>
          </p:nvSpPr>
          <p:spPr>
            <a:xfrm>
              <a:off x="3402767" y="3294558"/>
              <a:ext cx="1139252" cy="1499017"/>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
        <p:nvSpPr>
          <p:cNvPr id="12" name="右中かっこ 11"/>
          <p:cNvSpPr/>
          <p:nvPr/>
        </p:nvSpPr>
        <p:spPr>
          <a:xfrm>
            <a:off x="10463134" y="1708879"/>
            <a:ext cx="155448" cy="914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2" name="テキスト ボックス 21"/>
          <p:cNvSpPr txBox="1"/>
          <p:nvPr/>
        </p:nvSpPr>
        <p:spPr>
          <a:xfrm>
            <a:off x="6280381" y="4081572"/>
            <a:ext cx="2248564" cy="461665"/>
          </a:xfrm>
          <a:prstGeom prst="rect">
            <a:avLst/>
          </a:prstGeom>
          <a:noFill/>
        </p:spPr>
        <p:txBody>
          <a:bodyPr wrap="none" rtlCol="0">
            <a:spAutoFit/>
          </a:bodyPr>
          <a:lstStyle/>
          <a:p>
            <a:r>
              <a:rPr kumimoji="1" lang="en-US" altLang="ja-JP" dirty="0" smtClean="0"/>
              <a:t>KINECT Image</a:t>
            </a:r>
            <a:endParaRPr kumimoji="1" lang="ja-JP" altLang="en-US" dirty="0"/>
          </a:p>
        </p:txBody>
      </p:sp>
      <p:sp>
        <p:nvSpPr>
          <p:cNvPr id="23" name="右中かっこ 22"/>
          <p:cNvSpPr/>
          <p:nvPr/>
        </p:nvSpPr>
        <p:spPr>
          <a:xfrm>
            <a:off x="5891135" y="3352800"/>
            <a:ext cx="539646" cy="3185160"/>
          </a:xfrm>
          <a:prstGeom prst="rightBrace">
            <a:avLst>
              <a:gd name="adj1" fmla="val 108333"/>
              <a:gd name="adj2" fmla="val 50000"/>
            </a:avLst>
          </a:prstGeom>
          <a:ln w="28575">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 xmlns:p14="http://schemas.microsoft.com/office/powerpoint/2010/main" val="6117434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Detect the face</a:t>
            </a:r>
            <a:endParaRPr kumimoji="1" lang="ja-JP" altLang="en-US" dirty="0"/>
          </a:p>
        </p:txBody>
      </p:sp>
      <p:sp>
        <p:nvSpPr>
          <p:cNvPr id="3" name="コンテンツ プレースホルダー 2"/>
          <p:cNvSpPr>
            <a:spLocks noGrp="1"/>
          </p:cNvSpPr>
          <p:nvPr>
            <p:ph idx="1"/>
          </p:nvPr>
        </p:nvSpPr>
        <p:spPr/>
        <p:txBody>
          <a:bodyPr/>
          <a:lstStyle/>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Face recognition</a:t>
            </a:r>
          </a:p>
          <a:p>
            <a:pPr marL="735013" lvl="1"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Characteristics of human face</a:t>
            </a:r>
          </a:p>
          <a:p>
            <a:pPr marL="735013" lvl="1"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Statistical face detection and machine learning.</a:t>
            </a:r>
          </a:p>
          <a:p>
            <a:pPr marL="735013" lvl="1" indent="-277813">
              <a:spcBef>
                <a:spcPts val="488"/>
              </a:spcBef>
              <a:buSzPct val="111000"/>
              <a:buBlip>
                <a:blip r:embed="rId4"/>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p:txBody>
      </p:sp>
      <p:pic>
        <p:nvPicPr>
          <p:cNvPr id="3079" name="Picture 7"/>
          <p:cNvPicPr>
            <a:picLocks noChangeAspect="1" noChangeArrowheads="1"/>
          </p:cNvPicPr>
          <p:nvPr/>
        </p:nvPicPr>
        <p:blipFill>
          <a:blip r:embed="rId5" cstate="print"/>
          <a:stretch>
            <a:fillRect/>
          </a:stretch>
        </p:blipFill>
        <p:spPr bwMode="auto">
          <a:xfrm>
            <a:off x="855406" y="3240194"/>
            <a:ext cx="6264600" cy="3617806"/>
          </a:xfrm>
          <a:prstGeom prst="rect">
            <a:avLst/>
          </a:prstGeom>
          <a:noFill/>
          <a:ln>
            <a:noFill/>
          </a:ln>
        </p:spPr>
      </p:pic>
      <p:pic>
        <p:nvPicPr>
          <p:cNvPr id="3074" name="Picture 2"/>
          <p:cNvPicPr>
            <a:picLocks noChangeAspect="1" noChangeArrowheads="1"/>
          </p:cNvPicPr>
          <p:nvPr/>
        </p:nvPicPr>
        <p:blipFill>
          <a:blip r:embed="rId6" cstate="print">
            <a:clrChange>
              <a:clrFrom>
                <a:srgbClr val="D94B28"/>
              </a:clrFrom>
              <a:clrTo>
                <a:srgbClr val="D94B28">
                  <a:alpha val="0"/>
                </a:srgbClr>
              </a:clrTo>
            </a:clrChange>
          </a:blip>
          <a:stretch>
            <a:fillRect/>
          </a:stretch>
        </p:blipFill>
        <p:spPr bwMode="auto">
          <a:xfrm>
            <a:off x="5792712" y="3268142"/>
            <a:ext cx="3118915" cy="1569328"/>
          </a:xfrm>
          <a:prstGeom prst="rect">
            <a:avLst/>
          </a:prstGeom>
          <a:noFill/>
          <a:ln>
            <a:noFill/>
          </a:ln>
        </p:spPr>
      </p:pic>
    </p:spTree>
    <p:extLst>
      <p:ext uri="{BB962C8B-B14F-4D97-AF65-F5344CB8AC3E}">
        <p14:creationId xmlns="" xmlns:p14="http://schemas.microsoft.com/office/powerpoint/2010/main" val="6117434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Detect the face</a:t>
            </a:r>
            <a:endParaRPr kumimoji="1" lang="ja-JP" altLang="en-US" dirty="0"/>
          </a:p>
        </p:txBody>
      </p:sp>
      <p:sp>
        <p:nvSpPr>
          <p:cNvPr id="3" name="コンテンツ プレースホルダー 2"/>
          <p:cNvSpPr>
            <a:spLocks noGrp="1"/>
          </p:cNvSpPr>
          <p:nvPr>
            <p:ph idx="1"/>
          </p:nvPr>
        </p:nvSpPr>
        <p:spPr/>
        <p:txBody>
          <a:bodyPr/>
          <a:lstStyle/>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sz="3200"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sz="3200" dirty="0" smtClean="0">
                <a:solidFill>
                  <a:srgbClr val="000000"/>
                </a:solidFill>
                <a:latin typeface="ＭＳ Ｐゴシック" charset="-128"/>
              </a:rPr>
              <a:t>Not all frame, but </a:t>
            </a:r>
            <a:r>
              <a:rPr lang="en-GB" altLang="ja-JP" sz="3200" dirty="0" err="1" smtClean="0">
                <a:solidFill>
                  <a:srgbClr val="000000"/>
                </a:solidFill>
                <a:latin typeface="ＭＳ Ｐゴシック" charset="-128"/>
              </a:rPr>
              <a:t>realtime</a:t>
            </a:r>
            <a:r>
              <a:rPr lang="en-GB" altLang="ja-JP" sz="3200" dirty="0" smtClean="0">
                <a:solidFill>
                  <a:srgbClr val="000000"/>
                </a:solidFill>
                <a:latin typeface="ＭＳ Ｐゴシック" charset="-128"/>
              </a:rPr>
              <a:t> analyzing.</a:t>
            </a: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sz="3200"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sz="3200" dirty="0" smtClean="0">
                <a:solidFill>
                  <a:srgbClr val="000000"/>
                </a:solidFill>
                <a:latin typeface="ＭＳ Ｐゴシック" charset="-128"/>
              </a:rPr>
              <a:t>Auto search around people.</a:t>
            </a: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sz="3200"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sz="3200" dirty="0" smtClean="0">
                <a:solidFill>
                  <a:srgbClr val="000000"/>
                </a:solidFill>
                <a:latin typeface="ＭＳ Ｐゴシック" charset="-128"/>
              </a:rPr>
              <a:t>Chase specified human.</a:t>
            </a:r>
          </a:p>
        </p:txBody>
      </p:sp>
    </p:spTree>
    <p:extLst>
      <p:ext uri="{BB962C8B-B14F-4D97-AF65-F5344CB8AC3E}">
        <p14:creationId xmlns="" xmlns:p14="http://schemas.microsoft.com/office/powerpoint/2010/main" val="6117434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1"/>
            <a:r>
              <a:rPr lang="en-US" altLang="ja-JP" dirty="0"/>
              <a:t>Calculate the course</a:t>
            </a:r>
          </a:p>
        </p:txBody>
      </p:sp>
      <p:pic>
        <p:nvPicPr>
          <p:cNvPr id="123906" name="Picture 2" descr="D:\DCIM\Camera\1291265537248.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2314581" y="3389565"/>
            <a:ext cx="4398032" cy="3309239"/>
          </a:xfrm>
          <a:prstGeom prst="rect">
            <a:avLst/>
          </a:prstGeom>
          <a:noFill/>
          <a:extLst>
            <a:ext uri="{909E8E84-426E-40DD-AFC4-6F175D3DCCD1}">
              <a14:hiddenFill xmlns="" xmlns:a14="http://schemas.microsoft.com/office/drawing/2010/main">
                <a:solidFill>
                  <a:srgbClr val="FFFFFF"/>
                </a:solidFill>
              </a14:hiddenFill>
            </a:ext>
          </a:extLst>
        </p:spPr>
      </p:pic>
      <p:graphicFrame>
        <p:nvGraphicFramePr>
          <p:cNvPr id="4" name="表 3"/>
          <p:cNvGraphicFramePr>
            <a:graphicFrameLocks noGrp="1"/>
          </p:cNvGraphicFramePr>
          <p:nvPr>
            <p:extLst>
              <p:ext uri="{D42A27DB-BD31-4B8C-83A1-F6EECF244321}">
                <p14:modId xmlns="" xmlns:p14="http://schemas.microsoft.com/office/powerpoint/2010/main" val="1559633071"/>
              </p:ext>
            </p:extLst>
          </p:nvPr>
        </p:nvGraphicFramePr>
        <p:xfrm>
          <a:off x="2300154" y="3371981"/>
          <a:ext cx="4386264" cy="3314700"/>
        </p:xfrm>
        <a:graphic>
          <a:graphicData uri="http://schemas.openxmlformats.org/drawingml/2006/table">
            <a:tbl>
              <a:tblPr firstRow="1" bandRow="1">
                <a:tableStyleId>{5C22544A-7EE6-4342-B048-85BDC9FD1C3A}</a:tableStyleId>
              </a:tblPr>
              <a:tblGrid>
                <a:gridCol w="1096566"/>
                <a:gridCol w="1096566"/>
                <a:gridCol w="1096566"/>
                <a:gridCol w="1096566"/>
              </a:tblGrid>
              <a:tr h="3314700">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CFF">
                        <a:alpha val="30980"/>
                      </a:srgbClr>
                    </a:solid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7" name="表 6"/>
          <p:cNvGraphicFramePr>
            <a:graphicFrameLocks noGrp="1"/>
          </p:cNvGraphicFramePr>
          <p:nvPr>
            <p:extLst>
              <p:ext uri="{D42A27DB-BD31-4B8C-83A1-F6EECF244321}">
                <p14:modId xmlns="" xmlns:p14="http://schemas.microsoft.com/office/powerpoint/2010/main" val="996243453"/>
              </p:ext>
            </p:extLst>
          </p:nvPr>
        </p:nvGraphicFramePr>
        <p:xfrm>
          <a:off x="2304756" y="3378855"/>
          <a:ext cx="4381648" cy="3293528"/>
        </p:xfrm>
        <a:graphic>
          <a:graphicData uri="http://schemas.openxmlformats.org/drawingml/2006/table">
            <a:tbl>
              <a:tblPr firstRow="1" bandRow="1">
                <a:tableStyleId>{5C22544A-7EE6-4342-B048-85BDC9FD1C3A}</a:tableStyleId>
              </a:tblPr>
              <a:tblGrid>
                <a:gridCol w="1095412"/>
                <a:gridCol w="1095412"/>
                <a:gridCol w="1095412"/>
                <a:gridCol w="1095412"/>
              </a:tblGrid>
              <a:tr h="3293528">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6" name="コンテンツ プレースホルダー 2"/>
          <p:cNvSpPr>
            <a:spLocks noGrp="1"/>
          </p:cNvSpPr>
          <p:nvPr>
            <p:ph idx="1"/>
          </p:nvPr>
        </p:nvSpPr>
        <p:spPr>
          <a:xfrm>
            <a:off x="838208" y="1114427"/>
            <a:ext cx="7772400" cy="2085975"/>
          </a:xfrm>
        </p:spPr>
        <p:txBody>
          <a:bodyPr/>
          <a:lstStyle/>
          <a:p>
            <a:r>
              <a:rPr lang="en-US" altLang="ja-JP" dirty="0" smtClean="0"/>
              <a:t>Using width.</a:t>
            </a:r>
          </a:p>
          <a:p>
            <a:pPr marL="914400" lvl="1" indent="-514350">
              <a:buFont typeface="+mj-lt"/>
              <a:buAutoNum type="arabicPeriod"/>
            </a:pPr>
            <a:r>
              <a:rPr lang="en-GB" altLang="ja-JP" dirty="0" smtClean="0">
                <a:solidFill>
                  <a:srgbClr val="000000"/>
                </a:solidFill>
                <a:latin typeface="ＭＳ Ｐゴシック" charset="-128"/>
              </a:rPr>
              <a:t>Specify </a:t>
            </a:r>
            <a:r>
              <a:rPr lang="en-GB" altLang="ja-JP" dirty="0" err="1" smtClean="0">
                <a:solidFill>
                  <a:srgbClr val="000000"/>
                </a:solidFill>
                <a:latin typeface="ＭＳ Ｐゴシック" charset="-128"/>
              </a:rPr>
              <a:t>center</a:t>
            </a:r>
            <a:r>
              <a:rPr lang="ja-JP" altLang="en-US" dirty="0" smtClean="0">
                <a:solidFill>
                  <a:srgbClr val="000000"/>
                </a:solidFill>
                <a:latin typeface="ＭＳ Ｐゴシック" charset="-128"/>
              </a:rPr>
              <a:t> </a:t>
            </a:r>
            <a:r>
              <a:rPr lang="en-US" altLang="ja-JP" dirty="0" smtClean="0">
                <a:solidFill>
                  <a:srgbClr val="000000"/>
                </a:solidFill>
                <a:latin typeface="ＭＳ Ｐゴシック" charset="-128"/>
              </a:rPr>
              <a:t>position</a:t>
            </a:r>
            <a:r>
              <a:rPr lang="en-GB" altLang="ja-JP" dirty="0" smtClean="0">
                <a:solidFill>
                  <a:srgbClr val="000000"/>
                </a:solidFill>
                <a:latin typeface="ＭＳ Ｐゴシック" charset="-128"/>
              </a:rPr>
              <a:t> of face.</a:t>
            </a:r>
            <a:endParaRPr lang="en-US" altLang="ja-JP" dirty="0" smtClean="0"/>
          </a:p>
          <a:p>
            <a:pPr marL="914400" lvl="1" indent="-514350">
              <a:buFont typeface="+mj-lt"/>
              <a:buAutoNum type="arabicPeriod"/>
            </a:pPr>
            <a:r>
              <a:rPr lang="en-GB" altLang="ja-JP" dirty="0" smtClean="0">
                <a:solidFill>
                  <a:srgbClr val="000000"/>
                </a:solidFill>
                <a:latin typeface="ＭＳ Ｐゴシック" charset="-128"/>
              </a:rPr>
              <a:t>Specify position of the face in 4-sections </a:t>
            </a:r>
            <a:r>
              <a:rPr lang="en-GB" altLang="ja-JP" dirty="0" err="1" smtClean="0">
                <a:solidFill>
                  <a:srgbClr val="000000"/>
                </a:solidFill>
                <a:latin typeface="ＭＳ Ｐゴシック" charset="-128"/>
              </a:rPr>
              <a:t>relavive</a:t>
            </a:r>
            <a:r>
              <a:rPr lang="en-GB" altLang="ja-JP" dirty="0" smtClean="0">
                <a:solidFill>
                  <a:srgbClr val="000000"/>
                </a:solidFill>
                <a:latin typeface="ＭＳ Ｐゴシック" charset="-128"/>
              </a:rPr>
              <a:t> to KINECT’s image.</a:t>
            </a:r>
          </a:p>
        </p:txBody>
      </p:sp>
    </p:spTree>
    <p:extLst>
      <p:ext uri="{BB962C8B-B14F-4D97-AF65-F5344CB8AC3E}">
        <p14:creationId xmlns="" xmlns:p14="http://schemas.microsoft.com/office/powerpoint/2010/main" val="164641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C:\Data\Kame\shot\DSC_0012.jp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683907" y="3248461"/>
            <a:ext cx="5670776" cy="3189812"/>
          </a:xfrm>
          <a:prstGeom prst="rect">
            <a:avLst/>
          </a:prstGeom>
          <a:noFill/>
          <a:extLst>
            <a:ext uri="{909E8E84-426E-40DD-AFC4-6F175D3DCCD1}">
              <a14:hiddenFill xmlns="" xmlns:a14="http://schemas.microsoft.com/office/drawing/2010/main">
                <a:solidFill>
                  <a:srgbClr val="FFFFFF"/>
                </a:solidFill>
              </a14:hiddenFill>
            </a:ext>
          </a:extLst>
        </p:spPr>
      </p:pic>
      <p:sp>
        <p:nvSpPr>
          <p:cNvPr id="2" name="タイトル 1"/>
          <p:cNvSpPr>
            <a:spLocks noGrp="1"/>
          </p:cNvSpPr>
          <p:nvPr>
            <p:ph type="title"/>
          </p:nvPr>
        </p:nvSpPr>
        <p:spPr/>
        <p:txBody>
          <a:bodyPr/>
          <a:lstStyle/>
          <a:p>
            <a:pPr lvl="1"/>
            <a:r>
              <a:rPr lang="en-US" altLang="ja-JP" dirty="0"/>
              <a:t>Calculate the course</a:t>
            </a:r>
          </a:p>
        </p:txBody>
      </p:sp>
      <p:sp>
        <p:nvSpPr>
          <p:cNvPr id="3" name="コンテンツ プレースホルダー 2"/>
          <p:cNvSpPr>
            <a:spLocks noGrp="1"/>
          </p:cNvSpPr>
          <p:nvPr>
            <p:ph idx="1"/>
          </p:nvPr>
        </p:nvSpPr>
        <p:spPr/>
        <p:txBody>
          <a:bodyPr/>
          <a:lstStyle/>
          <a:p>
            <a:r>
              <a:rPr lang="en-US" altLang="ja-JP" dirty="0" smtClean="0"/>
              <a:t>Using height.</a:t>
            </a:r>
            <a:endParaRPr kumimoji="1" lang="en-US" altLang="ja-JP" dirty="0" smtClean="0"/>
          </a:p>
          <a:p>
            <a:pPr lvl="1"/>
            <a:r>
              <a:rPr lang="en-US" altLang="ja-JP" dirty="0" smtClean="0"/>
              <a:t>Change </a:t>
            </a:r>
            <a:r>
              <a:rPr lang="en-US" altLang="ja-JP" dirty="0" err="1" smtClean="0"/>
              <a:t>Kinect’s</a:t>
            </a:r>
            <a:r>
              <a:rPr lang="en-US" altLang="ja-JP" dirty="0" smtClean="0"/>
              <a:t> angle.</a:t>
            </a:r>
          </a:p>
          <a:p>
            <a:pPr lvl="1"/>
            <a:r>
              <a:rPr lang="en-GB" altLang="ja-JP" dirty="0" smtClean="0">
                <a:solidFill>
                  <a:srgbClr val="000000"/>
                </a:solidFill>
                <a:latin typeface="ＭＳ Ｐゴシック" charset="-128"/>
              </a:rPr>
              <a:t>Specify position of the face in image </a:t>
            </a:r>
            <a:r>
              <a:rPr lang="en-GB" altLang="ja-JP" dirty="0" err="1" smtClean="0">
                <a:solidFill>
                  <a:srgbClr val="000000"/>
                </a:solidFill>
                <a:latin typeface="ＭＳ Ｐゴシック" charset="-128"/>
              </a:rPr>
              <a:t>relavive</a:t>
            </a:r>
            <a:r>
              <a:rPr lang="en-GB" altLang="ja-JP" dirty="0" smtClean="0">
                <a:solidFill>
                  <a:srgbClr val="000000"/>
                </a:solidFill>
                <a:latin typeface="ＭＳ Ｐゴシック" charset="-128"/>
              </a:rPr>
              <a:t> to KINECT’s image.</a:t>
            </a:r>
          </a:p>
        </p:txBody>
      </p:sp>
    </p:spTree>
    <p:extLst>
      <p:ext uri="{BB962C8B-B14F-4D97-AF65-F5344CB8AC3E}">
        <p14:creationId xmlns="" xmlns:p14="http://schemas.microsoft.com/office/powerpoint/2010/main" val="2314626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1"/>
            <a:r>
              <a:rPr lang="en-US" altLang="ja-JP" dirty="0"/>
              <a:t>Calculate the </a:t>
            </a:r>
            <a:r>
              <a:rPr lang="en-US" altLang="ja-JP" dirty="0" smtClean="0"/>
              <a:t>distance</a:t>
            </a:r>
            <a:endParaRPr kumimoji="1" lang="ja-JP" altLang="en-US" dirty="0"/>
          </a:p>
        </p:txBody>
      </p:sp>
      <p:sp>
        <p:nvSpPr>
          <p:cNvPr id="3" name="コンテンツ プレースホルダー 2"/>
          <p:cNvSpPr>
            <a:spLocks noGrp="1"/>
          </p:cNvSpPr>
          <p:nvPr>
            <p:ph idx="1"/>
          </p:nvPr>
        </p:nvSpPr>
        <p:spPr/>
        <p:txBody>
          <a:bodyPr/>
          <a:lstStyle/>
          <a:p>
            <a:pPr marL="514350" indent="-514350">
              <a:buFont typeface="+mj-lt"/>
              <a:buAutoNum type="arabicPeriod"/>
            </a:pPr>
            <a:r>
              <a:rPr lang="en-GB" altLang="ja-JP" dirty="0" err="1" smtClean="0">
                <a:solidFill>
                  <a:srgbClr val="000000"/>
                </a:solidFill>
                <a:latin typeface="ＭＳ Ｐゴシック" charset="-128"/>
              </a:rPr>
              <a:t>Mesure</a:t>
            </a:r>
            <a:r>
              <a:rPr lang="en-GB" altLang="ja-JP" dirty="0" smtClean="0">
                <a:solidFill>
                  <a:srgbClr val="000000"/>
                </a:solidFill>
                <a:latin typeface="ＭＳ Ｐゴシック" charset="-128"/>
              </a:rPr>
              <a:t> the depth of specified point using KINECT.</a:t>
            </a:r>
            <a:endParaRPr lang="en-US" altLang="ja-JP" dirty="0" smtClean="0"/>
          </a:p>
          <a:p>
            <a:pPr marL="514350" indent="-514350">
              <a:buFont typeface="+mj-lt"/>
              <a:buAutoNum type="arabicPeriod"/>
            </a:pPr>
            <a:r>
              <a:rPr lang="en-GB" altLang="ja-JP" dirty="0" smtClean="0">
                <a:solidFill>
                  <a:srgbClr val="000000"/>
                </a:solidFill>
                <a:latin typeface="ＭＳ Ｐゴシック" charset="-128"/>
              </a:rPr>
              <a:t>Robots walk forward or back, depending on the </a:t>
            </a:r>
            <a:r>
              <a:rPr lang="en-GB" altLang="ja-JP" dirty="0" err="1" smtClean="0">
                <a:solidFill>
                  <a:srgbClr val="000000"/>
                </a:solidFill>
                <a:latin typeface="ＭＳ Ｐゴシック" charset="-128"/>
              </a:rPr>
              <a:t>mesured</a:t>
            </a:r>
            <a:r>
              <a:rPr lang="en-GB" altLang="ja-JP" dirty="0" smtClean="0">
                <a:solidFill>
                  <a:srgbClr val="000000"/>
                </a:solidFill>
                <a:latin typeface="ＭＳ Ｐゴシック" charset="-128"/>
              </a:rPr>
              <a:t> distance.</a:t>
            </a:r>
            <a:endParaRPr lang="en-US" altLang="ja-JP" dirty="0" smtClean="0"/>
          </a:p>
          <a:p>
            <a:pPr marL="735013" lvl="1" indent="-277813">
              <a:spcBef>
                <a:spcPts val="488"/>
              </a:spcBef>
              <a:buSzPct val="111000"/>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 </a:t>
            </a:r>
          </a:p>
          <a:p>
            <a:pPr lvl="1">
              <a:buNone/>
            </a:pPr>
            <a:endParaRPr lang="en-US" altLang="ja-JP" dirty="0" smtClean="0"/>
          </a:p>
        </p:txBody>
      </p:sp>
      <p:grpSp>
        <p:nvGrpSpPr>
          <p:cNvPr id="23" name="グループ化 22"/>
          <p:cNvGrpSpPr/>
          <p:nvPr/>
        </p:nvGrpSpPr>
        <p:grpSpPr>
          <a:xfrm>
            <a:off x="1027748" y="3678556"/>
            <a:ext cx="1410652" cy="1838324"/>
            <a:chOff x="2495550" y="4205288"/>
            <a:chExt cx="1241698" cy="1595438"/>
          </a:xfrm>
        </p:grpSpPr>
        <p:pic>
          <p:nvPicPr>
            <p:cNvPr id="1026" name="Picture 2"/>
            <p:cNvPicPr>
              <a:picLocks noChangeAspect="1" noChangeArrowheads="1"/>
            </p:cNvPicPr>
            <p:nvPr/>
          </p:nvPicPr>
          <p:blipFill>
            <a:blip r:embed="rId4" cstate="print"/>
            <a:srcRect/>
            <a:stretch>
              <a:fillRect/>
            </a:stretch>
          </p:blipFill>
          <p:spPr bwMode="auto">
            <a:xfrm>
              <a:off x="2495550" y="4205288"/>
              <a:ext cx="1241698" cy="1595438"/>
            </a:xfrm>
            <a:prstGeom prst="rect">
              <a:avLst/>
            </a:prstGeom>
            <a:noFill/>
            <a:ln w="9525">
              <a:noFill/>
              <a:miter lim="800000"/>
              <a:headEnd/>
              <a:tailEnd/>
            </a:ln>
          </p:spPr>
        </p:pic>
        <p:sp>
          <p:nvSpPr>
            <p:cNvPr id="22" name="円/楕円 21"/>
            <p:cNvSpPr/>
            <p:nvPr/>
          </p:nvSpPr>
          <p:spPr>
            <a:xfrm>
              <a:off x="3019425" y="4905375"/>
              <a:ext cx="209550" cy="20955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ja-JP" altLang="en-US"/>
            </a:p>
          </p:txBody>
        </p:sp>
      </p:grpSp>
      <p:pic>
        <p:nvPicPr>
          <p:cNvPr id="24" name="Picture 6"/>
          <p:cNvPicPr>
            <a:picLocks noChangeAspect="1" noChangeArrowheads="1"/>
          </p:cNvPicPr>
          <p:nvPr/>
        </p:nvPicPr>
        <p:blipFill>
          <a:blip r:embed="rId5" cstate="print"/>
          <a:srcRect/>
          <a:stretch>
            <a:fillRect/>
          </a:stretch>
        </p:blipFill>
        <p:spPr bwMode="auto">
          <a:xfrm>
            <a:off x="2544895" y="5253038"/>
            <a:ext cx="2027105" cy="1013806"/>
          </a:xfrm>
          <a:prstGeom prst="rect">
            <a:avLst/>
          </a:prstGeom>
          <a:noFill/>
          <a:ln w="9525">
            <a:noFill/>
            <a:miter lim="800000"/>
            <a:headEnd/>
            <a:tailEnd/>
          </a:ln>
        </p:spPr>
      </p:pic>
      <p:cxnSp>
        <p:nvCxnSpPr>
          <p:cNvPr id="26" name="直線矢印コネクタ 25"/>
          <p:cNvCxnSpPr/>
          <p:nvPr/>
        </p:nvCxnSpPr>
        <p:spPr>
          <a:xfrm rot="10800000">
            <a:off x="1860968" y="4605948"/>
            <a:ext cx="1583272" cy="895692"/>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pic>
        <p:nvPicPr>
          <p:cNvPr id="11" name="movie2.wmv">
            <a:hlinkClick r:id="" action="ppaction://media"/>
          </p:cNvPr>
          <p:cNvPicPr>
            <a:picLocks noRot="1" noChangeAspect="1"/>
          </p:cNvPicPr>
          <p:nvPr>
            <a:videoFile r:link="rId1"/>
          </p:nvPr>
        </p:nvPicPr>
        <p:blipFill>
          <a:blip r:embed="rId6" cstate="print"/>
          <a:stretch>
            <a:fillRect/>
          </a:stretch>
        </p:blipFill>
        <p:spPr>
          <a:xfrm>
            <a:off x="4612640" y="3215640"/>
            <a:ext cx="4531360" cy="3398520"/>
          </a:xfrm>
          <a:prstGeom prst="rect">
            <a:avLst/>
          </a:prstGeom>
        </p:spPr>
      </p:pic>
    </p:spTree>
    <p:extLst>
      <p:ext uri="{BB962C8B-B14F-4D97-AF65-F5344CB8AC3E}">
        <p14:creationId xmlns="" xmlns:p14="http://schemas.microsoft.com/office/powerpoint/2010/main" val="8166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207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endCondLst>
                    <p:cond evt="onNext" delay="0">
                      <p:tgtEl>
                        <p:sldTgt/>
                      </p:tgtEl>
                    </p:cond>
                    <p:cond evt="onPrev" delay="0">
                      <p:tgtEl>
                        <p:sldTgt/>
                      </p:tgtEl>
                    </p:cond>
                  </p:end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Performance problem</a:t>
            </a:r>
            <a:endParaRPr kumimoji="1" lang="ja-JP" altLang="en-US" dirty="0"/>
          </a:p>
        </p:txBody>
      </p:sp>
      <p:sp>
        <p:nvSpPr>
          <p:cNvPr id="3" name="コンテンツ プレースホルダー 2"/>
          <p:cNvSpPr>
            <a:spLocks noGrp="1"/>
          </p:cNvSpPr>
          <p:nvPr>
            <p:ph idx="1"/>
          </p:nvPr>
        </p:nvSpPr>
        <p:spPr/>
        <p:txBody>
          <a:bodyPr/>
          <a:lstStyle/>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dirty="0" smtClean="0">
                <a:solidFill>
                  <a:srgbClr val="000000"/>
                </a:solidFill>
                <a:latin typeface="ＭＳ Ｐゴシック" charset="-128"/>
              </a:rPr>
              <a:t>Data analyze and image processing</a:t>
            </a: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sz="3200"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US" altLang="ja-JP" sz="3200" dirty="0" smtClean="0">
                <a:solidFill>
                  <a:srgbClr val="000000"/>
                </a:solidFill>
                <a:latin typeface="ＭＳ Ｐゴシック" charset="-128"/>
              </a:rPr>
              <a:t>Face recognition</a:t>
            </a: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US" altLang="ja-JP" sz="3200" dirty="0" smtClean="0">
              <a:solidFill>
                <a:srgbClr val="000000"/>
              </a:solidFill>
              <a:latin typeface="ＭＳ Ｐゴシック" charset="-128"/>
            </a:endParaRPr>
          </a:p>
          <a:p>
            <a:pPr marL="334963" indent="-334963">
              <a:spcBef>
                <a:spcPts val="563"/>
              </a:spcBef>
              <a:buSzPct val="111000"/>
              <a:buBlip>
                <a:blip r:embed="rId3"/>
              </a:buBlip>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US" altLang="ja-JP" sz="3200" dirty="0" smtClean="0">
              <a:solidFill>
                <a:srgbClr val="000000"/>
              </a:solidFill>
              <a:latin typeface="ＭＳ Ｐゴシック" charset="-128"/>
            </a:endParaRPr>
          </a:p>
          <a:p>
            <a:pPr marL="736600" lvl="1" indent="-279400" algn="ctr">
              <a:spcBef>
                <a:spcPts val="563"/>
              </a:spcBef>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endParaRPr lang="en-GB" altLang="ja-JP" sz="4000" dirty="0" smtClean="0">
              <a:solidFill>
                <a:srgbClr val="000000"/>
              </a:solidFill>
              <a:latin typeface="ＭＳ Ｐゴシック" charset="-128"/>
            </a:endParaRPr>
          </a:p>
          <a:p>
            <a:pPr marL="736600" lvl="1" indent="-279400" algn="ctr">
              <a:spcBef>
                <a:spcPts val="563"/>
              </a:spcBef>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sz="4000" dirty="0" smtClean="0">
                <a:solidFill>
                  <a:srgbClr val="000000"/>
                </a:solidFill>
                <a:latin typeface="ＭＳ Ｐゴシック" charset="-128"/>
              </a:rPr>
              <a:t>More resource !!</a:t>
            </a:r>
          </a:p>
          <a:p>
            <a:pPr marL="736600" lvl="1" indent="-279400" algn="ctr">
              <a:spcBef>
                <a:spcPts val="563"/>
              </a:spcBef>
              <a:buNone/>
              <a:tabLst>
                <a:tab pos="334963" algn="l"/>
                <a:tab pos="782638" algn="l"/>
                <a:tab pos="1231900" algn="l"/>
                <a:tab pos="1681163" algn="l"/>
                <a:tab pos="2130425" algn="l"/>
                <a:tab pos="2579688" algn="l"/>
                <a:tab pos="3028950" algn="l"/>
                <a:tab pos="3478213" algn="l"/>
                <a:tab pos="3927475" algn="l"/>
                <a:tab pos="4376738" algn="l"/>
                <a:tab pos="4826000" algn="l"/>
                <a:tab pos="5275263" algn="l"/>
                <a:tab pos="5724525" algn="l"/>
                <a:tab pos="6173788" algn="l"/>
                <a:tab pos="6623050" algn="l"/>
                <a:tab pos="7072313" algn="l"/>
                <a:tab pos="7521575" algn="l"/>
                <a:tab pos="7970838" algn="l"/>
                <a:tab pos="8420100" algn="l"/>
                <a:tab pos="8869363" algn="l"/>
                <a:tab pos="9318625" algn="l"/>
              </a:tabLst>
            </a:pPr>
            <a:r>
              <a:rPr lang="en-GB" altLang="ja-JP" sz="4000" dirty="0" smtClean="0">
                <a:solidFill>
                  <a:srgbClr val="000000"/>
                </a:solidFill>
                <a:latin typeface="ＭＳ Ｐゴシック" charset="-128"/>
              </a:rPr>
              <a:t>GPU, Multi core.</a:t>
            </a:r>
            <a:endParaRPr lang="en-GB" altLang="ja-JP" sz="4000" dirty="0">
              <a:solidFill>
                <a:srgbClr val="000000"/>
              </a:solidFill>
              <a:latin typeface="ＭＳ Ｐゴシック" charset="-128"/>
            </a:endParaRPr>
          </a:p>
        </p:txBody>
      </p:sp>
      <p:pic>
        <p:nvPicPr>
          <p:cNvPr id="1026" name="Picture 2"/>
          <p:cNvPicPr>
            <a:picLocks noChangeAspect="1" noChangeArrowheads="1"/>
          </p:cNvPicPr>
          <p:nvPr/>
        </p:nvPicPr>
        <p:blipFill>
          <a:blip r:embed="rId4" cstate="print"/>
          <a:srcRect/>
          <a:stretch>
            <a:fillRect/>
          </a:stretch>
        </p:blipFill>
        <p:spPr bwMode="auto">
          <a:xfrm>
            <a:off x="2840719" y="3839710"/>
            <a:ext cx="817785" cy="1008062"/>
          </a:xfrm>
          <a:prstGeom prst="rect">
            <a:avLst/>
          </a:prstGeom>
          <a:noFill/>
          <a:ln w="9525">
            <a:noFill/>
            <a:miter lim="800000"/>
            <a:headEnd/>
            <a:tailEnd/>
          </a:ln>
        </p:spPr>
      </p:pic>
      <p:pic>
        <p:nvPicPr>
          <p:cNvPr id="7" name="Picture 3"/>
          <p:cNvPicPr>
            <a:picLocks noChangeAspect="1" noChangeArrowheads="1"/>
          </p:cNvPicPr>
          <p:nvPr/>
        </p:nvPicPr>
        <p:blipFill>
          <a:blip r:embed="rId5" cstate="print"/>
          <a:srcRect/>
          <a:stretch>
            <a:fillRect/>
          </a:stretch>
        </p:blipFill>
        <p:spPr bwMode="auto">
          <a:xfrm>
            <a:off x="4187561" y="4034972"/>
            <a:ext cx="1774303" cy="543380"/>
          </a:xfrm>
          <a:prstGeom prst="rect">
            <a:avLst/>
          </a:prstGeom>
          <a:noFill/>
          <a:ln w="9525">
            <a:noFill/>
            <a:miter lim="800000"/>
            <a:headEnd/>
            <a:tailEnd/>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6" cstate="print"/>
          <a:srcRect/>
          <a:stretch>
            <a:fillRect/>
          </a:stretch>
        </p:blipFill>
        <p:spPr bwMode="auto">
          <a:xfrm>
            <a:off x="6867752" y="3829278"/>
            <a:ext cx="1801818" cy="1091066"/>
          </a:xfrm>
          <a:prstGeom prst="rect">
            <a:avLst/>
          </a:prstGeom>
          <a:noFill/>
          <a:ln w="9525">
            <a:noFill/>
            <a:miter lim="800000"/>
            <a:headEnd/>
            <a:tailEnd/>
          </a:ln>
        </p:spPr>
      </p:pic>
      <p:pic>
        <p:nvPicPr>
          <p:cNvPr id="9" name="Picture 4"/>
          <p:cNvPicPr>
            <a:picLocks noChangeAspect="1" noChangeArrowheads="1"/>
          </p:cNvPicPr>
          <p:nvPr/>
        </p:nvPicPr>
        <p:blipFill>
          <a:blip r:embed="rId7" cstate="print"/>
          <a:srcRect/>
          <a:stretch>
            <a:fillRect/>
          </a:stretch>
        </p:blipFill>
        <p:spPr bwMode="auto">
          <a:xfrm>
            <a:off x="958044" y="3663293"/>
            <a:ext cx="1484212" cy="1484212"/>
          </a:xfrm>
          <a:prstGeom prst="rect">
            <a:avLst/>
          </a:prstGeom>
          <a:noFill/>
          <a:ln w="9525">
            <a:noFill/>
            <a:miter lim="800000"/>
            <a:headEnd/>
            <a:tailEnd/>
          </a:ln>
        </p:spPr>
      </p:pic>
    </p:spTree>
    <p:extLst>
      <p:ext uri="{BB962C8B-B14F-4D97-AF65-F5344CB8AC3E}">
        <p14:creationId xmlns="" xmlns:p14="http://schemas.microsoft.com/office/powerpoint/2010/main" val="16568569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a:xfrm>
            <a:off x="1115616" y="2924944"/>
            <a:ext cx="7772400" cy="908050"/>
          </a:xfrm>
        </p:spPr>
        <p:txBody>
          <a:bodyPr/>
          <a:lstStyle/>
          <a:p>
            <a:r>
              <a:rPr lang="en-US" altLang="ja-JP" dirty="0" smtClean="0"/>
              <a:t>Part “Hardware”</a:t>
            </a:r>
            <a:endParaRPr kumimoji="1" lang="ja-JP" altLang="en-US" dirty="0"/>
          </a:p>
        </p:txBody>
      </p:sp>
    </p:spTree>
    <p:extLst>
      <p:ext uri="{BB962C8B-B14F-4D97-AF65-F5344CB8AC3E}">
        <p14:creationId xmlns="" xmlns:p14="http://schemas.microsoft.com/office/powerpoint/2010/main" val="1269332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p:cNvPicPr>
            <a:picLocks noChangeAspect="1" noChangeArrowheads="1"/>
          </p:cNvPicPr>
          <p:nvPr/>
        </p:nvPicPr>
        <p:blipFill>
          <a:blip r:embed="rId3" cstate="print"/>
          <a:srcRect/>
          <a:stretch>
            <a:fillRect/>
          </a:stretch>
        </p:blipFill>
        <p:spPr bwMode="auto">
          <a:xfrm>
            <a:off x="2541110" y="1305456"/>
            <a:ext cx="4674937" cy="4674937"/>
          </a:xfrm>
          <a:prstGeom prst="rect">
            <a:avLst/>
          </a:prstGeom>
          <a:noFill/>
          <a:ln w="9525">
            <a:noFill/>
            <a:miter lim="800000"/>
            <a:headEnd/>
            <a:tailEnd/>
          </a:ln>
        </p:spPr>
      </p:pic>
    </p:spTree>
    <p:extLst>
      <p:ext uri="{BB962C8B-B14F-4D97-AF65-F5344CB8AC3E}">
        <p14:creationId xmlns="" xmlns:p14="http://schemas.microsoft.com/office/powerpoint/2010/main" val="32497435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How to control the robot?</a:t>
            </a:r>
            <a:endParaRPr kumimoji="1" lang="ja-JP" altLang="en-US" dirty="0"/>
          </a:p>
        </p:txBody>
      </p:sp>
      <p:sp>
        <p:nvSpPr>
          <p:cNvPr id="3" name="コンテンツ プレースホルダー 2"/>
          <p:cNvSpPr>
            <a:spLocks noGrp="1"/>
          </p:cNvSpPr>
          <p:nvPr>
            <p:ph idx="1"/>
          </p:nvPr>
        </p:nvSpPr>
        <p:spPr/>
        <p:txBody>
          <a:bodyPr/>
          <a:lstStyle/>
          <a:p>
            <a:r>
              <a:rPr lang="en-US" altLang="ja-JP" sz="3600" dirty="0" smtClean="0"/>
              <a:t>Only </a:t>
            </a:r>
            <a:r>
              <a:rPr lang="en-US" altLang="ja-JP" sz="3600" dirty="0"/>
              <a:t>control </a:t>
            </a:r>
            <a:r>
              <a:rPr lang="en-US" altLang="ja-JP" sz="3600" dirty="0" smtClean="0"/>
              <a:t>servos’ angle.</a:t>
            </a:r>
          </a:p>
          <a:p>
            <a:pPr lvl="1"/>
            <a:r>
              <a:rPr lang="en-US" altLang="ja-JP" sz="3200" dirty="0" smtClean="0"/>
              <a:t>Accuracy</a:t>
            </a:r>
          </a:p>
          <a:p>
            <a:pPr lvl="1"/>
            <a:r>
              <a:rPr lang="en-US" altLang="ja-JP" sz="3200" dirty="0"/>
              <a:t>Reaction </a:t>
            </a:r>
            <a:r>
              <a:rPr lang="en-US" altLang="ja-JP" sz="3200" dirty="0" smtClean="0"/>
              <a:t>velocity</a:t>
            </a:r>
            <a:endParaRPr lang="en-US" altLang="ja-JP" sz="3200" dirty="0"/>
          </a:p>
          <a:p>
            <a:pPr lvl="1"/>
            <a:r>
              <a:rPr lang="en-US" altLang="ja-JP" sz="3200" dirty="0" smtClean="0"/>
              <a:t>Torque</a:t>
            </a:r>
          </a:p>
          <a:p>
            <a:pPr lvl="1"/>
            <a:r>
              <a:rPr lang="en-US" altLang="ja-JP" sz="3200" dirty="0" smtClean="0"/>
              <a:t>Compact(Size, </a:t>
            </a:r>
            <a:r>
              <a:rPr lang="en-US" altLang="ja-JP" sz="3200" dirty="0"/>
              <a:t>W</a:t>
            </a:r>
            <a:r>
              <a:rPr lang="en-US" altLang="ja-JP" sz="3200" dirty="0" smtClean="0"/>
              <a:t>eight)</a:t>
            </a:r>
          </a:p>
          <a:p>
            <a:pPr lvl="1"/>
            <a:endParaRPr kumimoji="1" lang="en-US" altLang="ja-JP" sz="3200" dirty="0" smtClean="0"/>
          </a:p>
        </p:txBody>
      </p:sp>
      <p:pic>
        <p:nvPicPr>
          <p:cNvPr id="4" name="図 1"/>
          <p:cNvPicPr>
            <a:picLocks noChangeAspect="1" noChangeArrowheads="1"/>
          </p:cNvPicPr>
          <p:nvPr/>
        </p:nvPicPr>
        <p:blipFill rotWithShape="1">
          <a:blip r:embed="rId3" cstate="print">
            <a:extLst>
              <a:ext uri="{28A0092B-C50C-407E-A947-70E740481C1C}">
                <a14:useLocalDpi xmlns="" xmlns:a14="http://schemas.microsoft.com/office/drawing/2010/main" val="0"/>
              </a:ext>
            </a:extLst>
          </a:blip>
          <a:srcRect b="12122"/>
          <a:stretch/>
        </p:blipFill>
        <p:spPr bwMode="auto">
          <a:xfrm>
            <a:off x="5516585" y="3868539"/>
            <a:ext cx="2999456" cy="27856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図 4"/>
          <p:cNvPicPr>
            <a:picLocks noChangeAspect="1"/>
          </p:cNvPicPr>
          <p:nvPr/>
        </p:nvPicPr>
        <p:blipFill rotWithShape="1">
          <a:blip r:embed="rId4" cstate="print">
            <a:extLst>
              <a:ext uri="{28A0092B-C50C-407E-A947-70E740481C1C}">
                <a14:useLocalDpi xmlns="" xmlns:a14="http://schemas.microsoft.com/office/drawing/2010/main" val="0"/>
              </a:ext>
            </a:extLst>
          </a:blip>
          <a:srcRect t="13914" b="18913"/>
          <a:stretch/>
        </p:blipFill>
        <p:spPr>
          <a:xfrm>
            <a:off x="1322825" y="4269848"/>
            <a:ext cx="3378506" cy="2269476"/>
          </a:xfrm>
          <a:prstGeom prst="rect">
            <a:avLst/>
          </a:prstGeom>
        </p:spPr>
      </p:pic>
      <p:pic>
        <p:nvPicPr>
          <p:cNvPr id="6" name="図 5"/>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6744505" y="1190445"/>
            <a:ext cx="1899164" cy="2215692"/>
          </a:xfrm>
          <a:prstGeom prst="rect">
            <a:avLst/>
          </a:prstGeom>
        </p:spPr>
      </p:pic>
    </p:spTree>
    <p:extLst>
      <p:ext uri="{BB962C8B-B14F-4D97-AF65-F5344CB8AC3E}">
        <p14:creationId xmlns="" xmlns:p14="http://schemas.microsoft.com/office/powerpoint/2010/main" val="30837071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How to </a:t>
            </a:r>
            <a:r>
              <a:rPr lang="en-US" altLang="ja-JP" dirty="0" smtClean="0"/>
              <a:t>control a servo?</a:t>
            </a:r>
            <a:endParaRPr kumimoji="1" lang="ja-JP" altLang="en-US" dirty="0"/>
          </a:p>
        </p:txBody>
      </p:sp>
      <p:sp>
        <p:nvSpPr>
          <p:cNvPr id="3" name="コンテンツ プレースホルダー 2"/>
          <p:cNvSpPr>
            <a:spLocks noGrp="1"/>
          </p:cNvSpPr>
          <p:nvPr>
            <p:ph idx="1"/>
          </p:nvPr>
        </p:nvSpPr>
        <p:spPr/>
        <p:txBody>
          <a:bodyPr/>
          <a:lstStyle/>
          <a:p>
            <a:r>
              <a:rPr lang="en-US" altLang="ja-JP" sz="3200" dirty="0" smtClean="0"/>
              <a:t>RCB series</a:t>
            </a:r>
          </a:p>
          <a:p>
            <a:pPr lvl="1"/>
            <a:r>
              <a:rPr kumimoji="1" lang="en-US" altLang="ja-JP" sz="2800" dirty="0" smtClean="0"/>
              <a:t>24 controls pins</a:t>
            </a:r>
          </a:p>
          <a:p>
            <a:pPr lvl="1"/>
            <a:r>
              <a:rPr lang="en-US" altLang="ja-JP" sz="2800" dirty="0" smtClean="0"/>
              <a:t>Control commands</a:t>
            </a:r>
          </a:p>
          <a:p>
            <a:pPr lvl="2"/>
            <a:r>
              <a:rPr lang="en-US" altLang="ja-JP" sz="2400" dirty="0" smtClean="0"/>
              <a:t>Control </a:t>
            </a:r>
            <a:r>
              <a:rPr kumimoji="1" lang="en-US" altLang="ja-JP" sz="2400" dirty="0" smtClean="0"/>
              <a:t>all servo at </a:t>
            </a:r>
            <a:r>
              <a:rPr lang="en-US" altLang="ja-JP" sz="2400" dirty="0">
                <a:solidFill>
                  <a:srgbClr val="FF0000"/>
                </a:solidFill>
              </a:rPr>
              <a:t>s</a:t>
            </a:r>
            <a:r>
              <a:rPr lang="en-US" altLang="ja-JP" sz="2400" dirty="0" smtClean="0">
                <a:solidFill>
                  <a:srgbClr val="FF0000"/>
                </a:solidFill>
              </a:rPr>
              <a:t>ame </a:t>
            </a:r>
            <a:r>
              <a:rPr lang="en-US" altLang="ja-JP" sz="2400" dirty="0">
                <a:solidFill>
                  <a:srgbClr val="FF0000"/>
                </a:solidFill>
              </a:rPr>
              <a:t>time </a:t>
            </a:r>
            <a:r>
              <a:rPr kumimoji="1" lang="en-US" altLang="ja-JP" sz="2400" dirty="0" smtClean="0"/>
              <a:t>!</a:t>
            </a:r>
            <a:endParaRPr kumimoji="1" lang="ja-JP" altLang="en-US" sz="2400" dirty="0"/>
          </a:p>
        </p:txBody>
      </p:sp>
      <p:grpSp>
        <p:nvGrpSpPr>
          <p:cNvPr id="6" name="グループ化 5"/>
          <p:cNvGrpSpPr/>
          <p:nvPr/>
        </p:nvGrpSpPr>
        <p:grpSpPr>
          <a:xfrm>
            <a:off x="1492798" y="3401224"/>
            <a:ext cx="6897063" cy="3277058"/>
            <a:chOff x="1542838" y="959389"/>
            <a:chExt cx="6897063" cy="3277058"/>
          </a:xfrm>
        </p:grpSpPr>
        <p:pic>
          <p:nvPicPr>
            <p:cNvPr id="5" name="図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542838" y="959389"/>
              <a:ext cx="6897063" cy="3277058"/>
            </a:xfrm>
            <a:prstGeom prst="rect">
              <a:avLst/>
            </a:prstGeom>
          </p:spPr>
        </p:pic>
        <p:pic>
          <p:nvPicPr>
            <p:cNvPr id="4" name="図 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7023771" y="2115238"/>
              <a:ext cx="1311007" cy="1311007"/>
            </a:xfrm>
            <a:prstGeom prst="rect">
              <a:avLst/>
            </a:prstGeom>
          </p:spPr>
        </p:pic>
      </p:grpSp>
      <p:pic>
        <p:nvPicPr>
          <p:cNvPr id="7" name="図 6"/>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6503695" y="879105"/>
            <a:ext cx="2425491" cy="2425491"/>
          </a:xfrm>
          <a:prstGeom prst="rect">
            <a:avLst/>
          </a:prstGeom>
        </p:spPr>
      </p:pic>
    </p:spTree>
    <p:extLst>
      <p:ext uri="{BB962C8B-B14F-4D97-AF65-F5344CB8AC3E}">
        <p14:creationId xmlns="" xmlns:p14="http://schemas.microsoft.com/office/powerpoint/2010/main" val="34149870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More control</a:t>
            </a:r>
            <a:endParaRPr kumimoji="1" lang="ja-JP" altLang="en-US" dirty="0"/>
          </a:p>
        </p:txBody>
      </p:sp>
      <p:sp>
        <p:nvSpPr>
          <p:cNvPr id="3" name="コンテンツ プレースホルダー 2"/>
          <p:cNvSpPr>
            <a:spLocks noGrp="1"/>
          </p:cNvSpPr>
          <p:nvPr>
            <p:ph idx="1"/>
          </p:nvPr>
        </p:nvSpPr>
        <p:spPr/>
        <p:txBody>
          <a:bodyPr/>
          <a:lstStyle/>
          <a:p>
            <a:r>
              <a:rPr lang="en-US" altLang="ja-JP" sz="3600" dirty="0" smtClean="0"/>
              <a:t>Do you know this IC?</a:t>
            </a:r>
            <a:endParaRPr kumimoji="1" lang="ja-JP" altLang="en-US" sz="3600" dirty="0"/>
          </a:p>
        </p:txBody>
      </p:sp>
      <p:pic>
        <p:nvPicPr>
          <p:cNvPr id="4" name="図 3"/>
          <p:cNvPicPr>
            <a:picLocks noChangeAspect="1"/>
          </p:cNvPicPr>
          <p:nvPr/>
        </p:nvPicPr>
        <p:blipFill rotWithShape="1">
          <a:blip r:embed="rId3" cstate="print">
            <a:extLst>
              <a:ext uri="{28A0092B-C50C-407E-A947-70E740481C1C}">
                <a14:useLocalDpi xmlns="" xmlns:a14="http://schemas.microsoft.com/office/drawing/2010/main" val="0"/>
              </a:ext>
            </a:extLst>
          </a:blip>
          <a:srcRect l="22915" t="14397" r="25307" b="20031"/>
          <a:stretch/>
        </p:blipFill>
        <p:spPr>
          <a:xfrm>
            <a:off x="3349127" y="2897436"/>
            <a:ext cx="3139808" cy="3156245"/>
          </a:xfrm>
          <a:prstGeom prst="rect">
            <a:avLst/>
          </a:prstGeom>
        </p:spPr>
      </p:pic>
      <p:pic>
        <p:nvPicPr>
          <p:cNvPr id="5" name="図 4"/>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3349127" y="2897436"/>
            <a:ext cx="3156245" cy="3156245"/>
          </a:xfrm>
          <a:prstGeom prst="rect">
            <a:avLst/>
          </a:prstGeom>
        </p:spPr>
      </p:pic>
    </p:spTree>
    <p:extLst>
      <p:ext uri="{BB962C8B-B14F-4D97-AF65-F5344CB8AC3E}">
        <p14:creationId xmlns="" xmlns:p14="http://schemas.microsoft.com/office/powerpoint/2010/main" val="89764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How to process more sensors?</a:t>
            </a:r>
            <a:endParaRPr kumimoji="1" lang="ja-JP" altLang="en-US" dirty="0"/>
          </a:p>
        </p:txBody>
      </p:sp>
      <p:sp>
        <p:nvSpPr>
          <p:cNvPr id="3" name="コンテンツ プレースホルダー 2"/>
          <p:cNvSpPr>
            <a:spLocks noGrp="1"/>
          </p:cNvSpPr>
          <p:nvPr>
            <p:ph idx="1"/>
          </p:nvPr>
        </p:nvSpPr>
        <p:spPr/>
        <p:txBody>
          <a:bodyPr/>
          <a:lstStyle/>
          <a:p>
            <a:r>
              <a:rPr lang="en-US" altLang="ja-JP" dirty="0" smtClean="0"/>
              <a:t>Analog </a:t>
            </a:r>
            <a:r>
              <a:rPr lang="en-US" altLang="ja-JP" dirty="0"/>
              <a:t>data is </a:t>
            </a:r>
            <a:r>
              <a:rPr lang="en-US" altLang="ja-JP" dirty="0" smtClean="0"/>
              <a:t>stream data!</a:t>
            </a:r>
            <a:endParaRPr lang="en-US" altLang="ja-JP" sz="2400" dirty="0"/>
          </a:p>
          <a:p>
            <a:pPr lvl="1"/>
            <a:r>
              <a:rPr lang="en-US" altLang="ja-JP" dirty="0" smtClean="0"/>
              <a:t>Need powerful processor</a:t>
            </a:r>
          </a:p>
          <a:p>
            <a:pPr lvl="1"/>
            <a:r>
              <a:rPr lang="en-US" altLang="ja-JP" dirty="0" smtClean="0"/>
              <a:t>Need </a:t>
            </a:r>
            <a:r>
              <a:rPr lang="en-US" altLang="ja-JP" dirty="0" smtClean="0"/>
              <a:t>to save </a:t>
            </a:r>
            <a:r>
              <a:rPr lang="en-US" altLang="ja-JP" dirty="0" smtClean="0"/>
              <a:t>power for Mobile</a:t>
            </a:r>
          </a:p>
          <a:p>
            <a:endParaRPr lang="en-US" altLang="ja-JP" dirty="0" smtClean="0"/>
          </a:p>
          <a:p>
            <a:r>
              <a:rPr lang="en-US" altLang="ja-JP" dirty="0" smtClean="0"/>
              <a:t>Now Solution</a:t>
            </a:r>
            <a:endParaRPr lang="en-US" altLang="ja-JP" dirty="0"/>
          </a:p>
          <a:p>
            <a:pPr lvl="1"/>
            <a:r>
              <a:rPr lang="en-US" altLang="ja-JP" dirty="0" smtClean="0"/>
              <a:t>ARM </a:t>
            </a:r>
            <a:r>
              <a:rPr lang="en-US" altLang="ja-JP" dirty="0"/>
              <a:t>base Processor</a:t>
            </a:r>
          </a:p>
          <a:p>
            <a:pPr lvl="2"/>
            <a:r>
              <a:rPr lang="en-US" altLang="ja-JP" dirty="0"/>
              <a:t>dual Cortex </a:t>
            </a:r>
            <a:r>
              <a:rPr lang="en-US" altLang="ja-JP" dirty="0" smtClean="0"/>
              <a:t>A9</a:t>
            </a:r>
            <a:endParaRPr lang="en-US" altLang="ja-JP" dirty="0"/>
          </a:p>
          <a:p>
            <a:pPr lvl="2"/>
            <a:r>
              <a:rPr lang="en-US" altLang="ja-JP" dirty="0"/>
              <a:t>MALI 400 </a:t>
            </a:r>
            <a:r>
              <a:rPr lang="en-US" altLang="ja-JP" dirty="0" smtClean="0"/>
              <a:t>GPU</a:t>
            </a:r>
            <a:endParaRPr lang="en-US" altLang="ja-JP" dirty="0"/>
          </a:p>
          <a:p>
            <a:pPr lvl="1"/>
            <a:r>
              <a:rPr lang="en-US" altLang="ja-JP" dirty="0" smtClean="0"/>
              <a:t>Next trend</a:t>
            </a:r>
          </a:p>
          <a:p>
            <a:pPr lvl="2"/>
            <a:r>
              <a:rPr lang="en-US" altLang="ja-JP" dirty="0"/>
              <a:t>GPGPU</a:t>
            </a:r>
            <a:endParaRPr lang="en-US" altLang="ja-JP" dirty="0" smtClean="0"/>
          </a:p>
          <a:p>
            <a:pPr lvl="2"/>
            <a:r>
              <a:rPr lang="en-US" altLang="ja-JP" dirty="0" smtClean="0"/>
              <a:t>FPGA</a:t>
            </a:r>
          </a:p>
          <a:p>
            <a:pPr lvl="2"/>
            <a:endParaRPr lang="en-US" altLang="ja-JP" dirty="0"/>
          </a:p>
        </p:txBody>
      </p:sp>
      <p:pic>
        <p:nvPicPr>
          <p:cNvPr id="4" name="図 3"/>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4723900" y="3338110"/>
            <a:ext cx="4420099" cy="3248773"/>
          </a:xfrm>
          <a:prstGeom prst="rect">
            <a:avLst/>
          </a:prstGeom>
        </p:spPr>
      </p:pic>
    </p:spTree>
    <p:extLst>
      <p:ext uri="{BB962C8B-B14F-4D97-AF65-F5344CB8AC3E}">
        <p14:creationId xmlns="" xmlns:p14="http://schemas.microsoft.com/office/powerpoint/2010/main" val="40981274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How to </a:t>
            </a:r>
            <a:r>
              <a:rPr lang="en-US" altLang="ja-JP" dirty="0" smtClean="0"/>
              <a:t>optimize for each sensors?</a:t>
            </a:r>
            <a:endParaRPr kumimoji="1" lang="ja-JP" altLang="en-US" dirty="0"/>
          </a:p>
        </p:txBody>
      </p:sp>
      <p:sp>
        <p:nvSpPr>
          <p:cNvPr id="3" name="コンテンツ プレースホルダー 2"/>
          <p:cNvSpPr>
            <a:spLocks noGrp="1"/>
          </p:cNvSpPr>
          <p:nvPr>
            <p:ph idx="1"/>
          </p:nvPr>
        </p:nvSpPr>
        <p:spPr>
          <a:xfrm>
            <a:off x="838200" y="1125538"/>
            <a:ext cx="7772400" cy="967563"/>
          </a:xfrm>
        </p:spPr>
        <p:txBody>
          <a:bodyPr/>
          <a:lstStyle/>
          <a:p>
            <a:r>
              <a:rPr kumimoji="1" lang="ja-JP" altLang="en-US" dirty="0" smtClean="0"/>
              <a:t>　　　　　　　　　</a:t>
            </a:r>
            <a:r>
              <a:rPr kumimoji="1" lang="en-US" altLang="ja-JP" dirty="0" smtClean="0"/>
              <a:t>http://linaro.org/</a:t>
            </a:r>
          </a:p>
          <a:p>
            <a:pPr lvl="1"/>
            <a:endParaRPr lang="en-US" altLang="ja-JP" dirty="0"/>
          </a:p>
        </p:txBody>
      </p:sp>
      <p:pic>
        <p:nvPicPr>
          <p:cNvPr id="4" name="コンテンツ プレースホルダー 3"/>
          <p:cNvPicPr>
            <a:picLocks noChangeAspect="1"/>
          </p:cNvPicPr>
          <p:nvPr/>
        </p:nvPicPr>
        <p:blipFill rotWithShape="1">
          <a:blip r:embed="rId3" cstate="print">
            <a:extLst>
              <a:ext uri="{28A0092B-C50C-407E-A947-70E740481C1C}">
                <a14:useLocalDpi xmlns="" xmlns:a14="http://schemas.microsoft.com/office/drawing/2010/main" val="0"/>
              </a:ext>
            </a:extLst>
          </a:blip>
          <a:srcRect r="54877"/>
          <a:stretch/>
        </p:blipFill>
        <p:spPr bwMode="auto">
          <a:xfrm>
            <a:off x="672030" y="2093101"/>
            <a:ext cx="2781756" cy="3572683"/>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4" cstate="print"/>
          <a:srcRect/>
          <a:stretch>
            <a:fillRect/>
          </a:stretch>
        </p:blipFill>
        <p:spPr bwMode="auto">
          <a:xfrm>
            <a:off x="1211851" y="1020105"/>
            <a:ext cx="2107679" cy="1098118"/>
          </a:xfrm>
          <a:prstGeom prst="rect">
            <a:avLst/>
          </a:prstGeom>
          <a:noFill/>
          <a:ln w="9525">
            <a:noFill/>
            <a:miter lim="800000"/>
            <a:headEnd/>
            <a:tailEnd/>
          </a:ln>
        </p:spPr>
      </p:pic>
      <p:pic>
        <p:nvPicPr>
          <p:cNvPr id="6" name="コンテンツ プレースホルダー 3"/>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bwMode="auto">
          <a:xfrm>
            <a:off x="3655983" y="3342965"/>
            <a:ext cx="5432932" cy="3281601"/>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7" name="コンテンツ プレースホルダー 2"/>
          <p:cNvSpPr txBox="1">
            <a:spLocks/>
          </p:cNvSpPr>
          <p:nvPr/>
        </p:nvSpPr>
        <p:spPr bwMode="auto">
          <a:xfrm>
            <a:off x="3755832" y="1883884"/>
            <a:ext cx="5112745" cy="165253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itchFamily="-96" charset="0"/>
              <a:buBlip>
                <a:blip r:embed="rId6"/>
              </a:buBlip>
              <a:defRPr kumimoji="1" sz="2800">
                <a:solidFill>
                  <a:schemeClr val="tx1"/>
                </a:solidFill>
                <a:latin typeface="+mn-lt"/>
                <a:ea typeface="+mn-ea"/>
                <a:cs typeface="+mn-cs"/>
              </a:defRPr>
            </a:lvl1pPr>
            <a:lvl2pPr marL="742950" indent="-285750" algn="l" rtl="0" eaLnBrk="1" fontAlgn="base" hangingPunct="1">
              <a:spcBef>
                <a:spcPct val="20000"/>
              </a:spcBef>
              <a:spcAft>
                <a:spcPct val="0"/>
              </a:spcAft>
              <a:buBlip>
                <a:blip r:embed="rId7"/>
              </a:buBlip>
              <a:defRPr kumimoji="1" sz="2400">
                <a:solidFill>
                  <a:schemeClr val="tx1"/>
                </a:solidFill>
                <a:latin typeface="+mn-lt"/>
                <a:ea typeface="+mn-ea"/>
              </a:defRPr>
            </a:lvl2pPr>
            <a:lvl3pPr marL="1143000" indent="-228600" algn="l" rtl="0" eaLnBrk="1" fontAlgn="base" hangingPunct="1">
              <a:spcBef>
                <a:spcPct val="20000"/>
              </a:spcBef>
              <a:spcAft>
                <a:spcPct val="0"/>
              </a:spcAft>
              <a:buBlip>
                <a:blip r:embed="rId8"/>
              </a:buBlip>
              <a:defRPr kumimoji="1" sz="2000">
                <a:solidFill>
                  <a:schemeClr val="tx1"/>
                </a:solidFill>
                <a:latin typeface="+mn-lt"/>
                <a:ea typeface="+mn-ea"/>
              </a:defRPr>
            </a:lvl3pPr>
            <a:lvl4pPr marL="1600200" indent="-228600" algn="l" rtl="0" eaLnBrk="1" fontAlgn="base" hangingPunct="1">
              <a:spcBef>
                <a:spcPct val="20000"/>
              </a:spcBef>
              <a:spcAft>
                <a:spcPct val="0"/>
              </a:spcAft>
              <a:buBlip>
                <a:blip r:embed="rId9"/>
              </a:buBlip>
              <a:defRPr kumimoji="1">
                <a:solidFill>
                  <a:schemeClr val="tx1"/>
                </a:solidFill>
                <a:latin typeface="+mn-lt"/>
                <a:ea typeface="+mn-ea"/>
              </a:defRPr>
            </a:lvl4pPr>
            <a:lvl5pPr marL="2057400" indent="-228600" algn="l" rtl="0" eaLnBrk="1" fontAlgn="base" hangingPunct="1">
              <a:spcBef>
                <a:spcPct val="20000"/>
              </a:spcBef>
              <a:spcAft>
                <a:spcPct val="0"/>
              </a:spcAft>
              <a:buBlip>
                <a:blip r:embed="rId10"/>
              </a:buBlip>
              <a:defRPr kumimoji="1">
                <a:solidFill>
                  <a:schemeClr val="tx1"/>
                </a:solidFill>
                <a:latin typeface="+mn-lt"/>
                <a:ea typeface="+mn-ea"/>
              </a:defRPr>
            </a:lvl5pPr>
            <a:lvl6pPr marL="2514600" indent="-228600" algn="l" rtl="0" eaLnBrk="1" fontAlgn="base" hangingPunct="1">
              <a:spcBef>
                <a:spcPct val="20000"/>
              </a:spcBef>
              <a:spcAft>
                <a:spcPct val="0"/>
              </a:spcAft>
              <a:buBlip>
                <a:blip r:embed="rId10"/>
              </a:buBlip>
              <a:defRPr kumimoji="1">
                <a:solidFill>
                  <a:schemeClr val="tx1"/>
                </a:solidFill>
                <a:latin typeface="+mn-lt"/>
                <a:ea typeface="+mn-ea"/>
              </a:defRPr>
            </a:lvl6pPr>
            <a:lvl7pPr marL="2971800" indent="-228600" algn="l" rtl="0" eaLnBrk="1" fontAlgn="base" hangingPunct="1">
              <a:spcBef>
                <a:spcPct val="20000"/>
              </a:spcBef>
              <a:spcAft>
                <a:spcPct val="0"/>
              </a:spcAft>
              <a:buBlip>
                <a:blip r:embed="rId10"/>
              </a:buBlip>
              <a:defRPr kumimoji="1">
                <a:solidFill>
                  <a:schemeClr val="tx1"/>
                </a:solidFill>
                <a:latin typeface="+mn-lt"/>
                <a:ea typeface="+mn-ea"/>
              </a:defRPr>
            </a:lvl7pPr>
            <a:lvl8pPr marL="3429000" indent="-228600" algn="l" rtl="0" eaLnBrk="1" fontAlgn="base" hangingPunct="1">
              <a:spcBef>
                <a:spcPct val="20000"/>
              </a:spcBef>
              <a:spcAft>
                <a:spcPct val="0"/>
              </a:spcAft>
              <a:buBlip>
                <a:blip r:embed="rId10"/>
              </a:buBlip>
              <a:defRPr kumimoji="1">
                <a:solidFill>
                  <a:schemeClr val="tx1"/>
                </a:solidFill>
                <a:latin typeface="+mn-lt"/>
                <a:ea typeface="+mn-ea"/>
              </a:defRPr>
            </a:lvl8pPr>
            <a:lvl9pPr marL="3886200" indent="-228600" algn="l" rtl="0" eaLnBrk="1" fontAlgn="base" hangingPunct="1">
              <a:spcBef>
                <a:spcPct val="20000"/>
              </a:spcBef>
              <a:spcAft>
                <a:spcPct val="0"/>
              </a:spcAft>
              <a:buBlip>
                <a:blip r:embed="rId10"/>
              </a:buBlip>
              <a:defRPr kumimoji="1">
                <a:solidFill>
                  <a:schemeClr val="tx1"/>
                </a:solidFill>
                <a:latin typeface="+mn-lt"/>
                <a:ea typeface="+mn-ea"/>
              </a:defRPr>
            </a:lvl9pPr>
          </a:lstStyle>
          <a:p>
            <a:r>
              <a:rPr lang="en-US" altLang="ja-JP" sz="2400" dirty="0" smtClean="0"/>
              <a:t>Mission</a:t>
            </a:r>
          </a:p>
          <a:p>
            <a:pPr lvl="1"/>
            <a:r>
              <a:rPr lang="en-US" altLang="ja-JP" sz="2000" dirty="0" smtClean="0"/>
              <a:t>Optimize for each </a:t>
            </a:r>
            <a:r>
              <a:rPr lang="en-US" altLang="ja-JP" sz="2000" dirty="0" err="1" smtClean="0"/>
              <a:t>SoC</a:t>
            </a:r>
            <a:r>
              <a:rPr lang="en-US" altLang="ja-JP" sz="2000" dirty="0" smtClean="0"/>
              <a:t> &amp; Platform</a:t>
            </a:r>
          </a:p>
          <a:p>
            <a:pPr lvl="1"/>
            <a:r>
              <a:rPr lang="en-US" altLang="ja-JP" sz="2800" dirty="0" smtClean="0">
                <a:solidFill>
                  <a:srgbClr val="FF0000"/>
                </a:solidFill>
              </a:rPr>
              <a:t>We are committer!</a:t>
            </a:r>
            <a:endParaRPr lang="en-US" altLang="ja-JP" sz="2800" dirty="0">
              <a:solidFill>
                <a:srgbClr val="FF0000"/>
              </a:solidFill>
            </a:endParaRPr>
          </a:p>
        </p:txBody>
      </p:sp>
      <p:pic>
        <p:nvPicPr>
          <p:cNvPr id="8" name="Picture 3" descr="C:\Data\MyDocuments\Business\personal\Linaro\プレゼン\LDS_1105\lds1105_prize.jpg"/>
          <p:cNvPicPr>
            <a:picLocks noChangeAspect="1" noChangeArrowheads="1"/>
          </p:cNvPicPr>
          <p:nvPr/>
        </p:nvPicPr>
        <p:blipFill>
          <a:blip r:embed="rId11" cstate="print">
            <a:extLst>
              <a:ext uri="{28A0092B-C50C-407E-A947-70E740481C1C}">
                <a14:useLocalDpi xmlns="" xmlns:a14="http://schemas.microsoft.com/office/drawing/2010/main" val="0"/>
              </a:ext>
            </a:extLst>
          </a:blip>
          <a:srcRect/>
          <a:stretch>
            <a:fillRect/>
          </a:stretch>
        </p:blipFill>
        <p:spPr bwMode="auto">
          <a:xfrm>
            <a:off x="1211851" y="1161259"/>
            <a:ext cx="7248490" cy="543636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59850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1"/>
            <a:r>
              <a:rPr lang="en-US" altLang="ja-JP" dirty="0" smtClean="0"/>
              <a:t>Trouble: Need </a:t>
            </a:r>
            <a:r>
              <a:rPr lang="en-US" altLang="ja-JP" dirty="0"/>
              <a:t>more power supply</a:t>
            </a:r>
            <a:endParaRPr kumimoji="1" lang="ja-JP" altLang="en-US" dirty="0"/>
          </a:p>
        </p:txBody>
      </p:sp>
      <p:sp>
        <p:nvSpPr>
          <p:cNvPr id="3" name="コンテンツ プレースホルダー 2"/>
          <p:cNvSpPr>
            <a:spLocks noGrp="1"/>
          </p:cNvSpPr>
          <p:nvPr>
            <p:ph idx="1"/>
          </p:nvPr>
        </p:nvSpPr>
        <p:spPr>
          <a:xfrm>
            <a:off x="838200" y="1125538"/>
            <a:ext cx="8198296" cy="5327650"/>
          </a:xfrm>
        </p:spPr>
        <p:txBody>
          <a:bodyPr/>
          <a:lstStyle/>
          <a:p>
            <a:r>
              <a:rPr lang="en-US" altLang="ja-JP" dirty="0" smtClean="0"/>
              <a:t>Don’t run </a:t>
            </a:r>
            <a:r>
              <a:rPr kumimoji="1" lang="en-US" altLang="ja-JP" dirty="0" err="1" smtClean="0"/>
              <a:t>beagleboard-xM</a:t>
            </a:r>
            <a:r>
              <a:rPr kumimoji="1" lang="en-US" altLang="ja-JP" dirty="0" smtClean="0"/>
              <a:t> by 5V/1A power supply.</a:t>
            </a:r>
          </a:p>
          <a:p>
            <a:pPr lvl="1"/>
            <a:r>
              <a:rPr lang="en-US" altLang="ja-JP" dirty="0" smtClean="0"/>
              <a:t>It needs 5V/2A.</a:t>
            </a:r>
          </a:p>
          <a:p>
            <a:pPr lvl="1"/>
            <a:r>
              <a:rPr lang="en-US" altLang="ja-JP" dirty="0" smtClean="0"/>
              <a:t>Standard USB battery has 5V/1A.</a:t>
            </a:r>
          </a:p>
          <a:p>
            <a:pPr marL="0" indent="0">
              <a:buNone/>
            </a:pPr>
            <a:endParaRPr lang="en-US" altLang="ja-JP" sz="1400" dirty="0" smtClean="0"/>
          </a:p>
          <a:p>
            <a:pPr marL="0" indent="0">
              <a:buNone/>
            </a:pPr>
            <a:endParaRPr lang="en-US" altLang="ja-JP" sz="1400" dirty="0" smtClean="0"/>
          </a:p>
          <a:p>
            <a:pPr marL="0" indent="0">
              <a:buNone/>
            </a:pPr>
            <a:endParaRPr lang="en-US" altLang="ja-JP" sz="1400" dirty="0" smtClean="0"/>
          </a:p>
          <a:p>
            <a:r>
              <a:rPr lang="en-US" altLang="ja-JP" dirty="0"/>
              <a:t>C</a:t>
            </a:r>
            <a:r>
              <a:rPr lang="en-US" altLang="ja-JP" dirty="0" smtClean="0"/>
              <a:t>reate power supply by myself</a:t>
            </a:r>
          </a:p>
          <a:p>
            <a:pPr lvl="1"/>
            <a:r>
              <a:rPr lang="en-US" altLang="ja-JP" dirty="0" smtClean="0"/>
              <a:t>My battery has 12V/2A.</a:t>
            </a:r>
          </a:p>
          <a:p>
            <a:pPr lvl="1"/>
            <a:r>
              <a:rPr lang="en-US" altLang="ja-JP" dirty="0" smtClean="0"/>
              <a:t>My plan is</a:t>
            </a:r>
            <a:r>
              <a:rPr lang="en-US" altLang="ja-JP" dirty="0"/>
              <a:t> </a:t>
            </a:r>
            <a:r>
              <a:rPr lang="en-US" altLang="ja-JP" dirty="0" smtClean="0"/>
              <a:t>to create convertor of 12V/2A </a:t>
            </a:r>
            <a:r>
              <a:rPr lang="ja-JP" altLang="en-US" dirty="0" smtClean="0"/>
              <a:t>⇒ </a:t>
            </a:r>
            <a:r>
              <a:rPr lang="en-US" altLang="ja-JP" dirty="0" smtClean="0"/>
              <a:t>5V/2A.</a:t>
            </a:r>
            <a:endParaRPr kumimoji="1" lang="en-US" altLang="ja-JP" dirty="0" smtClean="0"/>
          </a:p>
          <a:p>
            <a:pPr marL="457200" lvl="1" indent="0">
              <a:buNone/>
            </a:pPr>
            <a:endParaRPr kumimoji="1" lang="en-US" altLang="ja-JP" dirty="0" smtClean="0"/>
          </a:p>
          <a:p>
            <a:pPr lvl="1"/>
            <a:r>
              <a:rPr lang="en-US" altLang="ja-JP" dirty="0" smtClean="0"/>
              <a:t>Can’t get power </a:t>
            </a:r>
            <a:r>
              <a:rPr kumimoji="1" lang="en-US" altLang="ja-JP" dirty="0" smtClean="0"/>
              <a:t>IC…</a:t>
            </a:r>
          </a:p>
          <a:p>
            <a:pPr lvl="1"/>
            <a:r>
              <a:rPr lang="en-US" altLang="ja-JP" dirty="0"/>
              <a:t>Using car’s </a:t>
            </a:r>
            <a:r>
              <a:rPr lang="en-US" altLang="ja-JP" dirty="0" smtClean="0"/>
              <a:t>cigarette adapter which convert to USB.</a:t>
            </a:r>
          </a:p>
          <a:p>
            <a:pPr lvl="2"/>
            <a:r>
              <a:rPr lang="en-US" altLang="ja-JP" dirty="0" smtClean="0"/>
              <a:t>12V</a:t>
            </a:r>
            <a:r>
              <a:rPr lang="ja-JP" altLang="en-US" dirty="0" smtClean="0"/>
              <a:t>・</a:t>
            </a:r>
            <a:r>
              <a:rPr lang="en-US" altLang="ja-JP" dirty="0" smtClean="0"/>
              <a:t>24V/2A </a:t>
            </a:r>
            <a:r>
              <a:rPr lang="ja-JP" altLang="en-US" dirty="0" smtClean="0"/>
              <a:t>⇒ </a:t>
            </a:r>
            <a:r>
              <a:rPr lang="en-US" altLang="ja-JP" dirty="0" smtClean="0"/>
              <a:t>5V/2A</a:t>
            </a:r>
          </a:p>
          <a:p>
            <a:pPr lvl="2"/>
            <a:endParaRPr lang="en-US" altLang="ja-JP" dirty="0" smtClean="0"/>
          </a:p>
        </p:txBody>
      </p:sp>
      <p:pic>
        <p:nvPicPr>
          <p:cNvPr id="115715" name="Picture 3" descr="C:\Data\Kame\shot\DSC_0006.jpg"/>
          <p:cNvPicPr>
            <a:picLocks noChangeAspect="1" noChangeArrowheads="1"/>
          </p:cNvPicPr>
          <p:nvPr/>
        </p:nvPicPr>
        <p:blipFill rotWithShape="1">
          <a:blip r:embed="rId3" cstate="print">
            <a:extLst>
              <a:ext uri="{28A0092B-C50C-407E-A947-70E740481C1C}">
                <a14:useLocalDpi xmlns="" xmlns:a14="http://schemas.microsoft.com/office/drawing/2010/main" val="0"/>
              </a:ext>
            </a:extLst>
          </a:blip>
          <a:srcRect l="21814" r="20824"/>
          <a:stretch/>
        </p:blipFill>
        <p:spPr bwMode="auto">
          <a:xfrm>
            <a:off x="6516216" y="1700808"/>
            <a:ext cx="2489107" cy="2513022"/>
          </a:xfrm>
          <a:prstGeom prst="rect">
            <a:avLst/>
          </a:prstGeom>
          <a:noFill/>
          <a:extLst>
            <a:ext uri="{909E8E84-426E-40DD-AFC4-6F175D3DCCD1}">
              <a14:hiddenFill xmlns="" xmlns:a14="http://schemas.microsoft.com/office/drawing/2010/main">
                <a:solidFill>
                  <a:srgbClr val="FFFFFF"/>
                </a:solidFill>
              </a14:hiddenFill>
            </a:ext>
          </a:extLst>
        </p:spPr>
      </p:pic>
      <p:pic>
        <p:nvPicPr>
          <p:cNvPr id="4" name="図 3"/>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8108414" y="3345559"/>
            <a:ext cx="948756" cy="948756"/>
          </a:xfrm>
          <a:prstGeom prst="rect">
            <a:avLst/>
          </a:prstGeom>
        </p:spPr>
      </p:pic>
    </p:spTree>
    <p:extLst>
      <p:ext uri="{BB962C8B-B14F-4D97-AF65-F5344CB8AC3E}">
        <p14:creationId xmlns="" xmlns:p14="http://schemas.microsoft.com/office/powerpoint/2010/main" val="428946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0" end="10"/>
                                            </p:txEl>
                                          </p:spTgt>
                                        </p:tgtEl>
                                        <p:attrNameLst>
                                          <p:attrName>style.visibility</p:attrName>
                                        </p:attrNameLst>
                                      </p:cBhvr>
                                      <p:to>
                                        <p:strVal val="visible"/>
                                      </p:to>
                                    </p:set>
                                    <p:animEffect transition="in" filter="fade">
                                      <p:cBhvr>
                                        <p:cTn id="12" dur="500"/>
                                        <p:tgtEl>
                                          <p:spTgt spid="3">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animEffect transition="in" filter="fade">
                                      <p:cBhvr>
                                        <p:cTn id="17" dur="500"/>
                                        <p:tgtEl>
                                          <p:spTgt spid="3">
                                            <p:txEl>
                                              <p:pRg st="11" end="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12" end="12"/>
                                            </p:txEl>
                                          </p:spTgt>
                                        </p:tgtEl>
                                        <p:attrNameLst>
                                          <p:attrName>style.visibility</p:attrName>
                                        </p:attrNameLst>
                                      </p:cBhvr>
                                      <p:to>
                                        <p:strVal val="visible"/>
                                      </p:to>
                                    </p:set>
                                    <p:animEffect transition="in" filter="fade">
                                      <p:cBhvr>
                                        <p:cTn id="22" dur="500"/>
                                        <p:tgtEl>
                                          <p:spTgt spid="3">
                                            <p:txEl>
                                              <p:pRg st="12" end="12"/>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115715"/>
                                        </p:tgtEl>
                                        <p:attrNameLst>
                                          <p:attrName>style.visibility</p:attrName>
                                        </p:attrNameLst>
                                      </p:cBhvr>
                                      <p:to>
                                        <p:strVal val="visible"/>
                                      </p:to>
                                    </p:set>
                                    <p:animEffect transition="in" filter="circle(in)">
                                      <p:cBhvr>
                                        <p:cTn id="25" dur="2000"/>
                                        <p:tgtEl>
                                          <p:spTgt spid="115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MAKE:style</a:t>
            </a:r>
            <a:endParaRPr kumimoji="1" lang="ja-JP" altLang="en-US" dirty="0"/>
          </a:p>
        </p:txBody>
      </p:sp>
      <p:sp>
        <p:nvSpPr>
          <p:cNvPr id="3" name="コンテンツ プレースホルダー 2"/>
          <p:cNvSpPr>
            <a:spLocks noGrp="1"/>
          </p:cNvSpPr>
          <p:nvPr>
            <p:ph idx="1"/>
          </p:nvPr>
        </p:nvSpPr>
        <p:spPr/>
        <p:txBody>
          <a:bodyPr/>
          <a:lstStyle/>
          <a:p>
            <a:r>
              <a:rPr lang="en-US" altLang="ja-JP" dirty="0"/>
              <a:t>Hardware</a:t>
            </a:r>
          </a:p>
          <a:p>
            <a:pPr lvl="1"/>
            <a:r>
              <a:rPr lang="en-US" altLang="ja-JP" dirty="0" err="1">
                <a:hlinkClick r:id="rId3"/>
              </a:rPr>
              <a:t>beagleboard-xM</a:t>
            </a:r>
            <a:endParaRPr lang="en-US" altLang="ja-JP" dirty="0"/>
          </a:p>
          <a:p>
            <a:pPr lvl="1"/>
            <a:r>
              <a:rPr lang="en-US" altLang="ja-JP" dirty="0">
                <a:hlinkClick r:id="rId4"/>
              </a:rPr>
              <a:t>KONDO Animal</a:t>
            </a:r>
            <a:endParaRPr lang="en-US" altLang="ja-JP" dirty="0"/>
          </a:p>
          <a:p>
            <a:pPr lvl="1"/>
            <a:r>
              <a:rPr lang="en-US" altLang="ja-JP" dirty="0" err="1" smtClean="0">
                <a:hlinkClick r:id="rId5"/>
              </a:rPr>
              <a:t>Kinect</a:t>
            </a:r>
            <a:endParaRPr lang="en-US" altLang="ja-JP" dirty="0"/>
          </a:p>
          <a:p>
            <a:r>
              <a:rPr lang="en-US" altLang="ja-JP" dirty="0"/>
              <a:t>Software</a:t>
            </a:r>
          </a:p>
          <a:p>
            <a:pPr lvl="1"/>
            <a:r>
              <a:rPr lang="en-US" altLang="ja-JP" dirty="0" err="1">
                <a:hlinkClick r:id="rId6"/>
              </a:rPr>
              <a:t>ofxDroidKinect</a:t>
            </a:r>
            <a:endParaRPr lang="en-US" altLang="ja-JP" dirty="0"/>
          </a:p>
          <a:p>
            <a:pPr lvl="2"/>
            <a:r>
              <a:rPr lang="en-US" altLang="ja-JP" dirty="0" err="1">
                <a:hlinkClick r:id="rId7"/>
              </a:rPr>
              <a:t>Linaro</a:t>
            </a:r>
            <a:r>
              <a:rPr lang="en-US" altLang="ja-JP" dirty="0">
                <a:hlinkClick r:id="rId7"/>
              </a:rPr>
              <a:t> Kernel</a:t>
            </a:r>
            <a:endParaRPr lang="en-US" altLang="ja-JP" dirty="0"/>
          </a:p>
          <a:p>
            <a:pPr lvl="2"/>
            <a:r>
              <a:rPr lang="en-US" altLang="ja-JP" dirty="0">
                <a:hlinkClick r:id="rId8"/>
              </a:rPr>
              <a:t>Android(Embedded Master)</a:t>
            </a:r>
            <a:endParaRPr lang="en-US" altLang="ja-JP" dirty="0"/>
          </a:p>
          <a:p>
            <a:pPr marL="0" indent="0">
              <a:buNone/>
            </a:pPr>
            <a:endParaRPr lang="en-US" altLang="ja-JP" dirty="0"/>
          </a:p>
          <a:p>
            <a:pPr marL="0" indent="0">
              <a:buNone/>
            </a:pPr>
            <a:r>
              <a:rPr kumimoji="1" lang="ja-JP" altLang="en-US" sz="3600" dirty="0" smtClean="0"/>
              <a:t>　 </a:t>
            </a:r>
            <a:r>
              <a:rPr kumimoji="1" lang="en-US" altLang="ja-JP" sz="3600" dirty="0" smtClean="0"/>
              <a:t>Do It Yourself </a:t>
            </a:r>
            <a:r>
              <a:rPr kumimoji="1" lang="ja-JP" altLang="en-US" sz="3600" dirty="0" smtClean="0"/>
              <a:t>⇒</a:t>
            </a:r>
            <a:r>
              <a:rPr lang="en-US" altLang="ja-JP" sz="3600" dirty="0" smtClean="0"/>
              <a:t>Do It With Others!</a:t>
            </a:r>
            <a:endParaRPr kumimoji="1" lang="ja-JP" altLang="en-US" sz="3600" dirty="0"/>
          </a:p>
        </p:txBody>
      </p:sp>
    </p:spTree>
    <p:extLst>
      <p:ext uri="{BB962C8B-B14F-4D97-AF65-F5344CB8AC3E}">
        <p14:creationId xmlns="" xmlns:p14="http://schemas.microsoft.com/office/powerpoint/2010/main" val="1492508617"/>
      </p:ext>
    </p:extLst>
  </p:cSld>
  <p:clrMapOvr>
    <a:masterClrMapping/>
  </p:clrMapOvr>
  <p:timing>
    <p:tnLst>
      <p:par>
        <p:cTn id="1" dur="indefinite" restart="never" nodeType="tmRoot"/>
      </p:par>
    </p:tnLst>
  </p:timing>
</p:sld>
</file>

<file path=ppt/theme/theme1.xml><?xml version="1.0" encoding="utf-8"?>
<a:theme xmlns:a="http://schemas.openxmlformats.org/drawingml/2006/main" name="SIProp">
  <a:themeElements>
    <a:clrScheme name="sipr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iprop">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ipr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ipro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ipro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ipro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ipro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ipro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iprop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iprop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iprop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iprop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iprop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iprop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SIProp</Template>
  <TotalTime>4537</TotalTime>
  <Words>2808</Words>
  <Application>Microsoft Office PowerPoint</Application>
  <PresentationFormat>画面に合わせる (4:3)</PresentationFormat>
  <Paragraphs>378</Paragraphs>
  <Slides>37</Slides>
  <Notes>34</Notes>
  <HiddenSlides>0</HiddenSlides>
  <MMClips>3</MMClips>
  <ScaleCrop>false</ScaleCrop>
  <HeadingPairs>
    <vt:vector size="4" baseType="variant">
      <vt:variant>
        <vt:lpstr>テーマ</vt:lpstr>
      </vt:variant>
      <vt:variant>
        <vt:i4>1</vt:i4>
      </vt:variant>
      <vt:variant>
        <vt:lpstr>スライド タイトル</vt:lpstr>
      </vt:variant>
      <vt:variant>
        <vt:i4>37</vt:i4>
      </vt:variant>
    </vt:vector>
  </HeadingPairs>
  <TitlesOfParts>
    <vt:vector size="38" baseType="lpstr">
      <vt:lpstr>SIProp</vt:lpstr>
      <vt:lpstr>Auto Chasing Turtle</vt:lpstr>
      <vt:lpstr>About ourselves</vt:lpstr>
      <vt:lpstr>3/11</vt:lpstr>
      <vt:lpstr>Agenda</vt:lpstr>
      <vt:lpstr>Summary</vt:lpstr>
      <vt:lpstr>Robot behavior</vt:lpstr>
      <vt:lpstr>Movie</vt:lpstr>
      <vt:lpstr>Movie</vt:lpstr>
      <vt:lpstr>complete set parts</vt:lpstr>
      <vt:lpstr>Why this project?</vt:lpstr>
      <vt:lpstr>DENSUKE project</vt:lpstr>
      <vt:lpstr>Detail of “KINECT Turtle world”</vt:lpstr>
      <vt:lpstr>Why KINECT and Robot ?</vt:lpstr>
      <vt:lpstr>Why KINECT and Robot ?</vt:lpstr>
      <vt:lpstr>Why KINECT and Robot ?</vt:lpstr>
      <vt:lpstr>Part “Software”</vt:lpstr>
      <vt:lpstr>ofxDroidKinect</vt:lpstr>
      <vt:lpstr>About ofxDroidKinect</vt:lpstr>
      <vt:lpstr>About ofxDroidKinect</vt:lpstr>
      <vt:lpstr>Control Robot and KINECT</vt:lpstr>
      <vt:lpstr>Analyze KINECT data</vt:lpstr>
      <vt:lpstr>Detect the face</vt:lpstr>
      <vt:lpstr>Detect the face</vt:lpstr>
      <vt:lpstr>Detect the face</vt:lpstr>
      <vt:lpstr>Calculate the course</vt:lpstr>
      <vt:lpstr>Calculate the course</vt:lpstr>
      <vt:lpstr>Calculate the distance</vt:lpstr>
      <vt:lpstr>Performance problem</vt:lpstr>
      <vt:lpstr>Part “Hardware”</vt:lpstr>
      <vt:lpstr>スライド 30</vt:lpstr>
      <vt:lpstr>How to control the robot?</vt:lpstr>
      <vt:lpstr>How to control a servo?</vt:lpstr>
      <vt:lpstr>More control</vt:lpstr>
      <vt:lpstr>How to process more sensors?</vt:lpstr>
      <vt:lpstr>How to optimize for each sensors?</vt:lpstr>
      <vt:lpstr>Trouble: Need more power supply</vt:lpstr>
      <vt:lpstr>MAKE:style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noritsuna</dc:creator>
  <cp:lastModifiedBy>usr0101078</cp:lastModifiedBy>
  <cp:revision>602</cp:revision>
  <dcterms:created xsi:type="dcterms:W3CDTF">2011-03-17T08:34:24Z</dcterms:created>
  <dcterms:modified xsi:type="dcterms:W3CDTF">2011-06-29T17:34:00Z</dcterms:modified>
</cp:coreProperties>
</file>